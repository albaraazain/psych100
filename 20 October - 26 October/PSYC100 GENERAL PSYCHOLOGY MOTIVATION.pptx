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6" r:id="rId8"/>
    <p:sldId id="267" r:id="rId9"/>
    <p:sldId id="268" r:id="rId10"/>
    <p:sldId id="261" r:id="rId11"/>
    <p:sldId id="269" r:id="rId12"/>
    <p:sldId id="262" r:id="rId13"/>
    <p:sldId id="270" r:id="rId14"/>
    <p:sldId id="271" r:id="rId15"/>
    <p:sldId id="263" r:id="rId16"/>
    <p:sldId id="272" r:id="rId17"/>
    <p:sldId id="264" r:id="rId18"/>
    <p:sldId id="273" r:id="rId19"/>
    <p:sldId id="265" r:id="rId20"/>
    <p:sldId id="275" r:id="rId21"/>
    <p:sldId id="276" r:id="rId22"/>
    <p:sldId id="274"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5923F103-BC34-4FE4-A40E-EDDEECFDA5D0}" type="datetimeFigureOut">
              <a:rPr lang="en-US" smtClean="0"/>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57F1E4F-1CFF-5643-939E-217C01CDF565}" type="slidenum">
              <a:rPr lang="en-US" smtClean="0"/>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19C9CA7B-DFD4-44B5-8C60-D14B8CD1FB59}"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F34E6425-0181-43F2-84FC-787E803FD2F8}" type="datetimeFigureOut">
              <a:rPr lang="en-US" smtClean="0"/>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D57F1E4F-1CFF-5643-939E-217C01CDF565}" type="slidenum">
              <a:rPr lang="en-US" smtClean="0"/>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8" name="Date Placeholder 7"/>
          <p:cNvSpPr>
            <a:spLocks noGrp="1"/>
          </p:cNvSpPr>
          <p:nvPr>
            <p:ph type="dt" sz="half" idx="10"/>
          </p:nvPr>
        </p:nvSpPr>
        <p:spPr/>
        <p:txBody>
          <a:bodyPr/>
          <a:lstStyle/>
          <a:p>
            <a:fld id="{76E86A4C-8E40-4F87-A4F0-01A0687C5742}" type="datetimeFigureOut">
              <a:rPr lang="en-US" smtClean="0"/>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D57F1E4F-1CFF-5643-939E-217C01CDF565}" type="slidenum">
              <a:rPr lang="en-US" smtClean="0"/>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5E72C73-2D91-4E12-BA25-F0AA0C03599B}" type="datetimeFigureOut">
              <a:rPr lang="en-US" smtClean="0"/>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D57F1E4F-1CFF-5643-939E-217C01CDF565}" type="slidenum">
              <a:rPr lang="en-US" smtClean="0"/>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BE451C3-0FF4-47C4-B829-773ADF60F88C}"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BE451C3-0FF4-47C4-B829-773ADF60F88C}" type="datetimeFigureOut">
              <a:rPr lang="en-US" smtClean="0"/>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57F1E4F-1CFF-5643-939E-217C01CD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anose="02020404030301010803"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6pPr>
      <a:lvl7pPr marL="189992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7pPr>
      <a:lvl8pPr marL="220027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8pPr>
      <a:lvl9pPr marL="249999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PSYC100 GENERAL PSYCHOLOGY</a:t>
            </a:r>
            <a:endParaRPr lang="en-US" dirty="0"/>
          </a:p>
        </p:txBody>
      </p:sp>
      <p:sp>
        <p:nvSpPr>
          <p:cNvPr id="3" name="Subtitle 2"/>
          <p:cNvSpPr>
            <a:spLocks noGrp="1"/>
          </p:cNvSpPr>
          <p:nvPr>
            <p:ph type="subTitle" idx="1"/>
          </p:nvPr>
        </p:nvSpPr>
        <p:spPr/>
        <p:txBody>
          <a:bodyPr>
            <a:noAutofit/>
          </a:bodyPr>
          <a:lstStyle/>
          <a:p>
            <a:r>
              <a:rPr lang="en-US" sz="3200" b="1" dirty="0" smtClean="0"/>
              <a:t>MOTIVATION</a:t>
            </a:r>
            <a:endParaRPr lang="en-US"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Outcomes</a:t>
            </a:r>
            <a:endParaRPr lang="en-US" dirty="0"/>
          </a:p>
        </p:txBody>
      </p:sp>
      <p:sp>
        <p:nvSpPr>
          <p:cNvPr id="3" name="Content Placeholder 2"/>
          <p:cNvSpPr>
            <a:spLocks noGrp="1"/>
          </p:cNvSpPr>
          <p:nvPr>
            <p:ph idx="1"/>
          </p:nvPr>
        </p:nvSpPr>
        <p:spPr/>
        <p:txBody>
          <a:bodyPr>
            <a:noAutofit/>
          </a:bodyPr>
          <a:lstStyle/>
          <a:p>
            <a:r>
              <a:rPr lang="en-US" sz="3200" dirty="0" smtClean="0"/>
              <a:t>What is motivation?</a:t>
            </a:r>
            <a:endParaRPr lang="en-US" sz="3200" dirty="0" smtClean="0"/>
          </a:p>
          <a:p>
            <a:r>
              <a:rPr lang="en-US" sz="3200" dirty="0" smtClean="0"/>
              <a:t>Motivation theories</a:t>
            </a:r>
            <a:endParaRPr lang="en-US" sz="3200" dirty="0" smtClean="0"/>
          </a:p>
          <a:p>
            <a:pPr lvl="1"/>
            <a:r>
              <a:rPr lang="en-US" sz="2800" dirty="0" smtClean="0"/>
              <a:t>Drive theory</a:t>
            </a:r>
            <a:endParaRPr lang="en-US" sz="2800" dirty="0" smtClean="0"/>
          </a:p>
          <a:p>
            <a:pPr lvl="1"/>
            <a:r>
              <a:rPr lang="en-US" sz="2800" dirty="0" smtClean="0"/>
              <a:t>Instinct theory</a:t>
            </a:r>
            <a:endParaRPr lang="en-US" sz="2800" dirty="0" smtClean="0"/>
          </a:p>
          <a:p>
            <a:pPr lvl="1"/>
            <a:r>
              <a:rPr lang="en-US" sz="2800" dirty="0" smtClean="0"/>
              <a:t>Arousal theory</a:t>
            </a:r>
            <a:endParaRPr lang="en-US" sz="2800" dirty="0" smtClean="0"/>
          </a:p>
          <a:p>
            <a:pPr lvl="1"/>
            <a:r>
              <a:rPr lang="en-US" sz="2800" dirty="0" smtClean="0"/>
              <a:t>Expectancy-value theory</a:t>
            </a:r>
            <a:endParaRPr lang="en-US" sz="2800" dirty="0" smtClean="0"/>
          </a:p>
          <a:p>
            <a:pPr lvl="1"/>
            <a:r>
              <a:rPr lang="en-US" sz="2800" dirty="0" smtClean="0"/>
              <a:t>Intrinsic-extrinsic motivation</a:t>
            </a:r>
            <a:endParaRPr lang="en-US" sz="2800" dirty="0" smtClean="0"/>
          </a:p>
          <a:p>
            <a:pPr lvl="1"/>
            <a:r>
              <a:rPr lang="en-US" sz="2800" dirty="0" smtClean="0"/>
              <a:t>Achievement motivation</a:t>
            </a:r>
            <a:endParaRPr lang="en-US"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motivation?</a:t>
            </a:r>
            <a:endParaRPr lang="en-US" dirty="0"/>
          </a:p>
        </p:txBody>
      </p:sp>
      <p:sp>
        <p:nvSpPr>
          <p:cNvPr id="3" name="Content Placeholder 2"/>
          <p:cNvSpPr>
            <a:spLocks noGrp="1"/>
          </p:cNvSpPr>
          <p:nvPr>
            <p:ph idx="1"/>
          </p:nvPr>
        </p:nvSpPr>
        <p:spPr/>
        <p:txBody>
          <a:bodyPr/>
          <a:lstStyle/>
          <a:p>
            <a:r>
              <a:rPr lang="en-US" sz="3200" dirty="0" smtClean="0"/>
              <a:t>Do you remember the theoretical approaches?</a:t>
            </a:r>
            <a:endParaRPr lang="en-US" sz="3200" dirty="0" smtClean="0"/>
          </a:p>
          <a:p>
            <a:pPr lvl="1"/>
            <a:r>
              <a:rPr lang="en-US" sz="2800" dirty="0" smtClean="0"/>
              <a:t>Biopsychological approach</a:t>
            </a:r>
            <a:endParaRPr lang="en-US" sz="2800" dirty="0" smtClean="0"/>
          </a:p>
          <a:p>
            <a:pPr lvl="1"/>
            <a:r>
              <a:rPr lang="en-US" sz="2800" dirty="0" smtClean="0"/>
              <a:t>Behaviourist approach</a:t>
            </a:r>
            <a:endParaRPr lang="en-US" sz="2800" dirty="0" smtClean="0"/>
          </a:p>
          <a:p>
            <a:pPr lvl="1"/>
            <a:r>
              <a:rPr lang="en-US" sz="2800" dirty="0" smtClean="0"/>
              <a:t>Psychodynamic approach</a:t>
            </a:r>
            <a:endParaRPr lang="en-US" sz="2800" dirty="0" smtClean="0"/>
          </a:p>
          <a:p>
            <a:pPr lvl="1"/>
            <a:r>
              <a:rPr lang="en-US" sz="2800" dirty="0" smtClean="0"/>
              <a:t>Humanistic approach</a:t>
            </a:r>
            <a:endParaRPr lang="en-US" sz="2800" dirty="0" smtClean="0"/>
          </a:p>
          <a:p>
            <a:pPr lvl="1"/>
            <a:r>
              <a:rPr lang="en-US" sz="2800" dirty="0" smtClean="0"/>
              <a:t>Cognitive approach</a:t>
            </a:r>
            <a:endParaRPr lang="en-US" sz="2800" dirty="0" smtClean="0"/>
          </a:p>
          <a:p>
            <a:pPr lvl="1"/>
            <a:r>
              <a:rPr lang="en-US" sz="2800" dirty="0" smtClean="0"/>
              <a:t>Evolutionary approach </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motivation?</a:t>
            </a:r>
            <a:endParaRPr lang="en-US" dirty="0"/>
          </a:p>
        </p:txBody>
      </p:sp>
      <p:sp>
        <p:nvSpPr>
          <p:cNvPr id="3" name="Content Placeholder 2"/>
          <p:cNvSpPr>
            <a:spLocks noGrp="1"/>
          </p:cNvSpPr>
          <p:nvPr>
            <p:ph idx="1"/>
          </p:nvPr>
        </p:nvSpPr>
        <p:spPr>
          <a:xfrm>
            <a:off x="1066800" y="2103120"/>
            <a:ext cx="10410202" cy="3931920"/>
          </a:xfrm>
        </p:spPr>
        <p:txBody>
          <a:bodyPr>
            <a:noAutofit/>
          </a:bodyPr>
          <a:lstStyle/>
          <a:p>
            <a:r>
              <a:rPr lang="en-US" sz="2400" dirty="0"/>
              <a:t>Motivation refers, in a general sense, </a:t>
            </a:r>
            <a:r>
              <a:rPr lang="en-US" sz="2400" dirty="0" smtClean="0"/>
              <a:t>to processes </a:t>
            </a:r>
            <a:r>
              <a:rPr lang="en-US" sz="2400" dirty="0"/>
              <a:t>involved in the initiation, direction</a:t>
            </a:r>
            <a:r>
              <a:rPr lang="en-US" sz="2400" dirty="0" smtClean="0"/>
              <a:t>, and energization </a:t>
            </a:r>
            <a:r>
              <a:rPr lang="en-US" sz="2400" dirty="0"/>
              <a:t>of individual behaviour </a:t>
            </a:r>
            <a:r>
              <a:rPr lang="en-US" sz="2400" dirty="0" smtClean="0"/>
              <a:t>…(</a:t>
            </a:r>
            <a:r>
              <a:rPr lang="en-US" sz="2400" dirty="0" err="1"/>
              <a:t>Geen</a:t>
            </a:r>
            <a:r>
              <a:rPr lang="en-US" sz="2400" dirty="0"/>
              <a:t>, 1995</a:t>
            </a:r>
            <a:r>
              <a:rPr lang="en-US" sz="2400" dirty="0" smtClean="0"/>
              <a:t>)</a:t>
            </a:r>
            <a:endParaRPr lang="en-US" sz="2400" dirty="0" smtClean="0"/>
          </a:p>
          <a:p>
            <a:endParaRPr lang="en-US" sz="2400" dirty="0"/>
          </a:p>
          <a:p>
            <a:r>
              <a:rPr lang="en-US" sz="2400" dirty="0"/>
              <a:t>The study of motivation is the study of </a:t>
            </a:r>
            <a:r>
              <a:rPr lang="en-US" sz="2400" dirty="0" smtClean="0"/>
              <a:t>all those </a:t>
            </a:r>
            <a:r>
              <a:rPr lang="en-US" sz="2400" dirty="0"/>
              <a:t>pushes and prods – biological, </a:t>
            </a:r>
            <a:r>
              <a:rPr lang="en-US" sz="2400" dirty="0" smtClean="0"/>
              <a:t>social and </a:t>
            </a:r>
            <a:r>
              <a:rPr lang="en-US" sz="2400" dirty="0"/>
              <a:t>psychological – that defeat our </a:t>
            </a:r>
            <a:r>
              <a:rPr lang="en-US" sz="2400" dirty="0" smtClean="0"/>
              <a:t>laziness and </a:t>
            </a:r>
            <a:r>
              <a:rPr lang="en-US" sz="2400" dirty="0"/>
              <a:t>move us, either eagerly or reluctantly</a:t>
            </a:r>
            <a:r>
              <a:rPr lang="en-US" sz="2400" dirty="0" smtClean="0"/>
              <a:t>, to action (Miller, 1962).</a:t>
            </a:r>
            <a:endParaRPr lang="en-US" sz="2400" dirty="0" smtClean="0"/>
          </a:p>
          <a:p>
            <a:endParaRPr lang="en-US" sz="2400" dirty="0"/>
          </a:p>
          <a:p>
            <a:r>
              <a:rPr lang="en-US" sz="2400" dirty="0"/>
              <a:t>Rubin and </a:t>
            </a:r>
            <a:r>
              <a:rPr lang="en-US" sz="2400" dirty="0" smtClean="0"/>
              <a:t>McNeil (</a:t>
            </a:r>
            <a:r>
              <a:rPr lang="en-US" sz="2400" dirty="0"/>
              <a:t>1983) identify (</a:t>
            </a:r>
            <a:r>
              <a:rPr lang="en-US" sz="2400" dirty="0" err="1"/>
              <a:t>i</a:t>
            </a:r>
            <a:r>
              <a:rPr lang="en-US" sz="2400" dirty="0"/>
              <a:t>) survival or physiological motives</a:t>
            </a:r>
            <a:r>
              <a:rPr lang="en-US" sz="2400" dirty="0" smtClean="0"/>
              <a:t>, and </a:t>
            </a:r>
            <a:r>
              <a:rPr lang="en-US" sz="2400" dirty="0"/>
              <a:t>(ii) </a:t>
            </a:r>
            <a:r>
              <a:rPr lang="en-US" sz="2400" dirty="0" smtClean="0"/>
              <a:t>competence </a:t>
            </a:r>
            <a:r>
              <a:rPr lang="en-US" sz="2400" dirty="0"/>
              <a:t>or cognitive motives. </a:t>
            </a:r>
            <a:r>
              <a:rPr lang="en-US" sz="2400" dirty="0" smtClean="0"/>
              <a:t>Social motives </a:t>
            </a:r>
            <a:r>
              <a:rPr lang="en-US" sz="2400" dirty="0"/>
              <a:t>represent a third category.</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Drive theory</a:t>
            </a:r>
            <a:endParaRPr lang="en-US" dirty="0"/>
          </a:p>
        </p:txBody>
      </p:sp>
      <p:sp>
        <p:nvSpPr>
          <p:cNvPr id="3" name="Content Placeholder 2"/>
          <p:cNvSpPr>
            <a:spLocks noGrp="1"/>
          </p:cNvSpPr>
          <p:nvPr>
            <p:ph idx="1"/>
          </p:nvPr>
        </p:nvSpPr>
        <p:spPr/>
        <p:txBody>
          <a:bodyPr/>
          <a:lstStyle/>
          <a:p>
            <a:pPr>
              <a:lnSpc>
                <a:spcPct val="90000"/>
              </a:lnSpc>
            </a:pPr>
            <a:r>
              <a:rPr lang="en-GB" altLang="tr-TR" sz="2400" dirty="0"/>
              <a:t>Based on the concept of our body’s homeostasis.</a:t>
            </a:r>
            <a:endParaRPr lang="en-GB" altLang="tr-TR" sz="2400" b="1" dirty="0"/>
          </a:p>
          <a:p>
            <a:pPr lvl="1">
              <a:lnSpc>
                <a:spcPct val="90000"/>
              </a:lnSpc>
            </a:pPr>
            <a:r>
              <a:rPr lang="en-GB" altLang="tr-TR" sz="2000" dirty="0"/>
              <a:t>Homeostasis is the natural tendency to keep the body in a state of equilibrium (liver, kidneys, brain).</a:t>
            </a:r>
            <a:endParaRPr lang="en-GB" altLang="tr-TR" sz="2000" dirty="0"/>
          </a:p>
          <a:p>
            <a:pPr lvl="2">
              <a:lnSpc>
                <a:spcPct val="90000"/>
              </a:lnSpc>
            </a:pPr>
            <a:r>
              <a:rPr lang="en-GB" altLang="tr-TR" sz="2000" dirty="0"/>
              <a:t>E.g. thirst, hunger</a:t>
            </a:r>
            <a:endParaRPr lang="en-GB" altLang="tr-TR" sz="2000" dirty="0"/>
          </a:p>
          <a:p>
            <a:r>
              <a:rPr lang="en-GB" altLang="tr-TR" sz="2400" dirty="0"/>
              <a:t>Clark Hull (1943) suggested that physiological disruptions to homeostasis produce drives (internal tensions that motivate an organism to engage in behaviour to reduce this tension).</a:t>
            </a:r>
            <a:endParaRPr lang="en-GB" altLang="tr-TR" sz="2400"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310056" y="520956"/>
            <a:ext cx="7571888" cy="58160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285670" y="889796"/>
            <a:ext cx="7620660" cy="50784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GB" altLang="tr-TR" sz="2400" dirty="0"/>
              <a:t>Drawbacks: dieting, for example, is contrary to the drive to eat. Plus, </a:t>
            </a:r>
            <a:r>
              <a:rPr lang="en-US" altLang="tr-TR" sz="2400" dirty="0"/>
              <a:t>people often eat even when they are not really hungry.</a:t>
            </a:r>
            <a:endParaRPr lang="en-US" altLang="tr-TR" sz="2400" dirty="0"/>
          </a:p>
          <a:p>
            <a:pPr marL="502920" lvl="1" indent="0">
              <a:buNone/>
            </a:pPr>
            <a:r>
              <a:rPr lang="en-GB" sz="2000" dirty="0"/>
              <a:t>● What makes you eat? </a:t>
            </a:r>
            <a:endParaRPr lang="en-GB" sz="2000" dirty="0"/>
          </a:p>
          <a:p>
            <a:pPr marL="502920" lvl="1" indent="0">
              <a:buNone/>
            </a:pPr>
            <a:r>
              <a:rPr lang="en-GB" sz="2000" dirty="0"/>
              <a:t>● Why do you get hungry?</a:t>
            </a:r>
            <a:endParaRPr lang="en-GB" sz="2000" dirty="0"/>
          </a:p>
          <a:p>
            <a:pPr marL="502920" lvl="1" indent="0">
              <a:buNone/>
            </a:pPr>
            <a:r>
              <a:rPr lang="en-GB" sz="2000" dirty="0"/>
              <a:t>● How much, if at all, do you consider social factors play a part in your eating behaviour</a:t>
            </a:r>
            <a:r>
              <a:rPr lang="en-GB" sz="2000" dirty="0" smtClean="0"/>
              <a:t>?</a:t>
            </a:r>
            <a:endParaRPr lang="en-GB" sz="2000" dirty="0" smtClean="0"/>
          </a:p>
          <a:p>
            <a:pPr marL="342900" lvl="1" indent="-342900">
              <a:buFont typeface="Arial" panose="020B0604020202020204" pitchFamily="34" charset="0"/>
              <a:buChar char="•"/>
            </a:pPr>
            <a:r>
              <a:rPr lang="en-GB" altLang="tr-TR" sz="2400" dirty="0" smtClean="0"/>
              <a:t>Reductionist</a:t>
            </a:r>
            <a:endParaRPr lang="en-GB" altLang="tr-TR" sz="2400"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Instinct theory</a:t>
            </a:r>
            <a:endParaRPr lang="en-US" dirty="0"/>
          </a:p>
        </p:txBody>
      </p:sp>
      <p:sp>
        <p:nvSpPr>
          <p:cNvPr id="3" name="Content Placeholder 2"/>
          <p:cNvSpPr>
            <a:spLocks noGrp="1"/>
          </p:cNvSpPr>
          <p:nvPr>
            <p:ph idx="1"/>
          </p:nvPr>
        </p:nvSpPr>
        <p:spPr/>
        <p:txBody>
          <a:bodyPr>
            <a:normAutofit fontScale="92500"/>
          </a:bodyPr>
          <a:lstStyle/>
          <a:p>
            <a:r>
              <a:rPr lang="en-GB" altLang="tr-TR" sz="2800" dirty="0"/>
              <a:t>Instincts are automatic, involuntary and unlearned patterns of behaviour triggered by the presence of particular stimuli</a:t>
            </a:r>
            <a:endParaRPr lang="en-GB" altLang="tr-TR" sz="2800" dirty="0"/>
          </a:p>
          <a:p>
            <a:pPr lvl="2"/>
            <a:r>
              <a:rPr lang="en-GB" altLang="tr-TR" sz="2000" dirty="0"/>
              <a:t>E.g. babies are born with a unique ability that allows them to survive: they are born with the instinct to cry </a:t>
            </a:r>
            <a:endParaRPr lang="en-GB" altLang="tr-TR" sz="2000" dirty="0"/>
          </a:p>
          <a:p>
            <a:pPr lvl="2"/>
            <a:r>
              <a:rPr lang="en-GB" altLang="tr-TR" sz="2000" dirty="0"/>
              <a:t>E.g. coughing, blinking</a:t>
            </a:r>
            <a:endParaRPr lang="en-GB" altLang="tr-TR" sz="2000" dirty="0"/>
          </a:p>
          <a:p>
            <a:pPr lvl="2"/>
            <a:endParaRPr lang="en-GB" altLang="tr-TR" sz="2000" dirty="0"/>
          </a:p>
          <a:p>
            <a:pPr lvl="1"/>
            <a:r>
              <a:rPr lang="en-GB" altLang="tr-TR" sz="2800" dirty="0"/>
              <a:t>Buss (1999) suggested that the desire to pass on our genes may provide the motivational forces for such things as love, romantic relationships, attraction and marriage.</a:t>
            </a:r>
            <a:endParaRPr lang="en-GB" altLang="tr-TR" sz="2800"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a:t>
            </a:r>
            <a:endParaRPr lang="en-US" dirty="0"/>
          </a:p>
        </p:txBody>
      </p:sp>
      <p:sp>
        <p:nvSpPr>
          <p:cNvPr id="3" name="Content Placeholder 2"/>
          <p:cNvSpPr>
            <a:spLocks noGrp="1"/>
          </p:cNvSpPr>
          <p:nvPr>
            <p:ph idx="1"/>
          </p:nvPr>
        </p:nvSpPr>
        <p:spPr/>
        <p:txBody>
          <a:bodyPr/>
          <a:lstStyle/>
          <a:p>
            <a:r>
              <a:rPr lang="en-US" sz="2800" dirty="0"/>
              <a:t>Ignores </a:t>
            </a:r>
            <a:r>
              <a:rPr lang="en-US" sz="2800" dirty="0" smtClean="0"/>
              <a:t>learning </a:t>
            </a:r>
            <a:r>
              <a:rPr lang="en-US" sz="2800" dirty="0"/>
              <a:t>and </a:t>
            </a:r>
            <a:r>
              <a:rPr lang="en-US" sz="2800" dirty="0" smtClean="0"/>
              <a:t>environment</a:t>
            </a:r>
            <a:endParaRPr lang="en-US" sz="2800" dirty="0"/>
          </a:p>
          <a:p>
            <a:r>
              <a:rPr lang="en-US" sz="2800" dirty="0" smtClean="0"/>
              <a:t>It </a:t>
            </a:r>
            <a:r>
              <a:rPr lang="en-US" sz="2800" dirty="0"/>
              <a:t>doesn't account for individual </a:t>
            </a:r>
            <a:r>
              <a:rPr lang="en-US" sz="2800" dirty="0" smtClean="0"/>
              <a:t>differences</a:t>
            </a:r>
            <a:endParaRPr lang="en-US" sz="2800" dirty="0" smtClean="0"/>
          </a:p>
          <a:p>
            <a:r>
              <a:rPr lang="en-US" sz="2800" dirty="0"/>
              <a:t>Empirical Challenges: Testing instincts is hard because they're innate, making it difficult to isolate them from learned </a:t>
            </a:r>
            <a:r>
              <a:rPr lang="en-US" sz="2800" dirty="0" smtClean="0"/>
              <a:t>responses</a:t>
            </a:r>
            <a:endParaRPr lang="en-US" sz="2800" dirty="0" smtClean="0"/>
          </a:p>
          <a:p>
            <a:r>
              <a:rPr lang="en-US" sz="2800" dirty="0" smtClean="0"/>
              <a:t>Reductionist </a:t>
            </a:r>
            <a:endParaRPr lang="en-US" sz="2800" dirty="0"/>
          </a:p>
          <a:p>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Arousal theory</a:t>
            </a:r>
            <a:endParaRPr lang="en-US" dirty="0"/>
          </a:p>
        </p:txBody>
      </p:sp>
      <p:sp>
        <p:nvSpPr>
          <p:cNvPr id="3" name="Content Placeholder 2"/>
          <p:cNvSpPr>
            <a:spLocks noGrp="1"/>
          </p:cNvSpPr>
          <p:nvPr>
            <p:ph idx="1"/>
          </p:nvPr>
        </p:nvSpPr>
        <p:spPr/>
        <p:txBody>
          <a:bodyPr/>
          <a:lstStyle/>
          <a:p>
            <a:pPr>
              <a:lnSpc>
                <a:spcPct val="80000"/>
              </a:lnSpc>
            </a:pPr>
            <a:r>
              <a:rPr lang="en-US" altLang="tr-TR" sz="2400" dirty="0" smtClean="0"/>
              <a:t>People </a:t>
            </a:r>
            <a:r>
              <a:rPr lang="en-US" altLang="tr-TR" sz="2400" dirty="0"/>
              <a:t>take certain actions to either decrease or increase levels of arousal. When arousal levels get too low, for example, a person might watch an exciting movie or go for a jog. When arousal levels get too high, a person would probably look for ways to relax such as meditating or reading a book. </a:t>
            </a:r>
            <a:endParaRPr lang="en-US" altLang="tr-TR" sz="2400" dirty="0"/>
          </a:p>
          <a:p>
            <a:pPr>
              <a:lnSpc>
                <a:spcPct val="80000"/>
              </a:lnSpc>
            </a:pPr>
            <a:r>
              <a:rPr lang="en-US" altLang="tr-TR" sz="2400" dirty="0"/>
              <a:t>According to this theory, we are motivated to maintain an optimal level of arousal, although this level can vary based on the individual or the situation. </a:t>
            </a:r>
            <a:r>
              <a:rPr lang="en-GB" altLang="tr-TR" sz="2400" i="1" dirty="0"/>
              <a:t>E.g. parachute jumping</a:t>
            </a:r>
            <a:endParaRPr lang="en-GB" altLang="tr-TR" sz="2400" i="1" dirty="0"/>
          </a:p>
          <a:p>
            <a:pPr>
              <a:lnSpc>
                <a:spcPct val="80000"/>
              </a:lnSpc>
            </a:pPr>
            <a:r>
              <a:rPr lang="en-GB" altLang="tr-TR" sz="2400" dirty="0"/>
              <a:t>We learn what keeps our own arousal levels at the optimum level.</a:t>
            </a:r>
            <a:endParaRPr lang="en-GB" altLang="tr-TR" sz="2400"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a:t>
            </a:r>
            <a:endParaRPr lang="en-US" dirty="0"/>
          </a:p>
        </p:txBody>
      </p:sp>
      <p:sp>
        <p:nvSpPr>
          <p:cNvPr id="3" name="Content Placeholder 2"/>
          <p:cNvSpPr>
            <a:spLocks noGrp="1"/>
          </p:cNvSpPr>
          <p:nvPr>
            <p:ph idx="1"/>
          </p:nvPr>
        </p:nvSpPr>
        <p:spPr/>
        <p:txBody>
          <a:bodyPr/>
          <a:lstStyle/>
          <a:p>
            <a:r>
              <a:rPr lang="en-US" sz="3200" dirty="0"/>
              <a:t>Neglects Emotional and Social Motivators</a:t>
            </a:r>
            <a:endParaRPr lang="en-US" sz="3200" dirty="0"/>
          </a:p>
          <a:p>
            <a:r>
              <a:rPr lang="en-US" sz="3200" dirty="0"/>
              <a:t>Empirical Testing Challenges</a:t>
            </a:r>
            <a:endParaRPr lang="en-US" sz="3200" dirty="0"/>
          </a:p>
          <a:p>
            <a:r>
              <a:rPr lang="en-US" sz="3200" dirty="0" smtClean="0"/>
              <a:t>Reductionist </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Why are people motivated for different reasons?</a:t>
            </a:r>
            <a:endParaRPr lang="en-US" sz="4400" dirty="0"/>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Expectancy-value theory</a:t>
            </a:r>
            <a:endParaRPr lang="en-US" dirty="0"/>
          </a:p>
        </p:txBody>
      </p:sp>
      <p:sp>
        <p:nvSpPr>
          <p:cNvPr id="3" name="Content Placeholder 2"/>
          <p:cNvSpPr>
            <a:spLocks noGrp="1"/>
          </p:cNvSpPr>
          <p:nvPr>
            <p:ph idx="1"/>
          </p:nvPr>
        </p:nvSpPr>
        <p:spPr/>
        <p:txBody>
          <a:bodyPr>
            <a:noAutofit/>
          </a:bodyPr>
          <a:lstStyle/>
          <a:p>
            <a:r>
              <a:rPr lang="en-US" sz="2000" dirty="0"/>
              <a:t>G</a:t>
            </a:r>
            <a:r>
              <a:rPr lang="en-US" sz="2000" dirty="0" smtClean="0"/>
              <a:t>oal-directed </a:t>
            </a:r>
            <a:r>
              <a:rPr lang="en-US" sz="2000" dirty="0"/>
              <a:t>behavior </a:t>
            </a:r>
            <a:r>
              <a:rPr lang="en-US" sz="2000" dirty="0" smtClean="0"/>
              <a:t>is jointly </a:t>
            </a:r>
            <a:r>
              <a:rPr lang="en-US" sz="2000" dirty="0"/>
              <a:t>determined by the strength of the person’s </a:t>
            </a:r>
            <a:r>
              <a:rPr lang="en-US" sz="2000" dirty="0" smtClean="0"/>
              <a:t>expectation that </a:t>
            </a:r>
            <a:r>
              <a:rPr lang="en-US" sz="2000" dirty="0"/>
              <a:t>particular behaviors will lead to a </a:t>
            </a:r>
            <a:r>
              <a:rPr lang="en-US" sz="2000" dirty="0" smtClean="0"/>
              <a:t>goal and </a:t>
            </a:r>
            <a:r>
              <a:rPr lang="en-US" sz="2000" dirty="0"/>
              <a:t>by the incentive value the individual places on </a:t>
            </a:r>
            <a:r>
              <a:rPr lang="en-US" sz="2000" dirty="0" smtClean="0"/>
              <a:t>that goal </a:t>
            </a:r>
            <a:r>
              <a:rPr lang="en-US" sz="2000" dirty="0"/>
              <a:t>(</a:t>
            </a:r>
            <a:r>
              <a:rPr lang="en-US" sz="2000" dirty="0" err="1"/>
              <a:t>Brehm</a:t>
            </a:r>
            <a:r>
              <a:rPr lang="en-US" sz="2000" dirty="0"/>
              <a:t> &amp; Self, 1989</a:t>
            </a:r>
            <a:r>
              <a:rPr lang="en-US" sz="2000" dirty="0" smtClean="0"/>
              <a:t>).</a:t>
            </a:r>
            <a:endParaRPr lang="en-US" sz="2000" dirty="0" smtClean="0"/>
          </a:p>
          <a:p>
            <a:endParaRPr lang="en-US" sz="2000" dirty="0"/>
          </a:p>
          <a:p>
            <a:r>
              <a:rPr lang="en-US" sz="2000" dirty="0"/>
              <a:t>Motivation </a:t>
            </a:r>
            <a:r>
              <a:rPr lang="en-US" sz="2000" dirty="0" smtClean="0"/>
              <a:t>= expectancy x incentive </a:t>
            </a:r>
            <a:r>
              <a:rPr lang="en-US" sz="2000" dirty="0"/>
              <a:t>value</a:t>
            </a:r>
            <a:r>
              <a:rPr lang="en-US" sz="2000" dirty="0" smtClean="0"/>
              <a:t>.</a:t>
            </a:r>
            <a:endParaRPr lang="en-US" sz="2000" dirty="0" smtClean="0"/>
          </a:p>
          <a:p>
            <a:endParaRPr lang="en-US" sz="2000" dirty="0"/>
          </a:p>
          <a:p>
            <a:r>
              <a:rPr lang="en-US" sz="2000" dirty="0" smtClean="0"/>
              <a:t>E.g. </a:t>
            </a:r>
            <a:r>
              <a:rPr lang="en-US" sz="2000" dirty="0"/>
              <a:t>A </a:t>
            </a:r>
            <a:r>
              <a:rPr lang="en-US" sz="2000" dirty="0" smtClean="0"/>
              <a:t>college </a:t>
            </a:r>
            <a:r>
              <a:rPr lang="en-US" sz="2000" dirty="0"/>
              <a:t>student preparing for a midterm expects to do well because they’ve consistently scored high on practice quizzes (high expectancy). They value the exam because it’s worth 30% of their grade and they aim to get into </a:t>
            </a:r>
            <a:r>
              <a:rPr lang="en-US" sz="2000" dirty="0" smtClean="0"/>
              <a:t>a post graduate program(high value</a:t>
            </a:r>
            <a:r>
              <a:rPr lang="en-US" sz="2000" dirty="0"/>
              <a:t>). This motivates </a:t>
            </a:r>
            <a:r>
              <a:rPr lang="en-US" sz="2000" dirty="0" smtClean="0"/>
              <a:t>the student to study hard. </a:t>
            </a:r>
            <a:r>
              <a:rPr lang="en-US" sz="2000" dirty="0"/>
              <a:t>Conversely, a student with low confidence in math (low expectancy) and no interest in the subject (low value) might skip studying for a calculus test.</a:t>
            </a:r>
            <a:endParaRPr lang="en-US" sz="2000" dirty="0"/>
          </a:p>
          <a:p>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a:t>
            </a:r>
            <a:endParaRPr lang="en-US" dirty="0"/>
          </a:p>
        </p:txBody>
      </p:sp>
      <p:sp>
        <p:nvSpPr>
          <p:cNvPr id="3" name="Content Placeholder 2"/>
          <p:cNvSpPr>
            <a:spLocks noGrp="1"/>
          </p:cNvSpPr>
          <p:nvPr>
            <p:ph idx="1"/>
          </p:nvPr>
        </p:nvSpPr>
        <p:spPr/>
        <p:txBody>
          <a:bodyPr/>
          <a:lstStyle/>
          <a:p>
            <a:r>
              <a:rPr lang="en-US" sz="2400" dirty="0" smtClean="0"/>
              <a:t>Based on subjective experiences (i.e. a student might overestimate his/her skills).</a:t>
            </a:r>
            <a:endParaRPr lang="en-US" sz="2400" dirty="0" smtClean="0"/>
          </a:p>
          <a:p>
            <a:r>
              <a:rPr lang="en-US" sz="2400" dirty="0" smtClean="0"/>
              <a:t>External influences (i.e. a student might study hard due to financial constraints).</a:t>
            </a:r>
            <a:endParaRPr lang="en-US" sz="2400" dirty="0" smtClean="0"/>
          </a:p>
          <a:p>
            <a:r>
              <a:rPr lang="en-US" sz="2400" dirty="0"/>
              <a:t>Overemphasis on </a:t>
            </a:r>
            <a:r>
              <a:rPr lang="en-US" sz="2400" dirty="0" smtClean="0"/>
              <a:t>rationality (students do not always make </a:t>
            </a:r>
            <a:r>
              <a:rPr lang="en-US" sz="2400" dirty="0"/>
              <a:t>calculated decisions, but emotions, procrastination, or impulsivity often play a larger role in college </a:t>
            </a:r>
            <a:r>
              <a:rPr lang="en-US" sz="2400" dirty="0" smtClean="0"/>
              <a:t>settings).</a:t>
            </a:r>
            <a:endParaRPr lang="en-US" sz="2400" dirty="0" smtClean="0"/>
          </a:p>
          <a:p>
            <a:r>
              <a:rPr lang="en-US" sz="2400" dirty="0"/>
              <a:t>Cultural and </a:t>
            </a:r>
            <a:r>
              <a:rPr lang="en-US" sz="2400" dirty="0" smtClean="0"/>
              <a:t>social variability</a:t>
            </a:r>
            <a:endParaRPr lang="en-US" sz="2400" dirty="0"/>
          </a:p>
          <a:p>
            <a:endParaRPr lang="en-US" dirty="0"/>
          </a:p>
          <a:p>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Intrinsic-extrinsic motivation</a:t>
            </a:r>
            <a:endParaRPr lang="en-US" dirty="0"/>
          </a:p>
        </p:txBody>
      </p:sp>
      <p:sp>
        <p:nvSpPr>
          <p:cNvPr id="3" name="Content Placeholder 2"/>
          <p:cNvSpPr>
            <a:spLocks noGrp="1"/>
          </p:cNvSpPr>
          <p:nvPr>
            <p:ph idx="1"/>
          </p:nvPr>
        </p:nvSpPr>
        <p:spPr>
          <a:xfrm>
            <a:off x="743585" y="2103120"/>
            <a:ext cx="10381615" cy="3931920"/>
          </a:xfrm>
        </p:spPr>
        <p:txBody>
          <a:bodyPr>
            <a:noAutofit/>
          </a:bodyPr>
          <a:lstStyle/>
          <a:p>
            <a:r>
              <a:rPr lang="en-US" sz="2400" dirty="0"/>
              <a:t>Cognitive theorists also distinguish </a:t>
            </a:r>
            <a:r>
              <a:rPr lang="en-US" sz="2400" dirty="0" smtClean="0"/>
              <a:t>between </a:t>
            </a:r>
            <a:r>
              <a:rPr lang="en-US" sz="2400" b="1" dirty="0" smtClean="0"/>
              <a:t>extrinsic </a:t>
            </a:r>
            <a:r>
              <a:rPr lang="en-US" sz="2400" b="1" dirty="0"/>
              <a:t>motivation, </a:t>
            </a:r>
            <a:r>
              <a:rPr lang="en-US" sz="2400" dirty="0"/>
              <a:t>performing an activity </a:t>
            </a:r>
            <a:r>
              <a:rPr lang="en-US" sz="2400" dirty="0" smtClean="0"/>
              <a:t>to obtain </a:t>
            </a:r>
            <a:r>
              <a:rPr lang="en-US" sz="2400" dirty="0"/>
              <a:t>an external reward or avoid punishment</a:t>
            </a:r>
            <a:r>
              <a:rPr lang="en-US" sz="2400" dirty="0" smtClean="0"/>
              <a:t>, and </a:t>
            </a:r>
            <a:r>
              <a:rPr lang="en-US" sz="2400" b="1" dirty="0"/>
              <a:t>intrinsic motivation, </a:t>
            </a:r>
            <a:r>
              <a:rPr lang="en-US" sz="2400" dirty="0"/>
              <a:t>performing an </a:t>
            </a:r>
            <a:r>
              <a:rPr lang="en-US" sz="2400" dirty="0" smtClean="0"/>
              <a:t>activity for </a:t>
            </a:r>
            <a:r>
              <a:rPr lang="en-US" sz="2400" dirty="0"/>
              <a:t>its own sake—because you find it </a:t>
            </a:r>
            <a:r>
              <a:rPr lang="en-US" sz="2400" dirty="0" smtClean="0"/>
              <a:t>enjoyable or </a:t>
            </a:r>
            <a:r>
              <a:rPr lang="en-US" sz="2400" dirty="0"/>
              <a:t>challenging</a:t>
            </a:r>
            <a:r>
              <a:rPr lang="en-US" sz="2400" dirty="0" smtClean="0"/>
              <a:t>.</a:t>
            </a:r>
            <a:endParaRPr lang="en-US" sz="2400" dirty="0" smtClean="0"/>
          </a:p>
          <a:p>
            <a:endParaRPr lang="en-US" sz="2400" dirty="0"/>
          </a:p>
          <a:p>
            <a:r>
              <a:rPr lang="en-US" sz="2400" dirty="0" smtClean="0"/>
              <a:t>E.g. </a:t>
            </a:r>
            <a:r>
              <a:rPr lang="en-US" sz="2400" dirty="0"/>
              <a:t>A student enrolls in a creative writing course because they love storytelling and find joy in crafting narratives, even if it’s not required for their major. The process of writing itself is rewarding</a:t>
            </a:r>
            <a:r>
              <a:rPr lang="en-US" sz="2400" dirty="0" smtClean="0"/>
              <a:t>. INTRINSIC</a:t>
            </a:r>
            <a:endParaRPr lang="en-US" sz="2400" dirty="0" smtClean="0"/>
          </a:p>
          <a:p>
            <a:r>
              <a:rPr lang="en-US" sz="2400" dirty="0" smtClean="0"/>
              <a:t>E.g. </a:t>
            </a:r>
            <a:r>
              <a:rPr lang="en-US" sz="2400" dirty="0"/>
              <a:t>A student enrolls in a creative writing course because </a:t>
            </a:r>
            <a:r>
              <a:rPr lang="en-US" sz="2400" dirty="0" smtClean="0"/>
              <a:t>it’s a very easy course and he will get a good grade. EXTRINSIC</a:t>
            </a:r>
            <a:endParaRPr lang="en-US" sz="2400" dirty="0"/>
          </a:p>
          <a:p>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a:t>
            </a:r>
            <a:endParaRPr lang="en-US" dirty="0"/>
          </a:p>
        </p:txBody>
      </p:sp>
      <p:sp>
        <p:nvSpPr>
          <p:cNvPr id="3" name="Content Placeholder 2"/>
          <p:cNvSpPr>
            <a:spLocks noGrp="1"/>
          </p:cNvSpPr>
          <p:nvPr>
            <p:ph idx="1"/>
          </p:nvPr>
        </p:nvSpPr>
        <p:spPr/>
        <p:txBody>
          <a:bodyPr>
            <a:normAutofit fontScale="90000" lnSpcReduction="10000"/>
          </a:bodyPr>
          <a:lstStyle/>
          <a:p>
            <a:r>
              <a:rPr lang="en-US" sz="2800" dirty="0"/>
              <a:t>Over-Simplification of Motivation</a:t>
            </a:r>
            <a:endParaRPr lang="en-US" sz="2800" dirty="0"/>
          </a:p>
          <a:p>
            <a:r>
              <a:rPr lang="en-US" sz="2800" dirty="0"/>
              <a:t>Individual Differences: Students vary in how they respond to intrinsic vs. extrinsic motivators. Personality traits (e.g., high conscientiousness) or cultural backgrounds (e.g., collectivist cultures valuing group recognition) influence whether intrinsic or extrinsic factors are more motivating</a:t>
            </a:r>
            <a:r>
              <a:rPr lang="en-US" sz="2800" dirty="0" smtClean="0"/>
              <a:t>.</a:t>
            </a:r>
            <a:endParaRPr lang="en-US" sz="2800" dirty="0" smtClean="0"/>
          </a:p>
          <a:p>
            <a:r>
              <a:rPr lang="en-US" sz="2800" dirty="0"/>
              <a:t>Contextual Factors: External pressures like financial </a:t>
            </a:r>
            <a:r>
              <a:rPr lang="en-US" sz="2800" dirty="0" smtClean="0"/>
              <a:t>stress can </a:t>
            </a:r>
            <a:r>
              <a:rPr lang="en-US" sz="2800" dirty="0"/>
              <a:t>overshadow both types of motivation. A student might love a subject (intrinsic) but lack energy to engage due to part-time work demands.</a:t>
            </a:r>
            <a:endParaRPr lang="en-US" sz="2800" dirty="0"/>
          </a:p>
          <a:p>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Achievement motivation</a:t>
            </a:r>
            <a:endParaRPr lang="en-US" dirty="0"/>
          </a:p>
        </p:txBody>
      </p:sp>
      <p:sp>
        <p:nvSpPr>
          <p:cNvPr id="3" name="Content Placeholder 2"/>
          <p:cNvSpPr>
            <a:spLocks noGrp="1"/>
          </p:cNvSpPr>
          <p:nvPr>
            <p:ph idx="1"/>
          </p:nvPr>
        </p:nvSpPr>
        <p:spPr/>
        <p:txBody>
          <a:bodyPr>
            <a:noAutofit/>
          </a:bodyPr>
          <a:lstStyle/>
          <a:p>
            <a:r>
              <a:rPr lang="en-GB" altLang="en-US" sz="2400"/>
              <a:t>Need for achievement</a:t>
            </a:r>
            <a:endParaRPr lang="en-GB" altLang="en-US" sz="2400"/>
          </a:p>
          <a:p>
            <a:r>
              <a:rPr lang="en-US" altLang="en-GB" sz="2400"/>
              <a:t>McClelland and Atkinson proposed that achieve_x0002_ment behavior can stem from a positively ori_x0002_ented motive for success and a negatively oriented</a:t>
            </a:r>
            <a:r>
              <a:rPr lang="en-GB" altLang="en-US" sz="2400"/>
              <a:t> </a:t>
            </a:r>
            <a:r>
              <a:rPr lang="en-US" altLang="en-GB" sz="2400"/>
              <a:t>motivation to avoid failure, more commonly</a:t>
            </a:r>
            <a:r>
              <a:rPr lang="en-GB" altLang="en-US" sz="2400"/>
              <a:t> </a:t>
            </a:r>
            <a:r>
              <a:rPr lang="en-US" altLang="en-GB" sz="2400"/>
              <a:t>called fear of failure</a:t>
            </a:r>
            <a:r>
              <a:rPr lang="en-GB" altLang="en-US" sz="2400"/>
              <a:t> (1953)</a:t>
            </a:r>
            <a:r>
              <a:rPr lang="en-US" altLang="en-GB" sz="2400"/>
              <a:t>.</a:t>
            </a:r>
            <a:endParaRPr lang="en-US" altLang="en-GB" sz="2400"/>
          </a:p>
          <a:p>
            <a:r>
              <a:rPr lang="en-US" altLang="en-GB" sz="2400"/>
              <a:t>David McClelland and John Atkinson developed methods to measure achievement motivation  primarily through the Thematic Apperception Test (TAT)</a:t>
            </a:r>
            <a:r>
              <a:rPr lang="en-GB" altLang="en-US" sz="2400"/>
              <a:t>. </a:t>
            </a:r>
            <a:r>
              <a:rPr lang="en-US" altLang="en-GB" sz="2400"/>
              <a:t>The TAT is a projective psychological test where individuals are shown ambiguous pictures and asked to create stories about them.</a:t>
            </a:r>
            <a:endParaRPr lang="en-US" altLang="en-GB" sz="2400"/>
          </a:p>
          <a:p>
            <a:endParaRPr lang="en-US" altLang="en-GB"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6802755" y="1013460"/>
            <a:ext cx="3831590" cy="2416175"/>
          </a:xfrm>
          <a:prstGeom prst="rect">
            <a:avLst/>
          </a:prstGeom>
        </p:spPr>
      </p:pic>
      <p:pic>
        <p:nvPicPr>
          <p:cNvPr id="5" name="Picture 4"/>
          <p:cNvPicPr/>
          <p:nvPr/>
        </p:nvPicPr>
        <p:blipFill>
          <a:blip r:embed="rId2"/>
          <a:stretch>
            <a:fillRect/>
          </a:stretch>
        </p:blipFill>
        <p:spPr>
          <a:xfrm>
            <a:off x="1133475" y="1013460"/>
            <a:ext cx="3836670" cy="2415540"/>
          </a:xfrm>
          <a:prstGeom prst="rect">
            <a:avLst/>
          </a:prstGeom>
        </p:spPr>
      </p:pic>
      <p:pic>
        <p:nvPicPr>
          <p:cNvPr id="6" name="Picture 5"/>
          <p:cNvPicPr/>
          <p:nvPr/>
        </p:nvPicPr>
        <p:blipFill>
          <a:blip r:embed="rId3"/>
          <a:stretch>
            <a:fillRect/>
          </a:stretch>
        </p:blipFill>
        <p:spPr>
          <a:xfrm>
            <a:off x="6677660" y="3605530"/>
            <a:ext cx="3956685" cy="2525395"/>
          </a:xfrm>
          <a:prstGeom prst="rect">
            <a:avLst/>
          </a:prstGeom>
        </p:spPr>
      </p:pic>
      <p:pic>
        <p:nvPicPr>
          <p:cNvPr id="7" name="Picture 6"/>
          <p:cNvPicPr/>
          <p:nvPr/>
        </p:nvPicPr>
        <p:blipFill>
          <a:blip r:embed="rId4"/>
          <a:stretch>
            <a:fillRect/>
          </a:stretch>
        </p:blipFill>
        <p:spPr>
          <a:xfrm>
            <a:off x="1133475" y="3606165"/>
            <a:ext cx="3836670" cy="26466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3449320" y="1047750"/>
            <a:ext cx="5697855" cy="4762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Evaluation</a:t>
            </a:r>
            <a:endParaRPr lang="en-GB" altLang="en-US"/>
          </a:p>
        </p:txBody>
      </p:sp>
      <p:sp>
        <p:nvSpPr>
          <p:cNvPr id="3" name="Content Placeholder 2"/>
          <p:cNvSpPr>
            <a:spLocks noGrp="1"/>
          </p:cNvSpPr>
          <p:nvPr>
            <p:ph idx="1"/>
          </p:nvPr>
        </p:nvSpPr>
        <p:spPr/>
        <p:txBody>
          <a:bodyPr/>
          <a:p>
            <a:r>
              <a:rPr lang="en-US" altLang="en-GB" sz="2800"/>
              <a:t>The TAT is subjective and relies on trained scorers, which can introduce variability.</a:t>
            </a:r>
            <a:endParaRPr lang="en-US" altLang="en-GB" sz="2800"/>
          </a:p>
          <a:p>
            <a:r>
              <a:rPr lang="en-US" altLang="en-GB" sz="2800"/>
              <a:t>It measures unconscious motives, which may not always align with explicit behaviors or self-reported goals.</a:t>
            </a:r>
            <a:endParaRPr lang="en-US" altLang="en-GB" sz="2800"/>
          </a:p>
          <a:p>
            <a:r>
              <a:rPr lang="en-US" altLang="en-GB" sz="2800"/>
              <a:t>Cultural differences in storytelling styles can affect the interpretation of results.</a:t>
            </a:r>
            <a:endParaRPr lang="en-US" altLang="en-GB"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981075" y="514324"/>
            <a:ext cx="10058400" cy="1371600"/>
          </a:xfrm>
        </p:spPr>
        <p:txBody>
          <a:bodyPr/>
          <a:p>
            <a:r>
              <a:rPr lang="en-GB" altLang="en-US" b="1"/>
              <a:t>Lecture summary</a:t>
            </a:r>
            <a:endParaRPr lang="en-GB" altLang="en-US" b="1"/>
          </a:p>
        </p:txBody>
      </p:sp>
      <p:sp>
        <p:nvSpPr>
          <p:cNvPr id="5" name="Content Placeholder 4"/>
          <p:cNvSpPr>
            <a:spLocks noGrp="1"/>
          </p:cNvSpPr>
          <p:nvPr>
            <p:ph idx="1"/>
          </p:nvPr>
        </p:nvSpPr>
        <p:spPr>
          <a:xfrm>
            <a:off x="577215" y="2219325"/>
            <a:ext cx="11038205" cy="3931920"/>
          </a:xfrm>
        </p:spPr>
        <p:txBody>
          <a:bodyPr>
            <a:noAutofit/>
          </a:bodyPr>
          <a:p>
            <a:r>
              <a:rPr lang="en-US" altLang="en-GB" b="1"/>
              <a:t>Drive Theory:</a:t>
            </a:r>
            <a:r>
              <a:rPr lang="en-US" altLang="en-GB"/>
              <a:t> behavior is motivated by biological needs or drives, such as hunger or thirst, which create tension that individuals seek to reduce through actions.</a:t>
            </a:r>
            <a:endParaRPr lang="en-US" altLang="en-GB"/>
          </a:p>
          <a:p>
            <a:r>
              <a:rPr lang="en-US" altLang="en-GB" b="1"/>
              <a:t>Instinct Theory</a:t>
            </a:r>
            <a:r>
              <a:rPr lang="en-US" altLang="en-GB"/>
              <a:t>: behaviors are driven by innate, biologically determined instincts that guide actions without conscious reasoning, such as migration in animals.</a:t>
            </a:r>
            <a:endParaRPr lang="en-US" altLang="en-GB"/>
          </a:p>
          <a:p>
            <a:r>
              <a:rPr lang="en-US" altLang="en-GB" b="1"/>
              <a:t>Arousal Theory</a:t>
            </a:r>
            <a:r>
              <a:rPr lang="en-US" altLang="en-GB"/>
              <a:t>: individuals are motivated to maintain an optimal level of physiological or psychological arousal, seeking stimulation when under-aroused or calming activities when over-aroused.</a:t>
            </a:r>
            <a:endParaRPr lang="en-US" altLang="en-GB"/>
          </a:p>
          <a:p>
            <a:r>
              <a:rPr lang="en-US" altLang="en-GB" b="1"/>
              <a:t>Expectancy-Value Theory: </a:t>
            </a:r>
            <a:r>
              <a:rPr lang="en-US" altLang="en-GB"/>
              <a:t>motivation depends on the expectation of achieving a goal and the value or importance placed on that goal.</a:t>
            </a:r>
            <a:endParaRPr lang="en-US" altLang="en-GB"/>
          </a:p>
          <a:p>
            <a:r>
              <a:rPr lang="en-US" altLang="en-GB" b="1"/>
              <a:t>Intrinsic-Extrinsic Motivation</a:t>
            </a:r>
            <a:r>
              <a:rPr lang="en-US" altLang="en-GB"/>
              <a:t>: Intrinsic motivation drives behavior for internal rewards like personal satisfaction, while extrinsic motivation involves external rewards like money or praise.</a:t>
            </a:r>
            <a:endParaRPr lang="en-US" altLang="en-GB"/>
          </a:p>
          <a:p>
            <a:r>
              <a:rPr lang="en-US" altLang="en-GB" b="1"/>
              <a:t>Achievement Motivation: </a:t>
            </a:r>
            <a:r>
              <a:rPr lang="en-US" altLang="en-GB"/>
              <a:t>an individual’s drive to pursue and attain goals, often measured through thematic apperception tests for themes of success and effort.</a:t>
            </a:r>
            <a:endParaRPr lang="en-US" altLang="en-GB"/>
          </a:p>
          <a:p>
            <a:endParaRPr lang="en-US" altLang="en-GB"/>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0</TotalTime>
  <Words>7033</Words>
  <Application>WPS Presentation</Application>
  <PresentationFormat>Widescreen</PresentationFormat>
  <Paragraphs>141</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Garamond</vt:lpstr>
      <vt:lpstr>Century Gothic</vt:lpstr>
      <vt:lpstr>Microsoft YaHei</vt:lpstr>
      <vt:lpstr>Arial Unicode MS</vt:lpstr>
      <vt:lpstr>Calibri</vt:lpstr>
      <vt:lpstr>Savon</vt:lpstr>
      <vt:lpstr>PSYC100 GENERAL PSYCHOLOGY</vt:lpstr>
      <vt:lpstr>Learning Outcomes</vt:lpstr>
      <vt:lpstr>What is motivation?</vt:lpstr>
      <vt:lpstr>What is motivation?</vt:lpstr>
      <vt:lpstr>Drive theory</vt:lpstr>
      <vt:lpstr>PowerPoint 演示文稿</vt:lpstr>
      <vt:lpstr>PowerPoint 演示文稿</vt:lpstr>
      <vt:lpstr>Evaluation</vt:lpstr>
      <vt:lpstr>Instinct theory</vt:lpstr>
      <vt:lpstr>Evaluation</vt:lpstr>
      <vt:lpstr>Arousal theory</vt:lpstr>
      <vt:lpstr>Evaluation </vt:lpstr>
      <vt:lpstr>Why are people motivated for different reasons?</vt:lpstr>
      <vt:lpstr>Expectancy-value theory</vt:lpstr>
      <vt:lpstr>Evaluation </vt:lpstr>
      <vt:lpstr>Intrinsic-extrinsic motivation</vt:lpstr>
      <vt:lpstr>Evaluation</vt:lpstr>
      <vt:lpstr>Achievement motivation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PSYC100 GENERAL PSYCHOLOGY</dc:title>
  <dc:creator>aslı</dc:creator>
  <cp:lastModifiedBy>Asli Niyazi</cp:lastModifiedBy>
  <cp:revision>10</cp:revision>
  <dcterms:created xsi:type="dcterms:W3CDTF">2025-09-10T07:12:00Z</dcterms:created>
  <dcterms:modified xsi:type="dcterms:W3CDTF">2025-09-15T09:33:16Z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2C609DA62A5B4040AD23815C6BDAD496_13</vt:lpwstr>
  </property>
  <property fmtid="{D5CDD505-2E9C-101B-9397-08002B2CF9AE}" pid="3" name="KSOProductBuildVer">
    <vt:lpwstr>2057-12.2.0.22549</vt:lpwstr>
  </property>
</Properties>
</file>