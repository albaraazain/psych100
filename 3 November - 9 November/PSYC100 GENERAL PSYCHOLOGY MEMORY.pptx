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305" r:id="rId6"/>
    <p:sldId id="268" r:id="rId7"/>
    <p:sldId id="283" r:id="rId8"/>
    <p:sldId id="261" r:id="rId9"/>
    <p:sldId id="263" r:id="rId10"/>
    <p:sldId id="264" r:id="rId11"/>
    <p:sldId id="265" r:id="rId12"/>
    <p:sldId id="266" r:id="rId13"/>
    <p:sldId id="267" r:id="rId14"/>
    <p:sldId id="270" r:id="rId15"/>
    <p:sldId id="271" r:id="rId16"/>
    <p:sldId id="272" r:id="rId17"/>
    <p:sldId id="274" r:id="rId18"/>
    <p:sldId id="287" r:id="rId19"/>
    <p:sldId id="275" r:id="rId20"/>
    <p:sldId id="276" r:id="rId21"/>
    <p:sldId id="288" r:id="rId22"/>
    <p:sldId id="289" r:id="rId23"/>
    <p:sldId id="290" r:id="rId24"/>
    <p:sldId id="291" r:id="rId25"/>
    <p:sldId id="278" r:id="rId26"/>
    <p:sldId id="293" r:id="rId27"/>
    <p:sldId id="294" r:id="rId28"/>
    <p:sldId id="295" r:id="rId29"/>
    <p:sldId id="296" r:id="rId30"/>
    <p:sldId id="279" r:id="rId31"/>
    <p:sldId id="298" r:id="rId32"/>
    <p:sldId id="281" r:id="rId33"/>
    <p:sldId id="299" r:id="rId34"/>
    <p:sldId id="304" r:id="rId35"/>
    <p:sldId id="280" r:id="rId36"/>
    <p:sldId id="282" r:id="rId37"/>
    <p:sldId id="300" r:id="rId38"/>
    <p:sldId id="303"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2" d="100"/>
          <a:sy n="112"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1E700B27-DE4C-4B9E-BB11-B9027034A00F}" type="datetimeFigureOut">
              <a:rPr lang="en-US" dirty="0"/>
              <a:t>11/6/2025</a:t>
            </a:fld>
            <a:endParaRPr lang="en-US" dirty="0"/>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217C01CD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400"/>
            </a:lvl1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75C51FCE-E4BB-4680-8E50-3C0E348D2609}" type="datetimeFigureOut">
              <a:rPr lang="en-US" dirty="0"/>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AAA073D-A903-47F8-8D16-77642FB0DF1F}" type="datetimeFigureOut">
              <a:rPr lang="en-US" dirty="0"/>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B91FA40-626B-4CA1-85D0-7A9016E395BA}" type="datetimeFigureOut">
              <a:rPr lang="en-US" dirty="0"/>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3F425EA-B9DC-48A7-991E-9A82573B1B21}" type="datetimeFigureOut">
              <a:rPr lang="en-US" dirty="0"/>
              <a:t>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6CB97F8-6CEB-469B-AFCC-889F2A2B1D5A}" type="datetimeFigureOut">
              <a:rPr lang="en-US" dirty="0"/>
              <a:t>11/6/2025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A9179F-009E-4FA5-B091-7EBB82A185BD}" type="datetimeFigureOut">
              <a:rPr lang="en-US" dirty="0"/>
              <a:t>11/6/2025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E665CEB-0076-4E37-B880-BCEA9784DE0A}" type="datetimeFigureOut">
              <a:rPr lang="en-US" dirty="0"/>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6149E5E-3896-4118-99A7-7B85668F1C5E}" type="datetimeFigureOut">
              <a:rPr lang="en-US" dirty="0"/>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C40F4739-9812-4A9F-890D-2AD6BA5F6EE8}" type="datetimeFigureOut">
              <a:rPr lang="en-US" dirty="0"/>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18845AC5-A3F8-44AA-BA8F-596CDCC976D3}" type="datetimeFigureOut">
              <a:rPr lang="en-US" dirty="0"/>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panose="020B0604020202020204"/>
                <a:cs typeface="Arial" panose="020B0604020202020204"/>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panose="020B0604020202020204"/>
                <a:cs typeface="Arial" panose="020B0604020202020204"/>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C873B183-A821-4095-A363-9EC968635539}" type="datetimeFigureOut">
              <a:rPr lang="en-US" dirty="0"/>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74D01B4-0AA5-45E6-B2E6-5FA4078AEBCF}" type="datetimeFigureOut">
              <a:rPr lang="en-US" dirty="0"/>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147335C-0450-40D7-8612-B3203BED4F28}" type="datetimeFigureOut">
              <a:rPr lang="en-US" dirty="0"/>
              <a:t>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246A105-2A1C-4284-B4EA-07CF89B1A393}" type="datetimeFigureOut">
              <a:rPr lang="en-US" dirty="0"/>
              <a:t>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0DBE609-F3F2-45E6-BD6A-E03A8C86C1AE}" type="datetimeFigureOut">
              <a:rPr lang="en-US" dirty="0"/>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A24AD68-089C-4467-A8F3-EA2BBCA6B44E}" type="datetimeFigureOut">
              <a:rPr lang="en-US" dirty="0"/>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0D914D-B099-4142-A885-11F276715148}" type="datetimeFigureOut">
              <a:rPr lang="en-US" dirty="0"/>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20">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7E0D914D-B099-4142-A885-11F276715148}" type="datetimeFigureOut">
              <a:rPr lang="en-US" dirty="0"/>
              <a:t>11/6/2025</a:t>
            </a:fld>
            <a:endParaRPr lang="en-US" dirty="0"/>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US" dirty="0"/>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D57F1E4F-1CFF-5643-939E-217C01CDF565}"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2099733"/>
            <a:ext cx="8825658" cy="1216035"/>
          </a:xfrm>
        </p:spPr>
        <p:txBody>
          <a:bodyPr/>
          <a:lstStyle/>
          <a:p>
            <a:pPr algn="ctr"/>
            <a:r>
              <a:rPr lang="en-US" sz="3600" b="1" dirty="0" smtClean="0"/>
              <a:t>PSYC100 GENERAL PSYCHOLOGY</a:t>
            </a:r>
            <a:endParaRPr lang="en-US" sz="3600" b="1" dirty="0"/>
          </a:p>
        </p:txBody>
      </p:sp>
      <p:sp>
        <p:nvSpPr>
          <p:cNvPr id="3" name="Subtitle 2"/>
          <p:cNvSpPr>
            <a:spLocks noGrp="1"/>
          </p:cNvSpPr>
          <p:nvPr>
            <p:ph type="subTitle" idx="1"/>
          </p:nvPr>
        </p:nvSpPr>
        <p:spPr/>
        <p:txBody>
          <a:bodyPr>
            <a:normAutofit/>
          </a:bodyPr>
          <a:lstStyle/>
          <a:p>
            <a:pPr algn="ctr"/>
            <a:r>
              <a:rPr lang="en-US" sz="2800" b="1" dirty="0" err="1" smtClean="0"/>
              <a:t>mEMORY</a:t>
            </a:r>
            <a:endParaRPr lang="en-US" sz="28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Learning Outcomes</a:t>
            </a:r>
            <a:endParaRPr lang="en-US" b="1" dirty="0"/>
          </a:p>
        </p:txBody>
      </p:sp>
      <p:sp>
        <p:nvSpPr>
          <p:cNvPr id="3" name="Content Placeholder 2"/>
          <p:cNvSpPr>
            <a:spLocks noGrp="1"/>
          </p:cNvSpPr>
          <p:nvPr>
            <p:ph idx="1"/>
          </p:nvPr>
        </p:nvSpPr>
        <p:spPr/>
        <p:txBody>
          <a:bodyPr>
            <a:normAutofit/>
          </a:bodyPr>
          <a:lstStyle/>
          <a:p>
            <a:r>
              <a:rPr lang="en-US" dirty="0" smtClean="0"/>
              <a:t>What is memory?</a:t>
            </a:r>
          </a:p>
          <a:p>
            <a:r>
              <a:rPr lang="en-GB" altLang="en-US" dirty="0" smtClean="0"/>
              <a:t>Encoding, </a:t>
            </a:r>
            <a:r>
              <a:rPr lang="en-US" dirty="0" smtClean="0"/>
              <a:t>Storage</a:t>
            </a:r>
            <a:r>
              <a:rPr lang="en-GB" altLang="en-US" dirty="0" smtClean="0"/>
              <a:t> and </a:t>
            </a:r>
            <a:r>
              <a:rPr lang="en-US" dirty="0" smtClean="0"/>
              <a:t>Retrieval </a:t>
            </a:r>
          </a:p>
          <a:p>
            <a:r>
              <a:rPr lang="en-US" dirty="0" smtClean="0"/>
              <a:t>The Multi-Store Model (MSM)</a:t>
            </a:r>
          </a:p>
          <a:p>
            <a:r>
              <a:rPr lang="en-US" dirty="0" smtClean="0"/>
              <a:t>Episodic</a:t>
            </a:r>
            <a:r>
              <a:rPr lang="en-GB" altLang="en-US" dirty="0" smtClean="0"/>
              <a:t>, </a:t>
            </a:r>
            <a:r>
              <a:rPr lang="en-US" dirty="0" smtClean="0"/>
              <a:t>Semantic </a:t>
            </a:r>
            <a:r>
              <a:rPr lang="en-GB" altLang="en-US" dirty="0" smtClean="0"/>
              <a:t>and Procedural </a:t>
            </a:r>
            <a:r>
              <a:rPr lang="en-US" dirty="0" smtClean="0"/>
              <a:t>memory</a:t>
            </a:r>
          </a:p>
          <a:p>
            <a:r>
              <a:rPr lang="en-US" dirty="0" smtClean="0"/>
              <a:t>The Working Memory Model (WMM)</a:t>
            </a:r>
          </a:p>
          <a:p>
            <a:r>
              <a:rPr lang="en-US" dirty="0" smtClean="0"/>
              <a:t>The Levels of Processing Model (LOP)</a:t>
            </a:r>
          </a:p>
          <a:p>
            <a:r>
              <a:rPr lang="en-US" dirty="0" smtClean="0"/>
              <a:t>Theories of Forgetting</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memory?</a:t>
            </a:r>
            <a:endParaRPr lang="en-US" dirty="0"/>
          </a:p>
        </p:txBody>
      </p:sp>
      <p:sp>
        <p:nvSpPr>
          <p:cNvPr id="3" name="Content Placeholder 2"/>
          <p:cNvSpPr>
            <a:spLocks noGrp="1"/>
          </p:cNvSpPr>
          <p:nvPr>
            <p:ph idx="1"/>
          </p:nvPr>
        </p:nvSpPr>
        <p:spPr>
          <a:xfrm>
            <a:off x="608330" y="2369185"/>
            <a:ext cx="10965815" cy="3416300"/>
          </a:xfrm>
        </p:spPr>
        <p:txBody>
          <a:bodyPr>
            <a:noAutofit/>
          </a:bodyPr>
          <a:lstStyle/>
          <a:p>
            <a:pPr marL="0" indent="0">
              <a:buNone/>
            </a:pPr>
            <a:r>
              <a:rPr lang="en-US" dirty="0"/>
              <a:t>Memory, like learning, is a </a:t>
            </a:r>
            <a:r>
              <a:rPr lang="en-US" i="1" dirty="0"/>
              <a:t>hypothetical </a:t>
            </a:r>
            <a:r>
              <a:rPr lang="en-US" i="1" dirty="0" smtClean="0"/>
              <a:t>construct </a:t>
            </a:r>
            <a:r>
              <a:rPr lang="en-US" dirty="0" smtClean="0"/>
              <a:t>denoting </a:t>
            </a:r>
            <a:r>
              <a:rPr lang="en-US" dirty="0"/>
              <a:t>three distinguishable but </a:t>
            </a:r>
            <a:r>
              <a:rPr lang="en-US" dirty="0" smtClean="0"/>
              <a:t>interrelated processes</a:t>
            </a:r>
            <a:r>
              <a:rPr lang="en-US" dirty="0"/>
              <a:t>:</a:t>
            </a:r>
          </a:p>
          <a:p>
            <a:pPr marL="0" indent="0">
              <a:buNone/>
            </a:pPr>
            <a:r>
              <a:rPr lang="en-US" dirty="0"/>
              <a:t>●</a:t>
            </a:r>
            <a:r>
              <a:rPr lang="en-US" b="1" dirty="0"/>
              <a:t> </a:t>
            </a:r>
            <a:r>
              <a:rPr lang="en-US" b="1" i="1" dirty="0"/>
              <a:t>registration </a:t>
            </a:r>
            <a:r>
              <a:rPr lang="en-US" b="1" dirty="0"/>
              <a:t>(or </a:t>
            </a:r>
            <a:r>
              <a:rPr lang="en-US" b="1" i="1" dirty="0"/>
              <a:t>encoding</a:t>
            </a:r>
            <a:r>
              <a:rPr lang="en-US" b="1" dirty="0"/>
              <a:t>)</a:t>
            </a:r>
            <a:r>
              <a:rPr lang="en-US" dirty="0"/>
              <a:t> – the </a:t>
            </a:r>
            <a:r>
              <a:rPr lang="en-US" i="1" dirty="0"/>
              <a:t>transformation </a:t>
            </a:r>
            <a:r>
              <a:rPr lang="en-US" dirty="0" smtClean="0"/>
              <a:t>of sensory </a:t>
            </a:r>
            <a:r>
              <a:rPr lang="en-US" dirty="0"/>
              <a:t>input (such as a sound or visual image</a:t>
            </a:r>
            <a:r>
              <a:rPr lang="en-US" dirty="0" smtClean="0"/>
              <a:t>) into </a:t>
            </a:r>
            <a:r>
              <a:rPr lang="en-US" dirty="0"/>
              <a:t>a form which allows it to be entered </a:t>
            </a:r>
            <a:r>
              <a:rPr lang="en-US" dirty="0" smtClean="0"/>
              <a:t>into (</a:t>
            </a:r>
            <a:r>
              <a:rPr lang="en-US" dirty="0"/>
              <a:t>or registered in) memory. </a:t>
            </a:r>
          </a:p>
          <a:p>
            <a:pPr marL="0" indent="0">
              <a:buNone/>
            </a:pPr>
            <a:r>
              <a:rPr lang="en-US" dirty="0"/>
              <a:t>●</a:t>
            </a:r>
            <a:r>
              <a:rPr lang="en-US" b="1" dirty="0"/>
              <a:t> </a:t>
            </a:r>
            <a:r>
              <a:rPr lang="en-US" b="1" i="1" dirty="0"/>
              <a:t>storage</a:t>
            </a:r>
            <a:r>
              <a:rPr lang="en-US" i="1" dirty="0"/>
              <a:t> </a:t>
            </a:r>
            <a:r>
              <a:rPr lang="en-US" dirty="0"/>
              <a:t>– the operation of </a:t>
            </a:r>
            <a:r>
              <a:rPr lang="en-US" i="1" dirty="0"/>
              <a:t>holding </a:t>
            </a:r>
            <a:r>
              <a:rPr lang="en-US" dirty="0"/>
              <a:t>or </a:t>
            </a:r>
            <a:r>
              <a:rPr lang="en-US" i="1" dirty="0" smtClean="0"/>
              <a:t>retaining </a:t>
            </a:r>
            <a:r>
              <a:rPr lang="en-US" dirty="0" smtClean="0"/>
              <a:t>information </a:t>
            </a:r>
            <a:r>
              <a:rPr lang="en-US" dirty="0"/>
              <a:t>in memory. </a:t>
            </a:r>
          </a:p>
          <a:p>
            <a:pPr marL="0" indent="0">
              <a:buNone/>
            </a:pPr>
            <a:r>
              <a:rPr lang="en-US" dirty="0"/>
              <a:t>●</a:t>
            </a:r>
            <a:r>
              <a:rPr lang="en-US" b="1" dirty="0"/>
              <a:t> </a:t>
            </a:r>
            <a:r>
              <a:rPr lang="en-US" b="1" i="1" dirty="0"/>
              <a:t>retrieval </a:t>
            </a:r>
            <a:r>
              <a:rPr lang="en-US" dirty="0"/>
              <a:t>– the process by which stored </a:t>
            </a:r>
            <a:r>
              <a:rPr lang="en-US" dirty="0" smtClean="0"/>
              <a:t>information is </a:t>
            </a:r>
            <a:r>
              <a:rPr lang="en-US" i="1" dirty="0"/>
              <a:t>extracted </a:t>
            </a:r>
            <a:r>
              <a:rPr lang="en-US" dirty="0"/>
              <a:t>from memory.</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4670" y="973455"/>
            <a:ext cx="10989310" cy="706755"/>
          </a:xfrm>
        </p:spPr>
        <p:txBody>
          <a:bodyPr/>
          <a:lstStyle/>
          <a:p>
            <a:pPr algn="ctr"/>
            <a:r>
              <a:rPr lang="en-GB" altLang="en-US"/>
              <a:t>T</a:t>
            </a:r>
            <a:r>
              <a:rPr lang="en-US" altLang="en-GB"/>
              <a:t>hese three processes</a:t>
            </a:r>
            <a:r>
              <a:rPr lang="en-GB" altLang="en-US"/>
              <a:t> </a:t>
            </a:r>
            <a:r>
              <a:rPr lang="en-US" altLang="en-GB"/>
              <a:t>work to manage how we encode, retain, and recall information in our memory.</a:t>
            </a:r>
          </a:p>
        </p:txBody>
      </p:sp>
      <p:sp>
        <p:nvSpPr>
          <p:cNvPr id="5" name="Content Placeholder 4"/>
          <p:cNvSpPr>
            <a:spLocks noGrp="1"/>
          </p:cNvSpPr>
          <p:nvPr>
            <p:ph idx="1"/>
          </p:nvPr>
        </p:nvSpPr>
        <p:spPr>
          <a:xfrm>
            <a:off x="1155065" y="2603500"/>
            <a:ext cx="9961245" cy="3416300"/>
          </a:xfrm>
        </p:spPr>
        <p:txBody>
          <a:bodyPr>
            <a:normAutofit fontScale="87500" lnSpcReduction="20000"/>
          </a:bodyPr>
          <a:lstStyle/>
          <a:p>
            <a:r>
              <a:rPr lang="en-US" altLang="en-GB" b="1"/>
              <a:t>Registration (Encoding)</a:t>
            </a:r>
            <a:r>
              <a:rPr lang="en-US" altLang="en-GB"/>
              <a:t>: This is the initial step where sensory information is transformed into a format that can be stored in memory. It involves selective attention and relates to questions like "How is sensory information processed in a way that allows it to be stored?" or "How are things remembered?"</a:t>
            </a:r>
          </a:p>
          <a:p>
            <a:r>
              <a:rPr lang="en-US" altLang="en-GB" b="1"/>
              <a:t>Storage</a:t>
            </a:r>
            <a:r>
              <a:rPr lang="en-US" altLang="en-GB"/>
              <a:t>: This process involves retaining information in memory over time. It relates to questions such as "Where are our memories kept?" and "Is there more than one kind of memory?"</a:t>
            </a:r>
          </a:p>
          <a:p>
            <a:r>
              <a:rPr lang="en-US" altLang="en-GB" b="1"/>
              <a:t>Retrieval</a:t>
            </a:r>
            <a:r>
              <a:rPr lang="en-US" altLang="en-GB"/>
              <a:t>: This is the process of recovering stored information when needed. It connects to questions like "Are there different kinds of remembering?" "What do we remember?" and "Why do we forget?"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52195" y="691515"/>
            <a:ext cx="10260330" cy="5669280"/>
          </a:xfrm>
          <a:prstGeom prst="rect">
            <a:avLst/>
          </a:prstGeom>
        </p:spPr>
      </p:pic>
    </p:spTree>
    <p:extLst>
      <p:ext uri="{BB962C8B-B14F-4D97-AF65-F5344CB8AC3E}">
        <p14:creationId xmlns:p14="http://schemas.microsoft.com/office/powerpoint/2010/main" val="284744097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smtClean="0"/>
              <a:t>I - ENCODING </a:t>
            </a:r>
            <a:r>
              <a:rPr lang="en-GB" altLang="en-US" dirty="0"/>
              <a:t>(REGISTRATION)</a:t>
            </a:r>
          </a:p>
        </p:txBody>
      </p:sp>
      <p:sp>
        <p:nvSpPr>
          <p:cNvPr id="3" name="Content Placeholder 2"/>
          <p:cNvSpPr>
            <a:spLocks noGrp="1"/>
          </p:cNvSpPr>
          <p:nvPr>
            <p:ph idx="1"/>
          </p:nvPr>
        </p:nvSpPr>
        <p:spPr>
          <a:xfrm>
            <a:off x="554990" y="2461895"/>
            <a:ext cx="11172190" cy="3974465"/>
          </a:xfrm>
        </p:spPr>
        <p:txBody>
          <a:bodyPr>
            <a:normAutofit fontScale="87500"/>
          </a:bodyPr>
          <a:lstStyle/>
          <a:p>
            <a:pPr marL="0" indent="0">
              <a:buNone/>
            </a:pPr>
            <a:r>
              <a:rPr lang="en-US" altLang="en-GB"/>
              <a:t>Some information is encoded automatically without us being aware of it. Most </a:t>
            </a:r>
          </a:p>
          <a:p>
            <a:pPr marL="0" indent="0">
              <a:buNone/>
            </a:pPr>
            <a:r>
              <a:rPr lang="en-US" altLang="en-GB"/>
              <a:t>people probably can recall what they had for breakfast yesterday, even though </a:t>
            </a:r>
          </a:p>
          <a:p>
            <a:pPr marL="0" indent="0">
              <a:buNone/>
            </a:pPr>
            <a:r>
              <a:rPr lang="en-US" altLang="en-GB"/>
              <a:t>they haven’t tried to remember it.</a:t>
            </a:r>
            <a:r>
              <a:rPr lang="en-GB" altLang="en-US"/>
              <a:t> </a:t>
            </a:r>
            <a:r>
              <a:rPr lang="en-US" altLang="en-GB"/>
              <a:t>Other information will only become encoded if you pay attention to it</a:t>
            </a:r>
            <a:r>
              <a:rPr lang="en-GB" altLang="en-US"/>
              <a:t>.</a:t>
            </a:r>
            <a:endParaRPr lang="en-US" altLang="en-GB"/>
          </a:p>
          <a:p>
            <a:pPr marL="0" indent="0">
              <a:buNone/>
            </a:pPr>
            <a:endParaRPr lang="en-US" altLang="en-GB"/>
          </a:p>
          <a:p>
            <a:pPr marL="0" indent="0">
              <a:buNone/>
            </a:pPr>
            <a:r>
              <a:rPr lang="en-US" altLang="en-GB"/>
              <a:t>There are three ways of encoding information to be used by our memory system:</a:t>
            </a:r>
          </a:p>
          <a:p>
            <a:pPr marL="0" indent="0">
              <a:buNone/>
            </a:pPr>
            <a:r>
              <a:rPr lang="en-US" altLang="en-US"/>
              <a:t>➢</a:t>
            </a:r>
            <a:r>
              <a:rPr lang="en-US" altLang="en-GB"/>
              <a:t> </a:t>
            </a:r>
            <a:r>
              <a:rPr lang="en-US" altLang="en-GB" b="1"/>
              <a:t>acoustic encoding</a:t>
            </a:r>
            <a:r>
              <a:rPr lang="en-US" altLang="en-GB"/>
              <a:t> – </a:t>
            </a:r>
            <a:r>
              <a:rPr lang="en-GB" altLang="en-US"/>
              <a:t>encoding of sound</a:t>
            </a:r>
            <a:endParaRPr lang="en-US" altLang="en-GB"/>
          </a:p>
          <a:p>
            <a:pPr marL="0" indent="0">
              <a:buNone/>
            </a:pPr>
            <a:r>
              <a:rPr lang="en-US" altLang="en-US"/>
              <a:t>➢</a:t>
            </a:r>
            <a:r>
              <a:rPr lang="en-US" altLang="en-GB"/>
              <a:t> </a:t>
            </a:r>
            <a:r>
              <a:rPr lang="en-US" altLang="en-GB" b="1"/>
              <a:t>visual encoding</a:t>
            </a:r>
            <a:r>
              <a:rPr lang="en-US" altLang="en-GB"/>
              <a:t> – </a:t>
            </a:r>
            <a:r>
              <a:rPr lang="en-GB" altLang="en-US"/>
              <a:t>encoding of</a:t>
            </a:r>
            <a:r>
              <a:rPr lang="en-US" altLang="en-GB"/>
              <a:t> picture</a:t>
            </a:r>
            <a:r>
              <a:rPr lang="en-GB" altLang="en-US"/>
              <a:t> images</a:t>
            </a:r>
            <a:endParaRPr lang="en-US" altLang="en-GB"/>
          </a:p>
          <a:p>
            <a:pPr marL="0" indent="0">
              <a:buNone/>
            </a:pPr>
            <a:r>
              <a:rPr lang="en-US" altLang="en-US"/>
              <a:t>➢</a:t>
            </a:r>
            <a:r>
              <a:rPr lang="en-US" altLang="en-GB"/>
              <a:t> </a:t>
            </a:r>
            <a:r>
              <a:rPr lang="en-US" altLang="en-GB" b="1"/>
              <a:t>semantic encoding</a:t>
            </a:r>
            <a:r>
              <a:rPr lang="en-US" altLang="en-GB"/>
              <a:t> – </a:t>
            </a:r>
            <a:r>
              <a:rPr lang="en-GB" altLang="en-US"/>
              <a:t>encoding of meaning</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altLang="en-US"/>
              <a:t>Examples</a:t>
            </a:r>
          </a:p>
        </p:txBody>
      </p:sp>
      <p:sp>
        <p:nvSpPr>
          <p:cNvPr id="5" name="Content Placeholder 4"/>
          <p:cNvSpPr>
            <a:spLocks noGrp="1"/>
          </p:cNvSpPr>
          <p:nvPr>
            <p:ph idx="1"/>
          </p:nvPr>
        </p:nvSpPr>
        <p:spPr>
          <a:xfrm>
            <a:off x="667385" y="2603500"/>
            <a:ext cx="11038840" cy="3416300"/>
          </a:xfrm>
        </p:spPr>
        <p:txBody>
          <a:bodyPr/>
          <a:lstStyle/>
          <a:p>
            <a:pPr marL="0" indent="0">
              <a:buNone/>
            </a:pPr>
            <a:r>
              <a:rPr lang="en-US" altLang="en-GB" b="1"/>
              <a:t>Acoustic Encoding:</a:t>
            </a:r>
            <a:r>
              <a:rPr lang="en-US" altLang="en-GB"/>
              <a:t> </a:t>
            </a:r>
            <a:r>
              <a:rPr lang="en-GB" altLang="en-US"/>
              <a:t>If you are repeating someone’s phone number aloud</a:t>
            </a:r>
            <a:r>
              <a:rPr lang="en-US" altLang="en-GB"/>
              <a:t>.</a:t>
            </a:r>
          </a:p>
          <a:p>
            <a:pPr marL="0" indent="0">
              <a:buNone/>
            </a:pPr>
            <a:r>
              <a:rPr lang="en-US" altLang="en-GB" b="1"/>
              <a:t>Visual Encoding:</a:t>
            </a:r>
            <a:r>
              <a:rPr lang="en-US" altLang="en-GB"/>
              <a:t> Picturing the face of someone you met or imagining the layout of a room you visited.</a:t>
            </a:r>
          </a:p>
          <a:p>
            <a:pPr marL="0" indent="0">
              <a:buNone/>
            </a:pPr>
            <a:r>
              <a:rPr lang="en-US" altLang="en-GB" b="1"/>
              <a:t>Semantic Encoding: </a:t>
            </a:r>
            <a:r>
              <a:rPr lang="en-US" altLang="en-GB"/>
              <a:t>Understanding and recalling that "justice" means fairness or remembering the concept of "photosynthesis" as how plants make food.</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smtClean="0"/>
              <a:t>II - STORAGE</a:t>
            </a:r>
            <a:endParaRPr lang="en-GB" altLang="en-US" dirty="0"/>
          </a:p>
        </p:txBody>
      </p:sp>
      <p:sp>
        <p:nvSpPr>
          <p:cNvPr id="3" name="Content Placeholder 2"/>
          <p:cNvSpPr>
            <a:spLocks noGrp="1"/>
          </p:cNvSpPr>
          <p:nvPr>
            <p:ph idx="1"/>
          </p:nvPr>
        </p:nvSpPr>
        <p:spPr>
          <a:xfrm>
            <a:off x="1155065" y="2603500"/>
            <a:ext cx="10500995" cy="3416300"/>
          </a:xfrm>
        </p:spPr>
        <p:txBody>
          <a:bodyPr>
            <a:noAutofit/>
          </a:bodyPr>
          <a:lstStyle/>
          <a:p>
            <a:r>
              <a:rPr lang="en-GB" altLang="en-US" sz="2000"/>
              <a:t>There are 3 forms of storage:</a:t>
            </a:r>
          </a:p>
          <a:p>
            <a:pPr marL="0" indent="0">
              <a:buNone/>
            </a:pPr>
            <a:r>
              <a:rPr lang="en-GB" altLang="en-US" sz="2000" b="1"/>
              <a:t>1. Sensory memory -</a:t>
            </a:r>
            <a:r>
              <a:rPr lang="en-GB" altLang="en-US" sz="2000"/>
              <a:t> </a:t>
            </a:r>
            <a:r>
              <a:rPr lang="en-US" altLang="en-GB" sz="2000"/>
              <a:t> This is the initial stage where sensory information (sight, sound, etc.) is briefly held for a very short period, typically less than a second to a few seconds. It acts as a buffer, allowing us to process and decide what to pay attention to.</a:t>
            </a:r>
          </a:p>
          <a:p>
            <a:pPr marL="0" indent="0">
              <a:buNone/>
            </a:pPr>
            <a:r>
              <a:rPr lang="en-GB" altLang="en-US" sz="2000" b="1"/>
              <a:t>2. Short-term memory - </a:t>
            </a:r>
            <a:r>
              <a:rPr lang="en-US" altLang="en-GB" sz="2000"/>
              <a:t>This holds information for a limited time, usually 20-30 seconds, and has a small capacity (about 5-9 items). It’s where we actively think about or manipulate information, like remembering a phone number long enough to dial it.</a:t>
            </a:r>
          </a:p>
          <a:p>
            <a:pPr marL="0" indent="0">
              <a:buNone/>
            </a:pPr>
            <a:r>
              <a:rPr lang="en-GB" altLang="en-US" sz="2000" b="1"/>
              <a:t>3. Long-term memory - </a:t>
            </a:r>
            <a:r>
              <a:rPr lang="en-US" altLang="en-GB" sz="2000"/>
              <a:t>This stores information for an extended period, potentially a lifetime, with a vast capacity. It includes knowledge, skills, and experiences, and is accessed when we recall past events or learned facts.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altLang="en-US"/>
              <a:t>STM vs LTM</a:t>
            </a:r>
          </a:p>
        </p:txBody>
      </p:sp>
      <p:sp>
        <p:nvSpPr>
          <p:cNvPr id="5" name="Content Placeholder 4"/>
          <p:cNvSpPr>
            <a:spLocks noGrp="1"/>
          </p:cNvSpPr>
          <p:nvPr>
            <p:ph idx="1"/>
          </p:nvPr>
        </p:nvSpPr>
        <p:spPr>
          <a:xfrm>
            <a:off x="1155065" y="2603500"/>
            <a:ext cx="10399395" cy="3416300"/>
          </a:xfrm>
        </p:spPr>
        <p:txBody>
          <a:bodyPr/>
          <a:lstStyle/>
          <a:p>
            <a:pPr marL="0" indent="0">
              <a:buNone/>
            </a:pPr>
            <a:r>
              <a:rPr lang="en-US" altLang="en-US"/>
              <a:t>●</a:t>
            </a:r>
            <a:r>
              <a:rPr lang="en-US" altLang="en-GB"/>
              <a:t>	 </a:t>
            </a:r>
            <a:r>
              <a:rPr lang="en-US" altLang="en-GB" b="1"/>
              <a:t>capacity</a:t>
            </a:r>
            <a:r>
              <a:rPr lang="en-US" altLang="en-GB"/>
              <a:t> – how much information can be stored</a:t>
            </a:r>
          </a:p>
          <a:p>
            <a:pPr marL="0" indent="0">
              <a:buNone/>
            </a:pPr>
            <a:r>
              <a:rPr lang="en-US" altLang="en-US"/>
              <a:t>●</a:t>
            </a:r>
            <a:r>
              <a:rPr lang="en-US" altLang="en-GB"/>
              <a:t>	 </a:t>
            </a:r>
            <a:r>
              <a:rPr lang="en-US" altLang="en-GB" b="1"/>
              <a:t>duration</a:t>
            </a:r>
            <a:r>
              <a:rPr lang="en-US" altLang="en-GB"/>
              <a:t> – how long the information can be held in storage</a:t>
            </a:r>
          </a:p>
          <a:p>
            <a:pPr marL="0" indent="0">
              <a:buNone/>
            </a:pPr>
            <a:r>
              <a:rPr lang="en-US" altLang="en-US"/>
              <a:t>●</a:t>
            </a:r>
            <a:r>
              <a:rPr lang="en-US" altLang="en-GB"/>
              <a:t>	 </a:t>
            </a:r>
            <a:r>
              <a:rPr lang="en-US" altLang="en-GB" b="1"/>
              <a:t>coding</a:t>
            </a:r>
            <a:r>
              <a:rPr lang="en-US" altLang="en-GB"/>
              <a:t> – how sensory input is represented by the memory system.</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Short-term memory CAPACITY</a:t>
            </a:r>
          </a:p>
        </p:txBody>
      </p:sp>
      <p:sp>
        <p:nvSpPr>
          <p:cNvPr id="3" name="Content Placeholder 2"/>
          <p:cNvSpPr>
            <a:spLocks noGrp="1"/>
          </p:cNvSpPr>
          <p:nvPr>
            <p:ph idx="1"/>
          </p:nvPr>
        </p:nvSpPr>
        <p:spPr>
          <a:xfrm>
            <a:off x="1155065" y="2603500"/>
            <a:ext cx="10419080" cy="3416300"/>
          </a:xfrm>
        </p:spPr>
        <p:txBody>
          <a:bodyPr/>
          <a:lstStyle/>
          <a:p>
            <a:r>
              <a:rPr lang="en-GB" altLang="en-US"/>
              <a:t>George Miller (1956) </a:t>
            </a:r>
            <a:r>
              <a:rPr lang="en-US" altLang="en-GB"/>
              <a:t>emphasized that the capacity of the STM is approximately “seven plus or minus two” pieces of information – digits, words etc. (the magic number 7+/-2).</a:t>
            </a:r>
          </a:p>
          <a:p>
            <a:pPr marL="0" indent="0">
              <a:buNone/>
            </a:pPr>
            <a:endParaRPr lang="en-US" altLang="en-GB"/>
          </a:p>
          <a:p>
            <a:pPr marL="0" indent="0">
              <a:buNone/>
            </a:pPr>
            <a:endParaRPr lang="en-US" altLang="en-GB"/>
          </a:p>
        </p:txBody>
      </p:sp>
      <p:pic>
        <p:nvPicPr>
          <p:cNvPr id="4" name="Picture 3"/>
          <p:cNvPicPr>
            <a:picLocks noChangeAspect="1"/>
          </p:cNvPicPr>
          <p:nvPr/>
        </p:nvPicPr>
        <p:blipFill>
          <a:blip r:embed="rId2"/>
          <a:stretch>
            <a:fillRect/>
          </a:stretch>
        </p:blipFill>
        <p:spPr>
          <a:xfrm>
            <a:off x="1648460" y="4813300"/>
            <a:ext cx="1813560" cy="103632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Short-term memory CAPACITY</a:t>
            </a:r>
          </a:p>
        </p:txBody>
      </p:sp>
      <p:sp>
        <p:nvSpPr>
          <p:cNvPr id="3" name="Content Placeholder 2"/>
          <p:cNvSpPr>
            <a:spLocks noGrp="1"/>
          </p:cNvSpPr>
          <p:nvPr>
            <p:ph idx="1"/>
          </p:nvPr>
        </p:nvSpPr>
        <p:spPr>
          <a:xfrm>
            <a:off x="1155065" y="2603500"/>
            <a:ext cx="10500995" cy="3416300"/>
          </a:xfrm>
        </p:spPr>
        <p:txBody>
          <a:bodyPr/>
          <a:lstStyle/>
          <a:p>
            <a:pPr marL="0" indent="0">
              <a:buNone/>
            </a:pPr>
            <a:r>
              <a:rPr lang="en-US" altLang="en-GB" b="1"/>
              <a:t>Chunking</a:t>
            </a:r>
            <a:r>
              <a:rPr lang="en-US" altLang="en-GB"/>
              <a:t> of information can lead to an increase in the STM capacity. This is the reason why a hyphenated phone number is EASIER to remember than a single long number.</a:t>
            </a:r>
          </a:p>
          <a:p>
            <a:pPr marL="0" indent="0">
              <a:buNone/>
            </a:pPr>
            <a:endParaRPr lang="en-US" altLang="en-GB"/>
          </a:p>
          <a:p>
            <a:pPr marL="0" indent="0">
              <a:buNone/>
            </a:pPr>
            <a:endParaRPr lang="en-US" altLang="en-GB"/>
          </a:p>
        </p:txBody>
      </p:sp>
      <p:pic>
        <p:nvPicPr>
          <p:cNvPr id="5" name="Picture 4"/>
          <p:cNvPicPr>
            <a:picLocks noChangeAspect="1"/>
          </p:cNvPicPr>
          <p:nvPr/>
        </p:nvPicPr>
        <p:blipFill>
          <a:blip r:embed="rId2"/>
          <a:stretch>
            <a:fillRect/>
          </a:stretch>
        </p:blipFill>
        <p:spPr>
          <a:xfrm>
            <a:off x="1356360" y="4373880"/>
            <a:ext cx="4739640" cy="156972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Short-term memory DURATION</a:t>
            </a:r>
          </a:p>
        </p:txBody>
      </p:sp>
      <p:sp>
        <p:nvSpPr>
          <p:cNvPr id="3" name="Content Placeholder 2"/>
          <p:cNvSpPr>
            <a:spLocks noGrp="1"/>
          </p:cNvSpPr>
          <p:nvPr>
            <p:ph idx="1"/>
          </p:nvPr>
        </p:nvSpPr>
        <p:spPr>
          <a:xfrm>
            <a:off x="575310" y="2603500"/>
            <a:ext cx="10937875" cy="3416300"/>
          </a:xfrm>
        </p:spPr>
        <p:txBody>
          <a:bodyPr>
            <a:normAutofit/>
          </a:bodyPr>
          <a:lstStyle/>
          <a:p>
            <a:pPr marL="0" indent="0">
              <a:buNone/>
            </a:pPr>
            <a:r>
              <a:rPr lang="en-US" altLang="en-GB" dirty="0"/>
              <a:t>The duration of STM is thought to be </a:t>
            </a:r>
            <a:r>
              <a:rPr lang="en-US" altLang="en-GB" b="1" dirty="0"/>
              <a:t>15-30 seconds</a:t>
            </a:r>
            <a:r>
              <a:rPr lang="en-US" altLang="en-GB" dirty="0"/>
              <a:t>. If information is not rehearsed within 18 to 30 seconds whilst in STM, it is lost due to its limited duration.</a:t>
            </a:r>
            <a:r>
              <a:rPr lang="en-GB" altLang="en-US" dirty="0"/>
              <a:t> </a:t>
            </a:r>
            <a:r>
              <a:rPr lang="en-US" altLang="en-GB" dirty="0"/>
              <a:t>Short-term memory encodes information </a:t>
            </a:r>
            <a:r>
              <a:rPr lang="en-US" altLang="en-GB" b="1" dirty="0"/>
              <a:t>acoustically</a:t>
            </a:r>
            <a:r>
              <a:rPr lang="en-US" altLang="en-GB" dirty="0"/>
              <a:t> through repetition of information. If we rehearse (repeat) this information (say it over and over to ourselves), we can store it in our short-term memory for many minutes and it can then be transferred to the long-term memory store</a:t>
            </a:r>
            <a:r>
              <a:rPr lang="en-GB" altLang="en-US" dirty="0"/>
              <a:t> (almost indefinitely) (Peterson &amp; Peterson, 1959)</a:t>
            </a:r>
            <a:r>
              <a:rPr lang="en-US" altLang="en-GB" dirty="0"/>
              <a: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Short-term memory CODING</a:t>
            </a:r>
          </a:p>
        </p:txBody>
      </p:sp>
      <p:sp>
        <p:nvSpPr>
          <p:cNvPr id="3" name="Content Placeholder 2"/>
          <p:cNvSpPr>
            <a:spLocks noGrp="1"/>
          </p:cNvSpPr>
          <p:nvPr>
            <p:ph idx="1"/>
          </p:nvPr>
        </p:nvSpPr>
        <p:spPr/>
        <p:txBody>
          <a:bodyPr/>
          <a:lstStyle/>
          <a:p>
            <a:r>
              <a:rPr lang="en-US" altLang="en-GB" dirty="0"/>
              <a:t>Mainly </a:t>
            </a:r>
            <a:r>
              <a:rPr lang="en-US" altLang="en-GB" b="1" dirty="0" smtClean="0"/>
              <a:t>acoustic</a:t>
            </a:r>
            <a:r>
              <a:rPr lang="en-US" altLang="en-GB" dirty="0" smtClean="0"/>
              <a:t> (e.g. </a:t>
            </a:r>
            <a:r>
              <a:rPr lang="en-US" dirty="0" smtClean="0"/>
              <a:t>When </a:t>
            </a:r>
            <a:r>
              <a:rPr lang="en-US" dirty="0"/>
              <a:t>you try to remember a phone number by repeating it in your </a:t>
            </a:r>
            <a:r>
              <a:rPr lang="en-US" dirty="0" smtClean="0"/>
              <a:t>head)</a:t>
            </a:r>
            <a:r>
              <a:rPr lang="en-GB" altLang="en-US" dirty="0" smtClean="0"/>
              <a:t>; </a:t>
            </a:r>
            <a:r>
              <a:rPr lang="en-US" altLang="en-GB" dirty="0"/>
              <a:t>Some </a:t>
            </a:r>
            <a:r>
              <a:rPr lang="en-US" altLang="en-GB" b="1" dirty="0" smtClean="0"/>
              <a:t>semantic</a:t>
            </a:r>
            <a:r>
              <a:rPr lang="en-US" altLang="en-GB" dirty="0" smtClean="0"/>
              <a:t> (</a:t>
            </a:r>
            <a:r>
              <a:rPr lang="en-US" dirty="0" smtClean="0"/>
              <a:t>encoding </a:t>
            </a:r>
            <a:r>
              <a:rPr lang="en-US" dirty="0"/>
              <a:t>by </a:t>
            </a:r>
            <a:r>
              <a:rPr lang="en-US" dirty="0" smtClean="0"/>
              <a:t>meaning)</a:t>
            </a:r>
            <a:r>
              <a:rPr lang="en-GB" altLang="en-US" dirty="0" smtClean="0"/>
              <a:t>; </a:t>
            </a:r>
            <a:r>
              <a:rPr lang="en-US" altLang="en-GB" b="1" dirty="0"/>
              <a:t>Visual</a:t>
            </a:r>
            <a:r>
              <a:rPr lang="en-US" altLang="en-GB" dirty="0"/>
              <a:t> is also </a:t>
            </a:r>
            <a:r>
              <a:rPr lang="en-US" altLang="en-GB" dirty="0" smtClean="0"/>
              <a:t>possible (e.g. </a:t>
            </a:r>
            <a:r>
              <a:rPr lang="en-US" dirty="0"/>
              <a:t>briefly remembering an image or shape</a:t>
            </a:r>
            <a:r>
              <a:rPr lang="en-US" dirty="0" smtClean="0"/>
              <a:t>.)</a:t>
            </a:r>
            <a:endParaRPr lang="en-US" altLang="en-GB"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GB" altLang="en-US"/>
              <a:t>Long-term memory CAPACITY &amp; DURATION</a:t>
            </a:r>
          </a:p>
        </p:txBody>
      </p:sp>
      <p:sp>
        <p:nvSpPr>
          <p:cNvPr id="5" name="Content Placeholder 4"/>
          <p:cNvSpPr>
            <a:spLocks noGrp="1"/>
          </p:cNvSpPr>
          <p:nvPr>
            <p:ph idx="1"/>
          </p:nvPr>
        </p:nvSpPr>
        <p:spPr>
          <a:xfrm>
            <a:off x="1155065" y="2603500"/>
            <a:ext cx="10245725" cy="3416300"/>
          </a:xfrm>
        </p:spPr>
        <p:txBody>
          <a:bodyPr>
            <a:normAutofit/>
          </a:bodyPr>
          <a:lstStyle/>
          <a:p>
            <a:pPr marL="0" indent="0">
              <a:buNone/>
            </a:pPr>
            <a:r>
              <a:rPr lang="en-US" altLang="en-GB"/>
              <a:t>The capacity of LTM could be </a:t>
            </a:r>
            <a:r>
              <a:rPr lang="en-US" altLang="en-GB" b="1"/>
              <a:t>unlimited </a:t>
            </a:r>
            <a:r>
              <a:rPr lang="en-US" altLang="en-GB"/>
              <a:t>as it can hold a potentially unlimited amount of information. </a:t>
            </a:r>
          </a:p>
          <a:p>
            <a:pPr marL="0" indent="0">
              <a:buNone/>
            </a:pPr>
            <a:r>
              <a:rPr lang="en-US" altLang="en-GB"/>
              <a:t>Duration: Long-term memory can store memories for minutes or up to an</a:t>
            </a:r>
            <a:r>
              <a:rPr lang="en-US" altLang="en-GB" b="1"/>
              <a:t> entire lifetime.</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Long-term memory CODING</a:t>
            </a:r>
          </a:p>
        </p:txBody>
      </p:sp>
      <p:sp>
        <p:nvSpPr>
          <p:cNvPr id="3" name="Content Placeholder 2"/>
          <p:cNvSpPr>
            <a:spLocks noGrp="1"/>
          </p:cNvSpPr>
          <p:nvPr>
            <p:ph idx="1"/>
          </p:nvPr>
        </p:nvSpPr>
        <p:spPr>
          <a:xfrm>
            <a:off x="544830" y="2603500"/>
            <a:ext cx="10764520" cy="3416300"/>
          </a:xfrm>
        </p:spPr>
        <p:txBody>
          <a:bodyPr/>
          <a:lstStyle/>
          <a:p>
            <a:pPr marL="0" indent="0">
              <a:buNone/>
            </a:pPr>
            <a:r>
              <a:rPr lang="en-US" altLang="en-GB" dirty="0"/>
              <a:t>Encoding in long-term memory is largely </a:t>
            </a:r>
            <a:r>
              <a:rPr lang="en-US" altLang="en-GB" b="1" dirty="0" smtClean="0"/>
              <a:t>semantic </a:t>
            </a:r>
            <a:r>
              <a:rPr lang="en-US" altLang="en-GB" dirty="0" smtClean="0"/>
              <a:t>(e.g. </a:t>
            </a:r>
            <a:r>
              <a:rPr lang="en-US" dirty="0"/>
              <a:t>You remember that “a whale is a mammal” because of what it means, not how it </a:t>
            </a:r>
            <a:r>
              <a:rPr lang="en-US" dirty="0" smtClean="0"/>
              <a:t>sounds)</a:t>
            </a:r>
            <a:r>
              <a:rPr lang="en-US" altLang="en-GB" dirty="0" smtClean="0"/>
              <a:t>, </a:t>
            </a:r>
            <a:r>
              <a:rPr lang="en-US" altLang="en-GB" dirty="0"/>
              <a:t>but can be </a:t>
            </a:r>
            <a:r>
              <a:rPr lang="en-US" altLang="en-GB" b="1" dirty="0"/>
              <a:t>visual</a:t>
            </a:r>
            <a:r>
              <a:rPr lang="en-US" altLang="en-GB" dirty="0"/>
              <a:t> </a:t>
            </a:r>
            <a:r>
              <a:rPr lang="en-US" altLang="en-GB" dirty="0" smtClean="0"/>
              <a:t>(e.g. </a:t>
            </a:r>
            <a:r>
              <a:rPr lang="en-US" dirty="0"/>
              <a:t>remembering what your childhood home looks </a:t>
            </a:r>
            <a:r>
              <a:rPr lang="en-US" dirty="0" smtClean="0"/>
              <a:t>like) </a:t>
            </a:r>
            <a:r>
              <a:rPr lang="en-US" altLang="en-GB" dirty="0" smtClean="0"/>
              <a:t>or </a:t>
            </a:r>
            <a:r>
              <a:rPr lang="en-US" altLang="en-GB" b="1" dirty="0" smtClean="0"/>
              <a:t>acoustic </a:t>
            </a:r>
            <a:r>
              <a:rPr lang="en-US" altLang="en-GB" dirty="0" smtClean="0"/>
              <a:t>(e.g. </a:t>
            </a:r>
            <a:r>
              <a:rPr lang="en-US" dirty="0"/>
              <a:t>remembering the tune of a favorite </a:t>
            </a:r>
            <a:r>
              <a:rPr lang="en-US" dirty="0" smtClean="0"/>
              <a:t>song)</a:t>
            </a:r>
            <a:r>
              <a:rPr lang="en-US" altLang="en-GB" dirty="0" smtClean="0"/>
              <a:t>.</a:t>
            </a:r>
            <a:endParaRPr lang="en-US" altLang="en-GB"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406650" y="958850"/>
            <a:ext cx="7491095" cy="4959985"/>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altLang="en-US"/>
              <a:t>RETRIEVAL</a:t>
            </a:r>
          </a:p>
        </p:txBody>
      </p:sp>
      <p:sp>
        <p:nvSpPr>
          <p:cNvPr id="5" name="Content Placeholder 4"/>
          <p:cNvSpPr>
            <a:spLocks noGrp="1"/>
          </p:cNvSpPr>
          <p:nvPr>
            <p:ph idx="1"/>
          </p:nvPr>
        </p:nvSpPr>
        <p:spPr/>
        <p:txBody>
          <a:bodyPr/>
          <a:lstStyle/>
          <a:p>
            <a:pPr marL="0" indent="0">
              <a:buNone/>
            </a:pPr>
            <a:r>
              <a:rPr lang="en-US" altLang="en-GB"/>
              <a:t>Retrieval refers to getting information out of storage. If we cannot remember something, it may be because we are unable to retrieve it.</a:t>
            </a:r>
          </a:p>
          <a:p>
            <a:pPr marL="0" indent="0">
              <a:buNone/>
            </a:pPr>
            <a:endParaRPr lang="en-US" altLang="en-GB"/>
          </a:p>
          <a:p>
            <a:pPr marL="0" indent="0">
              <a:buNone/>
            </a:pPr>
            <a:r>
              <a:rPr lang="en-GB" altLang="en-US"/>
              <a:t>e.g. Ebbinghaus study (1885)</a:t>
            </a:r>
          </a:p>
          <a:p>
            <a:pPr marL="0" indent="0">
              <a:buNone/>
            </a:pPr>
            <a:r>
              <a:rPr lang="en-GB" altLang="en-US"/>
              <a:t>e.g. Standing study (1973)</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93775" y="549275"/>
            <a:ext cx="4730115" cy="5379720"/>
          </a:xfrm>
          <a:prstGeom prst="rect">
            <a:avLst/>
          </a:prstGeom>
        </p:spPr>
      </p:pic>
      <p:pic>
        <p:nvPicPr>
          <p:cNvPr id="5" name="Picture 4"/>
          <p:cNvPicPr>
            <a:picLocks noChangeAspect="1"/>
          </p:cNvPicPr>
          <p:nvPr/>
        </p:nvPicPr>
        <p:blipFill>
          <a:blip r:embed="rId3"/>
          <a:stretch>
            <a:fillRect/>
          </a:stretch>
        </p:blipFill>
        <p:spPr>
          <a:xfrm>
            <a:off x="5841365" y="549275"/>
            <a:ext cx="5379085" cy="537972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altLang="en-US"/>
              <a:t>The Multi-Store Model (MSM)</a:t>
            </a:r>
          </a:p>
        </p:txBody>
      </p:sp>
      <p:sp>
        <p:nvSpPr>
          <p:cNvPr id="5" name="Content Placeholder 4"/>
          <p:cNvSpPr>
            <a:spLocks noGrp="1"/>
          </p:cNvSpPr>
          <p:nvPr>
            <p:ph idx="1"/>
          </p:nvPr>
        </p:nvSpPr>
        <p:spPr>
          <a:xfrm>
            <a:off x="544830" y="2603500"/>
            <a:ext cx="11100435" cy="3416300"/>
          </a:xfrm>
        </p:spPr>
        <p:txBody>
          <a:bodyPr>
            <a:normAutofit fontScale="87500" lnSpcReduction="10000"/>
          </a:bodyPr>
          <a:lstStyle/>
          <a:p>
            <a:pPr marL="0" indent="0">
              <a:buNone/>
            </a:pPr>
            <a:r>
              <a:rPr lang="en-US" altLang="en-GB" b="1" dirty="0"/>
              <a:t>Richard Atkinson and Richard Shiffrin</a:t>
            </a:r>
            <a:r>
              <a:rPr lang="en-US" altLang="en-GB" dirty="0"/>
              <a:t> developed the Multi-store Model of Memory (1968) by drawing conclusions from memory experiments conducted by other researchers. This model is a structural model and Atkinson and Shiffrin described memory as having separate stores.</a:t>
            </a:r>
          </a:p>
          <a:p>
            <a:pPr marL="0" indent="0">
              <a:buNone/>
            </a:pPr>
            <a:r>
              <a:rPr lang="en-US" altLang="en-GB" dirty="0"/>
              <a:t>By pulling together this research, they were able to identify </a:t>
            </a:r>
            <a:r>
              <a:rPr lang="en-US" altLang="en-GB" b="1" dirty="0"/>
              <a:t>three distinctly different </a:t>
            </a:r>
            <a:r>
              <a:rPr lang="en-US" altLang="en-GB" dirty="0"/>
              <a:t>stores in our memory system: </a:t>
            </a:r>
          </a:p>
          <a:p>
            <a:pPr marL="0" indent="0">
              <a:buNone/>
            </a:pPr>
            <a:r>
              <a:rPr lang="en-US" altLang="en-GB" dirty="0"/>
              <a:t>• the sensory register (or sensory memory)</a:t>
            </a:r>
          </a:p>
          <a:p>
            <a:pPr marL="0" indent="0">
              <a:buNone/>
            </a:pPr>
            <a:r>
              <a:rPr lang="en-US" altLang="en-GB" dirty="0"/>
              <a:t>• short-term memory </a:t>
            </a:r>
          </a:p>
          <a:p>
            <a:pPr marL="0" indent="0">
              <a:buNone/>
            </a:pPr>
            <a:r>
              <a:rPr lang="en-US" altLang="en-GB" dirty="0"/>
              <a:t>• long-term memory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altLang="en-US">
                <a:sym typeface="+mn-ea"/>
              </a:rPr>
              <a:t>The Multi-Store Model (MSM)</a:t>
            </a:r>
            <a:endParaRPr lang="en-GB" altLang="en-US"/>
          </a:p>
        </p:txBody>
      </p:sp>
      <p:sp>
        <p:nvSpPr>
          <p:cNvPr id="5" name="Content Placeholder 4"/>
          <p:cNvSpPr>
            <a:spLocks noGrp="1"/>
          </p:cNvSpPr>
          <p:nvPr>
            <p:ph idx="1"/>
          </p:nvPr>
        </p:nvSpPr>
        <p:spPr>
          <a:xfrm>
            <a:off x="666750" y="2603500"/>
            <a:ext cx="4488180" cy="3416300"/>
          </a:xfrm>
        </p:spPr>
        <p:txBody>
          <a:bodyPr/>
          <a:lstStyle/>
          <a:p>
            <a:pPr marL="0" indent="0">
              <a:buNone/>
            </a:pPr>
            <a:r>
              <a:rPr lang="en-US" altLang="en-GB"/>
              <a:t>Atkinson and Shiffrin proposed that memory stores differ from each other in the way information is encoded, their capacity and duration, and how information is retrieved.</a:t>
            </a:r>
          </a:p>
        </p:txBody>
      </p:sp>
      <p:pic>
        <p:nvPicPr>
          <p:cNvPr id="6" name="Picture 5"/>
          <p:cNvPicPr>
            <a:picLocks noChangeAspect="1"/>
          </p:cNvPicPr>
          <p:nvPr/>
        </p:nvPicPr>
        <p:blipFill>
          <a:blip r:embed="rId2"/>
          <a:stretch>
            <a:fillRect/>
          </a:stretch>
        </p:blipFill>
        <p:spPr>
          <a:xfrm>
            <a:off x="5154930" y="2672715"/>
            <a:ext cx="6541770" cy="28956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altLang="en-US"/>
              <a:t>Experimental studies of STM and LTM</a:t>
            </a:r>
          </a:p>
        </p:txBody>
      </p:sp>
      <p:sp>
        <p:nvSpPr>
          <p:cNvPr id="5" name="Content Placeholder 4"/>
          <p:cNvSpPr>
            <a:spLocks noGrp="1"/>
          </p:cNvSpPr>
          <p:nvPr>
            <p:ph idx="1"/>
          </p:nvPr>
        </p:nvSpPr>
        <p:spPr>
          <a:xfrm>
            <a:off x="514985" y="2603500"/>
            <a:ext cx="11141075" cy="3416300"/>
          </a:xfrm>
        </p:spPr>
        <p:txBody>
          <a:bodyPr/>
          <a:lstStyle/>
          <a:p>
            <a:pPr marL="0" indent="0">
              <a:buNone/>
            </a:pPr>
            <a:r>
              <a:rPr lang="en-US" altLang="en-GB"/>
              <a:t>1. </a:t>
            </a:r>
            <a:r>
              <a:rPr lang="en-GB" altLang="en-US"/>
              <a:t>E</a:t>
            </a:r>
            <a:r>
              <a:rPr lang="en-US" altLang="en-GB"/>
              <a:t>xperimental studies of STM and LT</a:t>
            </a:r>
            <a:r>
              <a:rPr lang="en-GB" altLang="en-US"/>
              <a:t>M</a:t>
            </a:r>
            <a:endParaRPr lang="en-US" altLang="en-GB"/>
          </a:p>
          <a:p>
            <a:pPr marL="0" indent="0">
              <a:buNone/>
            </a:pPr>
            <a:r>
              <a:rPr lang="en-US" altLang="en-GB"/>
              <a:t>2.</a:t>
            </a:r>
            <a:r>
              <a:rPr lang="en-GB" altLang="en-US"/>
              <a:t> S</a:t>
            </a:r>
            <a:r>
              <a:rPr lang="en-US" altLang="en-GB"/>
              <a:t>tudies of coding</a:t>
            </a:r>
          </a:p>
          <a:p>
            <a:pPr marL="0" indent="0">
              <a:buNone/>
            </a:pPr>
            <a:r>
              <a:rPr lang="en-US" altLang="en-GB"/>
              <a:t>3.</a:t>
            </a:r>
            <a:r>
              <a:rPr lang="en-GB" altLang="en-US"/>
              <a:t> S</a:t>
            </a:r>
            <a:r>
              <a:rPr lang="en-US" altLang="en-GB"/>
              <a:t>tudies of brain-damaged patients.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GB">
                <a:sym typeface="+mn-ea"/>
              </a:rPr>
              <a:t>1. </a:t>
            </a:r>
            <a:r>
              <a:rPr lang="en-GB" altLang="en-US">
                <a:sym typeface="+mn-ea"/>
              </a:rPr>
              <a:t>E</a:t>
            </a:r>
            <a:r>
              <a:rPr lang="en-US" altLang="en-GB">
                <a:sym typeface="+mn-ea"/>
              </a:rPr>
              <a:t>xperimental studies of STM and LT</a:t>
            </a:r>
            <a:r>
              <a:rPr lang="en-GB" altLang="en-US">
                <a:sym typeface="+mn-ea"/>
              </a:rPr>
              <a:t>M</a:t>
            </a:r>
            <a:endParaRPr lang="en-GB" altLang="en-US"/>
          </a:p>
        </p:txBody>
      </p:sp>
      <p:sp>
        <p:nvSpPr>
          <p:cNvPr id="5" name="Content Placeholder 4"/>
          <p:cNvSpPr>
            <a:spLocks noGrp="1"/>
          </p:cNvSpPr>
          <p:nvPr>
            <p:ph idx="1"/>
          </p:nvPr>
        </p:nvSpPr>
        <p:spPr>
          <a:xfrm>
            <a:off x="575310" y="2603500"/>
            <a:ext cx="11061065" cy="3416300"/>
          </a:xfrm>
        </p:spPr>
        <p:txBody>
          <a:bodyPr>
            <a:normAutofit/>
          </a:bodyPr>
          <a:lstStyle/>
          <a:p>
            <a:pPr marL="0" indent="0">
              <a:buNone/>
            </a:pPr>
            <a:r>
              <a:rPr lang="en-GB" altLang="en-US" b="1"/>
              <a:t>The Serial Position Effect (Murdock, 1962):</a:t>
            </a:r>
            <a:r>
              <a:rPr lang="en-GB" altLang="en-US"/>
              <a:t> </a:t>
            </a:r>
            <a:r>
              <a:rPr lang="en-US" altLang="en-GB"/>
              <a:t>Participants typically recalled those items from the end of the list first, and got more of these correct </a:t>
            </a:r>
            <a:r>
              <a:rPr lang="en-GB" altLang="en-US"/>
              <a:t>t</a:t>
            </a:r>
            <a:r>
              <a:rPr lang="en-US" altLang="en-GB"/>
              <a:t>han earlier items (</a:t>
            </a:r>
            <a:r>
              <a:rPr lang="en-US" altLang="en-GB" b="1"/>
              <a:t>the recency effect</a:t>
            </a:r>
            <a:r>
              <a:rPr lang="en-US" altLang="en-GB"/>
              <a:t>). Items from the beginning of the list were recalled quite well relative to those in the middle (</a:t>
            </a:r>
            <a:r>
              <a:rPr lang="en-US" altLang="en-GB" b="1"/>
              <a:t>the primacy effect</a:t>
            </a:r>
            <a:r>
              <a:rPr lang="en-US" altLang="en-GB"/>
              <a:t>), but not as well as those at the end. Poorest recall is for items in the middle.</a:t>
            </a:r>
          </a:p>
          <a:p>
            <a:pPr marL="0" indent="0">
              <a:buNone/>
            </a:pPr>
            <a:endParaRPr lang="en-US" altLang="en-GB"/>
          </a:p>
          <a:p>
            <a:pPr marL="0" indent="0">
              <a:buNone/>
            </a:pPr>
            <a:r>
              <a:rPr lang="en-GB" altLang="en-US"/>
              <a:t>Primacy effect due to LTM, recency effect due to STM.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altLang="en-US"/>
              <a:t>2. Studies of coding</a:t>
            </a:r>
          </a:p>
        </p:txBody>
      </p:sp>
      <p:sp>
        <p:nvSpPr>
          <p:cNvPr id="5" name="Content Placeholder 4"/>
          <p:cNvSpPr>
            <a:spLocks noGrp="1"/>
          </p:cNvSpPr>
          <p:nvPr>
            <p:ph idx="1"/>
          </p:nvPr>
        </p:nvSpPr>
        <p:spPr>
          <a:xfrm>
            <a:off x="555625" y="2603500"/>
            <a:ext cx="11102975" cy="3416300"/>
          </a:xfrm>
        </p:spPr>
        <p:txBody>
          <a:bodyPr/>
          <a:lstStyle/>
          <a:p>
            <a:pPr marL="0" indent="0">
              <a:buNone/>
            </a:pPr>
            <a:r>
              <a:rPr lang="en-GB" altLang="en-US"/>
              <a:t>Remember acoustic coding in STM, semantic coding in LTM!</a:t>
            </a:r>
          </a:p>
          <a:p>
            <a:pPr marL="0" indent="0">
              <a:buNone/>
            </a:pPr>
            <a:endParaRPr lang="en-GB" altLang="en-US"/>
          </a:p>
          <a:p>
            <a:pPr marL="0" indent="0">
              <a:buNone/>
            </a:pPr>
            <a:r>
              <a:rPr lang="en-GB" altLang="en-US"/>
              <a:t>However, Miller and Selfridge (1950) has demonstrated that </a:t>
            </a:r>
            <a:r>
              <a:rPr lang="en-US" altLang="en-GB"/>
              <a:t>knowledge</a:t>
            </a:r>
            <a:r>
              <a:rPr lang="en-GB" altLang="en-US"/>
              <a:t> </a:t>
            </a:r>
            <a:r>
              <a:rPr lang="en-US" altLang="en-GB"/>
              <a:t>of semantic and grammatical structure (presumably stored in LTM) is used</a:t>
            </a:r>
            <a:r>
              <a:rPr lang="en-GB" altLang="en-US"/>
              <a:t> </a:t>
            </a:r>
            <a:r>
              <a:rPr lang="en-US" altLang="en-GB"/>
              <a:t>to aid recall from STM.</a:t>
            </a:r>
            <a:r>
              <a:rPr lang="en-GB" altLang="en-US"/>
              <a:t> Therefore, </a:t>
            </a:r>
            <a:r>
              <a:rPr lang="en-US" altLang="en-GB"/>
              <a:t>an acoustic code isn’t the only one used in STM.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GB">
                <a:sym typeface="+mn-ea"/>
              </a:rPr>
              <a:t>3.</a:t>
            </a:r>
            <a:r>
              <a:rPr lang="en-GB" altLang="en-US">
                <a:sym typeface="+mn-ea"/>
              </a:rPr>
              <a:t> S</a:t>
            </a:r>
            <a:r>
              <a:rPr lang="en-US" altLang="en-GB">
                <a:sym typeface="+mn-ea"/>
              </a:rPr>
              <a:t>tudies of brain-damaged patients.</a:t>
            </a:r>
            <a:endParaRPr lang="en-GB" altLang="en-US"/>
          </a:p>
        </p:txBody>
      </p:sp>
      <p:sp>
        <p:nvSpPr>
          <p:cNvPr id="5" name="Content Placeholder 4"/>
          <p:cNvSpPr>
            <a:spLocks noGrp="1"/>
          </p:cNvSpPr>
          <p:nvPr>
            <p:ph idx="1"/>
          </p:nvPr>
        </p:nvSpPr>
        <p:spPr>
          <a:xfrm>
            <a:off x="566420" y="2603500"/>
            <a:ext cx="11081385" cy="3416300"/>
          </a:xfrm>
        </p:spPr>
        <p:txBody>
          <a:bodyPr>
            <a:normAutofit fontScale="90000" lnSpcReduction="20000"/>
          </a:bodyPr>
          <a:lstStyle/>
          <a:p>
            <a:pPr marL="0" indent="0">
              <a:buNone/>
            </a:pPr>
            <a:r>
              <a:rPr lang="en-US" altLang="en-GB" dirty="0"/>
              <a:t>If STM and LTM really are distinct, then there should be certain kinds of brain damage which impair one without affecting the other. One such form of brain damage is anterograde amnesia.</a:t>
            </a:r>
          </a:p>
          <a:p>
            <a:pPr marL="0" indent="0">
              <a:buNone/>
            </a:pPr>
            <a:endParaRPr lang="en-US" altLang="en-GB" dirty="0"/>
          </a:p>
          <a:p>
            <a:pPr marL="0" indent="0">
              <a:buNone/>
            </a:pPr>
            <a:r>
              <a:rPr lang="en-GB" altLang="en-US" dirty="0"/>
              <a:t>HM case where after the brain operation, he was </a:t>
            </a:r>
            <a:r>
              <a:rPr lang="en-US" altLang="en-GB" dirty="0"/>
              <a:t>unable to form new explicit long-term memories</a:t>
            </a:r>
            <a:r>
              <a:rPr lang="en-GB" altLang="en-US" dirty="0"/>
              <a:t>, however h</a:t>
            </a:r>
            <a:r>
              <a:rPr lang="en-US" altLang="en-GB" dirty="0"/>
              <a:t>is immediate or working memory remained </a:t>
            </a:r>
            <a:r>
              <a:rPr lang="en-US" altLang="en-GB" dirty="0" smtClean="0"/>
              <a:t>functional (STM intact, old LTM intact, new LTM severely impaired).</a:t>
            </a:r>
            <a:endParaRPr lang="en-US" altLang="en-GB" dirty="0"/>
          </a:p>
          <a:p>
            <a:pPr marL="0" indent="0">
              <a:buNone/>
            </a:pPr>
            <a:endParaRPr lang="en-US" altLang="en-GB" dirty="0"/>
          </a:p>
          <a:p>
            <a:pPr marL="0" indent="0">
              <a:buNone/>
            </a:pPr>
            <a:r>
              <a:rPr lang="en-US" altLang="en-GB" dirty="0"/>
              <a:t>HM's deficits strongly support the MSM by demonstrating a clear dissociation between STM and LTM, suggesting they are separate systems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GB" altLang="en-US"/>
              <a:t>Episodic, Semantic &amp; Procedural Memory</a:t>
            </a:r>
          </a:p>
        </p:txBody>
      </p:sp>
      <p:sp>
        <p:nvSpPr>
          <p:cNvPr id="5" name="Content Placeholder 4"/>
          <p:cNvSpPr>
            <a:spLocks noGrp="1"/>
          </p:cNvSpPr>
          <p:nvPr>
            <p:ph idx="1"/>
          </p:nvPr>
        </p:nvSpPr>
        <p:spPr>
          <a:xfrm>
            <a:off x="554990" y="2603500"/>
            <a:ext cx="10906760" cy="3416300"/>
          </a:xfrm>
        </p:spPr>
        <p:txBody>
          <a:bodyPr/>
          <a:lstStyle/>
          <a:p>
            <a:r>
              <a:rPr lang="en-US" altLang="en-GB" sz="2800" dirty="0"/>
              <a:t>The multi-store model of memory, as supported by cases like HM, distinguishes between short-term and long-term memory, with long-term memory (LTM) further divided into subtypes based on the type of information stored and how it is retrieved. </a:t>
            </a:r>
            <a:r>
              <a:rPr lang="en-US" altLang="en-GB" sz="2800" u="sng" dirty="0"/>
              <a:t>The three main types of long-term memory are episodic, semantic, and procedural</a:t>
            </a:r>
            <a:r>
              <a:rPr lang="en-GB" altLang="en-US" sz="2800" u="sng" dirty="0"/>
              <a:t>.</a:t>
            </a:r>
          </a:p>
          <a:p>
            <a:endParaRPr lang="en-GB" altLang="en-US"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altLang="en-US"/>
              <a:t>Episodic Memory</a:t>
            </a:r>
          </a:p>
        </p:txBody>
      </p:sp>
      <p:sp>
        <p:nvSpPr>
          <p:cNvPr id="5" name="Content Placeholder 4"/>
          <p:cNvSpPr>
            <a:spLocks noGrp="1"/>
          </p:cNvSpPr>
          <p:nvPr>
            <p:ph idx="1"/>
          </p:nvPr>
        </p:nvSpPr>
        <p:spPr>
          <a:xfrm>
            <a:off x="577850" y="2603500"/>
            <a:ext cx="11151235" cy="3416300"/>
          </a:xfrm>
        </p:spPr>
        <p:txBody>
          <a:bodyPr>
            <a:normAutofit fontScale="90000" lnSpcReduction="20000"/>
          </a:bodyPr>
          <a:lstStyle/>
          <a:p>
            <a:r>
              <a:rPr lang="en-GB" altLang="en-US"/>
              <a:t>T</a:t>
            </a:r>
            <a:r>
              <a:rPr lang="en-US" altLang="en-GB"/>
              <a:t>he storage and recall of personally experienced events tied to specific times and places. These are autobiographical memories that include contextual details (e.g., "what," "when," "where," and associated emotions). It is a type of explicit (</a:t>
            </a:r>
            <a:r>
              <a:rPr lang="en-US" altLang="en-GB" u="sng"/>
              <a:t>declarative</a:t>
            </a:r>
            <a:r>
              <a:rPr lang="en-US" altLang="en-GB"/>
              <a:t>) memory, meaning it can be consciously recalled and described.</a:t>
            </a:r>
          </a:p>
          <a:p>
            <a:r>
              <a:rPr lang="en-GB" altLang="en-US" b="1"/>
              <a:t>Autobiographical episodic memory</a:t>
            </a:r>
            <a:r>
              <a:rPr lang="en-GB" altLang="en-US"/>
              <a:t> - </a:t>
            </a:r>
            <a:r>
              <a:rPr lang="en-US" altLang="en-GB"/>
              <a:t>Personal, specific events from one’s life with rich contextual details (e.g., Recalling your first day o</a:t>
            </a:r>
            <a:r>
              <a:rPr lang="en-GB" altLang="en-US"/>
              <a:t>f university</a:t>
            </a:r>
            <a:r>
              <a:rPr lang="en-US" altLang="en-GB"/>
              <a:t>, what your </a:t>
            </a:r>
            <a:r>
              <a:rPr lang="en-GB" altLang="en-US"/>
              <a:t>lecturer</a:t>
            </a:r>
            <a:r>
              <a:rPr lang="en-US" altLang="en-GB"/>
              <a:t> looked like, and how you felt.)</a:t>
            </a:r>
          </a:p>
          <a:p>
            <a:r>
              <a:rPr lang="en-US" altLang="en-GB" b="1"/>
              <a:t>Flashbulb Memories</a:t>
            </a:r>
            <a:r>
              <a:rPr lang="en-US" altLang="en-GB"/>
              <a:t>: Highly vivid, detailed memories of emotionally significant events (e.g., Recalling how you felt when you found out about the death of a celebrity or leader (e.g., Michael Jackson, Princess Diana</a:t>
            </a:r>
            <a:r>
              <a:rPr lang="en-GB" altLang="en-US"/>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altLang="en-US"/>
              <a:t>Semantic Memory</a:t>
            </a:r>
          </a:p>
        </p:txBody>
      </p:sp>
      <p:sp>
        <p:nvSpPr>
          <p:cNvPr id="5" name="Content Placeholder 4"/>
          <p:cNvSpPr>
            <a:spLocks noGrp="1"/>
          </p:cNvSpPr>
          <p:nvPr>
            <p:ph idx="1"/>
          </p:nvPr>
        </p:nvSpPr>
        <p:spPr>
          <a:xfrm>
            <a:off x="589915" y="2603500"/>
            <a:ext cx="11092180" cy="3416300"/>
          </a:xfrm>
        </p:spPr>
        <p:txBody>
          <a:bodyPr/>
          <a:lstStyle/>
          <a:p>
            <a:r>
              <a:rPr lang="en-GB" altLang="en-US" sz="2800"/>
              <a:t>I</a:t>
            </a:r>
            <a:r>
              <a:rPr lang="en-US" altLang="en-GB" sz="2800"/>
              <a:t>nvolves the storage of general knowledge, facts, and concepts not tied to personal experiences or specific contexts. It is also an explicit (</a:t>
            </a:r>
            <a:r>
              <a:rPr lang="en-US" altLang="en-GB" sz="2800" u="sng"/>
              <a:t>declarative</a:t>
            </a:r>
            <a:r>
              <a:rPr lang="en-US" altLang="en-GB" sz="2800"/>
              <a:t>) memory type, consciously recalled, but lacks the temporal and spatial specificity of episodic memory.</a:t>
            </a:r>
          </a:p>
          <a:p>
            <a:r>
              <a:rPr lang="en-GB" altLang="en-US" sz="2800"/>
              <a:t>e.g. </a:t>
            </a:r>
            <a:r>
              <a:rPr lang="en-US" altLang="en-GB" sz="2800"/>
              <a:t>knowing that 2+2=4 or that "cat" refers to a furry animal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altLang="en-US"/>
              <a:t>Procedural Memory</a:t>
            </a:r>
          </a:p>
        </p:txBody>
      </p:sp>
      <p:sp>
        <p:nvSpPr>
          <p:cNvPr id="5" name="Content Placeholder 4"/>
          <p:cNvSpPr>
            <a:spLocks noGrp="1"/>
          </p:cNvSpPr>
          <p:nvPr>
            <p:ph idx="1"/>
          </p:nvPr>
        </p:nvSpPr>
        <p:spPr>
          <a:xfrm>
            <a:off x="542925" y="2603500"/>
            <a:ext cx="11092815" cy="3416300"/>
          </a:xfrm>
        </p:spPr>
        <p:txBody>
          <a:bodyPr/>
          <a:lstStyle/>
          <a:p>
            <a:r>
              <a:rPr lang="en-GB" altLang="en-US" sz="2800"/>
              <a:t>I</a:t>
            </a:r>
            <a:r>
              <a:rPr lang="en-US" altLang="en-GB" sz="2800"/>
              <a:t>nvolves the unconscious recall of skills, habits, and motor routines learned through practice. It is a type of implicit (</a:t>
            </a:r>
            <a:r>
              <a:rPr lang="en-US" altLang="en-GB" sz="2800" u="sng"/>
              <a:t>non-declarative</a:t>
            </a:r>
            <a:r>
              <a:rPr lang="en-US" altLang="en-GB" sz="2800"/>
              <a:t>) memory, meaning it is expressed through performance rather than conscious recollection.</a:t>
            </a:r>
          </a:p>
          <a:p>
            <a:r>
              <a:rPr lang="en-GB" altLang="en-US" sz="2800"/>
              <a:t>e.g. riding a bicycle, chess player recognizing patterns, brushing teeth in the morning,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83005" y="732155"/>
            <a:ext cx="9203055" cy="544004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The Working Memory Model (WMM)</a:t>
            </a:r>
          </a:p>
        </p:txBody>
      </p:sp>
      <p:sp>
        <p:nvSpPr>
          <p:cNvPr id="3" name="Content Placeholder 2"/>
          <p:cNvSpPr>
            <a:spLocks noGrp="1"/>
          </p:cNvSpPr>
          <p:nvPr>
            <p:ph idx="1"/>
          </p:nvPr>
        </p:nvSpPr>
        <p:spPr>
          <a:xfrm>
            <a:off x="520700" y="2603499"/>
            <a:ext cx="5734821" cy="3553731"/>
          </a:xfrm>
        </p:spPr>
        <p:txBody>
          <a:bodyPr>
            <a:normAutofit fontScale="67500" lnSpcReduction="20000"/>
          </a:bodyPr>
          <a:lstStyle/>
          <a:p>
            <a:r>
              <a:rPr lang="en-GB" altLang="en-US" dirty="0"/>
              <a:t>Baddeley &amp; Hitch (1974; 2000) - t</a:t>
            </a:r>
            <a:r>
              <a:rPr lang="en-US" altLang="en-GB" dirty="0"/>
              <a:t>his model focuses on how short-term memory (STM) actually works in practice. Instead of being just a “storage box,” it’s seen as an active system that manipulates and processes information.</a:t>
            </a:r>
          </a:p>
          <a:p>
            <a:r>
              <a:rPr lang="en-GB" altLang="en-US" b="1" dirty="0"/>
              <a:t>Central executive</a:t>
            </a:r>
            <a:r>
              <a:rPr lang="en-GB" altLang="en-US" dirty="0"/>
              <a:t>: </a:t>
            </a:r>
            <a:r>
              <a:rPr lang="en-US" altLang="en-GB" dirty="0"/>
              <a:t>Acts like a manager</a:t>
            </a:r>
            <a:r>
              <a:rPr lang="en-GB" altLang="en-US" dirty="0"/>
              <a:t>; </a:t>
            </a:r>
            <a:r>
              <a:rPr lang="en-US" altLang="en-GB" dirty="0"/>
              <a:t>Directs attention and coordinates the other subsystems</a:t>
            </a:r>
            <a:r>
              <a:rPr lang="en-GB" altLang="en-US" dirty="0"/>
              <a:t>; </a:t>
            </a:r>
            <a:r>
              <a:rPr lang="en-US" altLang="en-GB" dirty="0"/>
              <a:t>Has limited capacity.</a:t>
            </a:r>
          </a:p>
          <a:p>
            <a:r>
              <a:rPr lang="en-US" altLang="en-GB" b="1" dirty="0"/>
              <a:t>Phonological Loop</a:t>
            </a:r>
            <a:r>
              <a:rPr lang="en-GB" altLang="en-US" dirty="0"/>
              <a:t>: </a:t>
            </a:r>
            <a:r>
              <a:rPr lang="en-US" altLang="en-GB" dirty="0"/>
              <a:t>stores spoken words for a short time</a:t>
            </a:r>
            <a:r>
              <a:rPr lang="en-GB" altLang="en-US" dirty="0"/>
              <a:t>; </a:t>
            </a:r>
            <a:r>
              <a:rPr lang="en-US" altLang="en-GB" dirty="0"/>
              <a:t>allows rehearsal</a:t>
            </a:r>
          </a:p>
          <a:p>
            <a:r>
              <a:rPr lang="en-US" altLang="en-GB" b="1" dirty="0" err="1"/>
              <a:t>Visuo</a:t>
            </a:r>
            <a:r>
              <a:rPr lang="en-US" altLang="en-GB" b="1" dirty="0"/>
              <a:t>-Spatial Sketchpad</a:t>
            </a:r>
            <a:r>
              <a:rPr lang="en-GB" altLang="en-US" dirty="0"/>
              <a:t>: </a:t>
            </a:r>
            <a:r>
              <a:rPr lang="en-US" altLang="en-GB" dirty="0"/>
              <a:t>Holds and manipulates images</a:t>
            </a:r>
          </a:p>
          <a:p>
            <a:r>
              <a:rPr lang="en-US" altLang="en-GB" b="1" dirty="0"/>
              <a:t>Episodic Buffer</a:t>
            </a:r>
            <a:r>
              <a:rPr lang="en-GB" altLang="en-US" dirty="0"/>
              <a:t>: </a:t>
            </a:r>
            <a:r>
              <a:rPr lang="en-US" altLang="en-GB" dirty="0"/>
              <a:t>Integrates information from different sources (sound, vision, long-term memory) into a single “episode.”</a:t>
            </a:r>
          </a:p>
        </p:txBody>
      </p:sp>
      <p:pic>
        <p:nvPicPr>
          <p:cNvPr id="4" name="Picture 3"/>
          <p:cNvPicPr>
            <a:picLocks noChangeAspect="1"/>
          </p:cNvPicPr>
          <p:nvPr/>
        </p:nvPicPr>
        <p:blipFill>
          <a:blip r:embed="rId2"/>
          <a:stretch>
            <a:fillRect/>
          </a:stretch>
        </p:blipFill>
        <p:spPr>
          <a:xfrm>
            <a:off x="6725539" y="2466068"/>
            <a:ext cx="4968831" cy="369116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altLang="en-US"/>
              <a:t>MSM vs WMM </a:t>
            </a:r>
          </a:p>
        </p:txBody>
      </p:sp>
      <p:sp>
        <p:nvSpPr>
          <p:cNvPr id="5" name="Content Placeholder 4"/>
          <p:cNvSpPr>
            <a:spLocks noGrp="1"/>
          </p:cNvSpPr>
          <p:nvPr>
            <p:ph idx="1"/>
          </p:nvPr>
        </p:nvSpPr>
        <p:spPr>
          <a:xfrm>
            <a:off x="635635" y="2603500"/>
            <a:ext cx="10849610" cy="3970020"/>
          </a:xfrm>
        </p:spPr>
        <p:txBody>
          <a:bodyPr>
            <a:normAutofit fontScale="90000" lnSpcReduction="10000"/>
          </a:bodyPr>
          <a:lstStyle/>
          <a:p>
            <a:r>
              <a:rPr lang="en-GB" altLang="en-US" b="1"/>
              <a:t>Multi-Store Model </a:t>
            </a:r>
            <a:r>
              <a:rPr lang="en-GB" altLang="en-US"/>
              <a:t>- </a:t>
            </a:r>
            <a:r>
              <a:rPr lang="en-US" altLang="en-GB"/>
              <a:t>STM is a single, passive store</a:t>
            </a:r>
            <a:r>
              <a:rPr lang="en-GB" altLang="en-US"/>
              <a:t>; focus on the s</a:t>
            </a:r>
            <a:r>
              <a:rPr lang="en-US" altLang="en-GB"/>
              <a:t>tructure of memory (where info goes)</a:t>
            </a:r>
            <a:r>
              <a:rPr lang="en-GB" altLang="en-US"/>
              <a:t>; </a:t>
            </a:r>
            <a:r>
              <a:rPr lang="en-US" altLang="en-GB"/>
              <a:t>Simple, linear, “box-like” model.</a:t>
            </a:r>
          </a:p>
          <a:p>
            <a:pPr lvl="1"/>
            <a:r>
              <a:rPr lang="en-GB" altLang="en-US" sz="2000"/>
              <a:t>e.g. remembering a shopping list - </a:t>
            </a:r>
            <a:r>
              <a:rPr lang="en-US" altLang="en-GB" sz="2000"/>
              <a:t>You hear the list of items </a:t>
            </a:r>
            <a:r>
              <a:rPr lang="en-US" altLang="en-US" sz="2000"/>
              <a:t>→</a:t>
            </a:r>
            <a:r>
              <a:rPr lang="en-US" altLang="en-GB" sz="2000"/>
              <a:t> it enters sensory memory </a:t>
            </a:r>
            <a:r>
              <a:rPr lang="en-US" altLang="en-US" sz="2000"/>
              <a:t>→</a:t>
            </a:r>
            <a:r>
              <a:rPr lang="en-US" altLang="en-GB" sz="2000"/>
              <a:t> you rehearse it in STM (silently repeat “milk, eggs, bread”) </a:t>
            </a:r>
            <a:r>
              <a:rPr lang="en-US" altLang="en-US" sz="2000"/>
              <a:t>→</a:t>
            </a:r>
            <a:r>
              <a:rPr lang="en-US" altLang="en-GB" sz="2000"/>
              <a:t> with enough rehearsal, it transfers to LTM.</a:t>
            </a:r>
          </a:p>
          <a:p>
            <a:endParaRPr lang="en-US" altLang="en-GB"/>
          </a:p>
          <a:p>
            <a:r>
              <a:rPr lang="en-GB" altLang="en-US" b="1"/>
              <a:t>Working-Memory Model </a:t>
            </a:r>
            <a:r>
              <a:rPr lang="en-GB" altLang="en-US"/>
              <a:t>- </a:t>
            </a:r>
            <a:r>
              <a:rPr lang="en-US" altLang="en-GB"/>
              <a:t>STM is an active system with multiple components</a:t>
            </a:r>
            <a:r>
              <a:rPr lang="en-GB" altLang="en-US"/>
              <a:t>; focus on the p</a:t>
            </a:r>
            <a:r>
              <a:rPr lang="en-US" altLang="en-GB"/>
              <a:t>rocess of memory (how info is handled)</a:t>
            </a:r>
            <a:r>
              <a:rPr lang="en-GB" altLang="en-US"/>
              <a:t>; </a:t>
            </a:r>
            <a:r>
              <a:rPr lang="en-US" altLang="en-GB"/>
              <a:t>More detailed and dynamic</a:t>
            </a:r>
            <a:r>
              <a:rPr lang="en-GB" altLang="en-US"/>
              <a:t> model.</a:t>
            </a:r>
          </a:p>
          <a:p>
            <a:pPr lvl="1"/>
            <a:r>
              <a:rPr lang="en-GB" altLang="en-US" sz="2000"/>
              <a:t>e.g. remembering a shopping list - </a:t>
            </a:r>
            <a:r>
              <a:rPr lang="en-US" altLang="en-GB" sz="2000"/>
              <a:t>Phonological Loop: you repeat “milk, eggs, bread” in your head</a:t>
            </a:r>
            <a:r>
              <a:rPr lang="en-GB" altLang="en-US" sz="2000"/>
              <a:t>; </a:t>
            </a:r>
            <a:r>
              <a:rPr lang="en-US" altLang="en-GB" sz="2000"/>
              <a:t>Central Executive: focuses your attention and tells you not to get distracted</a:t>
            </a:r>
            <a:r>
              <a:rPr lang="en-GB" altLang="en-US" sz="2000"/>
              <a:t>; </a:t>
            </a:r>
            <a:r>
              <a:rPr lang="en-US" altLang="en-GB" sz="2000"/>
              <a:t>Episodic Buffer: links “milk” with the image of the fridge at home being empty.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altLang="en-US"/>
              <a:t>The Levels of Processing Model (LOP)</a:t>
            </a:r>
          </a:p>
        </p:txBody>
      </p:sp>
      <p:sp>
        <p:nvSpPr>
          <p:cNvPr id="5" name="Content Placeholder 4"/>
          <p:cNvSpPr>
            <a:spLocks noGrp="1"/>
          </p:cNvSpPr>
          <p:nvPr>
            <p:ph idx="1"/>
          </p:nvPr>
        </p:nvSpPr>
        <p:spPr>
          <a:xfrm>
            <a:off x="577215" y="2603500"/>
            <a:ext cx="11001375" cy="4027805"/>
          </a:xfrm>
        </p:spPr>
        <p:txBody>
          <a:bodyPr>
            <a:normAutofit fontScale="87500" lnSpcReduction="20000"/>
          </a:bodyPr>
          <a:lstStyle/>
          <a:p>
            <a:r>
              <a:rPr lang="en-GB" altLang="en-US" sz="3000" dirty="0"/>
              <a:t>Remember MSM argues we need to </a:t>
            </a:r>
            <a:r>
              <a:rPr lang="en-GB" altLang="en-US" sz="3000" dirty="0" err="1"/>
              <a:t>reherse</a:t>
            </a:r>
            <a:r>
              <a:rPr lang="en-GB" altLang="en-US" sz="3000" dirty="0"/>
              <a:t> the information in order to transfer it from STM to LTM. However, Jenkins (1974) </a:t>
            </a:r>
            <a:r>
              <a:rPr lang="en-GB" altLang="en-US" sz="3000" b="1" dirty="0"/>
              <a:t>Incidental learning</a:t>
            </a:r>
            <a:r>
              <a:rPr lang="en-GB" altLang="en-US" sz="3000" dirty="0"/>
              <a:t> - remembering without </a:t>
            </a:r>
            <a:r>
              <a:rPr lang="en-GB" altLang="en-US" sz="3000" dirty="0" err="1"/>
              <a:t>rehersing</a:t>
            </a:r>
            <a:r>
              <a:rPr lang="en-GB" altLang="en-US" sz="3000" dirty="0"/>
              <a:t>. </a:t>
            </a:r>
            <a:r>
              <a:rPr lang="en-US" altLang="en-GB" sz="3000" dirty="0"/>
              <a:t>Craik and Lockhart (1972)</a:t>
            </a:r>
            <a:r>
              <a:rPr lang="en-GB" altLang="en-US" sz="3000" dirty="0"/>
              <a:t> argues </a:t>
            </a:r>
            <a:r>
              <a:rPr lang="en-US" altLang="en-GB" sz="3000" dirty="0"/>
              <a:t>what matters is the kind of rehearsal or processing</a:t>
            </a:r>
            <a:r>
              <a:rPr lang="en-GB" altLang="en-US" sz="3000" dirty="0"/>
              <a:t>. </a:t>
            </a:r>
          </a:p>
          <a:p>
            <a:r>
              <a:rPr lang="en-GB" altLang="en-US" sz="3000" b="1" dirty="0"/>
              <a:t>So, rather than rehearsal in STM, you can achieve LTM via </a:t>
            </a:r>
            <a:r>
              <a:rPr lang="en-US" altLang="en-GB" sz="3000" b="1" dirty="0"/>
              <a:t>deep, semantic processing</a:t>
            </a:r>
            <a:r>
              <a:rPr lang="en-GB" altLang="en-US" sz="3000" b="1" dirty="0"/>
              <a:t>.</a:t>
            </a:r>
          </a:p>
          <a:p>
            <a:r>
              <a:rPr lang="en-GB" altLang="en-US" dirty="0"/>
              <a:t>e.g. </a:t>
            </a:r>
            <a:r>
              <a:rPr lang="en-US" altLang="en-GB" dirty="0"/>
              <a:t>If you’re trying to remember the word “elephant”:</a:t>
            </a:r>
          </a:p>
          <a:p>
            <a:pPr marL="0" indent="0">
              <a:buNone/>
            </a:pPr>
            <a:r>
              <a:rPr lang="en-US" altLang="en-GB" dirty="0"/>
              <a:t>MSM </a:t>
            </a:r>
            <a:r>
              <a:rPr lang="en-US" altLang="en-US" dirty="0"/>
              <a:t>→</a:t>
            </a:r>
            <a:r>
              <a:rPr lang="en-US" altLang="en-GB" dirty="0"/>
              <a:t> You repeat “elephant” in STM until it transfers to LTM.</a:t>
            </a:r>
          </a:p>
          <a:p>
            <a:pPr marL="0" indent="0">
              <a:buNone/>
            </a:pPr>
            <a:r>
              <a:rPr lang="en-US" altLang="en-GB" dirty="0"/>
              <a:t>LOP </a:t>
            </a:r>
            <a:r>
              <a:rPr lang="en-US" altLang="en-US" dirty="0"/>
              <a:t>→</a:t>
            </a:r>
            <a:r>
              <a:rPr lang="en-US" altLang="en-GB" dirty="0"/>
              <a:t> You think about what an elephant looks like, how big it is, or connect it with the zoo (semantic processing), which makes it memorable.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Key evidence LOP</a:t>
            </a:r>
          </a:p>
        </p:txBody>
      </p:sp>
      <p:sp>
        <p:nvSpPr>
          <p:cNvPr id="3" name="Content Placeholder 2"/>
          <p:cNvSpPr>
            <a:spLocks noGrp="1"/>
          </p:cNvSpPr>
          <p:nvPr>
            <p:ph idx="1"/>
          </p:nvPr>
        </p:nvSpPr>
        <p:spPr>
          <a:xfrm>
            <a:off x="292847" y="2227609"/>
            <a:ext cx="11739631" cy="4199890"/>
          </a:xfrm>
        </p:spPr>
        <p:txBody>
          <a:bodyPr>
            <a:noAutofit/>
          </a:bodyPr>
          <a:lstStyle/>
          <a:p>
            <a:pPr marL="0" indent="0">
              <a:buNone/>
            </a:pPr>
            <a:r>
              <a:rPr lang="en-US" altLang="en-GB" sz="2000" b="1" dirty="0"/>
              <a:t>Craik &amp; </a:t>
            </a:r>
            <a:r>
              <a:rPr lang="en-US" altLang="en-GB" sz="2000" b="1" dirty="0" err="1"/>
              <a:t>Tulving</a:t>
            </a:r>
            <a:r>
              <a:rPr lang="en-US" altLang="en-GB" sz="2000" b="1" dirty="0"/>
              <a:t> (1975)</a:t>
            </a:r>
            <a:r>
              <a:rPr lang="en-GB" altLang="en-US" sz="2000" b="1" dirty="0"/>
              <a:t>: </a:t>
            </a:r>
            <a:r>
              <a:rPr lang="en-US" altLang="en-GB" sz="2000" dirty="0"/>
              <a:t>Participants were given a list of words, but instead of being asked to memorize them, they answered different kinds of questions about each word.</a:t>
            </a:r>
            <a:r>
              <a:rPr lang="en-GB" altLang="en-US" sz="2000" dirty="0"/>
              <a:t> </a:t>
            </a:r>
            <a:r>
              <a:rPr lang="en-US" altLang="en-GB" sz="2000" dirty="0"/>
              <a:t>The questions encouraged different levels of processing:</a:t>
            </a:r>
            <a:r>
              <a:rPr lang="en-GB" altLang="en-US" sz="2000" dirty="0"/>
              <a:t> </a:t>
            </a:r>
            <a:endParaRPr lang="en-US" altLang="en-GB" sz="2000" dirty="0"/>
          </a:p>
          <a:p>
            <a:pPr marL="0" indent="0">
              <a:buNone/>
            </a:pPr>
            <a:r>
              <a:rPr lang="en-US" altLang="en-GB" sz="2000" u="sng" dirty="0"/>
              <a:t>Shallow (structural) </a:t>
            </a:r>
            <a:r>
              <a:rPr lang="en-US" altLang="en-US" sz="2000" u="sng" dirty="0"/>
              <a:t>→</a:t>
            </a:r>
            <a:r>
              <a:rPr lang="en-US" altLang="en-GB" sz="2000" u="sng" dirty="0"/>
              <a:t> e.g., “Is the word in capital letters?”</a:t>
            </a:r>
            <a:r>
              <a:rPr lang="en-GB" altLang="en-US" sz="2000" u="sng" dirty="0"/>
              <a:t> </a:t>
            </a:r>
            <a:endParaRPr lang="en-US" altLang="en-GB" sz="2000" u="sng" dirty="0"/>
          </a:p>
          <a:p>
            <a:pPr marL="0" indent="0">
              <a:buNone/>
            </a:pPr>
            <a:r>
              <a:rPr lang="en-US" altLang="en-GB" sz="2000" u="sng" dirty="0"/>
              <a:t>Intermediate (phonemic) </a:t>
            </a:r>
            <a:r>
              <a:rPr lang="en-US" altLang="en-US" sz="2000" u="sng" dirty="0"/>
              <a:t>→</a:t>
            </a:r>
            <a:r>
              <a:rPr lang="en-US" altLang="en-GB" sz="2000" u="sng" dirty="0"/>
              <a:t> e.g., “Does the word rhyme with ‘cat’?”</a:t>
            </a:r>
          </a:p>
          <a:p>
            <a:pPr marL="0" indent="0">
              <a:buNone/>
            </a:pPr>
            <a:r>
              <a:rPr lang="en-US" altLang="en-GB" sz="2000" u="sng" dirty="0"/>
              <a:t>Deep (semantic) </a:t>
            </a:r>
            <a:r>
              <a:rPr lang="en-US" altLang="en-US" sz="2000" u="sng" dirty="0"/>
              <a:t>→</a:t>
            </a:r>
            <a:r>
              <a:rPr lang="en-US" altLang="en-GB" sz="2000" u="sng" dirty="0"/>
              <a:t> e.g., “Does the word fit in this sentence: ‘The ____ walked into the room’?”</a:t>
            </a:r>
          </a:p>
          <a:p>
            <a:pPr>
              <a:buFont typeface="Arial" panose="020B0604020202020204" pitchFamily="34" charset="0"/>
              <a:buChar char="•"/>
            </a:pPr>
            <a:r>
              <a:rPr lang="en-US" altLang="en-GB" sz="2000" dirty="0"/>
              <a:t>After answering these questions, participants were given a surprise recognition test (asked which words they had seen before).</a:t>
            </a:r>
          </a:p>
          <a:p>
            <a:pPr>
              <a:buFont typeface="Arial" panose="020B0604020202020204" pitchFamily="34" charset="0"/>
              <a:buChar char="•"/>
            </a:pPr>
            <a:r>
              <a:rPr lang="en-US" altLang="en-GB" sz="2000" dirty="0"/>
              <a:t>Words processed at a deep, semantic level were remembered much better than words processed at shallow or phonemic levels.</a:t>
            </a:r>
            <a:r>
              <a:rPr lang="en-GB" altLang="en-US" sz="2000" dirty="0"/>
              <a:t> </a:t>
            </a:r>
            <a:r>
              <a:rPr lang="en-US" altLang="en-GB" sz="2000" b="1" dirty="0"/>
              <a:t>Depth of processing, not just rehearsal, determines how well information is remembered</a:t>
            </a:r>
            <a:r>
              <a:rPr lang="en-GB" altLang="en-US" sz="2000" dirty="0"/>
              <a:t> (STRONG EVIDENCE AGAINST MSM!).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674834" y="1038225"/>
            <a:ext cx="5529129" cy="3832878"/>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altLang="en-US"/>
              <a:t>Theories of Forgetting</a:t>
            </a:r>
          </a:p>
        </p:txBody>
      </p:sp>
      <p:sp>
        <p:nvSpPr>
          <p:cNvPr id="5" name="Content Placeholder 4"/>
          <p:cNvSpPr>
            <a:spLocks noGrp="1"/>
          </p:cNvSpPr>
          <p:nvPr>
            <p:ph idx="1"/>
          </p:nvPr>
        </p:nvSpPr>
        <p:spPr>
          <a:xfrm>
            <a:off x="382905" y="2237105"/>
            <a:ext cx="11426190" cy="4241165"/>
          </a:xfrm>
        </p:spPr>
        <p:txBody>
          <a:bodyPr>
            <a:noAutofit/>
          </a:bodyPr>
          <a:lstStyle/>
          <a:p>
            <a:r>
              <a:rPr lang="en-US" altLang="en-GB" sz="1600" dirty="0"/>
              <a:t>Forgetting can occur at the encoding, storage or retrieval stages.</a:t>
            </a:r>
          </a:p>
          <a:p>
            <a:r>
              <a:rPr lang="en-GB" altLang="en-US" sz="1600" dirty="0"/>
              <a:t>W</a:t>
            </a:r>
            <a:r>
              <a:rPr lang="en-US" altLang="en-GB" sz="1600" dirty="0"/>
              <a:t>hat prevents information staying in STM long enough</a:t>
            </a:r>
            <a:r>
              <a:rPr lang="en-GB" altLang="en-US" sz="1600" dirty="0"/>
              <a:t> </a:t>
            </a:r>
            <a:r>
              <a:rPr lang="en-US" altLang="en-GB" sz="1600" dirty="0"/>
              <a:t>to be transferred to LTM</a:t>
            </a:r>
            <a:r>
              <a:rPr lang="en-GB" altLang="en-US" sz="1600" dirty="0"/>
              <a:t>?</a:t>
            </a:r>
          </a:p>
          <a:p>
            <a:pPr lvl="1"/>
            <a:r>
              <a:rPr lang="en-GB" altLang="en-US" b="1" dirty="0"/>
              <a:t>Decay theory</a:t>
            </a:r>
            <a:r>
              <a:rPr lang="en-GB" altLang="en-US" dirty="0"/>
              <a:t>: </a:t>
            </a:r>
            <a:r>
              <a:rPr lang="en-US" altLang="en-GB" dirty="0"/>
              <a:t>Suggests that memories fade over time if they are not accessed or rehearsed</a:t>
            </a:r>
            <a:r>
              <a:rPr lang="en-GB" altLang="en-US" dirty="0"/>
              <a:t> </a:t>
            </a:r>
            <a:r>
              <a:rPr lang="en-GB" altLang="en-US" b="1" dirty="0"/>
              <a:t>(STM + LTM)</a:t>
            </a:r>
            <a:endParaRPr lang="en-US" altLang="en-GB" dirty="0"/>
          </a:p>
          <a:p>
            <a:pPr lvl="1"/>
            <a:r>
              <a:rPr lang="en-GB" altLang="en-US" b="1" dirty="0"/>
              <a:t>Displacement theory</a:t>
            </a:r>
            <a:r>
              <a:rPr lang="en-GB" altLang="en-US" dirty="0"/>
              <a:t>: </a:t>
            </a:r>
            <a:r>
              <a:rPr lang="en-US" altLang="en-GB" dirty="0"/>
              <a:t>new incoming information pushes out older information as we exceed the limited capacity of </a:t>
            </a:r>
            <a:r>
              <a:rPr lang="en-GB" altLang="en-US" b="1" dirty="0"/>
              <a:t>STM</a:t>
            </a:r>
          </a:p>
          <a:p>
            <a:pPr lvl="1"/>
            <a:r>
              <a:rPr lang="en-GB" altLang="en-US" b="1" dirty="0"/>
              <a:t>Interference theory:</a:t>
            </a:r>
            <a:r>
              <a:rPr lang="en-GB" altLang="en-US" dirty="0"/>
              <a:t> </a:t>
            </a:r>
            <a:r>
              <a:rPr lang="en-US" altLang="en-GB" dirty="0"/>
              <a:t>forgetting occurs when new or old information disrupts the recall of other memories</a:t>
            </a:r>
            <a:r>
              <a:rPr lang="en-GB" altLang="en-US" dirty="0"/>
              <a:t> </a:t>
            </a:r>
            <a:r>
              <a:rPr lang="en-GB" altLang="en-US" b="1" dirty="0"/>
              <a:t>(LTM)</a:t>
            </a:r>
            <a:r>
              <a:rPr lang="en-US" altLang="en-GB" dirty="0"/>
              <a:t>. There are two types:</a:t>
            </a:r>
          </a:p>
          <a:p>
            <a:pPr lvl="2"/>
            <a:r>
              <a:rPr lang="en-US" altLang="en-GB" sz="1600" b="1" dirty="0"/>
              <a:t>Proactive Interference</a:t>
            </a:r>
            <a:r>
              <a:rPr lang="en-US" altLang="en-GB" sz="1600" dirty="0"/>
              <a:t>: When old information interferes with learning or remembering new information. </a:t>
            </a:r>
            <a:r>
              <a:rPr lang="en-US" altLang="en-GB" sz="1600" i="1" dirty="0"/>
              <a:t>For example, if you used to have an old phone number and it keeps popping into your mind when you try to recall your new </a:t>
            </a:r>
            <a:r>
              <a:rPr lang="en-US" altLang="en-GB" sz="1600" i="1" dirty="0" smtClean="0"/>
              <a:t>one AND </a:t>
            </a:r>
            <a:r>
              <a:rPr lang="en-US" sz="1600" i="1" dirty="0"/>
              <a:t>Learning a new password is harder because your old password keeps coming to mind.</a:t>
            </a:r>
            <a:r>
              <a:rPr lang="en-US" altLang="en-GB" sz="1600" i="1" dirty="0" smtClean="0"/>
              <a:t>.</a:t>
            </a:r>
            <a:endParaRPr lang="en-US" altLang="en-GB" sz="1600" i="1" dirty="0"/>
          </a:p>
          <a:p>
            <a:pPr lvl="2"/>
            <a:r>
              <a:rPr lang="en-US" altLang="en-GB" sz="1600" b="1" i="1" dirty="0"/>
              <a:t>Retroactive Interference</a:t>
            </a:r>
            <a:r>
              <a:rPr lang="en-US" altLang="en-GB" sz="1600" i="1" dirty="0"/>
              <a:t>: When new information interferes with the ability to recall older information. For instance, learning a new language might make it harder to remember vocabulary from a previously learned </a:t>
            </a:r>
            <a:r>
              <a:rPr lang="en-US" altLang="en-GB" sz="1600" i="1" dirty="0" smtClean="0"/>
              <a:t>language AND </a:t>
            </a:r>
            <a:r>
              <a:rPr lang="en-US" sz="1600" i="1" dirty="0"/>
              <a:t>You learn new dance steps, then forget some of the old ones.</a:t>
            </a:r>
            <a:r>
              <a:rPr lang="en-US" altLang="en-GB" sz="1600" i="1" dirty="0" smtClean="0"/>
              <a:t>.</a:t>
            </a:r>
            <a:r>
              <a:rPr lang="en-GB" altLang="en-US" sz="1600" i="1" dirty="0" smtClean="0"/>
              <a:t> </a:t>
            </a:r>
            <a:endParaRPr lang="en-GB" altLang="en-US" sz="1600" i="1"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278380" y="1591310"/>
            <a:ext cx="8876665" cy="4154170"/>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altLang="en-US"/>
              <a:t>Efficient forgetting?</a:t>
            </a:r>
          </a:p>
        </p:txBody>
      </p:sp>
      <p:sp>
        <p:nvSpPr>
          <p:cNvPr id="5" name="Content Placeholder 4"/>
          <p:cNvSpPr>
            <a:spLocks noGrp="1"/>
          </p:cNvSpPr>
          <p:nvPr>
            <p:ph idx="1"/>
          </p:nvPr>
        </p:nvSpPr>
        <p:spPr>
          <a:xfrm>
            <a:off x="440055" y="2583815"/>
            <a:ext cx="5561965" cy="3618865"/>
          </a:xfrm>
        </p:spPr>
        <p:txBody>
          <a:bodyPr/>
          <a:lstStyle/>
          <a:p>
            <a:pPr algn="just"/>
            <a:r>
              <a:rPr lang="en-US" altLang="en-GB"/>
              <a:t>According to Schacter (2002), efficient forgetting is a crucial part of having a fully functioning memory</a:t>
            </a:r>
            <a:r>
              <a:rPr lang="en-GB" altLang="en-US"/>
              <a:t>; </a:t>
            </a:r>
            <a:r>
              <a:rPr lang="en-US" altLang="en-GB"/>
              <a:t>this is lacking in people with hyperthymestic syndrome (or highly superior autobiographical memory/HSAM).</a:t>
            </a:r>
          </a:p>
        </p:txBody>
      </p:sp>
      <p:pic>
        <p:nvPicPr>
          <p:cNvPr id="6" name="Picture 5"/>
          <p:cNvPicPr>
            <a:picLocks noChangeAspect="1"/>
          </p:cNvPicPr>
          <p:nvPr/>
        </p:nvPicPr>
        <p:blipFill>
          <a:blip r:embed="rId2"/>
          <a:stretch>
            <a:fillRect/>
          </a:stretch>
        </p:blipFill>
        <p:spPr>
          <a:xfrm>
            <a:off x="7025640" y="2649220"/>
            <a:ext cx="4561840" cy="355346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Lecture Summary</a:t>
            </a:r>
            <a:endParaRPr lang="en-US" b="1" dirty="0"/>
          </a:p>
        </p:txBody>
      </p:sp>
      <p:sp>
        <p:nvSpPr>
          <p:cNvPr id="3" name="Content Placeholder 2"/>
          <p:cNvSpPr>
            <a:spLocks noGrp="1"/>
          </p:cNvSpPr>
          <p:nvPr>
            <p:ph idx="1"/>
          </p:nvPr>
        </p:nvSpPr>
        <p:spPr>
          <a:xfrm>
            <a:off x="1154955" y="2603500"/>
            <a:ext cx="10510054" cy="3416300"/>
          </a:xfrm>
        </p:spPr>
        <p:txBody>
          <a:bodyPr>
            <a:normAutofit/>
          </a:bodyPr>
          <a:lstStyle/>
          <a:p>
            <a:r>
              <a:rPr lang="en-US" dirty="0" smtClean="0"/>
              <a:t>What is memory? Encoding, storage, retrieval</a:t>
            </a:r>
          </a:p>
          <a:p>
            <a:r>
              <a:rPr lang="en-US" dirty="0" smtClean="0"/>
              <a:t>The Multi-Store Model (MSM) – Atkinson &amp; Shiffrin</a:t>
            </a:r>
          </a:p>
          <a:p>
            <a:r>
              <a:rPr lang="en-US" dirty="0" smtClean="0"/>
              <a:t>Episodic</a:t>
            </a:r>
            <a:r>
              <a:rPr lang="en-GB" altLang="en-US" dirty="0" smtClean="0"/>
              <a:t>, </a:t>
            </a:r>
            <a:r>
              <a:rPr lang="en-US" dirty="0" smtClean="0"/>
              <a:t>Semantic </a:t>
            </a:r>
            <a:r>
              <a:rPr lang="en-GB" altLang="en-US" dirty="0" smtClean="0"/>
              <a:t>and Procedural </a:t>
            </a:r>
            <a:r>
              <a:rPr lang="en-US" dirty="0" smtClean="0"/>
              <a:t>memory</a:t>
            </a:r>
          </a:p>
          <a:p>
            <a:r>
              <a:rPr lang="en-US" dirty="0" smtClean="0"/>
              <a:t>The Working Memory Model (WMM) - </a:t>
            </a:r>
            <a:r>
              <a:rPr lang="en-GB" altLang="en-US" dirty="0"/>
              <a:t>Baddeley &amp; Hitch </a:t>
            </a:r>
            <a:endParaRPr lang="en-US" dirty="0" smtClean="0"/>
          </a:p>
          <a:p>
            <a:r>
              <a:rPr lang="en-US" dirty="0" smtClean="0"/>
              <a:t>The Levels of Processing Model (LOP) - </a:t>
            </a:r>
            <a:r>
              <a:rPr lang="en-US" dirty="0"/>
              <a:t>Craik and Lockhart</a:t>
            </a:r>
          </a:p>
          <a:p>
            <a:r>
              <a:rPr lang="en-US" dirty="0" smtClean="0"/>
              <a:t>Theories of Forgetting – Decay, displacement, interference</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41</TotalTime>
  <Words>2562</Words>
  <Application>Microsoft Office PowerPoint</Application>
  <PresentationFormat>Widescreen</PresentationFormat>
  <Paragraphs>139</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Century Gothic</vt:lpstr>
      <vt:lpstr>Wingdings 3</vt:lpstr>
      <vt:lpstr>Ion Boardroom</vt:lpstr>
      <vt:lpstr>PSYC100 GENERAL PSYCHOLOGY</vt:lpstr>
      <vt:lpstr>Learning Outcomes</vt:lpstr>
      <vt:lpstr>What is memory?</vt:lpstr>
      <vt:lpstr>These three processes work to manage how we encode, retain, and recall information in our memory.</vt:lpstr>
      <vt:lpstr>PowerPoint Presentation</vt:lpstr>
      <vt:lpstr>I - ENCODING (REGISTRATION)</vt:lpstr>
      <vt:lpstr>Examples</vt:lpstr>
      <vt:lpstr>II - STORAGE</vt:lpstr>
      <vt:lpstr>STM vs LTM</vt:lpstr>
      <vt:lpstr>Short-term memory CAPACITY</vt:lpstr>
      <vt:lpstr>Short-term memory CAPACITY</vt:lpstr>
      <vt:lpstr>Short-term memory DURATION</vt:lpstr>
      <vt:lpstr>Short-term memory CODING</vt:lpstr>
      <vt:lpstr>Long-term memory CAPACITY &amp; DURATION</vt:lpstr>
      <vt:lpstr>Long-term memory CODING</vt:lpstr>
      <vt:lpstr>PowerPoint Presentation</vt:lpstr>
      <vt:lpstr>RETRIEVAL</vt:lpstr>
      <vt:lpstr>PowerPoint Presentation</vt:lpstr>
      <vt:lpstr>The Multi-Store Model (MSM)</vt:lpstr>
      <vt:lpstr>The Multi-Store Model (MSM)</vt:lpstr>
      <vt:lpstr>Experimental studies of STM and LTM</vt:lpstr>
      <vt:lpstr>1. Experimental studies of STM and LTM</vt:lpstr>
      <vt:lpstr>2. Studies of coding</vt:lpstr>
      <vt:lpstr>3. Studies of brain-damaged patients.</vt:lpstr>
      <vt:lpstr>Episodic, Semantic &amp; Procedural Memory</vt:lpstr>
      <vt:lpstr>Episodic Memory</vt:lpstr>
      <vt:lpstr>Semantic Memory</vt:lpstr>
      <vt:lpstr>Procedural Memory</vt:lpstr>
      <vt:lpstr>PowerPoint Presentation</vt:lpstr>
      <vt:lpstr>The Working Memory Model (WMM)</vt:lpstr>
      <vt:lpstr>MSM vs WMM </vt:lpstr>
      <vt:lpstr>The Levels of Processing Model (LOP)</vt:lpstr>
      <vt:lpstr>Key evidence LOP</vt:lpstr>
      <vt:lpstr>PowerPoint Presentation</vt:lpstr>
      <vt:lpstr>Theories of Forgetting</vt:lpstr>
      <vt:lpstr>PowerPoint Presentation</vt:lpstr>
      <vt:lpstr>Efficient forgetting?</vt:lpstr>
      <vt:lpstr>Lecture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PSYC100 GENERAL PSYCHOLOGY</dc:title>
  <dc:creator>aslı</dc:creator>
  <cp:lastModifiedBy>aslı</cp:lastModifiedBy>
  <cp:revision>28</cp:revision>
  <dcterms:created xsi:type="dcterms:W3CDTF">2025-09-17T08:38:00Z</dcterms:created>
  <dcterms:modified xsi:type="dcterms:W3CDTF">2025-11-06T12:59:42Z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12E7122766C24D3FAD3C7B8A7134AE19_12</vt:lpwstr>
  </property>
  <property fmtid="{D5CDD505-2E9C-101B-9397-08002B2CF9AE}" pid="3" name="KSOProductBuildVer">
    <vt:lpwstr>2057-12.2.0.23131</vt:lpwstr>
  </property>
</Properties>
</file>