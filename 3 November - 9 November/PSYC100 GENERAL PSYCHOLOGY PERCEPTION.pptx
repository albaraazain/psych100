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53"/>
  </p:notesMasterIdLst>
  <p:handoutMasterIdLst>
    <p:handoutMasterId r:id="rId54"/>
  </p:handoutMasterIdLst>
  <p:sldIdLst>
    <p:sldId id="3825" r:id="rId5"/>
    <p:sldId id="3826" r:id="rId6"/>
    <p:sldId id="3827" r:id="rId7"/>
    <p:sldId id="3851" r:id="rId8"/>
    <p:sldId id="3852" r:id="rId9"/>
    <p:sldId id="3853" r:id="rId10"/>
    <p:sldId id="3854" r:id="rId11"/>
    <p:sldId id="279" r:id="rId12"/>
    <p:sldId id="304" r:id="rId13"/>
    <p:sldId id="280" r:id="rId14"/>
    <p:sldId id="310" r:id="rId15"/>
    <p:sldId id="281" r:id="rId16"/>
    <p:sldId id="311" r:id="rId17"/>
    <p:sldId id="282" r:id="rId18"/>
    <p:sldId id="306" r:id="rId19"/>
    <p:sldId id="300" r:id="rId20"/>
    <p:sldId id="307" r:id="rId21"/>
    <p:sldId id="305" r:id="rId22"/>
    <p:sldId id="3831" r:id="rId23"/>
    <p:sldId id="3836" r:id="rId24"/>
    <p:sldId id="3834" r:id="rId25"/>
    <p:sldId id="3844" r:id="rId26"/>
    <p:sldId id="3845" r:id="rId27"/>
    <p:sldId id="3837" r:id="rId28"/>
    <p:sldId id="3838" r:id="rId29"/>
    <p:sldId id="3839" r:id="rId30"/>
    <p:sldId id="3840" r:id="rId31"/>
    <p:sldId id="3841" r:id="rId32"/>
    <p:sldId id="3842" r:id="rId33"/>
    <p:sldId id="3843" r:id="rId34"/>
    <p:sldId id="3832" r:id="rId35"/>
    <p:sldId id="3846" r:id="rId36"/>
    <p:sldId id="3855" r:id="rId37"/>
    <p:sldId id="3847" r:id="rId38"/>
    <p:sldId id="3849" r:id="rId39"/>
    <p:sldId id="3850" r:id="rId40"/>
    <p:sldId id="3848" r:id="rId41"/>
    <p:sldId id="3856" r:id="rId42"/>
    <p:sldId id="3857" r:id="rId43"/>
    <p:sldId id="3858" r:id="rId44"/>
    <p:sldId id="3859" r:id="rId45"/>
    <p:sldId id="3860" r:id="rId46"/>
    <p:sldId id="3861" r:id="rId47"/>
    <p:sldId id="3862" r:id="rId48"/>
    <p:sldId id="3863" r:id="rId49"/>
    <p:sldId id="3865" r:id="rId50"/>
    <p:sldId id="3864" r:id="rId51"/>
    <p:sldId id="3866" r:id="rId52"/>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4" userDrawn="1">
          <p15:clr>
            <a:srgbClr val="A4A3A4"/>
          </p15:clr>
        </p15:guide>
        <p15:guide id="2" orient="horz" pos="3408" userDrawn="1">
          <p15:clr>
            <a:srgbClr val="A4A3A4"/>
          </p15:clr>
        </p15:guide>
        <p15:guide id="3" pos="6935" userDrawn="1">
          <p15:clr>
            <a:srgbClr val="A4A3A4"/>
          </p15:clr>
        </p15:guide>
        <p15:guide id="4" pos="74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106" d="100"/>
          <a:sy n="106" d="100"/>
        </p:scale>
        <p:origin x="708" y="96"/>
      </p:cViewPr>
      <p:guideLst>
        <p:guide orient="horz" pos="1204"/>
        <p:guide orient="horz" pos="3408"/>
        <p:guide pos="6935"/>
        <p:guide pos="743"/>
      </p:guideLst>
    </p:cSldViewPr>
  </p:slideViewPr>
  <p:notesTextViewPr>
    <p:cViewPr>
      <p:scale>
        <a:sx n="1" d="1"/>
        <a:sy n="1" d="1"/>
      </p:scale>
      <p:origin x="0" y="0"/>
    </p:cViewPr>
  </p:notesTextViewPr>
  <p:notesViewPr>
    <p:cSldViewPr snapToGrid="0">
      <p:cViewPr varScale="1">
        <p:scale>
          <a:sx n="87" d="100"/>
          <a:sy n="87" d="100"/>
        </p:scale>
        <p:origin x="379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249E17-B59A-4F61-B8D2-5B4F41E1978D}" type="datetime1">
              <a:rPr lang="en-GB" smtClean="0"/>
              <a:t>22/10/2025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3C7C88-02FC-450C-BC0C-36A3D372F9C7}" type="slidenum">
              <a:rPr lang="en-GB" smtClean="0"/>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BE95BD-28DC-4C06-ABE7-D1DD6658916C}" type="datetime1">
              <a:rPr lang="en-GB" smtClean="0"/>
              <a:t>22/10/2025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0C6A29-4676-420C-BBE3-ACC2B80F64D4}" type="slidenum">
              <a:rPr lang="en-GB" noProof="0" smtClean="0"/>
              <a:t>‹#›</a:t>
            </a:fld>
            <a:endParaRPr lang="en-GB" noProof="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2</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p:cNvSpPr>
            <a:spLocks noGrp="1"/>
          </p:cNvSpPr>
          <p:nvPr>
            <p:ph type="ctrTitle"/>
          </p:nvPr>
        </p:nvSpPr>
        <p:spPr>
          <a:xfrm>
            <a:off x="5093208" y="2743200"/>
            <a:ext cx="6592824" cy="2386584"/>
          </a:xfrm>
        </p:spPr>
        <p:txBody>
          <a:bodyPr rtlCol="0" anchor="b"/>
          <a:lstStyle>
            <a:lvl1pPr algn="r">
              <a:defRPr sz="6000">
                <a:solidFill>
                  <a:schemeClr val="bg1"/>
                </a:solidFill>
              </a:defRPr>
            </a:lvl1pPr>
          </a:lstStyle>
          <a:p>
            <a:pPr rtl="0"/>
            <a:r>
              <a:rPr lang="en-GB" noProof="0"/>
              <a:t>Click to edit Master title style</a:t>
            </a:r>
          </a:p>
        </p:txBody>
      </p:sp>
      <p:sp>
        <p:nvSpPr>
          <p:cNvPr id="3" name="Subtitle 2"/>
          <p:cNvSpPr>
            <a:spLocks noGrp="1"/>
          </p:cNvSpPr>
          <p:nvPr>
            <p:ph type="subTitle" idx="1"/>
          </p:nvPr>
        </p:nvSpPr>
        <p:spPr>
          <a:xfrm>
            <a:off x="5093208" y="5221224"/>
            <a:ext cx="6592824" cy="996696"/>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p:cNvSpPr>
            <a:spLocks noGrp="1"/>
          </p:cNvSpPr>
          <p:nvPr>
            <p:ph type="title"/>
          </p:nvPr>
        </p:nvSpPr>
        <p:spPr>
          <a:xfrm>
            <a:off x="1170432" y="1399032"/>
            <a:ext cx="3236976" cy="4069080"/>
          </a:xfrm>
        </p:spPr>
        <p:txBody>
          <a:bodyPr rtlCol="0"/>
          <a:lstStyle>
            <a:lvl1pPr algn="ctr">
              <a:defRPr>
                <a:solidFill>
                  <a:schemeClr val="bg1"/>
                </a:solidFill>
              </a:defRPr>
            </a:lvl1pPr>
          </a:lstStyle>
          <a:p>
            <a:pPr rtl="0"/>
            <a:r>
              <a:rPr lang="en-GB" noProof="0"/>
              <a:t>Click to edit Master title style</a:t>
            </a:r>
          </a:p>
        </p:txBody>
      </p:sp>
      <p:sp>
        <p:nvSpPr>
          <p:cNvPr id="3" name="Content Placeholder 2"/>
          <p:cNvSpPr>
            <a:spLocks noGrp="1"/>
          </p:cNvSpPr>
          <p:nvPr>
            <p:ph idx="1"/>
          </p:nvPr>
        </p:nvSpPr>
        <p:spPr>
          <a:xfrm>
            <a:off x="5788152" y="1527048"/>
            <a:ext cx="5111496" cy="3931920"/>
          </a:xfrm>
        </p:spPr>
        <p:txBody>
          <a:bodyPr rtlCol="0" anchor="ctr"/>
          <a:lstStyle>
            <a:lvl1pPr marL="0" indent="0">
              <a:buNone/>
              <a:defRPr/>
            </a:lvl1pPr>
            <a:lvl2pPr marL="228600">
              <a:defRPr/>
            </a:lvl2pPr>
            <a:lvl3pPr marL="457200">
              <a:defRPr/>
            </a:lvl3pPr>
            <a:lvl4pPr>
              <a:buNone/>
              <a:defRPr/>
            </a:lvl4pPr>
          </a:lstStyle>
          <a:p>
            <a:pPr lvl="0" rtl="0"/>
            <a:r>
              <a:rPr lang="en-GB" noProof="0"/>
              <a:t>Click to edit Master text styles</a:t>
            </a:r>
          </a:p>
          <a:p>
            <a:pPr lvl="1" rtl="0"/>
            <a:r>
              <a:rPr lang="en-GB" noProof="0"/>
              <a:t>Second level</a:t>
            </a:r>
          </a:p>
          <a:p>
            <a:pPr lvl="2" rtl="0"/>
            <a:r>
              <a:rPr lang="en-GB" noProof="0"/>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rtlCol="0" anchor="ctr">
            <a:noAutofit/>
          </a:bodyPr>
          <a:lstStyle>
            <a:lvl1pPr algn="ctr">
              <a:buNone/>
              <a:defRPr sz="1800"/>
            </a:lvl1pPr>
          </a:lstStyle>
          <a:p>
            <a:pPr rtl="0"/>
            <a:r>
              <a:rPr lang="en-GB" noProof="0"/>
              <a:t>Click icon to add picture</a:t>
            </a:r>
          </a:p>
        </p:txBody>
      </p:sp>
      <p:sp>
        <p:nvSpPr>
          <p:cNvPr id="21" name="Picture Placeholder 20"/>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rtlCol="0" anchor="ctr">
            <a:noAutofit/>
          </a:bodyPr>
          <a:lstStyle>
            <a:lvl1pPr algn="ctr">
              <a:buNone/>
              <a:defRPr sz="1800"/>
            </a:lvl1pPr>
          </a:lstStyle>
          <a:p>
            <a:pPr rtl="0"/>
            <a:r>
              <a:rPr lang="en-GB" noProof="0"/>
              <a:t>Click icon to add picture</a:t>
            </a:r>
          </a:p>
        </p:txBody>
      </p:sp>
      <p:sp>
        <p:nvSpPr>
          <p:cNvPr id="2" name="Title 1"/>
          <p:cNvSpPr>
            <a:spLocks noGrp="1"/>
          </p:cNvSpPr>
          <p:nvPr>
            <p:ph type="title"/>
          </p:nvPr>
        </p:nvSpPr>
        <p:spPr>
          <a:xfrm>
            <a:off x="539496" y="365124"/>
            <a:ext cx="5806440" cy="1325880"/>
          </a:xfrm>
        </p:spPr>
        <p:txBody>
          <a:bodyPr rtlCol="0"/>
          <a:lstStyle/>
          <a:p>
            <a:pPr rtl="0"/>
            <a:r>
              <a:rPr lang="en-GB" noProof="0"/>
              <a:t>Click to edit Master title style</a:t>
            </a:r>
          </a:p>
        </p:txBody>
      </p:sp>
      <p:sp>
        <p:nvSpPr>
          <p:cNvPr id="3" name="Content Placeholder 2"/>
          <p:cNvSpPr>
            <a:spLocks noGrp="1"/>
          </p:cNvSpPr>
          <p:nvPr>
            <p:ph idx="1"/>
          </p:nvPr>
        </p:nvSpPr>
        <p:spPr>
          <a:xfrm>
            <a:off x="539496" y="1825625"/>
            <a:ext cx="5806440" cy="4352544"/>
          </a:xfrm>
        </p:spPr>
        <p:txBody>
          <a:bodyPr rtlCol="0">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p:txBody>
      </p:sp>
      <p:sp>
        <p:nvSpPr>
          <p:cNvPr id="4" name="Date Placeholder 3"/>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5" name="Footer Placeholder 4"/>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6" name="Slide Number Placeholder 5"/>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10" name="Oval 9"/>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319272" y="1380744"/>
            <a:ext cx="5559552" cy="2514600"/>
          </a:xfrm>
        </p:spPr>
        <p:txBody>
          <a:bodyPr rtlCol="0" anchor="b"/>
          <a:lstStyle>
            <a:lvl1pPr algn="ctr">
              <a:defRPr sz="6000">
                <a:solidFill>
                  <a:schemeClr val="bg1"/>
                </a:solidFill>
              </a:defRPr>
            </a:lvl1pPr>
          </a:lstStyle>
          <a:p>
            <a:pPr rtl="0"/>
            <a:r>
              <a:rPr lang="en-GB" noProof="0"/>
              <a:t>Click to edit Master title style</a:t>
            </a:r>
          </a:p>
        </p:txBody>
      </p:sp>
      <p:sp>
        <p:nvSpPr>
          <p:cNvPr id="3" name="Text Placeholder 2"/>
          <p:cNvSpPr>
            <a:spLocks noGrp="1"/>
          </p:cNvSpPr>
          <p:nvPr>
            <p:ph type="body" idx="1"/>
          </p:nvPr>
        </p:nvSpPr>
        <p:spPr>
          <a:xfrm>
            <a:off x="3319272" y="4078224"/>
            <a:ext cx="5559552" cy="1536192"/>
          </a:xfrm>
        </p:spPr>
        <p:txBody>
          <a:bodyPr rtlCol="0"/>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496" y="365125"/>
            <a:ext cx="10515600" cy="1325563"/>
          </a:xfrm>
        </p:spPr>
        <p:txBody>
          <a:bodyPr rtlCol="0"/>
          <a:lstStyle>
            <a:lvl1pPr>
              <a:defRPr b="1"/>
            </a:lvl1pPr>
          </a:lstStyle>
          <a:p>
            <a:pPr rtl="0"/>
            <a:r>
              <a:rPr lang="en-GB" noProof="0" dirty="0"/>
              <a:t>Click to edit Master title style</a:t>
            </a:r>
          </a:p>
        </p:txBody>
      </p:sp>
      <p:sp>
        <p:nvSpPr>
          <p:cNvPr id="3" name="Content Placeholder 2"/>
          <p:cNvSpPr>
            <a:spLocks noGrp="1"/>
          </p:cNvSpPr>
          <p:nvPr>
            <p:ph idx="1"/>
          </p:nvPr>
        </p:nvSpPr>
        <p:spPr>
          <a:xfrm>
            <a:off x="539496" y="1919562"/>
            <a:ext cx="9829800" cy="3859742"/>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5" name="Footer Placeholder 4"/>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6" name="Slide Number Placeholder 5"/>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7" name="Freeform: Shape 6"/>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p>
        </p:txBody>
      </p:sp>
      <p:sp>
        <p:nvSpPr>
          <p:cNvPr id="3" name="Date Placeholder 2"/>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4" name="Footer Placeholder 3"/>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5" name="Slide Number Placeholder 4"/>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6" name="Freeform: Shape 5"/>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p:cNvSpPr>
            <a:spLocks noGrp="1"/>
          </p:cNvSpPr>
          <p:nvPr>
            <p:ph idx="1"/>
          </p:nvPr>
        </p:nvSpPr>
        <p:spPr>
          <a:xfrm>
            <a:off x="838200" y="1911096"/>
            <a:ext cx="10515600" cy="3859742"/>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1"/>
            <a:ext cx="12192000" cy="6858000"/>
          </a:xfrm>
        </p:spPr>
        <p:txBody>
          <a:bodyPr rtlCol="0"/>
          <a:lstStyle>
            <a:lvl1pPr>
              <a:buNone/>
              <a:defRPr>
                <a:solidFill>
                  <a:schemeClr val="bg1"/>
                </a:solidFill>
              </a:defRPr>
            </a:lvl1pPr>
          </a:lstStyle>
          <a:p>
            <a:pPr rtl="0"/>
            <a:r>
              <a:rPr lang="en-GB" noProof="0"/>
              <a:t>Click icon to add picture</a:t>
            </a:r>
          </a:p>
        </p:txBody>
      </p:sp>
      <p:sp>
        <p:nvSpPr>
          <p:cNvPr id="10" name="Title 9"/>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rtlCol="0" anchor="b" anchorCtr="0">
            <a:noAutofit/>
          </a:bodyPr>
          <a:lstStyle>
            <a:lvl1pPr algn="ctr">
              <a:defRPr sz="4000">
                <a:solidFill>
                  <a:schemeClr val="tx1"/>
                </a:solidFill>
              </a:defRPr>
            </a:lvl1pPr>
          </a:lstStyle>
          <a:p>
            <a:pPr rtl="0"/>
            <a:r>
              <a:rPr lang="en-GB" noProof="0"/>
              <a:t>Click to edit Master title style</a:t>
            </a:r>
          </a:p>
        </p:txBody>
      </p:sp>
      <p:sp>
        <p:nvSpPr>
          <p:cNvPr id="3" name="Text Placeholder 2"/>
          <p:cNvSpPr>
            <a:spLocks noGrp="1"/>
          </p:cNvSpPr>
          <p:nvPr>
            <p:ph type="body" idx="1"/>
          </p:nvPr>
        </p:nvSpPr>
        <p:spPr>
          <a:xfrm>
            <a:off x="3575304" y="4379976"/>
            <a:ext cx="5038344" cy="713232"/>
          </a:xfrm>
        </p:spPr>
        <p:txBody>
          <a:bodyPr rtlCol="0"/>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Click to edit Master text styles</a:t>
            </a:r>
          </a:p>
        </p:txBody>
      </p:sp>
      <p:sp>
        <p:nvSpPr>
          <p:cNvPr id="11" name="Date Placeholder 10"/>
          <p:cNvSpPr>
            <a:spLocks noGrp="1"/>
          </p:cNvSpPr>
          <p:nvPr>
            <p:ph type="dt" sz="half" idx="11"/>
          </p:nvPr>
        </p:nvSpPr>
        <p:spPr/>
        <p:txBody>
          <a:bodyPr rtlCol="0"/>
          <a:lstStyle>
            <a:lvl1pPr>
              <a:defRPr>
                <a:solidFill>
                  <a:schemeClr val="bg1"/>
                </a:solidFill>
                <a:latin typeface="+mn-lt"/>
              </a:defRPr>
            </a:lvl1pPr>
          </a:lstStyle>
          <a:p>
            <a:pPr rtl="0">
              <a:defRPr/>
            </a:pPr>
            <a:r>
              <a:rPr lang="en-GB" noProof="0"/>
              <a:t>9/3/20XX</a:t>
            </a:r>
          </a:p>
        </p:txBody>
      </p:sp>
      <p:sp>
        <p:nvSpPr>
          <p:cNvPr id="12" name="Footer Placeholder 11"/>
          <p:cNvSpPr>
            <a:spLocks noGrp="1"/>
          </p:cNvSpPr>
          <p:nvPr>
            <p:ph type="ftr" sz="quarter" idx="12"/>
          </p:nvPr>
        </p:nvSpPr>
        <p:spPr/>
        <p:txBody>
          <a:bodyPr rtlCol="0"/>
          <a:lstStyle>
            <a:lvl1pPr>
              <a:defRPr>
                <a:solidFill>
                  <a:schemeClr val="bg1"/>
                </a:solidFill>
                <a:latin typeface="+mn-lt"/>
              </a:defRPr>
            </a:lvl1pPr>
          </a:lstStyle>
          <a:p>
            <a:pPr rtl="0">
              <a:defRPr/>
            </a:pPr>
            <a:r>
              <a:rPr lang="en-GB" noProof="0"/>
              <a:t>Presentation Title</a:t>
            </a:r>
          </a:p>
        </p:txBody>
      </p:sp>
      <p:sp>
        <p:nvSpPr>
          <p:cNvPr id="13" name="Slide Number Placeholder 12"/>
          <p:cNvSpPr>
            <a:spLocks noGrp="1"/>
          </p:cNvSpPr>
          <p:nvPr>
            <p:ph type="sldNum" sz="quarter" idx="13"/>
          </p:nvPr>
        </p:nvSpPr>
        <p:spPr/>
        <p:txBody>
          <a:bodyPr rtlCol="0"/>
          <a:lstStyle>
            <a:lvl1pPr>
              <a:defRPr>
                <a:solidFill>
                  <a:schemeClr val="bg1"/>
                </a:solidFill>
                <a:latin typeface="+mn-lt"/>
              </a:defRPr>
            </a:lvl1pPr>
          </a:lstStyle>
          <a:p>
            <a:pPr rtl="0">
              <a:defRPr/>
            </a:pPr>
            <a:fld id="{D76B855D-E9CC-4FF8-AD85-6CDC7B89A0DE}" type="slidenum">
              <a:rPr lang="en-GB" noProof="0" smtClean="0"/>
              <a:t>‹#›</a:t>
            </a:fld>
            <a:endParaRPr lang="en-GB"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p>
        </p:txBody>
      </p:sp>
      <p:sp>
        <p:nvSpPr>
          <p:cNvPr id="3" name="Content Placeholder 2"/>
          <p:cNvSpPr>
            <a:spLocks noGrp="1"/>
          </p:cNvSpPr>
          <p:nvPr>
            <p:ph sz="half" idx="1"/>
          </p:nvPr>
        </p:nvSpPr>
        <p:spPr>
          <a:xfrm>
            <a:off x="838200" y="1825625"/>
            <a:ext cx="5181600" cy="4351338"/>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p:nvPr>
        </p:nvSpPr>
        <p:spPr>
          <a:xfrm>
            <a:off x="6172200" y="1825625"/>
            <a:ext cx="5181600" cy="4351338"/>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6" name="Footer Placeholder 5"/>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7" name="Slide Number Placeholder 6"/>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8" name="Freeform: Shape 7"/>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rtlCol="0"/>
          <a:lstStyle/>
          <a:p>
            <a:pPr rtl="0"/>
            <a:r>
              <a:rPr lang="en-GB" noProof="0"/>
              <a:t>Click to edit Master title style</a:t>
            </a:r>
          </a:p>
        </p:txBody>
      </p:sp>
      <p:sp>
        <p:nvSpPr>
          <p:cNvPr id="3" name="Text Placeholder 2"/>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4" name="Content Placeholder 3"/>
          <p:cNvSpPr>
            <a:spLocks noGrp="1"/>
          </p:cNvSpPr>
          <p:nvPr>
            <p:ph sz="half" idx="2"/>
          </p:nvPr>
        </p:nvSpPr>
        <p:spPr>
          <a:xfrm>
            <a:off x="839788" y="2505075"/>
            <a:ext cx="5157787" cy="3684588"/>
          </a:xfrm>
        </p:spPr>
        <p:txBody>
          <a:bodyPr rtlCol="0">
            <a:normAutofit/>
          </a:bodyPr>
          <a:lstStyle>
            <a:lvl1pPr>
              <a:defRPr sz="2400"/>
            </a:lvl1pPr>
            <a:lvl2pPr>
              <a:defRPr sz="2000"/>
            </a:lvl2pPr>
            <a:lvl3pPr>
              <a:defRPr sz="1800"/>
            </a:lvl3pPr>
            <a:lvl4pPr>
              <a:defRPr sz="1600"/>
            </a:lvl4pPr>
            <a:lvl5pPr>
              <a:defRPr sz="16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6" name="Content Placeholder 5"/>
          <p:cNvSpPr>
            <a:spLocks noGrp="1"/>
          </p:cNvSpPr>
          <p:nvPr>
            <p:ph sz="quarter" idx="4"/>
          </p:nvPr>
        </p:nvSpPr>
        <p:spPr>
          <a:xfrm>
            <a:off x="6172200" y="2505075"/>
            <a:ext cx="5183188" cy="3684588"/>
          </a:xfrm>
        </p:spPr>
        <p:txBody>
          <a:bodyPr rtlCol="0">
            <a:normAutofit/>
          </a:bodyPr>
          <a:lstStyle>
            <a:lvl1pPr>
              <a:defRPr sz="2400"/>
            </a:lvl1pPr>
            <a:lvl2pPr>
              <a:defRPr sz="2000"/>
            </a:lvl2pPr>
            <a:lvl3pPr>
              <a:defRPr sz="1800"/>
            </a:lvl3pPr>
            <a:lvl4pPr>
              <a:defRPr sz="1600"/>
            </a:lvl4pPr>
            <a:lvl5pPr>
              <a:defRPr sz="16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8" name="Footer Placeholder 7"/>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9" name="Slide Number Placeholder 8"/>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10" name="Freeform: Shape 9"/>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rtlCol="0"/>
          <a:lstStyle/>
          <a:p>
            <a:pPr rtl="0"/>
            <a:r>
              <a:rPr lang="en-GB" noProof="0"/>
              <a:t>Click to edit Master title style</a:t>
            </a:r>
          </a:p>
        </p:txBody>
      </p:sp>
      <p:sp>
        <p:nvSpPr>
          <p:cNvPr id="3" name="Text Placeholder 2"/>
          <p:cNvSpPr>
            <a:spLocks noGrp="1"/>
          </p:cNvSpPr>
          <p:nvPr>
            <p:ph type="body" idx="1"/>
          </p:nvPr>
        </p:nvSpPr>
        <p:spPr>
          <a:xfrm>
            <a:off x="83978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4" name="Content Placeholder 3"/>
          <p:cNvSpPr>
            <a:spLocks noGrp="1"/>
          </p:cNvSpPr>
          <p:nvPr>
            <p:ph sz="half" idx="2"/>
          </p:nvPr>
        </p:nvSpPr>
        <p:spPr>
          <a:xfrm>
            <a:off x="83978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p:nvPr>
        </p:nvSpPr>
        <p:spPr>
          <a:xfrm>
            <a:off x="445312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6" name="Content Placeholder 5"/>
          <p:cNvSpPr>
            <a:spLocks noGrp="1"/>
          </p:cNvSpPr>
          <p:nvPr>
            <p:ph sz="quarter" idx="4"/>
          </p:nvPr>
        </p:nvSpPr>
        <p:spPr>
          <a:xfrm>
            <a:off x="445312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8" name="Footer Placeholder 7"/>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9" name="Slide Number Placeholder 8"/>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10" name="Freeform: Shape 9"/>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p:cNvSpPr>
            <a:spLocks noGrp="1"/>
          </p:cNvSpPr>
          <p:nvPr>
            <p:ph type="body" sz="quarter" idx="13"/>
          </p:nvPr>
        </p:nvSpPr>
        <p:spPr>
          <a:xfrm>
            <a:off x="806500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13" name="Content Placeholder 5"/>
          <p:cNvSpPr>
            <a:spLocks noGrp="1"/>
          </p:cNvSpPr>
          <p:nvPr>
            <p:ph sz="quarter" idx="14"/>
          </p:nvPr>
        </p:nvSpPr>
        <p:spPr>
          <a:xfrm>
            <a:off x="806500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rtlCol="0" anchor="ctr">
            <a:noAutofit/>
          </a:bodyPr>
          <a:lstStyle>
            <a:lvl1pPr algn="ctr">
              <a:buNone/>
              <a:defRPr sz="1800"/>
            </a:lvl1pPr>
          </a:lstStyle>
          <a:p>
            <a:pPr rtl="0"/>
            <a:r>
              <a:rPr lang="en-GB" noProof="0"/>
              <a:t>Click icon to add picture</a:t>
            </a:r>
          </a:p>
        </p:txBody>
      </p:sp>
      <p:sp>
        <p:nvSpPr>
          <p:cNvPr id="21" name="Picture Placeholder 20"/>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rtlCol="0" anchor="ctr">
            <a:noAutofit/>
          </a:bodyPr>
          <a:lstStyle>
            <a:lvl1pPr algn="ctr">
              <a:buNone/>
              <a:defRPr sz="1800"/>
            </a:lvl1pPr>
          </a:lstStyle>
          <a:p>
            <a:pPr rtl="0"/>
            <a:r>
              <a:rPr lang="en-GB" noProof="0"/>
              <a:t>Click icon to add picture</a:t>
            </a:r>
          </a:p>
        </p:txBody>
      </p:sp>
      <p:sp>
        <p:nvSpPr>
          <p:cNvPr id="10" name="Oval 9"/>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p:cNvSpPr>
            <a:spLocks noGrp="1"/>
          </p:cNvSpPr>
          <p:nvPr>
            <p:ph type="title"/>
          </p:nvPr>
        </p:nvSpPr>
        <p:spPr>
          <a:xfrm>
            <a:off x="841248" y="365760"/>
            <a:ext cx="5120640" cy="1325880"/>
          </a:xfrm>
        </p:spPr>
        <p:txBody>
          <a:bodyPr rtlCol="0"/>
          <a:lstStyle/>
          <a:p>
            <a:pPr rtl="0"/>
            <a:r>
              <a:rPr lang="en-GB" noProof="0"/>
              <a:t>Click to edit Master title style</a:t>
            </a:r>
          </a:p>
        </p:txBody>
      </p:sp>
      <p:sp>
        <p:nvSpPr>
          <p:cNvPr id="3" name="Date Placeholder 2"/>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4" name="Footer Placeholder 3"/>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5" name="Slide Number Placeholder 4"/>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8" name="Content Placeholder 2"/>
          <p:cNvSpPr>
            <a:spLocks noGrp="1"/>
          </p:cNvSpPr>
          <p:nvPr>
            <p:ph idx="1"/>
          </p:nvPr>
        </p:nvSpPr>
        <p:spPr>
          <a:xfrm>
            <a:off x="841248" y="1828800"/>
            <a:ext cx="5093208" cy="4352544"/>
          </a:xfrm>
        </p:spPr>
        <p:txBody>
          <a:bodyPr rtlCol="0"/>
          <a:lstStyle>
            <a:lvl1pPr marL="0" indent="0">
              <a:buNone/>
              <a:defRPr sz="2400"/>
            </a:lvl1pPr>
            <a:lvl2pPr marL="228600">
              <a:defRPr/>
            </a:lvl2pPr>
            <a:lvl3pPr marL="457200">
              <a:defRPr/>
            </a:lvl3pPr>
            <a:lvl4pPr marL="685800">
              <a:defRPr/>
            </a:lvl4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389888" y="1234440"/>
            <a:ext cx="3236976" cy="4069080"/>
          </a:xfrm>
        </p:spPr>
        <p:txBody>
          <a:bodyPr rtlCol="0"/>
          <a:lstStyle>
            <a:lvl1pPr algn="ctr">
              <a:defRPr>
                <a:solidFill>
                  <a:schemeClr val="bg1"/>
                </a:solidFill>
              </a:defRPr>
            </a:lvl1pPr>
          </a:lstStyle>
          <a:p>
            <a:pPr rtl="0"/>
            <a:r>
              <a:rPr lang="en-GB" noProof="0"/>
              <a:t>Click to edit Master title style</a:t>
            </a:r>
          </a:p>
        </p:txBody>
      </p:sp>
      <p:sp>
        <p:nvSpPr>
          <p:cNvPr id="3" name="Date Placeholder 2"/>
          <p:cNvSpPr>
            <a:spLocks noGrp="1"/>
          </p:cNvSpPr>
          <p:nvPr>
            <p:ph type="dt" sz="half" idx="10"/>
          </p:nvPr>
        </p:nvSpPr>
        <p:spPr>
          <a:xfrm>
            <a:off x="1682496" y="6356350"/>
            <a:ext cx="1545336" cy="365125"/>
          </a:xfrm>
        </p:spPr>
        <p:txBody>
          <a:bodyPr rtlCol="0"/>
          <a:lstStyle>
            <a:lvl1pPr>
              <a:defRPr>
                <a:latin typeface="+mn-lt"/>
              </a:defRPr>
            </a:lvl1pPr>
          </a:lstStyle>
          <a:p>
            <a:pPr rtl="0">
              <a:defRPr/>
            </a:pPr>
            <a:r>
              <a:rPr lang="en-GB" noProof="0">
                <a:solidFill>
                  <a:prstClr val="black">
                    <a:tint val="75000"/>
                  </a:prstClr>
                </a:solidFill>
              </a:rPr>
              <a:t>9/3/20XX</a:t>
            </a:r>
          </a:p>
        </p:txBody>
      </p:sp>
      <p:sp>
        <p:nvSpPr>
          <p:cNvPr id="4" name="Footer Placeholder 3"/>
          <p:cNvSpPr>
            <a:spLocks noGrp="1"/>
          </p:cNvSpPr>
          <p:nvPr>
            <p:ph type="ftr" sz="quarter" idx="11"/>
          </p:nvPr>
        </p:nvSpPr>
        <p:spPr>
          <a:xfrm>
            <a:off x="6099048" y="6356350"/>
            <a:ext cx="4114800" cy="365125"/>
          </a:xfrm>
        </p:spPr>
        <p:txBody>
          <a:bodyPr rtlCol="0"/>
          <a:lstStyle>
            <a:lvl1pPr algn="l">
              <a:defRPr>
                <a:latin typeface="+mn-lt"/>
              </a:defRPr>
            </a:lvl1pPr>
          </a:lstStyle>
          <a:p>
            <a:pPr algn="l" rtl="0">
              <a:defRPr/>
            </a:pPr>
            <a:r>
              <a:rPr lang="en-GB" noProof="0">
                <a:solidFill>
                  <a:prstClr val="black">
                    <a:tint val="75000"/>
                  </a:prstClr>
                </a:solidFill>
              </a:rPr>
              <a:t>Presentation Title</a:t>
            </a:r>
          </a:p>
        </p:txBody>
      </p:sp>
      <p:sp>
        <p:nvSpPr>
          <p:cNvPr id="5" name="Slide Number Placeholder 4"/>
          <p:cNvSpPr>
            <a:spLocks noGrp="1"/>
          </p:cNvSpPr>
          <p:nvPr>
            <p:ph type="sldNum" sz="quarter" idx="12"/>
          </p:nvPr>
        </p:nvSpPr>
        <p:spPr>
          <a:xfrm>
            <a:off x="10506456" y="6356350"/>
            <a:ext cx="850392" cy="365125"/>
          </a:xfrm>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8" name="Content Placeholder 2"/>
          <p:cNvSpPr>
            <a:spLocks noGrp="1"/>
          </p:cNvSpPr>
          <p:nvPr>
            <p:ph idx="1"/>
          </p:nvPr>
        </p:nvSpPr>
        <p:spPr>
          <a:xfrm>
            <a:off x="6665976" y="2551176"/>
            <a:ext cx="4709160" cy="1755648"/>
          </a:xfrm>
        </p:spPr>
        <p:txBody>
          <a:bodyPr rtlCol="0"/>
          <a:lstStyle>
            <a:lvl1pPr marL="0" indent="0">
              <a:buNone/>
              <a:defRPr sz="2400"/>
            </a:lvl1pPr>
            <a:lvl2pPr marL="228600">
              <a:defRPr sz="1800"/>
            </a:lvl2pPr>
            <a:lvl3pPr marL="457200">
              <a:defRPr sz="1800"/>
            </a:lvl3pPr>
          </a:lstStyle>
          <a:p>
            <a:pPr lvl="0" rtl="0"/>
            <a:r>
              <a:rPr lang="en-GB" noProof="0"/>
              <a:t>Click to edit Master text styles</a:t>
            </a:r>
          </a:p>
          <a:p>
            <a:pPr lvl="1" rtl="0"/>
            <a:r>
              <a:rPr lang="en-GB" noProof="0"/>
              <a:t>Second level</a:t>
            </a:r>
          </a:p>
          <a:p>
            <a:pPr lvl="2" rtl="0"/>
            <a:r>
              <a:rPr lang="en-GB" noProof="0"/>
              <a:t>Third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3" name="Footer Placeholder 2"/>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4" name="Slide Number Placeholder 3"/>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5" name="Freeform: Shape 4"/>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3" name="Footer Placeholder 2"/>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4" name="Slide Number Placeholder 3"/>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5" name="Freeform: Shape 4"/>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p:cNvSpPr>
            <a:spLocks noGrp="1"/>
          </p:cNvSpPr>
          <p:nvPr>
            <p:ph type="title"/>
          </p:nvPr>
        </p:nvSpPr>
        <p:spPr/>
        <p:txBody>
          <a:bodyPr rtlCol="0"/>
          <a:lstStyle/>
          <a:p>
            <a:pPr rtl="0"/>
            <a:r>
              <a:rPr lang="en-GB" noProof="0"/>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rtlCol="0" anchor="b"/>
          <a:lstStyle>
            <a:lvl1pPr>
              <a:defRPr sz="3200"/>
            </a:lvl1pPr>
          </a:lstStyle>
          <a:p>
            <a:pPr rtl="0"/>
            <a:r>
              <a:rPr lang="en-GB" noProof="0"/>
              <a:t>Click to edit Master title style</a:t>
            </a:r>
          </a:p>
        </p:txBody>
      </p:sp>
      <p:sp>
        <p:nvSpPr>
          <p:cNvPr id="3" name="Content Placeholder 2"/>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Text Placeholder 3"/>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sp>
        <p:nvSpPr>
          <p:cNvPr id="5" name="Date Placeholder 4"/>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6" name="Footer Placeholder 5"/>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7" name="Slide Number Placeholder 6"/>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8" name="Freeform: Shape 7"/>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rtlCol="0" anchor="b"/>
          <a:lstStyle>
            <a:lvl1pPr>
              <a:defRPr sz="3200"/>
            </a:lvl1pPr>
          </a:lstStyle>
          <a:p>
            <a:pPr rtl="0"/>
            <a:r>
              <a:rPr lang="en-GB" noProof="0"/>
              <a:t>Click to edit Master title style</a:t>
            </a:r>
          </a:p>
        </p:txBody>
      </p:sp>
      <p:sp>
        <p:nvSpPr>
          <p:cNvPr id="3" name="Picture Placeholder 2"/>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Click icon to add picture</a:t>
            </a:r>
          </a:p>
        </p:txBody>
      </p:sp>
      <p:sp>
        <p:nvSpPr>
          <p:cNvPr id="4" name="Text Placeholder 3"/>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sp>
        <p:nvSpPr>
          <p:cNvPr id="5" name="Date Placeholder 4"/>
          <p:cNvSpPr>
            <a:spLocks noGrp="1"/>
          </p:cNvSpPr>
          <p:nvPr>
            <p:ph type="dt" sz="half" idx="10"/>
          </p:nvPr>
        </p:nvSpPr>
        <p:spPr/>
        <p:txBody>
          <a:bodyPr rtlCol="0"/>
          <a:lstStyle>
            <a:lvl1pPr>
              <a:defRPr>
                <a:latin typeface="+mn-lt"/>
              </a:defRPr>
            </a:lvl1pPr>
          </a:lstStyle>
          <a:p>
            <a:pPr rtl="0">
              <a:defRPr/>
            </a:pPr>
            <a:r>
              <a:rPr lang="en-GB" noProof="0">
                <a:solidFill>
                  <a:prstClr val="black">
                    <a:tint val="75000"/>
                  </a:prstClr>
                </a:solidFill>
              </a:rPr>
              <a:t>9/3/20XX</a:t>
            </a:r>
          </a:p>
        </p:txBody>
      </p:sp>
      <p:sp>
        <p:nvSpPr>
          <p:cNvPr id="6" name="Footer Placeholder 5"/>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7" name="Slide Number Placeholder 6"/>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
        <p:nvSpPr>
          <p:cNvPr id="8" name="Freeform: Shape 7"/>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rtl="0">
              <a:defRPr/>
            </a:pPr>
            <a:r>
              <a:rPr lang="en-GB" noProof="0">
                <a:solidFill>
                  <a:prstClr val="black">
                    <a:tint val="75000"/>
                  </a:prstClr>
                </a:solidFill>
              </a:rPr>
              <a:t>9/3/20XX</a:t>
            </a:r>
          </a:p>
        </p:txBody>
      </p:sp>
      <p:sp>
        <p:nvSpPr>
          <p:cNvPr id="5" name="Footer Placeholder 4"/>
          <p:cNvSpPr>
            <a:spLocks noGrp="1"/>
          </p:cNvSpPr>
          <p:nvPr>
            <p:ph type="ftr" sz="quarter" idx="11"/>
          </p:nvPr>
        </p:nvSpPr>
        <p:spPr/>
        <p:txBody>
          <a:bodyPr/>
          <a:lstStyle/>
          <a:p>
            <a:pPr rtl="0">
              <a:defRPr/>
            </a:pPr>
            <a:r>
              <a:rPr lang="en-GB" noProof="0">
                <a:solidFill>
                  <a:prstClr val="black">
                    <a:tint val="75000"/>
                  </a:prstClr>
                </a:solidFill>
              </a:rPr>
              <a:t>Presentation Title</a:t>
            </a:r>
          </a:p>
        </p:txBody>
      </p:sp>
      <p:sp>
        <p:nvSpPr>
          <p:cNvPr id="6" name="Slide Number Placeholder 5"/>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GB" noProof="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rtl="0">
              <a:defRPr/>
            </a:pPr>
            <a:r>
              <a:rPr lang="en-GB" noProof="0">
                <a:solidFill>
                  <a:prstClr val="black">
                    <a:tint val="75000"/>
                  </a:prstClr>
                </a:solidFill>
              </a:rPr>
              <a:t>9/3/20XX</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rtl="0">
              <a:defRPr/>
            </a:pPr>
            <a:r>
              <a:rPr lang="en-GB" noProof="0">
                <a:solidFill>
                  <a:prstClr val="black">
                    <a:tint val="75000"/>
                  </a:prstClr>
                </a:solidFill>
              </a:rPr>
              <a:t>Presentation Title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rtl="0">
              <a:defRPr/>
            </a:pPr>
            <a:fld id="{D76B855D-E9CC-4FF8-AD85-6CDC7B89A0DE}" type="slidenum">
              <a:rPr lang="en-GB" noProof="0" smtClean="0">
                <a:solidFill>
                  <a:prstClr val="black">
                    <a:tint val="75000"/>
                  </a:prstClr>
                </a:solidFill>
              </a:rPr>
              <a:t>‹#›</a:t>
            </a:fld>
            <a:endParaRPr lang="en-GB" noProof="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rtlCol="0"/>
          <a:lstStyle/>
          <a:p>
            <a:pPr algn="ctr" rtl="0"/>
            <a:r>
              <a:rPr lang="en-GB" dirty="0">
                <a:solidFill>
                  <a:srgbClr val="FFFFFF"/>
                </a:solidFill>
              </a:rPr>
              <a:t>PSYC100 GENERAL PSYCHOLOGY</a:t>
            </a:r>
            <a:endParaRPr lang="en-GB" dirty="0"/>
          </a:p>
        </p:txBody>
      </p:sp>
      <p:sp>
        <p:nvSpPr>
          <p:cNvPr id="3" name="Subtitle 2"/>
          <p:cNvSpPr>
            <a:spLocks noGrp="1"/>
          </p:cNvSpPr>
          <p:nvPr>
            <p:ph type="subTitle" idx="1"/>
          </p:nvPr>
        </p:nvSpPr>
        <p:spPr/>
        <p:txBody>
          <a:bodyPr rtlCol="0">
            <a:normAutofit/>
          </a:bodyPr>
          <a:lstStyle/>
          <a:p>
            <a:pPr algn="ctr" rtl="0"/>
            <a:r>
              <a:rPr lang="en-GB" sz="3200" b="1" dirty="0">
                <a:solidFill>
                  <a:srgbClr val="FFFFFF"/>
                </a:solidFill>
              </a:rPr>
              <a:t>PERCEPTION</a:t>
            </a:r>
          </a:p>
          <a:p>
            <a:pPr algn="ctr" rtl="0"/>
            <a:endParaRPr lang="en-GB"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solidFill>
                  <a:srgbClr val="FFFFFF"/>
                </a:solidFill>
              </a:rPr>
              <a:t>Lecture Outline</a:t>
            </a:r>
            <a:endParaRPr lang="en-GB" dirty="0"/>
          </a:p>
        </p:txBody>
      </p:sp>
      <p:sp>
        <p:nvSpPr>
          <p:cNvPr id="3" name="Content Placeholder 2"/>
          <p:cNvSpPr>
            <a:spLocks noGrp="1"/>
          </p:cNvSpPr>
          <p:nvPr>
            <p:ph idx="1"/>
          </p:nvPr>
        </p:nvSpPr>
        <p:spPr/>
        <p:txBody>
          <a:bodyPr rtlCol="0"/>
          <a:lstStyle/>
          <a:p>
            <a:pPr marL="457200" indent="-457200" rtl="0">
              <a:buFont typeface="Arial" panose="020B0604020202020204" pitchFamily="34" charset="0"/>
              <a:buChar char="•"/>
            </a:pPr>
            <a:r>
              <a:rPr lang="en-GB" dirty="0"/>
              <a:t>What is perception?</a:t>
            </a:r>
          </a:p>
          <a:p>
            <a:pPr marL="457200" indent="-457200" rtl="0">
              <a:buFont typeface="Arial" panose="020B0604020202020204" pitchFamily="34" charset="0"/>
              <a:buChar char="•"/>
            </a:pPr>
            <a:r>
              <a:rPr lang="en-GB" dirty="0"/>
              <a:t>Gestalt Psychology</a:t>
            </a:r>
          </a:p>
          <a:p>
            <a:pPr marL="457200" indent="-457200" rtl="0">
              <a:buFont typeface="Arial" panose="020B0604020202020204" pitchFamily="34" charset="0"/>
              <a:buChar char="•"/>
            </a:pPr>
            <a:r>
              <a:rPr lang="en-GB" dirty="0"/>
              <a:t>Depth perception</a:t>
            </a:r>
          </a:p>
          <a:p>
            <a:pPr marL="457200" indent="-457200" rtl="0">
              <a:buFont typeface="Arial" panose="020B0604020202020204" pitchFamily="34" charset="0"/>
              <a:buChar char="•"/>
            </a:pPr>
            <a:r>
              <a:rPr lang="en-GB" dirty="0"/>
              <a:t>Perceptual consistency</a:t>
            </a:r>
          </a:p>
          <a:p>
            <a:pPr marL="457200" indent="-457200" rtl="0">
              <a:buFont typeface="Arial" panose="020B0604020202020204" pitchFamily="34" charset="0"/>
              <a:buChar char="•"/>
            </a:pPr>
            <a:r>
              <a:rPr lang="en-GB" dirty="0"/>
              <a:t>Illusions</a:t>
            </a:r>
          </a:p>
          <a:p>
            <a:pPr marL="457200" indent="-457200" rtl="0">
              <a:buFont typeface="Arial" panose="020B0604020202020204" pitchFamily="34" charset="0"/>
              <a:buChar char="•"/>
            </a:pPr>
            <a:r>
              <a:rPr lang="en-GB" dirty="0"/>
              <a:t>Theories of visual perception</a:t>
            </a:r>
          </a:p>
        </p:txBody>
      </p:sp>
      <p:sp>
        <p:nvSpPr>
          <p:cNvPr id="6" name="Slide Number Placeholder 5"/>
          <p:cNvSpPr>
            <a:spLocks noGrp="1"/>
          </p:cNvSpPr>
          <p:nvPr>
            <p:ph type="sldNum" sz="quarter" idx="4294967295"/>
          </p:nvPr>
        </p:nvSpPr>
        <p:spPr>
          <a:xfrm>
            <a:off x="8610600" y="6356350"/>
            <a:ext cx="2743200" cy="365125"/>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defRPr/>
            </a:pPr>
            <a:fld id="{D76B855D-E9CC-4FF8-AD85-6CDC7B89A0DE}" type="slidenum">
              <a:rPr kumimoji="0" lang="en-GB" sz="1200" b="0" i="0" u="none" strike="noStrike" kern="1200" cap="none" spc="0" normalizeH="0" baseline="0" smtClean="0">
                <a:ln>
                  <a:noFill/>
                </a:ln>
                <a:solidFill>
                  <a:prstClr val="black">
                    <a:tint val="75000"/>
                  </a:prstClr>
                </a:solidFill>
                <a:effectLst/>
                <a:uLnTx/>
                <a:uFillTx/>
                <a:latin typeface="Calibri" panose="020F0502020204030204"/>
                <a:ea typeface="+mn-ea"/>
                <a:cs typeface="+mn-cs"/>
              </a:rPr>
              <a:t>2</a:t>
            </a:fld>
            <a:endParaRPr kumimoji="0" lang="en-GB" sz="1200" b="0" i="0" u="none" strike="noStrike" kern="1200" cap="none" spc="0" normalizeH="0" baseline="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perception?</a:t>
            </a:r>
          </a:p>
        </p:txBody>
      </p:sp>
      <p:sp>
        <p:nvSpPr>
          <p:cNvPr id="3" name="Content Placeholder 2"/>
          <p:cNvSpPr>
            <a:spLocks noGrp="1"/>
          </p:cNvSpPr>
          <p:nvPr>
            <p:ph idx="1"/>
          </p:nvPr>
        </p:nvSpPr>
        <p:spPr>
          <a:xfrm>
            <a:off x="636368" y="1690688"/>
            <a:ext cx="9829800" cy="4319583"/>
          </a:xfrm>
        </p:spPr>
        <p:txBody>
          <a:bodyPr>
            <a:normAutofit fontScale="92500" lnSpcReduction="20000"/>
          </a:bodyPr>
          <a:lstStyle/>
          <a:p>
            <a:r>
              <a:rPr lang="en-GB" dirty="0"/>
              <a:t>Perception is the</a:t>
            </a:r>
            <a:r>
              <a:rPr lang="en-GB" i="1" dirty="0"/>
              <a:t> organisation</a:t>
            </a:r>
            <a:r>
              <a:rPr lang="en-GB" dirty="0"/>
              <a:t> and</a:t>
            </a:r>
            <a:r>
              <a:rPr lang="en-GB" i="1" dirty="0"/>
              <a:t> interpretation </a:t>
            </a:r>
            <a:r>
              <a:rPr lang="en-GB" dirty="0"/>
              <a:t>of incoming sensory information to form inner representations of the external world.</a:t>
            </a:r>
          </a:p>
          <a:p>
            <a:r>
              <a:rPr lang="en-GB" dirty="0"/>
              <a:t>We don’t perceive ‘reality’ at all but only how our brain </a:t>
            </a:r>
            <a:r>
              <a:rPr lang="en-GB" i="1" dirty="0"/>
              <a:t>interprets </a:t>
            </a:r>
            <a:r>
              <a:rPr lang="en-GB" dirty="0"/>
              <a:t>it (</a:t>
            </a:r>
            <a:r>
              <a:rPr lang="en-GB" dirty="0" err="1"/>
              <a:t>Macknik</a:t>
            </a:r>
            <a:r>
              <a:rPr lang="en-GB" dirty="0"/>
              <a:t> &amp; Martinez-Conde, 2014).</a:t>
            </a:r>
          </a:p>
          <a:p>
            <a:r>
              <a:rPr lang="en-GB" dirty="0"/>
              <a:t>Ehrenfels (1890) claimed that many groups of stimuli acquire a pattern quality that is greater than the sum of their parts.</a:t>
            </a:r>
          </a:p>
          <a:p>
            <a:pPr lvl="1"/>
            <a:r>
              <a:rPr lang="en-GB" dirty="0"/>
              <a:t>E.g. Melody. If you hear the notes of a song played individually, they’re just separate sounds. But when played together in sequence, they form a recognizable melody with a unique quality</a:t>
            </a:r>
          </a:p>
          <a:p>
            <a:r>
              <a:rPr lang="en-GB" dirty="0"/>
              <a:t>Gestalt Psychology argues that our brain organizes sensory information—like shapes, sounds, or images—into meaningful wholes.</a:t>
            </a:r>
          </a:p>
          <a:p>
            <a:pPr lvl="1"/>
            <a:r>
              <a:rPr lang="en-GB" dirty="0"/>
              <a:t>E.g. face</a:t>
            </a:r>
          </a:p>
          <a:p>
            <a:endParaRPr lang="en-GB" dirty="0"/>
          </a:p>
          <a:p>
            <a:pPr lvl="1"/>
            <a:endParaRPr lang="en-GB" dirty="0"/>
          </a:p>
        </p:txBody>
      </p:sp>
      <p:sp>
        <p:nvSpPr>
          <p:cNvPr id="6" name="Slide Number Placeholder 5"/>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3</a:t>
            </a:fld>
            <a:endParaRPr lang="en-GB" noProof="0">
              <a:solidFill>
                <a:prstClr val="black">
                  <a:tint val="75000"/>
                </a:prst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0D75-6FE7-3234-9D5D-DF2B492037E2}"/>
              </a:ext>
            </a:extLst>
          </p:cNvPr>
          <p:cNvSpPr>
            <a:spLocks noGrp="1"/>
          </p:cNvSpPr>
          <p:nvPr>
            <p:ph type="title"/>
          </p:nvPr>
        </p:nvSpPr>
        <p:spPr/>
        <p:txBody>
          <a:bodyPr/>
          <a:lstStyle/>
          <a:p>
            <a:r>
              <a:rPr lang="en-GB" dirty="0"/>
              <a:t>What is perception?</a:t>
            </a:r>
          </a:p>
        </p:txBody>
      </p:sp>
      <p:sp>
        <p:nvSpPr>
          <p:cNvPr id="3" name="Content Placeholder 2">
            <a:extLst>
              <a:ext uri="{FF2B5EF4-FFF2-40B4-BE49-F238E27FC236}">
                <a16:creationId xmlns:a16="http://schemas.microsoft.com/office/drawing/2014/main" id="{255B6582-D9F5-CD33-BBFA-668DEADC3831}"/>
              </a:ext>
            </a:extLst>
          </p:cNvPr>
          <p:cNvSpPr>
            <a:spLocks noGrp="1"/>
          </p:cNvSpPr>
          <p:nvPr>
            <p:ph idx="1"/>
          </p:nvPr>
        </p:nvSpPr>
        <p:spPr>
          <a:xfrm>
            <a:off x="636368" y="1775294"/>
            <a:ext cx="9829800" cy="3859742"/>
          </a:xfrm>
        </p:spPr>
        <p:txBody>
          <a:bodyPr/>
          <a:lstStyle/>
          <a:p>
            <a:r>
              <a:rPr lang="en-US" altLang="en-US" b="1" dirty="0"/>
              <a:t>Distal stimulus</a:t>
            </a:r>
            <a:r>
              <a:rPr lang="en-US" altLang="en-US" dirty="0"/>
              <a:t> – the object you are looking at</a:t>
            </a:r>
          </a:p>
          <a:p>
            <a:r>
              <a:rPr lang="en-US" altLang="en-US" b="1" dirty="0"/>
              <a:t>Proximal stimulus</a:t>
            </a:r>
            <a:r>
              <a:rPr lang="en-US" altLang="en-US" dirty="0"/>
              <a:t> – the pattern of stimulation that hits the retina</a:t>
            </a:r>
          </a:p>
          <a:p>
            <a:r>
              <a:rPr lang="en-US" altLang="en-US" dirty="0"/>
              <a:t>While the distal stimulus is constant, the proximal stimulus varies.</a:t>
            </a:r>
          </a:p>
          <a:p>
            <a:r>
              <a:rPr lang="en-US" altLang="en-US" dirty="0"/>
              <a:t>A major issue for perception is </a:t>
            </a:r>
            <a:r>
              <a:rPr lang="en-US" altLang="en-US" u="sng" dirty="0"/>
              <a:t>how your perception remains constant when the proximal stimulation is so variable</a:t>
            </a:r>
            <a:r>
              <a:rPr lang="en-US" altLang="en-US" dirty="0"/>
              <a:t>.</a:t>
            </a:r>
          </a:p>
          <a:p>
            <a:endParaRPr lang="en-GB" dirty="0"/>
          </a:p>
        </p:txBody>
      </p:sp>
      <p:sp>
        <p:nvSpPr>
          <p:cNvPr id="6" name="Slide Number Placeholder 5">
            <a:extLst>
              <a:ext uri="{FF2B5EF4-FFF2-40B4-BE49-F238E27FC236}">
                <a16:creationId xmlns:a16="http://schemas.microsoft.com/office/drawing/2014/main" id="{1234C159-B4A3-6EE9-E2DA-1EA865B5E8B1}"/>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a:t>
            </a:fld>
            <a:endParaRPr lang="en-GB" noProof="0">
              <a:solidFill>
                <a:prstClr val="black">
                  <a:tint val="75000"/>
                </a:prstClr>
              </a:solidFill>
            </a:endParaRPr>
          </a:p>
        </p:txBody>
      </p:sp>
    </p:spTree>
    <p:extLst>
      <p:ext uri="{BB962C8B-B14F-4D97-AF65-F5344CB8AC3E}">
        <p14:creationId xmlns:p14="http://schemas.microsoft.com/office/powerpoint/2010/main" val="1333135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ED541-9F8B-70E7-78A0-71AC4B0052D2}"/>
              </a:ext>
            </a:extLst>
          </p:cNvPr>
          <p:cNvSpPr>
            <a:spLocks noGrp="1"/>
          </p:cNvSpPr>
          <p:nvPr>
            <p:ph type="title"/>
          </p:nvPr>
        </p:nvSpPr>
        <p:spPr>
          <a:xfrm>
            <a:off x="539496" y="365125"/>
            <a:ext cx="11144504" cy="1325563"/>
          </a:xfrm>
        </p:spPr>
        <p:txBody>
          <a:bodyPr/>
          <a:lstStyle/>
          <a:p>
            <a:r>
              <a:rPr lang="en-GB" dirty="0"/>
              <a:t>Gestalt principles of perceptual organization</a:t>
            </a:r>
          </a:p>
        </p:txBody>
      </p:sp>
      <p:sp>
        <p:nvSpPr>
          <p:cNvPr id="3" name="Content Placeholder 2">
            <a:extLst>
              <a:ext uri="{FF2B5EF4-FFF2-40B4-BE49-F238E27FC236}">
                <a16:creationId xmlns:a16="http://schemas.microsoft.com/office/drawing/2014/main" id="{2D64C114-28D6-03A6-157B-F8FD4111E4EE}"/>
              </a:ext>
            </a:extLst>
          </p:cNvPr>
          <p:cNvSpPr>
            <a:spLocks noGrp="1"/>
          </p:cNvSpPr>
          <p:nvPr>
            <p:ph idx="1"/>
          </p:nvPr>
        </p:nvSpPr>
        <p:spPr>
          <a:xfrm>
            <a:off x="618261" y="1690688"/>
            <a:ext cx="9829800" cy="3859742"/>
          </a:xfrm>
        </p:spPr>
        <p:txBody>
          <a:bodyPr/>
          <a:lstStyle/>
          <a:p>
            <a:pPr marL="447675" lvl="1" indent="-447675" fontAlgn="base">
              <a:spcBef>
                <a:spcPct val="20000"/>
              </a:spcBef>
              <a:spcAft>
                <a:spcPct val="0"/>
              </a:spcAft>
              <a:buFont typeface="+mj-lt"/>
              <a:buAutoNum type="arabicPeriod"/>
              <a:defRPr/>
            </a:pPr>
            <a:r>
              <a:rPr lang="en-GB" altLang="en-US" sz="2800" dirty="0"/>
              <a:t>Figure-ground separation</a:t>
            </a:r>
          </a:p>
          <a:p>
            <a:pPr marL="447675" lvl="1" indent="-447675" fontAlgn="base">
              <a:spcBef>
                <a:spcPct val="20000"/>
              </a:spcBef>
              <a:spcAft>
                <a:spcPct val="0"/>
              </a:spcAft>
              <a:buFont typeface="+mj-lt"/>
              <a:buAutoNum type="arabicPeriod"/>
              <a:defRPr/>
            </a:pPr>
            <a:r>
              <a:rPr lang="en-GB" altLang="en-US" sz="2800" dirty="0"/>
              <a:t>Proximity</a:t>
            </a:r>
          </a:p>
          <a:p>
            <a:pPr marL="447675" lvl="1" indent="-447675" fontAlgn="base">
              <a:spcBef>
                <a:spcPct val="20000"/>
              </a:spcBef>
              <a:spcAft>
                <a:spcPct val="0"/>
              </a:spcAft>
              <a:buFont typeface="+mj-lt"/>
              <a:buAutoNum type="arabicPeriod"/>
              <a:defRPr/>
            </a:pPr>
            <a:r>
              <a:rPr lang="en-GB" altLang="en-US" sz="2800" dirty="0"/>
              <a:t>Closure</a:t>
            </a:r>
          </a:p>
          <a:p>
            <a:pPr marL="447675" lvl="1" indent="-447675" fontAlgn="base">
              <a:spcBef>
                <a:spcPct val="20000"/>
              </a:spcBef>
              <a:spcAft>
                <a:spcPct val="0"/>
              </a:spcAft>
              <a:buFont typeface="+mj-lt"/>
              <a:buAutoNum type="arabicPeriod"/>
              <a:defRPr/>
            </a:pPr>
            <a:r>
              <a:rPr lang="en-GB" altLang="en-US" sz="2800" dirty="0"/>
              <a:t>Similarity</a:t>
            </a:r>
          </a:p>
          <a:p>
            <a:pPr marL="447675" lvl="1" indent="-447675" fontAlgn="base">
              <a:spcBef>
                <a:spcPct val="20000"/>
              </a:spcBef>
              <a:spcAft>
                <a:spcPct val="0"/>
              </a:spcAft>
              <a:buFont typeface="+mj-lt"/>
              <a:buAutoNum type="arabicPeriod"/>
              <a:defRPr/>
            </a:pPr>
            <a:r>
              <a:rPr lang="en-GB" altLang="en-US" sz="2800" dirty="0"/>
              <a:t>Continuity</a:t>
            </a:r>
          </a:p>
          <a:p>
            <a:pPr marL="447675" lvl="1" indent="-447675" fontAlgn="base">
              <a:spcBef>
                <a:spcPct val="20000"/>
              </a:spcBef>
              <a:spcAft>
                <a:spcPct val="0"/>
              </a:spcAft>
              <a:buFont typeface="+mj-lt"/>
              <a:buAutoNum type="arabicPeriod"/>
              <a:defRPr/>
            </a:pPr>
            <a:r>
              <a:rPr lang="en-GB" altLang="en-US" sz="2800" dirty="0"/>
              <a:t>Symmetry</a:t>
            </a:r>
          </a:p>
          <a:p>
            <a:pPr marL="447675" lvl="1" indent="-447675" fontAlgn="base">
              <a:spcBef>
                <a:spcPct val="20000"/>
              </a:spcBef>
              <a:spcAft>
                <a:spcPct val="0"/>
              </a:spcAft>
              <a:buFont typeface="+mj-lt"/>
              <a:buAutoNum type="arabicPeriod"/>
              <a:defRPr/>
            </a:pPr>
            <a:endParaRPr lang="en-GB" altLang="en-US" sz="2800" dirty="0"/>
          </a:p>
          <a:p>
            <a:pPr marL="0" lvl="1" indent="0" fontAlgn="base">
              <a:spcBef>
                <a:spcPct val="20000"/>
              </a:spcBef>
              <a:spcAft>
                <a:spcPct val="0"/>
              </a:spcAft>
              <a:buNone/>
              <a:defRPr/>
            </a:pPr>
            <a:r>
              <a:rPr lang="en-GB" altLang="en-US" sz="2800" dirty="0"/>
              <a:t>* 2-6 are called Laws of perception</a:t>
            </a:r>
          </a:p>
          <a:p>
            <a:endParaRPr lang="en-GB" dirty="0"/>
          </a:p>
        </p:txBody>
      </p:sp>
      <p:sp>
        <p:nvSpPr>
          <p:cNvPr id="6" name="Slide Number Placeholder 5">
            <a:extLst>
              <a:ext uri="{FF2B5EF4-FFF2-40B4-BE49-F238E27FC236}">
                <a16:creationId xmlns:a16="http://schemas.microsoft.com/office/drawing/2014/main" id="{77E464B2-99DB-E3BD-E184-B86AEAE29E54}"/>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5</a:t>
            </a:fld>
            <a:endParaRPr lang="en-GB" noProof="0">
              <a:solidFill>
                <a:prstClr val="black">
                  <a:tint val="75000"/>
                </a:prstClr>
              </a:solidFill>
            </a:endParaRPr>
          </a:p>
        </p:txBody>
      </p:sp>
    </p:spTree>
    <p:extLst>
      <p:ext uri="{BB962C8B-B14F-4D97-AF65-F5344CB8AC3E}">
        <p14:creationId xmlns:p14="http://schemas.microsoft.com/office/powerpoint/2010/main" val="271684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B72FF-770C-793E-588E-B846D69D79C6}"/>
              </a:ext>
            </a:extLst>
          </p:cNvPr>
          <p:cNvSpPr>
            <a:spLocks noGrp="1"/>
          </p:cNvSpPr>
          <p:nvPr>
            <p:ph type="title"/>
          </p:nvPr>
        </p:nvSpPr>
        <p:spPr/>
        <p:txBody>
          <a:bodyPr/>
          <a:lstStyle/>
          <a:p>
            <a:r>
              <a:rPr lang="en-GB" dirty="0"/>
              <a:t>Figure-ground separation</a:t>
            </a:r>
          </a:p>
        </p:txBody>
      </p:sp>
      <p:sp>
        <p:nvSpPr>
          <p:cNvPr id="6" name="Slide Number Placeholder 5">
            <a:extLst>
              <a:ext uri="{FF2B5EF4-FFF2-40B4-BE49-F238E27FC236}">
                <a16:creationId xmlns:a16="http://schemas.microsoft.com/office/drawing/2014/main" id="{C7812744-0927-7B06-E183-56CB1CA0D42B}"/>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6</a:t>
            </a:fld>
            <a:endParaRPr lang="en-GB" noProof="0">
              <a:solidFill>
                <a:prstClr val="black">
                  <a:tint val="75000"/>
                </a:prstClr>
              </a:solidFill>
            </a:endParaRPr>
          </a:p>
        </p:txBody>
      </p:sp>
      <p:pic>
        <p:nvPicPr>
          <p:cNvPr id="7" name="Content Placeholder 6">
            <a:extLst>
              <a:ext uri="{FF2B5EF4-FFF2-40B4-BE49-F238E27FC236}">
                <a16:creationId xmlns:a16="http://schemas.microsoft.com/office/drawing/2014/main" id="{5D3C6203-ADA3-9C9E-26F7-E934DD42EA98}"/>
              </a:ext>
            </a:extLst>
          </p:cNvPr>
          <p:cNvPicPr>
            <a:picLocks noGrp="1" noChangeAspect="1"/>
          </p:cNvPicPr>
          <p:nvPr>
            <p:ph idx="1"/>
          </p:nvPr>
        </p:nvPicPr>
        <p:blipFill>
          <a:blip r:embed="rId2"/>
          <a:stretch>
            <a:fillRect/>
          </a:stretch>
        </p:blipFill>
        <p:spPr>
          <a:xfrm>
            <a:off x="7723623" y="1958644"/>
            <a:ext cx="2857899" cy="3467584"/>
          </a:xfrm>
          <a:prstGeom prst="rect">
            <a:avLst/>
          </a:prstGeom>
          <a:noFill/>
          <a:ln w="9525">
            <a:noFill/>
          </a:ln>
        </p:spPr>
      </p:pic>
      <p:sp>
        <p:nvSpPr>
          <p:cNvPr id="9" name="TextBox 8">
            <a:extLst>
              <a:ext uri="{FF2B5EF4-FFF2-40B4-BE49-F238E27FC236}">
                <a16:creationId xmlns:a16="http://schemas.microsoft.com/office/drawing/2014/main" id="{0BDAC970-A057-3B1D-E899-85D07F3E386E}"/>
              </a:ext>
            </a:extLst>
          </p:cNvPr>
          <p:cNvSpPr txBox="1"/>
          <p:nvPr/>
        </p:nvSpPr>
        <p:spPr>
          <a:xfrm>
            <a:off x="654465" y="1958644"/>
            <a:ext cx="6096000" cy="2246769"/>
          </a:xfrm>
          <a:prstGeom prst="rect">
            <a:avLst/>
          </a:prstGeom>
          <a:noFill/>
        </p:spPr>
        <p:txBody>
          <a:bodyPr wrap="square">
            <a:spAutoFit/>
          </a:bodyPr>
          <a:lstStyle/>
          <a:p>
            <a:r>
              <a:rPr lang="en-GB" sz="2800" dirty="0"/>
              <a:t>The first perceptual task when confronted with an object (or </a:t>
            </a:r>
            <a:r>
              <a:rPr lang="en-GB" sz="2800" i="1" dirty="0"/>
              <a:t>figure</a:t>
            </a:r>
            <a:r>
              <a:rPr lang="en-GB" sz="2800" dirty="0"/>
              <a:t>) is to recognise it. To do this, we must perceive the figure as being distinct from its surroundings (or </a:t>
            </a:r>
            <a:r>
              <a:rPr lang="en-GB" sz="2800" i="1" dirty="0"/>
              <a:t>ground</a:t>
            </a:r>
            <a:r>
              <a:rPr lang="en-GB" sz="2800" dirty="0"/>
              <a:t>).</a:t>
            </a:r>
          </a:p>
        </p:txBody>
      </p:sp>
    </p:spTree>
    <p:extLst>
      <p:ext uri="{BB962C8B-B14F-4D97-AF65-F5344CB8AC3E}">
        <p14:creationId xmlns:p14="http://schemas.microsoft.com/office/powerpoint/2010/main" val="33020719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6F03AA5A-16C7-67D9-9497-96F66B0F6104}"/>
              </a:ext>
            </a:extLst>
          </p:cNvPr>
          <p:cNvPicPr>
            <a:picLocks noGrp="1" noChangeAspect="1"/>
          </p:cNvPicPr>
          <p:nvPr>
            <p:ph sz="half" idx="1"/>
          </p:nvPr>
        </p:nvPicPr>
        <p:blipFill>
          <a:blip r:embed="rId2"/>
          <a:srcRect t="6319" r="3" b="34269"/>
          <a:stretch>
            <a:fillRect/>
          </a:stretch>
        </p:blipFill>
        <p:spPr>
          <a:xfrm>
            <a:off x="671945" y="744970"/>
            <a:ext cx="5181600" cy="4351338"/>
          </a:xfrm>
          <a:prstGeom prst="rect">
            <a:avLst/>
          </a:prstGeom>
          <a:noFill/>
          <a:ln w="9525">
            <a:noFill/>
          </a:ln>
        </p:spPr>
      </p:pic>
      <p:pic>
        <p:nvPicPr>
          <p:cNvPr id="8" name="Content Placeholder 7">
            <a:extLst>
              <a:ext uri="{FF2B5EF4-FFF2-40B4-BE49-F238E27FC236}">
                <a16:creationId xmlns:a16="http://schemas.microsoft.com/office/drawing/2014/main" id="{FDBB1E78-0297-AF8A-6F45-36464C235F0E}"/>
              </a:ext>
            </a:extLst>
          </p:cNvPr>
          <p:cNvPicPr>
            <a:picLocks noGrp="1" noChangeAspect="1"/>
          </p:cNvPicPr>
          <p:nvPr>
            <p:ph sz="half" idx="2"/>
          </p:nvPr>
        </p:nvPicPr>
        <p:blipFill>
          <a:blip r:embed="rId3"/>
          <a:srcRect t="3568" r="3" b="37020"/>
          <a:stretch>
            <a:fillRect/>
          </a:stretch>
        </p:blipFill>
        <p:spPr>
          <a:xfrm>
            <a:off x="6096000" y="744970"/>
            <a:ext cx="5181600" cy="4351338"/>
          </a:xfrm>
          <a:prstGeom prst="rect">
            <a:avLst/>
          </a:prstGeom>
          <a:noFill/>
          <a:ln w="9525">
            <a:noFill/>
          </a:ln>
        </p:spPr>
      </p:pic>
      <p:sp>
        <p:nvSpPr>
          <p:cNvPr id="7" name="Slide Number Placeholder 6">
            <a:extLst>
              <a:ext uri="{FF2B5EF4-FFF2-40B4-BE49-F238E27FC236}">
                <a16:creationId xmlns:a16="http://schemas.microsoft.com/office/drawing/2014/main" id="{7A7919D7-BBAF-5AC7-E048-2448EA29E26F}"/>
              </a:ext>
            </a:extLst>
          </p:cNvPr>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7</a:t>
            </a:fld>
            <a:endParaRPr lang="en-GB" noProof="0">
              <a:solidFill>
                <a:prstClr val="black">
                  <a:tint val="75000"/>
                </a:prstClr>
              </a:solidFill>
            </a:endParaRPr>
          </a:p>
        </p:txBody>
      </p:sp>
    </p:spTree>
    <p:extLst>
      <p:ext uri="{BB962C8B-B14F-4D97-AF65-F5344CB8AC3E}">
        <p14:creationId xmlns:p14="http://schemas.microsoft.com/office/powerpoint/2010/main" val="19245631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ln/>
        </p:spPr>
        <p:txBody>
          <a:bodyPr vert="horz" wrap="square" lIns="91440" tIns="45720" rIns="91440" bIns="45720" rtlCol="0" anchor="ctr" anchorCtr="0">
            <a:normAutofit/>
          </a:bodyPr>
          <a:lstStyle/>
          <a:p>
            <a:pPr eaLnBrk="1" hangingPunct="1"/>
            <a:r>
              <a:rPr lang="en-GB" altLang="en-US" sz="4000" b="1" dirty="0"/>
              <a:t>Proximity</a:t>
            </a:r>
            <a:endParaRPr lang="en-US" altLang="en-US" sz="4000" b="1" dirty="0"/>
          </a:p>
        </p:txBody>
      </p:sp>
      <p:sp>
        <p:nvSpPr>
          <p:cNvPr id="11267" name="Rectangle 3"/>
          <p:cNvSpPr>
            <a:spLocks noGrp="1"/>
          </p:cNvSpPr>
          <p:nvPr>
            <p:ph idx="1"/>
          </p:nvPr>
        </p:nvSpPr>
        <p:spPr>
          <a:xfrm>
            <a:off x="609600" y="1585171"/>
            <a:ext cx="9829800" cy="3859742"/>
          </a:xfrm>
          <a:ln/>
        </p:spPr>
        <p:txBody>
          <a:bodyPr vert="horz" wrap="square" lIns="91440" tIns="45720" rIns="91440" bIns="45720" rtlCol="0" anchor="t" anchorCtr="0">
            <a:normAutofit/>
          </a:bodyPr>
          <a:lstStyle/>
          <a:p>
            <a:pPr marL="0" indent="0">
              <a:buNone/>
            </a:pPr>
            <a:r>
              <a:rPr lang="en-US" altLang="en-US" dirty="0"/>
              <a:t>Occurs when elements are placed close together. They tend to be perceived as a group. </a:t>
            </a:r>
          </a:p>
        </p:txBody>
      </p:sp>
      <p:pic>
        <p:nvPicPr>
          <p:cNvPr id="11268" name="Picture 8"/>
          <p:cNvPicPr>
            <a:picLocks noChangeAspect="1"/>
          </p:cNvPicPr>
          <p:nvPr/>
        </p:nvPicPr>
        <p:blipFill>
          <a:blip r:embed="rId2"/>
          <a:stretch>
            <a:fillRect/>
          </a:stretch>
        </p:blipFill>
        <p:spPr>
          <a:xfrm>
            <a:off x="539496" y="2701713"/>
            <a:ext cx="6858000" cy="2743200"/>
          </a:xfrm>
          <a:prstGeom prst="rect">
            <a:avLst/>
          </a:prstGeom>
          <a:noFill/>
          <a:ln w="9525">
            <a:noFill/>
          </a:ln>
        </p:spPr>
      </p:pic>
      <p:sp>
        <p:nvSpPr>
          <p:cNvPr id="11269" name="Rectangle 1"/>
          <p:cNvSpPr/>
          <p:nvPr/>
        </p:nvSpPr>
        <p:spPr>
          <a:xfrm>
            <a:off x="7840301" y="2910734"/>
            <a:ext cx="3214795" cy="147732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spcBef>
                <a:spcPct val="0"/>
              </a:spcBef>
              <a:buNone/>
            </a:pPr>
            <a:r>
              <a:rPr lang="en-GB" altLang="en-US" sz="1800" dirty="0"/>
              <a:t>The Gestalt principle of proximity suggests that you see (a) one block of dots on the left side and (b) three columns on the right side.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p:cNvPicPr>
          <p:nvPr/>
        </p:nvPicPr>
        <p:blipFill>
          <a:blip r:embed="rId2"/>
          <a:stretch>
            <a:fillRect/>
          </a:stretch>
        </p:blipFill>
        <p:spPr>
          <a:xfrm>
            <a:off x="3638550" y="1066800"/>
            <a:ext cx="4914900" cy="477520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ln/>
        </p:spPr>
        <p:txBody>
          <a:bodyPr vert="horz" wrap="square" lIns="91440" tIns="45720" rIns="91440" bIns="45720" rtlCol="0" anchor="ctr" anchorCtr="0">
            <a:normAutofit/>
          </a:bodyPr>
          <a:lstStyle/>
          <a:p>
            <a:pPr eaLnBrk="1" hangingPunct="1"/>
            <a:r>
              <a:rPr lang="en-GB" altLang="en-US" sz="4000" b="1" dirty="0"/>
              <a:t>Closure</a:t>
            </a:r>
            <a:endParaRPr lang="en-US" altLang="en-US" sz="4000" b="1" dirty="0"/>
          </a:p>
        </p:txBody>
      </p:sp>
      <p:sp>
        <p:nvSpPr>
          <p:cNvPr id="13315" name="Rectangle 3"/>
          <p:cNvSpPr>
            <a:spLocks noGrp="1"/>
          </p:cNvSpPr>
          <p:nvPr>
            <p:ph idx="1"/>
          </p:nvPr>
        </p:nvSpPr>
        <p:spPr>
          <a:xfrm>
            <a:off x="539496" y="1548958"/>
            <a:ext cx="9829800" cy="3859742"/>
          </a:xfrm>
          <a:ln/>
        </p:spPr>
        <p:txBody>
          <a:bodyPr vert="horz" wrap="square" lIns="91440" tIns="45720" rIns="91440" bIns="45720" rtlCol="0" anchor="t" anchorCtr="0">
            <a:normAutofit/>
          </a:bodyPr>
          <a:lstStyle/>
          <a:p>
            <a:pPr marL="0" indent="0">
              <a:buNone/>
            </a:pPr>
            <a:r>
              <a:rPr lang="en-US" altLang="en-US" dirty="0"/>
              <a:t>We tend to complete incomplete forms and generally fill in the gaps</a:t>
            </a:r>
          </a:p>
        </p:txBody>
      </p:sp>
      <p:pic>
        <p:nvPicPr>
          <p:cNvPr id="13316" name="Picture 4"/>
          <p:cNvPicPr>
            <a:picLocks noChangeAspect="1"/>
          </p:cNvPicPr>
          <p:nvPr/>
        </p:nvPicPr>
        <p:blipFill>
          <a:blip r:embed="rId2"/>
          <a:stretch>
            <a:fillRect/>
          </a:stretch>
        </p:blipFill>
        <p:spPr>
          <a:xfrm>
            <a:off x="852534" y="2629277"/>
            <a:ext cx="6453188" cy="3289300"/>
          </a:xfrm>
          <a:prstGeom prst="rect">
            <a:avLst/>
          </a:prstGeom>
          <a:noFill/>
          <a:ln w="9525">
            <a:noFill/>
          </a:ln>
        </p:spPr>
      </p:pic>
      <p:sp>
        <p:nvSpPr>
          <p:cNvPr id="13317" name="Rectangle 1"/>
          <p:cNvSpPr/>
          <p:nvPr/>
        </p:nvSpPr>
        <p:spPr>
          <a:xfrm>
            <a:off x="8095575" y="3150355"/>
            <a:ext cx="2586759" cy="147732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spcBef>
                <a:spcPct val="0"/>
              </a:spcBef>
              <a:buNone/>
            </a:pPr>
            <a:r>
              <a:rPr lang="en-GB" altLang="en-US" sz="1800" dirty="0"/>
              <a:t>Closure suggests that we will perceive a complete circle and rectangle rather than a series of segments.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World Wide Fund for Nature - Wikipedia"/>
          <p:cNvPicPr>
            <a:picLocks noChangeAspect="1"/>
          </p:cNvPicPr>
          <p:nvPr/>
        </p:nvPicPr>
        <p:blipFill>
          <a:blip r:embed="rId2"/>
          <a:stretch>
            <a:fillRect/>
          </a:stretch>
        </p:blipFill>
        <p:spPr>
          <a:xfrm>
            <a:off x="4191000" y="1219200"/>
            <a:ext cx="3810000" cy="365760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ln/>
        </p:spPr>
        <p:txBody>
          <a:bodyPr vert="horz" wrap="square" lIns="91440" tIns="45720" rIns="91440" bIns="45720" rtlCol="0" anchor="ctr" anchorCtr="0">
            <a:normAutofit/>
          </a:bodyPr>
          <a:lstStyle/>
          <a:p>
            <a:pPr eaLnBrk="1" hangingPunct="1"/>
            <a:r>
              <a:rPr lang="en-GB" altLang="en-US" sz="4000" b="1" dirty="0"/>
              <a:t>Similarity</a:t>
            </a:r>
            <a:endParaRPr lang="en-US" altLang="en-US" sz="4000" b="1" dirty="0"/>
          </a:p>
        </p:txBody>
      </p:sp>
      <p:sp>
        <p:nvSpPr>
          <p:cNvPr id="15363" name="Rectangle 3"/>
          <p:cNvSpPr>
            <a:spLocks noGrp="1"/>
          </p:cNvSpPr>
          <p:nvPr>
            <p:ph idx="1"/>
          </p:nvPr>
        </p:nvSpPr>
        <p:spPr>
          <a:xfrm>
            <a:off x="539496" y="1539904"/>
            <a:ext cx="9829800" cy="3859742"/>
          </a:xfrm>
          <a:ln/>
        </p:spPr>
        <p:txBody>
          <a:bodyPr vert="horz" wrap="square" lIns="91440" tIns="45720" rIns="91440" bIns="45720" rtlCol="0" anchor="t" anchorCtr="0">
            <a:normAutofit/>
          </a:bodyPr>
          <a:lstStyle/>
          <a:p>
            <a:pPr marL="0" indent="0">
              <a:buNone/>
            </a:pPr>
            <a:r>
              <a:rPr lang="en-US" altLang="en-US" dirty="0"/>
              <a:t>Similar parts of a form are more likely to be perceived as belonging together than parts that are dissimilar.</a:t>
            </a:r>
            <a:endParaRPr lang="en-US" altLang="en-US" b="1" dirty="0"/>
          </a:p>
        </p:txBody>
      </p:sp>
      <p:pic>
        <p:nvPicPr>
          <p:cNvPr id="15364" name="Picture 5"/>
          <p:cNvPicPr>
            <a:picLocks noChangeAspect="1"/>
          </p:cNvPicPr>
          <p:nvPr/>
        </p:nvPicPr>
        <p:blipFill>
          <a:blip r:embed="rId2"/>
          <a:stretch>
            <a:fillRect/>
          </a:stretch>
        </p:blipFill>
        <p:spPr>
          <a:xfrm>
            <a:off x="904592" y="2548968"/>
            <a:ext cx="3798888" cy="3138488"/>
          </a:xfrm>
          <a:prstGeom prst="rect">
            <a:avLst/>
          </a:prstGeom>
          <a:noFill/>
          <a:ln w="9525">
            <a:noFill/>
          </a:ln>
        </p:spPr>
      </p:pic>
      <p:sp>
        <p:nvSpPr>
          <p:cNvPr id="15365" name="Rectangle 1"/>
          <p:cNvSpPr/>
          <p:nvPr/>
        </p:nvSpPr>
        <p:spPr>
          <a:xfrm>
            <a:off x="6210678" y="2865467"/>
            <a:ext cx="3437165" cy="1754326"/>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spcBef>
                <a:spcPct val="0"/>
              </a:spcBef>
              <a:buNone/>
            </a:pPr>
            <a:r>
              <a:rPr lang="en-GB" altLang="en-US" sz="1800" dirty="0"/>
              <a:t>When looking at this array of dots, we likely perceive alternating rows of colours. We are grouping these dots according to the principle of similarity.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
          <p:cNvPicPr>
            <a:picLocks noChangeAspect="1"/>
          </p:cNvPicPr>
          <p:nvPr/>
        </p:nvPicPr>
        <p:blipFill>
          <a:blip r:embed="rId2"/>
          <a:stretch>
            <a:fillRect/>
          </a:stretch>
        </p:blipFill>
        <p:spPr>
          <a:xfrm>
            <a:off x="3714750" y="1047750"/>
            <a:ext cx="4762500" cy="47625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ln/>
        </p:spPr>
        <p:txBody>
          <a:bodyPr vert="horz" wrap="square" lIns="91440" tIns="45720" rIns="91440" bIns="45720" rtlCol="0" anchor="ctr" anchorCtr="0">
            <a:normAutofit/>
          </a:bodyPr>
          <a:lstStyle/>
          <a:p>
            <a:pPr eaLnBrk="1" hangingPunct="1"/>
            <a:r>
              <a:rPr lang="en-GB" altLang="en-US" sz="4000" b="1" dirty="0"/>
              <a:t>Continuity</a:t>
            </a:r>
            <a:endParaRPr lang="en-US" altLang="en-US" sz="4000" b="1" dirty="0"/>
          </a:p>
        </p:txBody>
      </p:sp>
      <p:sp>
        <p:nvSpPr>
          <p:cNvPr id="17411" name="Rectangle 3"/>
          <p:cNvSpPr>
            <a:spLocks noGrp="1"/>
          </p:cNvSpPr>
          <p:nvPr>
            <p:ph idx="1"/>
          </p:nvPr>
        </p:nvSpPr>
        <p:spPr>
          <a:xfrm>
            <a:off x="539496" y="1467476"/>
            <a:ext cx="9829800" cy="3859742"/>
          </a:xfrm>
          <a:ln/>
        </p:spPr>
        <p:txBody>
          <a:bodyPr vert="horz" wrap="square" lIns="91440" tIns="45720" rIns="91440" bIns="45720" rtlCol="0" anchor="t" anchorCtr="0">
            <a:normAutofit/>
          </a:bodyPr>
          <a:lstStyle/>
          <a:p>
            <a:pPr marL="0" indent="0">
              <a:buNone/>
            </a:pPr>
            <a:r>
              <a:rPr lang="en-US" altLang="en-US" dirty="0"/>
              <a:t>We group stimuli into forms that follow continuous lines or patterns.</a:t>
            </a:r>
            <a:endParaRPr lang="en-US" altLang="en-US" b="1" dirty="0"/>
          </a:p>
        </p:txBody>
      </p:sp>
      <p:pic>
        <p:nvPicPr>
          <p:cNvPr id="17412" name="Picture 8"/>
          <p:cNvPicPr>
            <a:picLocks noChangeAspect="1"/>
          </p:cNvPicPr>
          <p:nvPr/>
        </p:nvPicPr>
        <p:blipFill>
          <a:blip r:embed="rId2"/>
          <a:stretch>
            <a:fillRect/>
          </a:stretch>
        </p:blipFill>
        <p:spPr>
          <a:xfrm>
            <a:off x="6172200" y="2743200"/>
            <a:ext cx="3657600" cy="3289300"/>
          </a:xfrm>
          <a:prstGeom prst="rect">
            <a:avLst/>
          </a:prstGeom>
          <a:noFill/>
          <a:ln w="9525">
            <a:noFill/>
          </a:ln>
        </p:spPr>
      </p:pic>
      <p:sp>
        <p:nvSpPr>
          <p:cNvPr id="17413" name="Rectangle 1"/>
          <p:cNvSpPr/>
          <p:nvPr/>
        </p:nvSpPr>
        <p:spPr>
          <a:xfrm>
            <a:off x="775580" y="3048577"/>
            <a:ext cx="3048000" cy="17541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spcBef>
                <a:spcPct val="0"/>
              </a:spcBef>
              <a:buNone/>
            </a:pPr>
            <a:r>
              <a:rPr lang="en-GB" altLang="en-US" sz="1800" dirty="0"/>
              <a:t>Good continuation would suggest that we are more likely to perceive this as two overlapping lines, rather than four lines meeting in the center.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p:cNvPicPr>
          <p:nvPr/>
        </p:nvPicPr>
        <p:blipFill>
          <a:blip r:embed="rId2"/>
          <a:stretch>
            <a:fillRect/>
          </a:stretch>
        </p:blipFill>
        <p:spPr>
          <a:xfrm>
            <a:off x="3671889" y="1219200"/>
            <a:ext cx="4848225" cy="48260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ln/>
        </p:spPr>
        <p:txBody>
          <a:bodyPr vert="horz" wrap="square" lIns="91440" tIns="45720" rIns="91440" bIns="45720" rtlCol="0" anchor="ctr" anchorCtr="0">
            <a:normAutofit/>
          </a:bodyPr>
          <a:lstStyle/>
          <a:p>
            <a:r>
              <a:rPr lang="en-GB" altLang="en-US" b="1" dirty="0"/>
              <a:t>Symmetry</a:t>
            </a:r>
          </a:p>
        </p:txBody>
      </p:sp>
      <p:sp>
        <p:nvSpPr>
          <p:cNvPr id="19459" name="Content Placeholder 2"/>
          <p:cNvSpPr>
            <a:spLocks noGrp="1"/>
          </p:cNvSpPr>
          <p:nvPr>
            <p:ph idx="1"/>
          </p:nvPr>
        </p:nvSpPr>
        <p:spPr>
          <a:ln/>
        </p:spPr>
        <p:txBody>
          <a:bodyPr vert="horz" wrap="square" lIns="91440" tIns="45720" rIns="91440" bIns="45720" rtlCol="0" anchor="t" anchorCtr="0">
            <a:normAutofit/>
          </a:bodyPr>
          <a:lstStyle/>
          <a:p>
            <a:r>
              <a:rPr lang="en-GB" altLang="en-US" dirty="0"/>
              <a:t>Elements that are symmetrical to each other tend to be perceived as a unified group.</a:t>
            </a:r>
          </a:p>
          <a:p>
            <a:r>
              <a:rPr lang="en-GB" altLang="en-US" dirty="0"/>
              <a:t>Similar to the law of similarity, this rule suggests that objects that are symmetrical with each other will be more likely to be grouped together than objects not symmetrical with each other. </a:t>
            </a:r>
          </a:p>
          <a:p>
            <a:endParaRPr lang="en-GB"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p:cNvPicPr>
          <p:nvPr/>
        </p:nvPicPr>
        <p:blipFill>
          <a:blip r:embed="rId2"/>
          <a:stretch>
            <a:fillRect/>
          </a:stretch>
        </p:blipFill>
        <p:spPr>
          <a:xfrm>
            <a:off x="1524000" y="2076450"/>
            <a:ext cx="9144000" cy="2705100"/>
          </a:xfrm>
          <a:prstGeom prst="rect">
            <a:avLst/>
          </a:prstGeom>
          <a:noFill/>
          <a:ln w="9525">
            <a:noFill/>
          </a:ln>
        </p:spPr>
      </p:pic>
      <p:sp>
        <p:nvSpPr>
          <p:cNvPr id="20483" name="Rectangle 3"/>
          <p:cNvSpPr/>
          <p:nvPr/>
        </p:nvSpPr>
        <p:spPr>
          <a:xfrm>
            <a:off x="2057400" y="5105401"/>
            <a:ext cx="8153400" cy="646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indent="0">
              <a:spcBef>
                <a:spcPct val="0"/>
              </a:spcBef>
              <a:buNone/>
            </a:pPr>
            <a:r>
              <a:rPr lang="en-GB" altLang="en-US" sz="1800" dirty="0"/>
              <a:t>We see these shapes as two overlapping diamonds instead of as two touching corner bricks or an octahedron with a square in the middle.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p:cNvPicPr>
          <p:nvPr/>
        </p:nvPicPr>
        <p:blipFill>
          <a:blip r:embed="rId2"/>
          <a:stretch>
            <a:fillRect/>
          </a:stretch>
        </p:blipFill>
        <p:spPr>
          <a:xfrm>
            <a:off x="3894139" y="894080"/>
            <a:ext cx="4403725" cy="501904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Depth perception</a:t>
            </a:r>
          </a:p>
        </p:txBody>
      </p:sp>
      <p:sp>
        <p:nvSpPr>
          <p:cNvPr id="3" name="Content Placeholder 2"/>
          <p:cNvSpPr>
            <a:spLocks noGrp="1"/>
          </p:cNvSpPr>
          <p:nvPr>
            <p:ph idx="1"/>
          </p:nvPr>
        </p:nvSpPr>
        <p:spPr>
          <a:xfrm>
            <a:off x="645422" y="1802455"/>
            <a:ext cx="9829800" cy="3859742"/>
          </a:xfrm>
        </p:spPr>
        <p:txBody>
          <a:bodyPr>
            <a:normAutofit fontScale="97500" lnSpcReduction="10000"/>
          </a:bodyPr>
          <a:lstStyle/>
          <a:p>
            <a:r>
              <a:rPr lang="en-GB" dirty="0"/>
              <a:t>Depth perception is the ability to see things in a 3-dimensional way and to judge distance.</a:t>
            </a:r>
          </a:p>
          <a:p>
            <a:endParaRPr lang="en-GB" dirty="0"/>
          </a:p>
          <a:p>
            <a:r>
              <a:rPr lang="en-GB" dirty="0"/>
              <a:t>We use depth cues to gather information on the images we see. These cues are monocular and binocular cues.</a:t>
            </a:r>
          </a:p>
          <a:p>
            <a:endParaRPr lang="en-GB" dirty="0"/>
          </a:p>
          <a:p>
            <a:r>
              <a:rPr lang="en-GB" altLang="en-US" dirty="0"/>
              <a:t>B</a:t>
            </a:r>
            <a:r>
              <a:rPr lang="en-US" altLang="en-GB" dirty="0" err="1"/>
              <a:t>inocular</a:t>
            </a:r>
            <a:r>
              <a:rPr lang="en-US" altLang="en-GB" dirty="0"/>
              <a:t> cues involve both eyes and rely on their working together, while monocular cues are available to each eye separately.</a:t>
            </a:r>
          </a:p>
        </p:txBody>
      </p:sp>
      <p:sp>
        <p:nvSpPr>
          <p:cNvPr id="6" name="Slide Number Placeholder 5"/>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19</a:t>
            </a:fld>
            <a:endParaRPr lang="en-GB" noProof="0">
              <a:solidFill>
                <a:prstClr val="black">
                  <a:tint val="75000"/>
                </a:prst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sz="half" idx="1"/>
          </p:nvPr>
        </p:nvPicPr>
        <p:blipFill>
          <a:blip r:embed="rId2"/>
          <a:srcRect t="15877" r="-1" b="21221"/>
          <a:stretch>
            <a:fillRect/>
          </a:stretch>
        </p:blipFill>
        <p:spPr>
          <a:xfrm>
            <a:off x="838200" y="651452"/>
            <a:ext cx="5181600" cy="4351338"/>
          </a:xfrm>
          <a:prstGeom prst="rect">
            <a:avLst/>
          </a:prstGeom>
          <a:noFill/>
        </p:spPr>
      </p:pic>
      <p:pic>
        <p:nvPicPr>
          <p:cNvPr id="10" name="Content Placeholder 9"/>
          <p:cNvPicPr>
            <a:picLocks noGrp="1" noChangeAspect="1"/>
          </p:cNvPicPr>
          <p:nvPr>
            <p:ph sz="half" idx="2"/>
          </p:nvPr>
        </p:nvPicPr>
        <p:blipFill>
          <a:blip r:embed="rId3"/>
          <a:srcRect t="10537" r="-1" b="26561"/>
          <a:stretch>
            <a:fillRect/>
          </a:stretch>
        </p:blipFill>
        <p:spPr>
          <a:xfrm>
            <a:off x="6172200" y="651452"/>
            <a:ext cx="5181600" cy="435133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20</a:t>
            </a:fld>
            <a:endParaRPr lang="en-GB" noProof="0">
              <a:solidFill>
                <a:prstClr val="black">
                  <a:tint val="75000"/>
                </a:prstClr>
              </a:solidFill>
            </a:endParaRPr>
          </a:p>
        </p:txBody>
      </p:sp>
      <p:sp>
        <p:nvSpPr>
          <p:cNvPr id="2" name="TextBox 1"/>
          <p:cNvSpPr txBox="1"/>
          <p:nvPr/>
        </p:nvSpPr>
        <p:spPr>
          <a:xfrm>
            <a:off x="5220657" y="5558828"/>
            <a:ext cx="1903085" cy="369332"/>
          </a:xfrm>
          <a:prstGeom prst="rect">
            <a:avLst/>
          </a:prstGeom>
          <a:noFill/>
        </p:spPr>
        <p:txBody>
          <a:bodyPr wrap="none" rtlCol="0">
            <a:spAutoFit/>
          </a:bodyPr>
          <a:lstStyle/>
          <a:p>
            <a:r>
              <a:rPr lang="en-US" dirty="0" smtClean="0"/>
              <a:t>Predator vs Pray</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Non-pictorial cues</a:t>
            </a:r>
          </a:p>
        </p:txBody>
      </p:sp>
      <p:sp>
        <p:nvSpPr>
          <p:cNvPr id="3" name="Content Placeholder 2"/>
          <p:cNvSpPr>
            <a:spLocks noGrp="1"/>
          </p:cNvSpPr>
          <p:nvPr>
            <p:ph type="body" idx="1"/>
          </p:nvPr>
        </p:nvSpPr>
        <p:spPr>
          <a:xfrm>
            <a:off x="838200" y="1825625"/>
            <a:ext cx="10515600" cy="4351338"/>
          </a:xfrm>
        </p:spPr>
        <p:txBody>
          <a:bodyPr>
            <a:normAutofit/>
          </a:bodyPr>
          <a:lstStyle/>
          <a:p>
            <a:pPr marL="0" indent="0">
              <a:buNone/>
            </a:pPr>
            <a:r>
              <a:rPr lang="en-US" altLang="en-GB" sz="2400"/>
              <a:t>Nonpictorial cues involve the physical functioning of the eyes and brain rather than interpreting visual patterns in a scene. They include:</a:t>
            </a:r>
          </a:p>
          <a:p>
            <a:pPr marL="0" indent="0">
              <a:buNone/>
            </a:pPr>
            <a:endParaRPr lang="en-US" altLang="en-GB" sz="2400"/>
          </a:p>
          <a:p>
            <a:pPr marL="0" indent="0">
              <a:buNone/>
            </a:pPr>
            <a:r>
              <a:rPr lang="en-US" altLang="en-GB" sz="2400" b="1"/>
              <a:t>Retinal Disparity (Binocular Cue):</a:t>
            </a:r>
            <a:r>
              <a:rPr lang="en-US" altLang="en-GB" sz="2400"/>
              <a:t> The slight difference in the images projected on each retina due to the eyes' horizontal separation. The brain uses this disparity to estimate depth, especially for objects within a few meters.</a:t>
            </a:r>
          </a:p>
          <a:p>
            <a:pPr marL="0" indent="0">
              <a:buNone/>
            </a:pPr>
            <a:r>
              <a:rPr lang="en-US" altLang="en-GB" sz="2400" b="1"/>
              <a:t>Convergence (Binocular Cue)</a:t>
            </a:r>
            <a:r>
              <a:rPr lang="en-US" altLang="en-GB" sz="2400"/>
              <a:t>: The inward rotation of the eyes to focus on a nearby object. The degree of convergence (angle of eye movement) provides the brain with information about an object’s distance.</a:t>
            </a:r>
          </a:p>
        </p:txBody>
      </p:sp>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21</a:t>
            </a:fld>
            <a:endParaRPr lang="en-GB" noProof="0">
              <a:solidFill>
                <a:prstClr val="black">
                  <a:tint val="75000"/>
                </a:prst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8AB7-1987-4821-C3AA-87448C1C65F3}"/>
              </a:ext>
            </a:extLst>
          </p:cNvPr>
          <p:cNvSpPr>
            <a:spLocks noGrp="1"/>
          </p:cNvSpPr>
          <p:nvPr>
            <p:ph type="title"/>
          </p:nvPr>
        </p:nvSpPr>
        <p:spPr/>
        <p:txBody>
          <a:bodyPr/>
          <a:lstStyle/>
          <a:p>
            <a:r>
              <a:rPr lang="en-GB" b="1" dirty="0"/>
              <a:t>Retinal disparity</a:t>
            </a:r>
          </a:p>
        </p:txBody>
      </p:sp>
      <p:pic>
        <p:nvPicPr>
          <p:cNvPr id="8" name="Content Placeholder 7">
            <a:extLst>
              <a:ext uri="{FF2B5EF4-FFF2-40B4-BE49-F238E27FC236}">
                <a16:creationId xmlns:a16="http://schemas.microsoft.com/office/drawing/2014/main" id="{40EE4DB8-352E-55F5-FBD1-28A1B3DC3403}"/>
              </a:ext>
            </a:extLst>
          </p:cNvPr>
          <p:cNvPicPr>
            <a:picLocks noGrp="1" noChangeAspect="1"/>
          </p:cNvPicPr>
          <p:nvPr>
            <p:ph sz="half" idx="1"/>
          </p:nvPr>
        </p:nvPicPr>
        <p:blipFill>
          <a:blip r:embed="rId2"/>
          <a:stretch>
            <a:fillRect/>
          </a:stretch>
        </p:blipFill>
        <p:spPr>
          <a:xfrm>
            <a:off x="981075" y="2213264"/>
            <a:ext cx="4114800" cy="3460171"/>
          </a:xfrm>
          <a:prstGeom prst="rect">
            <a:avLst/>
          </a:prstGeom>
        </p:spPr>
      </p:pic>
      <p:sp>
        <p:nvSpPr>
          <p:cNvPr id="7" name="Slide Number Placeholder 6">
            <a:extLst>
              <a:ext uri="{FF2B5EF4-FFF2-40B4-BE49-F238E27FC236}">
                <a16:creationId xmlns:a16="http://schemas.microsoft.com/office/drawing/2014/main" id="{F9E872B1-A538-EF6A-F2EB-B9D91E18C443}"/>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22</a:t>
            </a:fld>
            <a:endParaRPr lang="en-GB" noProof="0">
              <a:solidFill>
                <a:prstClr val="black">
                  <a:tint val="75000"/>
                </a:prstClr>
              </a:solidFill>
            </a:endParaRPr>
          </a:p>
        </p:txBody>
      </p:sp>
      <p:sp>
        <p:nvSpPr>
          <p:cNvPr id="11" name="Content Placeholder 10">
            <a:extLst>
              <a:ext uri="{FF2B5EF4-FFF2-40B4-BE49-F238E27FC236}">
                <a16:creationId xmlns:a16="http://schemas.microsoft.com/office/drawing/2014/main" id="{D34B76E4-D437-C845-9483-25332A252A3A}"/>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4209364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381E-4564-DCBE-EF13-223BF26B8EBE}"/>
              </a:ext>
            </a:extLst>
          </p:cNvPr>
          <p:cNvSpPr>
            <a:spLocks noGrp="1"/>
          </p:cNvSpPr>
          <p:nvPr>
            <p:ph type="title"/>
          </p:nvPr>
        </p:nvSpPr>
        <p:spPr/>
        <p:txBody>
          <a:bodyPr/>
          <a:lstStyle/>
          <a:p>
            <a:r>
              <a:rPr lang="en-GB" b="1" dirty="0"/>
              <a:t>Convergence</a:t>
            </a:r>
          </a:p>
        </p:txBody>
      </p:sp>
      <p:pic>
        <p:nvPicPr>
          <p:cNvPr id="8" name="Content Placeholder 7">
            <a:extLst>
              <a:ext uri="{FF2B5EF4-FFF2-40B4-BE49-F238E27FC236}">
                <a16:creationId xmlns:a16="http://schemas.microsoft.com/office/drawing/2014/main" id="{F6EDA022-D4B6-7552-ACAA-63CDABF1F9E9}"/>
              </a:ext>
            </a:extLst>
          </p:cNvPr>
          <p:cNvPicPr>
            <a:picLocks noGrp="1" noChangeAspect="1"/>
          </p:cNvPicPr>
          <p:nvPr>
            <p:ph sz="half" idx="1"/>
          </p:nvPr>
        </p:nvPicPr>
        <p:blipFill>
          <a:blip r:embed="rId2"/>
          <a:stretch>
            <a:fillRect/>
          </a:stretch>
        </p:blipFill>
        <p:spPr>
          <a:xfrm>
            <a:off x="838200" y="2192482"/>
            <a:ext cx="3905250" cy="2680349"/>
          </a:xfrm>
          <a:prstGeom prst="rect">
            <a:avLst/>
          </a:prstGeom>
        </p:spPr>
      </p:pic>
      <p:sp>
        <p:nvSpPr>
          <p:cNvPr id="7" name="Slide Number Placeholder 6">
            <a:extLst>
              <a:ext uri="{FF2B5EF4-FFF2-40B4-BE49-F238E27FC236}">
                <a16:creationId xmlns:a16="http://schemas.microsoft.com/office/drawing/2014/main" id="{CDFFA8BC-CA0C-B836-DEF2-885F23F7E8B7}"/>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23</a:t>
            </a:fld>
            <a:endParaRPr lang="en-GB" noProof="0">
              <a:solidFill>
                <a:prstClr val="black">
                  <a:tint val="75000"/>
                </a:prstClr>
              </a:solidFill>
            </a:endParaRPr>
          </a:p>
        </p:txBody>
      </p:sp>
      <p:sp>
        <p:nvSpPr>
          <p:cNvPr id="11" name="Content Placeholder 10">
            <a:extLst>
              <a:ext uri="{FF2B5EF4-FFF2-40B4-BE49-F238E27FC236}">
                <a16:creationId xmlns:a16="http://schemas.microsoft.com/office/drawing/2014/main" id="{A731F709-7C2D-82E0-1006-0973F3EE782F}"/>
              </a:ext>
            </a:extLst>
          </p:cNvPr>
          <p:cNvSpPr>
            <a:spLocks noGrp="1"/>
          </p:cNvSpPr>
          <p:nvPr>
            <p:ph sz="half" idx="2"/>
          </p:nvPr>
        </p:nvSpPr>
        <p:spPr/>
        <p:txBody>
          <a:bodyPr/>
          <a:lstStyle/>
          <a:p>
            <a:endParaRPr lang="en-GB"/>
          </a:p>
        </p:txBody>
      </p:sp>
    </p:spTree>
    <p:extLst>
      <p:ext uri="{BB962C8B-B14F-4D97-AF65-F5344CB8AC3E}">
        <p14:creationId xmlns:p14="http://schemas.microsoft.com/office/powerpoint/2010/main" val="2401866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3" name="Content Placeholder 2"/>
          <p:cNvSpPr>
            <a:spLocks noGrp="1"/>
          </p:cNvSpPr>
          <p:nvPr>
            <p:ph sz="half" idx="1"/>
          </p:nvPr>
        </p:nvSpPr>
        <p:spPr>
          <a:xfrm>
            <a:off x="838200" y="1825625"/>
            <a:ext cx="5181600" cy="4351338"/>
          </a:xfrm>
        </p:spPr>
        <p:txBody>
          <a:bodyPr>
            <a:normAutofit/>
          </a:bodyPr>
          <a:lstStyle/>
          <a:p>
            <a:r>
              <a:rPr lang="en-US" altLang="en-GB" sz="2600" dirty="0"/>
              <a:t>These refer to features of the visual field itself (rather than to the eyes), and </a:t>
            </a:r>
            <a:r>
              <a:rPr lang="en-US" altLang="en-GB" sz="2600" b="1" dirty="0"/>
              <a:t>are all also </a:t>
            </a:r>
            <a:r>
              <a:rPr lang="en-US" altLang="en-GB" sz="2600" b="1" dirty="0" err="1"/>
              <a:t>monocula</a:t>
            </a:r>
            <a:r>
              <a:rPr lang="en-GB" altLang="en-US" sz="2600" b="1" dirty="0"/>
              <a:t>r.</a:t>
            </a:r>
          </a:p>
          <a:p>
            <a:pPr marL="0" indent="0">
              <a:buNone/>
            </a:pPr>
            <a:endParaRPr lang="en-GB" altLang="en-US" sz="2600" dirty="0"/>
          </a:p>
          <a:p>
            <a:pPr marL="0" indent="0">
              <a:buNone/>
            </a:pPr>
            <a:r>
              <a:rPr lang="en-GB" altLang="en-US" sz="2600" b="1" dirty="0"/>
              <a:t>1. </a:t>
            </a:r>
            <a:r>
              <a:rPr lang="en-US" altLang="en-GB" sz="2600" b="1" dirty="0"/>
              <a:t>Relative Size: </a:t>
            </a:r>
            <a:r>
              <a:rPr lang="en-US" altLang="en-GB" sz="2600" dirty="0"/>
              <a:t>Objects that are farther away appear smaller than similar objects that are closer. </a:t>
            </a:r>
          </a:p>
        </p:txBody>
      </p:sp>
      <p:pic>
        <p:nvPicPr>
          <p:cNvPr id="7" name="Picture 6"/>
          <p:cNvPicPr>
            <a:picLocks noChangeAspect="1"/>
          </p:cNvPicPr>
          <p:nvPr/>
        </p:nvPicPr>
        <p:blipFill>
          <a:blip r:embed="rId2"/>
          <a:stretch>
            <a:fillRect/>
          </a:stretch>
        </p:blipFill>
        <p:spPr>
          <a:xfrm>
            <a:off x="6172200" y="1870076"/>
            <a:ext cx="5181600" cy="385527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24</a:t>
            </a:fld>
            <a:endParaRPr lang="en-GB" noProof="0">
              <a:solidFill>
                <a:prstClr val="black">
                  <a:tint val="75000"/>
                </a:prst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3" name="Content Placeholder 2"/>
          <p:cNvSpPr>
            <a:spLocks noGrp="1"/>
          </p:cNvSpPr>
          <p:nvPr>
            <p:ph sz="half" idx="1"/>
          </p:nvPr>
        </p:nvSpPr>
        <p:spPr>
          <a:xfrm>
            <a:off x="838200" y="1825625"/>
            <a:ext cx="5181600" cy="4351338"/>
          </a:xfrm>
        </p:spPr>
        <p:txBody>
          <a:bodyPr>
            <a:normAutofit/>
          </a:bodyPr>
          <a:lstStyle/>
          <a:p>
            <a:pPr marL="0" indent="0">
              <a:buNone/>
            </a:pPr>
            <a:r>
              <a:rPr lang="en-GB" altLang="en-US" b="1" dirty="0"/>
              <a:t>2. </a:t>
            </a:r>
            <a:r>
              <a:rPr lang="en-US" altLang="en-GB" b="1" dirty="0"/>
              <a:t>Interposition (Occlusion): </a:t>
            </a:r>
            <a:r>
              <a:rPr lang="en-US" altLang="en-GB" dirty="0"/>
              <a:t>When one object partially blocks another, the blocked object is perceived as farther away.</a:t>
            </a:r>
          </a:p>
          <a:p>
            <a:pPr marL="0" indent="0">
              <a:buNone/>
            </a:pPr>
            <a:endParaRPr lang="en-US" altLang="en-GB" dirty="0"/>
          </a:p>
          <a:p>
            <a:pPr marL="0" indent="0">
              <a:buNone/>
            </a:pPr>
            <a:endParaRPr lang="en-US" altLang="en-GB" dirty="0"/>
          </a:p>
        </p:txBody>
      </p:sp>
      <p:pic>
        <p:nvPicPr>
          <p:cNvPr id="8" name="Picture 7"/>
          <p:cNvPicPr>
            <a:picLocks noChangeAspect="1"/>
          </p:cNvPicPr>
          <p:nvPr/>
        </p:nvPicPr>
        <p:blipFill>
          <a:blip r:embed="rId2"/>
          <a:stretch>
            <a:fillRect/>
          </a:stretch>
        </p:blipFill>
        <p:spPr>
          <a:xfrm>
            <a:off x="6172200" y="2050692"/>
            <a:ext cx="5181600" cy="3901204"/>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25</a:t>
            </a:fld>
            <a:endParaRPr lang="en-GB" noProof="0">
              <a:solidFill>
                <a:prstClr val="black">
                  <a:tint val="75000"/>
                </a:prst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8" name="Content Placeholder 7"/>
          <p:cNvSpPr>
            <a:spLocks noGrp="1"/>
          </p:cNvSpPr>
          <p:nvPr>
            <p:ph sz="half" idx="1"/>
          </p:nvPr>
        </p:nvSpPr>
        <p:spPr>
          <a:xfrm>
            <a:off x="838200" y="1825625"/>
            <a:ext cx="5181600" cy="4351338"/>
          </a:xfrm>
        </p:spPr>
        <p:txBody>
          <a:bodyPr>
            <a:normAutofit/>
          </a:bodyPr>
          <a:lstStyle/>
          <a:p>
            <a:pPr marL="0" indent="0">
              <a:buNone/>
            </a:pPr>
            <a:r>
              <a:rPr lang="en-GB" altLang="en-US" b="1" dirty="0"/>
              <a:t>3. </a:t>
            </a:r>
            <a:r>
              <a:rPr lang="en-US" altLang="en-GB" b="1" dirty="0"/>
              <a:t>Linear Perspective: </a:t>
            </a:r>
            <a:r>
              <a:rPr lang="en-US" altLang="en-GB" dirty="0"/>
              <a:t>Parallel lines (e.g., railroad tracks) appear to converge as they recede into the distance, signaling depth.</a:t>
            </a:r>
          </a:p>
          <a:p>
            <a:endParaRPr lang="en-US" altLang="en-GB" dirty="0"/>
          </a:p>
          <a:p>
            <a:pPr marL="0" indent="0">
              <a:buNone/>
            </a:pPr>
            <a:endParaRPr lang="en-US" altLang="en-GB" dirty="0"/>
          </a:p>
        </p:txBody>
      </p:sp>
      <p:pic>
        <p:nvPicPr>
          <p:cNvPr id="9" name="Picture 8"/>
          <p:cNvPicPr>
            <a:picLocks noChangeAspect="1"/>
          </p:cNvPicPr>
          <p:nvPr/>
        </p:nvPicPr>
        <p:blipFill>
          <a:blip r:embed="rId2"/>
          <a:stretch>
            <a:fillRect/>
          </a:stretch>
        </p:blipFill>
        <p:spPr>
          <a:xfrm>
            <a:off x="6172200" y="1870076"/>
            <a:ext cx="5181600" cy="385527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26</a:t>
            </a:fld>
            <a:endParaRPr lang="en-GB" noProof="0">
              <a:solidFill>
                <a:prstClr val="black">
                  <a:tint val="75000"/>
                </a:prst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3" name="Content Placeholder 2"/>
          <p:cNvSpPr>
            <a:spLocks noGrp="1"/>
          </p:cNvSpPr>
          <p:nvPr>
            <p:ph sz="half" idx="1"/>
          </p:nvPr>
        </p:nvSpPr>
        <p:spPr>
          <a:xfrm>
            <a:off x="838200" y="1825625"/>
            <a:ext cx="5181600" cy="4351338"/>
          </a:xfrm>
        </p:spPr>
        <p:txBody>
          <a:bodyPr>
            <a:normAutofit/>
          </a:bodyPr>
          <a:lstStyle/>
          <a:p>
            <a:pPr marL="0" indent="0">
              <a:buNone/>
            </a:pPr>
            <a:r>
              <a:rPr lang="en-GB" altLang="en-US" b="1" dirty="0"/>
              <a:t>4. </a:t>
            </a:r>
            <a:r>
              <a:rPr lang="en-US" altLang="en-GB" b="1" dirty="0"/>
              <a:t>Texture Gradient: </a:t>
            </a:r>
            <a:r>
              <a:rPr lang="en-US" altLang="en-GB" dirty="0"/>
              <a:t>Textures appear denser and less detailed as they get farther away. </a:t>
            </a:r>
          </a:p>
          <a:p>
            <a:pPr marL="0" indent="0">
              <a:buNone/>
            </a:pPr>
            <a:endParaRPr lang="en-US" altLang="en-GB" dirty="0"/>
          </a:p>
        </p:txBody>
      </p:sp>
      <p:pic>
        <p:nvPicPr>
          <p:cNvPr id="7" name="Picture 6"/>
          <p:cNvPicPr>
            <a:picLocks noChangeAspect="1"/>
          </p:cNvPicPr>
          <p:nvPr/>
        </p:nvPicPr>
        <p:blipFill>
          <a:blip r:embed="rId2"/>
          <a:stretch>
            <a:fillRect/>
          </a:stretch>
        </p:blipFill>
        <p:spPr>
          <a:xfrm>
            <a:off x="6172200" y="1870076"/>
            <a:ext cx="5181600" cy="385527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27</a:t>
            </a:fld>
            <a:endParaRPr lang="en-GB" noProof="0">
              <a:solidFill>
                <a:prstClr val="black">
                  <a:tint val="75000"/>
                </a:prst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3" name="Content Placeholder 2"/>
          <p:cNvSpPr>
            <a:spLocks noGrp="1"/>
          </p:cNvSpPr>
          <p:nvPr>
            <p:ph sz="half" idx="1"/>
          </p:nvPr>
        </p:nvSpPr>
        <p:spPr>
          <a:xfrm>
            <a:off x="838200" y="1825625"/>
            <a:ext cx="5181600" cy="4351338"/>
          </a:xfrm>
        </p:spPr>
        <p:txBody>
          <a:bodyPr>
            <a:normAutofit/>
          </a:bodyPr>
          <a:lstStyle/>
          <a:p>
            <a:pPr marL="0" indent="0">
              <a:buNone/>
            </a:pPr>
            <a:r>
              <a:rPr lang="en-GB" altLang="en-US" b="1" dirty="0"/>
              <a:t>5. </a:t>
            </a:r>
            <a:r>
              <a:rPr lang="en-US" altLang="en-GB" b="1" dirty="0"/>
              <a:t>Light and Shadow</a:t>
            </a:r>
            <a:r>
              <a:rPr lang="en-US" altLang="en-GB" dirty="0"/>
              <a:t>: The way light falls on objects creates shadows that indicate their shape and position in 3D space.</a:t>
            </a:r>
          </a:p>
          <a:p>
            <a:pPr marL="0" indent="0">
              <a:buNone/>
            </a:pPr>
            <a:endParaRPr lang="en-US" altLang="en-GB" dirty="0"/>
          </a:p>
          <a:p>
            <a:pPr marL="0" indent="0">
              <a:buNone/>
            </a:pPr>
            <a:endParaRPr lang="en-US" altLang="en-GB" dirty="0"/>
          </a:p>
        </p:txBody>
      </p:sp>
      <p:pic>
        <p:nvPicPr>
          <p:cNvPr id="8" name="Picture 7"/>
          <p:cNvPicPr>
            <a:picLocks noChangeAspect="1"/>
          </p:cNvPicPr>
          <p:nvPr/>
        </p:nvPicPr>
        <p:blipFill>
          <a:blip r:embed="rId2"/>
          <a:stretch>
            <a:fillRect/>
          </a:stretch>
        </p:blipFill>
        <p:spPr>
          <a:xfrm>
            <a:off x="6587331" y="1825625"/>
            <a:ext cx="4351338" cy="435133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28</a:t>
            </a:fld>
            <a:endParaRPr lang="en-GB" noProof="0">
              <a:solidFill>
                <a:prstClr val="black">
                  <a:tint val="75000"/>
                </a:prst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3" name="Content Placeholder 2"/>
          <p:cNvSpPr>
            <a:spLocks noGrp="1"/>
          </p:cNvSpPr>
          <p:nvPr>
            <p:ph sz="half" idx="1"/>
          </p:nvPr>
        </p:nvSpPr>
        <p:spPr>
          <a:xfrm>
            <a:off x="838200" y="1825625"/>
            <a:ext cx="5181600" cy="4351338"/>
          </a:xfrm>
        </p:spPr>
        <p:txBody>
          <a:bodyPr>
            <a:normAutofit/>
          </a:bodyPr>
          <a:lstStyle/>
          <a:p>
            <a:pPr marL="0" indent="0">
              <a:buNone/>
            </a:pPr>
            <a:r>
              <a:rPr lang="en-GB" altLang="en-US" b="1" dirty="0"/>
              <a:t>6. </a:t>
            </a:r>
            <a:r>
              <a:rPr lang="en-US" altLang="en-GB" b="1" dirty="0"/>
              <a:t>Aerial Perspective: </a:t>
            </a:r>
            <a:r>
              <a:rPr lang="en-US" altLang="en-GB" dirty="0"/>
              <a:t>Distant objects appear hazier or less vivid due to atmospheric scattering of light, suggesting greater distance.</a:t>
            </a:r>
          </a:p>
          <a:p>
            <a:pPr marL="0" indent="0">
              <a:buNone/>
            </a:pPr>
            <a:endParaRPr lang="en-US" altLang="en-GB" dirty="0"/>
          </a:p>
          <a:p>
            <a:pPr marL="0" indent="0">
              <a:buNone/>
            </a:pPr>
            <a:endParaRPr lang="en-US" altLang="en-GB" dirty="0"/>
          </a:p>
        </p:txBody>
      </p:sp>
      <p:pic>
        <p:nvPicPr>
          <p:cNvPr id="7" name="Picture 6"/>
          <p:cNvPicPr>
            <a:picLocks noChangeAspect="1"/>
          </p:cNvPicPr>
          <p:nvPr/>
        </p:nvPicPr>
        <p:blipFill>
          <a:blip r:embed="rId2"/>
          <a:srcRect l="25173" r="7296" b="2"/>
          <a:stretch>
            <a:fillRect/>
          </a:stretch>
        </p:blipFill>
        <p:spPr>
          <a:xfrm>
            <a:off x="6172200" y="1825625"/>
            <a:ext cx="5181600" cy="435133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29</a:t>
            </a:fld>
            <a:endParaRPr lang="en-GB" noProof="0">
              <a:solidFill>
                <a:prstClr val="black">
                  <a:tint val="75000"/>
                </a:prst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GB" altLang="en-US" b="1" dirty="0"/>
              <a:t>Pictorial cues</a:t>
            </a:r>
          </a:p>
        </p:txBody>
      </p:sp>
      <p:sp>
        <p:nvSpPr>
          <p:cNvPr id="3" name="Content Placeholder 2"/>
          <p:cNvSpPr>
            <a:spLocks noGrp="1"/>
          </p:cNvSpPr>
          <p:nvPr>
            <p:ph sz="half" idx="1"/>
          </p:nvPr>
        </p:nvSpPr>
        <p:spPr>
          <a:xfrm>
            <a:off x="838200" y="1825625"/>
            <a:ext cx="5181600" cy="4351338"/>
          </a:xfrm>
        </p:spPr>
        <p:txBody>
          <a:bodyPr>
            <a:normAutofit/>
          </a:bodyPr>
          <a:lstStyle/>
          <a:p>
            <a:pPr marL="0" indent="0">
              <a:buNone/>
            </a:pPr>
            <a:r>
              <a:rPr lang="en-GB" altLang="en-US" b="1" dirty="0"/>
              <a:t>7. </a:t>
            </a:r>
            <a:r>
              <a:rPr lang="en-US" altLang="en-GB" b="1" dirty="0"/>
              <a:t>Relative Height: </a:t>
            </a:r>
            <a:r>
              <a:rPr lang="en-US" altLang="en-GB" dirty="0"/>
              <a:t>Objects higher in the visual field (closer to the horizon) are perceived as farther away, especially in landscapes.</a:t>
            </a:r>
          </a:p>
          <a:p>
            <a:pPr marL="0" indent="0">
              <a:buNone/>
            </a:pPr>
            <a:endParaRPr lang="en-US" altLang="en-GB" dirty="0"/>
          </a:p>
          <a:p>
            <a:pPr marL="0" indent="0">
              <a:buNone/>
            </a:pPr>
            <a:endParaRPr lang="en-US" altLang="en-GB" dirty="0"/>
          </a:p>
        </p:txBody>
      </p:sp>
      <p:pic>
        <p:nvPicPr>
          <p:cNvPr id="7" name="Picture 6"/>
          <p:cNvPicPr>
            <a:picLocks noChangeAspect="1"/>
          </p:cNvPicPr>
          <p:nvPr/>
        </p:nvPicPr>
        <p:blipFill>
          <a:blip r:embed="rId2"/>
          <a:srcRect l="7144" r="17958" b="1"/>
          <a:stretch>
            <a:fillRect/>
          </a:stretch>
        </p:blipFill>
        <p:spPr>
          <a:xfrm>
            <a:off x="6172200" y="1825625"/>
            <a:ext cx="5181600" cy="4351338"/>
          </a:xfrm>
          <a:prstGeom prst="rect">
            <a:avLst/>
          </a:prstGeom>
          <a:noFill/>
        </p:spPr>
      </p:pic>
      <p:sp>
        <p:nvSpPr>
          <p:cNvPr id="6" name="Slide Number Placeholder 5"/>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30</a:t>
            </a:fld>
            <a:endParaRPr lang="en-GB" noProof="0">
              <a:solidFill>
                <a:prstClr val="black">
                  <a:tint val="75000"/>
                </a:prst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Perceptual consistency</a:t>
            </a:r>
          </a:p>
        </p:txBody>
      </p:sp>
      <p:sp>
        <p:nvSpPr>
          <p:cNvPr id="3" name="Content Placeholder 2"/>
          <p:cNvSpPr>
            <a:spLocks noGrp="1"/>
          </p:cNvSpPr>
          <p:nvPr>
            <p:ph idx="1"/>
          </p:nvPr>
        </p:nvSpPr>
        <p:spPr/>
        <p:txBody>
          <a:bodyPr/>
          <a:lstStyle/>
          <a:p>
            <a:r>
              <a:rPr lang="en-GB" dirty="0"/>
              <a:t>The ability to perceive an object as unchanging, despite changes in the sensory information that reaches our eyes, is called </a:t>
            </a:r>
            <a:r>
              <a:rPr lang="en-GB" i="1" dirty="0"/>
              <a:t>perceptual constancy</a:t>
            </a:r>
            <a:r>
              <a:rPr lang="en-GB" dirty="0"/>
              <a:t>.</a:t>
            </a:r>
          </a:p>
          <a:p>
            <a:pPr lvl="1"/>
            <a:r>
              <a:rPr lang="en-GB" dirty="0"/>
              <a:t>Size constancy</a:t>
            </a:r>
          </a:p>
          <a:p>
            <a:pPr lvl="1"/>
            <a:r>
              <a:rPr lang="en-GB" dirty="0"/>
              <a:t>Shape constancy</a:t>
            </a:r>
          </a:p>
          <a:p>
            <a:pPr lvl="1"/>
            <a:r>
              <a:rPr lang="en-GB" dirty="0"/>
              <a:t>Brightness constancy</a:t>
            </a:r>
          </a:p>
          <a:p>
            <a:pPr lvl="1"/>
            <a:r>
              <a:rPr lang="en-GB" dirty="0"/>
              <a:t>Colour constancy</a:t>
            </a:r>
          </a:p>
          <a:p>
            <a:pPr lvl="1"/>
            <a:r>
              <a:rPr lang="en-GB" dirty="0"/>
              <a:t>Location constancy</a:t>
            </a:r>
          </a:p>
          <a:p>
            <a:endParaRPr lang="en-GB" dirty="0"/>
          </a:p>
        </p:txBody>
      </p:sp>
      <p:sp>
        <p:nvSpPr>
          <p:cNvPr id="6" name="Slide Number Placeholder 5"/>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31</a:t>
            </a:fld>
            <a:endParaRPr lang="en-GB" noProof="0">
              <a:solidFill>
                <a:prstClr val="black">
                  <a:tint val="75000"/>
                </a:prst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E9C1-76F2-1973-6B56-46405BB7AC8E}"/>
              </a:ext>
            </a:extLst>
          </p:cNvPr>
          <p:cNvSpPr>
            <a:spLocks noGrp="1"/>
          </p:cNvSpPr>
          <p:nvPr>
            <p:ph type="title"/>
          </p:nvPr>
        </p:nvSpPr>
        <p:spPr>
          <a:xfrm>
            <a:off x="838200" y="365125"/>
            <a:ext cx="10515600" cy="1325563"/>
          </a:xfrm>
        </p:spPr>
        <p:txBody>
          <a:bodyPr anchor="ctr">
            <a:normAutofit/>
          </a:bodyPr>
          <a:lstStyle/>
          <a:p>
            <a:r>
              <a:rPr lang="en-GB" b="1" dirty="0"/>
              <a:t>Size constancy</a:t>
            </a:r>
          </a:p>
        </p:txBody>
      </p:sp>
      <p:sp>
        <p:nvSpPr>
          <p:cNvPr id="3" name="Content Placeholder 2">
            <a:extLst>
              <a:ext uri="{FF2B5EF4-FFF2-40B4-BE49-F238E27FC236}">
                <a16:creationId xmlns:a16="http://schemas.microsoft.com/office/drawing/2014/main" id="{F2B2E4E4-B614-524D-0FD4-8CDA465D141C}"/>
              </a:ext>
            </a:extLst>
          </p:cNvPr>
          <p:cNvSpPr>
            <a:spLocks noGrp="1"/>
          </p:cNvSpPr>
          <p:nvPr>
            <p:ph sz="half" idx="1"/>
          </p:nvPr>
        </p:nvSpPr>
        <p:spPr>
          <a:xfrm>
            <a:off x="838200" y="1825625"/>
            <a:ext cx="5181600" cy="4351338"/>
          </a:xfrm>
        </p:spPr>
        <p:txBody>
          <a:bodyPr>
            <a:normAutofit/>
          </a:bodyPr>
          <a:lstStyle/>
          <a:p>
            <a:pPr marL="0" indent="0">
              <a:buNone/>
            </a:pPr>
            <a:r>
              <a:rPr lang="en-GB" dirty="0"/>
              <a:t>The brain perceives an object’s size as constant, even though its retinal image changes with distance. For example, a person appears the same size whether they are 5 or 50 feet away, despite the retinal image being smaller at a distance (Ramachandran and Rogers-Ramachandran, 2004).</a:t>
            </a:r>
          </a:p>
          <a:p>
            <a:endParaRPr lang="en-GB" dirty="0"/>
          </a:p>
        </p:txBody>
      </p:sp>
      <p:pic>
        <p:nvPicPr>
          <p:cNvPr id="1026" name="Picture 2" descr="Size Constancy">
            <a:extLst>
              <a:ext uri="{FF2B5EF4-FFF2-40B4-BE49-F238E27FC236}">
                <a16:creationId xmlns:a16="http://schemas.microsoft.com/office/drawing/2014/main" id="{D7E3EBA6-9E21-65C3-E426-A49CD7659E0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98617" y="1825625"/>
            <a:ext cx="4928766" cy="4351338"/>
          </a:xfrm>
          <a:prstGeom prst="rect">
            <a:avLst/>
          </a:prstGeom>
          <a:solidFill>
            <a:srgbClr val="FFFFFF"/>
          </a:solidFill>
        </p:spPr>
      </p:pic>
      <p:sp>
        <p:nvSpPr>
          <p:cNvPr id="6" name="Slide Number Placeholder 5">
            <a:extLst>
              <a:ext uri="{FF2B5EF4-FFF2-40B4-BE49-F238E27FC236}">
                <a16:creationId xmlns:a16="http://schemas.microsoft.com/office/drawing/2014/main" id="{44DBA069-B252-833F-AA51-97FEA17907B4}"/>
              </a:ext>
            </a:extLst>
          </p:cNvPr>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32</a:t>
            </a:fld>
            <a:endParaRPr lang="en-GB" noProof="0">
              <a:solidFill>
                <a:prstClr val="black">
                  <a:tint val="75000"/>
                </a:prstClr>
              </a:solidFill>
            </a:endParaRPr>
          </a:p>
        </p:txBody>
      </p:sp>
    </p:spTree>
    <p:extLst>
      <p:ext uri="{BB962C8B-B14F-4D97-AF65-F5344CB8AC3E}">
        <p14:creationId xmlns:p14="http://schemas.microsoft.com/office/powerpoint/2010/main" val="793685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C3B1156-F2BD-C6FA-F5E4-5E86E0097FD1}"/>
              </a:ext>
            </a:extLst>
          </p:cNvPr>
          <p:cNvSpPr>
            <a:spLocks noGrp="1"/>
          </p:cNvSpPr>
          <p:nvPr>
            <p:ph type="title"/>
          </p:nvPr>
        </p:nvSpPr>
        <p:spPr>
          <a:xfrm>
            <a:off x="839788" y="365125"/>
            <a:ext cx="10515600" cy="1325563"/>
          </a:xfrm>
        </p:spPr>
        <p:txBody>
          <a:bodyPr vert="horz" lIns="91440" tIns="45720" rIns="91440" bIns="45720" rtlCol="0" anchor="ctr">
            <a:normAutofit/>
          </a:bodyPr>
          <a:lstStyle/>
          <a:p>
            <a:r>
              <a:rPr lang="en-GB" b="1" kern="1200" dirty="0">
                <a:latin typeface="+mj-lt"/>
                <a:ea typeface="+mj-ea"/>
                <a:cs typeface="+mj-cs"/>
              </a:rPr>
              <a:t>Ames Room (Ames, 1946)</a:t>
            </a:r>
          </a:p>
        </p:txBody>
      </p:sp>
      <p:pic>
        <p:nvPicPr>
          <p:cNvPr id="7" name="Content Placeholder 6">
            <a:extLst>
              <a:ext uri="{FF2B5EF4-FFF2-40B4-BE49-F238E27FC236}">
                <a16:creationId xmlns:a16="http://schemas.microsoft.com/office/drawing/2014/main" id="{72EDDB92-CFDB-0A78-C875-EEDA237FA772}"/>
              </a:ext>
            </a:extLst>
          </p:cNvPr>
          <p:cNvPicPr>
            <a:picLocks noGrp="1" noChangeAspect="1"/>
          </p:cNvPicPr>
          <p:nvPr>
            <p:ph sz="half" idx="2"/>
          </p:nvPr>
        </p:nvPicPr>
        <p:blipFill>
          <a:blip r:embed="rId2"/>
          <a:srcRect l="11944" r="16581" b="-3"/>
          <a:stretch>
            <a:fillRect/>
          </a:stretch>
        </p:blipFill>
        <p:spPr>
          <a:xfrm>
            <a:off x="795869" y="1954357"/>
            <a:ext cx="3291840" cy="3684588"/>
          </a:xfrm>
          <a:prstGeom prst="rect">
            <a:avLst/>
          </a:prstGeom>
          <a:noFill/>
          <a:ln w="9525">
            <a:noFill/>
          </a:ln>
        </p:spPr>
      </p:pic>
      <p:sp>
        <p:nvSpPr>
          <p:cNvPr id="6" name="Slide Number Placeholder 5">
            <a:extLst>
              <a:ext uri="{FF2B5EF4-FFF2-40B4-BE49-F238E27FC236}">
                <a16:creationId xmlns:a16="http://schemas.microsoft.com/office/drawing/2014/main" id="{46CFE95F-FA32-3C92-A3D3-7903E56D34B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D76B855D-E9CC-4FF8-AD85-6CDC7B89A0DE}" type="slidenum">
              <a:rPr lang="en-GB" smtClean="0">
                <a:solidFill>
                  <a:prstClr val="black">
                    <a:tint val="75000"/>
                  </a:prstClr>
                </a:solidFill>
              </a:rPr>
              <a:pPr>
                <a:spcAft>
                  <a:spcPts val="600"/>
                </a:spcAft>
                <a:defRPr/>
              </a:pPr>
              <a:t>33</a:t>
            </a:fld>
            <a:endParaRPr lang="en-GB">
              <a:solidFill>
                <a:prstClr val="black">
                  <a:tint val="75000"/>
                </a:prstClr>
              </a:solidFill>
            </a:endParaRPr>
          </a:p>
        </p:txBody>
      </p:sp>
      <p:sp>
        <p:nvSpPr>
          <p:cNvPr id="3" name="TextBox 2">
            <a:extLst>
              <a:ext uri="{FF2B5EF4-FFF2-40B4-BE49-F238E27FC236}">
                <a16:creationId xmlns:a16="http://schemas.microsoft.com/office/drawing/2014/main" id="{B44D7B0A-5C9F-1BBA-8DD5-95A238E3C5BA}"/>
              </a:ext>
            </a:extLst>
          </p:cNvPr>
          <p:cNvSpPr txBox="1"/>
          <p:nvPr/>
        </p:nvSpPr>
        <p:spPr>
          <a:xfrm>
            <a:off x="8153400" y="2181225"/>
            <a:ext cx="3291840" cy="3684588"/>
          </a:xfrm>
          <a:prstGeom prst="rect">
            <a:avLst/>
          </a:prstGeom>
        </p:spPr>
        <p:txBody>
          <a:bodyPr vert="horz" lIns="91440" tIns="45720" rIns="91440" bIns="45720" rtlCol="0">
            <a:normAutofit/>
          </a:bodyPr>
          <a:lstStyle/>
          <a:p>
            <a:pPr>
              <a:lnSpc>
                <a:spcPct val="90000"/>
              </a:lnSpc>
              <a:spcBef>
                <a:spcPts val="1000"/>
              </a:spcBef>
            </a:pPr>
            <a:r>
              <a:rPr lang="en-GB" sz="2000" dirty="0"/>
              <a:t>In the Ames room, the walls, floor, and ceiling are trapezoidal, not rectangular. Your brain interprets both corners as being at the same distance, even though one is farther away.</a:t>
            </a:r>
          </a:p>
        </p:txBody>
      </p:sp>
      <p:pic>
        <p:nvPicPr>
          <p:cNvPr id="1028" name="Picture 4" descr="The Ames Room Illusion">
            <a:extLst>
              <a:ext uri="{FF2B5EF4-FFF2-40B4-BE49-F238E27FC236}">
                <a16:creationId xmlns:a16="http://schemas.microsoft.com/office/drawing/2014/main" id="{64E6E79E-A655-C8DA-D70C-8CD2D51DA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7763" y="2057400"/>
            <a:ext cx="2804246" cy="3581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573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6F17-4906-6371-E922-2F185D5C8BDB}"/>
              </a:ext>
            </a:extLst>
          </p:cNvPr>
          <p:cNvSpPr>
            <a:spLocks noGrp="1"/>
          </p:cNvSpPr>
          <p:nvPr>
            <p:ph type="title"/>
          </p:nvPr>
        </p:nvSpPr>
        <p:spPr>
          <a:xfrm>
            <a:off x="838200" y="365125"/>
            <a:ext cx="10515600" cy="1325563"/>
          </a:xfrm>
        </p:spPr>
        <p:txBody>
          <a:bodyPr anchor="ctr">
            <a:normAutofit/>
          </a:bodyPr>
          <a:lstStyle/>
          <a:p>
            <a:r>
              <a:rPr lang="en-GB" b="1" dirty="0"/>
              <a:t>Shape constancy</a:t>
            </a:r>
          </a:p>
        </p:txBody>
      </p:sp>
      <p:sp>
        <p:nvSpPr>
          <p:cNvPr id="3" name="Content Placeholder 2">
            <a:extLst>
              <a:ext uri="{FF2B5EF4-FFF2-40B4-BE49-F238E27FC236}">
                <a16:creationId xmlns:a16="http://schemas.microsoft.com/office/drawing/2014/main" id="{86E82C3F-4C56-1C41-0DD2-4A8E34E7BD98}"/>
              </a:ext>
            </a:extLst>
          </p:cNvPr>
          <p:cNvSpPr>
            <a:spLocks noGrp="1"/>
          </p:cNvSpPr>
          <p:nvPr>
            <p:ph sz="half" idx="1"/>
          </p:nvPr>
        </p:nvSpPr>
        <p:spPr>
          <a:xfrm>
            <a:off x="838200" y="1825625"/>
            <a:ext cx="5181600" cy="4351338"/>
          </a:xfrm>
        </p:spPr>
        <p:txBody>
          <a:bodyPr>
            <a:normAutofit/>
          </a:bodyPr>
          <a:lstStyle/>
          <a:p>
            <a:pPr marL="0" indent="0">
              <a:buNone/>
            </a:pPr>
            <a:r>
              <a:rPr lang="en-GB" dirty="0"/>
              <a:t>An object’s shape is perceived as consistent, even when viewed from different angles, which alters its retinal projection. For example, a door appears rectangular whether viewed head-on or at an angle, where it projects a trapezoid on the retina.</a:t>
            </a:r>
          </a:p>
          <a:p>
            <a:endParaRPr lang="en-GB" dirty="0"/>
          </a:p>
        </p:txBody>
      </p:sp>
      <p:pic>
        <p:nvPicPr>
          <p:cNvPr id="2050" name="Picture 2" descr="Perceptual Constancy">
            <a:extLst>
              <a:ext uri="{FF2B5EF4-FFF2-40B4-BE49-F238E27FC236}">
                <a16:creationId xmlns:a16="http://schemas.microsoft.com/office/drawing/2014/main" id="{25EC4106-93E8-48C7-8A02-866EA8FC5D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1861524"/>
            <a:ext cx="5181600" cy="4279540"/>
          </a:xfrm>
          <a:prstGeom prst="rect">
            <a:avLst/>
          </a:prstGeom>
          <a:solidFill>
            <a:srgbClr val="FFFFFF"/>
          </a:solidFill>
        </p:spPr>
      </p:pic>
      <p:sp>
        <p:nvSpPr>
          <p:cNvPr id="6" name="Slide Number Placeholder 5">
            <a:extLst>
              <a:ext uri="{FF2B5EF4-FFF2-40B4-BE49-F238E27FC236}">
                <a16:creationId xmlns:a16="http://schemas.microsoft.com/office/drawing/2014/main" id="{BDE49045-5644-1971-7F4E-9E2188963019}"/>
              </a:ext>
            </a:extLst>
          </p:cNvPr>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34</a:t>
            </a:fld>
            <a:endParaRPr lang="en-GB" noProof="0">
              <a:solidFill>
                <a:prstClr val="black">
                  <a:tint val="75000"/>
                </a:prstClr>
              </a:solidFill>
            </a:endParaRPr>
          </a:p>
        </p:txBody>
      </p:sp>
    </p:spTree>
    <p:extLst>
      <p:ext uri="{BB962C8B-B14F-4D97-AF65-F5344CB8AC3E}">
        <p14:creationId xmlns:p14="http://schemas.microsoft.com/office/powerpoint/2010/main" val="1686062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1F3F-3DF1-EF06-B902-CBED55FC5ECE}"/>
              </a:ext>
            </a:extLst>
          </p:cNvPr>
          <p:cNvSpPr>
            <a:spLocks noGrp="1"/>
          </p:cNvSpPr>
          <p:nvPr>
            <p:ph type="title"/>
          </p:nvPr>
        </p:nvSpPr>
        <p:spPr>
          <a:xfrm>
            <a:off x="838200" y="365125"/>
            <a:ext cx="10515600" cy="1325563"/>
          </a:xfrm>
        </p:spPr>
        <p:txBody>
          <a:bodyPr anchor="ctr">
            <a:normAutofit/>
          </a:bodyPr>
          <a:lstStyle/>
          <a:p>
            <a:r>
              <a:rPr lang="en-GB" b="1" dirty="0"/>
              <a:t>Brightness constancy</a:t>
            </a:r>
          </a:p>
        </p:txBody>
      </p:sp>
      <p:sp>
        <p:nvSpPr>
          <p:cNvPr id="3" name="Content Placeholder 2">
            <a:extLst>
              <a:ext uri="{FF2B5EF4-FFF2-40B4-BE49-F238E27FC236}">
                <a16:creationId xmlns:a16="http://schemas.microsoft.com/office/drawing/2014/main" id="{94038DF0-2823-CD52-6694-924EEB49263E}"/>
              </a:ext>
            </a:extLst>
          </p:cNvPr>
          <p:cNvSpPr>
            <a:spLocks noGrp="1"/>
          </p:cNvSpPr>
          <p:nvPr>
            <p:ph sz="half" idx="1"/>
          </p:nvPr>
        </p:nvSpPr>
        <p:spPr>
          <a:xfrm>
            <a:off x="838200" y="1825625"/>
            <a:ext cx="5181600" cy="4351338"/>
          </a:xfrm>
        </p:spPr>
        <p:txBody>
          <a:bodyPr>
            <a:normAutofit/>
          </a:bodyPr>
          <a:lstStyle/>
          <a:p>
            <a:pPr marL="0" indent="0">
              <a:buNone/>
            </a:pPr>
            <a:r>
              <a:rPr lang="en-GB" dirty="0"/>
              <a:t>Objects are perceived as having consistent brightness, even when illumination changes. For example, a white shirt appears equally white in bright sunlight or dim shade, despite differences in light intensity reaching the retina.</a:t>
            </a:r>
          </a:p>
          <a:p>
            <a:endParaRPr lang="en-GB" dirty="0"/>
          </a:p>
        </p:txBody>
      </p:sp>
      <p:pic>
        <p:nvPicPr>
          <p:cNvPr id="3074" name="Picture 2" descr="Perception Lecture Notes: Brightness and Contrast">
            <a:extLst>
              <a:ext uri="{FF2B5EF4-FFF2-40B4-BE49-F238E27FC236}">
                <a16:creationId xmlns:a16="http://schemas.microsoft.com/office/drawing/2014/main" id="{ADEFEA7D-0BB0-57F5-0A36-95A78BCBF18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2200" y="2060695"/>
            <a:ext cx="5181600" cy="3881198"/>
          </a:xfrm>
          <a:prstGeom prst="rect">
            <a:avLst/>
          </a:prstGeom>
          <a:solidFill>
            <a:srgbClr val="FFFFFF"/>
          </a:solidFill>
        </p:spPr>
      </p:pic>
      <p:sp>
        <p:nvSpPr>
          <p:cNvPr id="6" name="Slide Number Placeholder 5">
            <a:extLst>
              <a:ext uri="{FF2B5EF4-FFF2-40B4-BE49-F238E27FC236}">
                <a16:creationId xmlns:a16="http://schemas.microsoft.com/office/drawing/2014/main" id="{6E4FE04E-7511-FBC6-8BE2-1246C24052EF}"/>
              </a:ext>
            </a:extLst>
          </p:cNvPr>
          <p:cNvSpPr>
            <a:spLocks noGrp="1"/>
          </p:cNvSpPr>
          <p:nvPr>
            <p:ph type="sldNum" sz="quarter" idx="12"/>
          </p:nvPr>
        </p:nvSpPr>
        <p:spPr>
          <a:xfrm>
            <a:off x="8610600" y="6356350"/>
            <a:ext cx="2743200" cy="365125"/>
          </a:xfrm>
        </p:spPr>
        <p:txBody>
          <a:bodyPr anchor="ctr">
            <a:normAutofit/>
          </a:bodyPr>
          <a:lstStyle/>
          <a:p>
            <a:pPr rtl="0">
              <a:spcAft>
                <a:spcPts val="600"/>
              </a:spcAft>
              <a:defRPr/>
            </a:pPr>
            <a:fld id="{D76B855D-E9CC-4FF8-AD85-6CDC7B89A0DE}" type="slidenum">
              <a:rPr lang="en-GB" noProof="0" smtClean="0">
                <a:solidFill>
                  <a:prstClr val="black">
                    <a:tint val="75000"/>
                  </a:prstClr>
                </a:solidFill>
              </a:rPr>
              <a:pPr rtl="0">
                <a:spcAft>
                  <a:spcPts val="600"/>
                </a:spcAft>
                <a:defRPr/>
              </a:pPr>
              <a:t>35</a:t>
            </a:fld>
            <a:endParaRPr lang="en-GB" noProof="0">
              <a:solidFill>
                <a:prstClr val="black">
                  <a:tint val="75000"/>
                </a:prstClr>
              </a:solidFill>
            </a:endParaRPr>
          </a:p>
        </p:txBody>
      </p:sp>
    </p:spTree>
    <p:extLst>
      <p:ext uri="{BB962C8B-B14F-4D97-AF65-F5344CB8AC3E}">
        <p14:creationId xmlns:p14="http://schemas.microsoft.com/office/powerpoint/2010/main" val="1466921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15B08-8C9A-FC1A-7C15-DAE5949B4C43}"/>
              </a:ext>
            </a:extLst>
          </p:cNvPr>
          <p:cNvSpPr>
            <a:spLocks noGrp="1"/>
          </p:cNvSpPr>
          <p:nvPr>
            <p:ph type="title"/>
          </p:nvPr>
        </p:nvSpPr>
        <p:spPr/>
        <p:txBody>
          <a:bodyPr/>
          <a:lstStyle/>
          <a:p>
            <a:r>
              <a:rPr lang="en-GB" dirty="0"/>
              <a:t>Colour constancy</a:t>
            </a:r>
          </a:p>
        </p:txBody>
      </p:sp>
      <p:sp>
        <p:nvSpPr>
          <p:cNvPr id="3" name="Content Placeholder 2">
            <a:extLst>
              <a:ext uri="{FF2B5EF4-FFF2-40B4-BE49-F238E27FC236}">
                <a16:creationId xmlns:a16="http://schemas.microsoft.com/office/drawing/2014/main" id="{F92DE544-4400-A2F6-E58D-DFF1B1F41B55}"/>
              </a:ext>
            </a:extLst>
          </p:cNvPr>
          <p:cNvSpPr>
            <a:spLocks noGrp="1"/>
          </p:cNvSpPr>
          <p:nvPr>
            <p:ph idx="1"/>
          </p:nvPr>
        </p:nvSpPr>
        <p:spPr>
          <a:xfrm>
            <a:off x="681635" y="1690688"/>
            <a:ext cx="4753864" cy="3859742"/>
          </a:xfrm>
        </p:spPr>
        <p:txBody>
          <a:bodyPr/>
          <a:lstStyle/>
          <a:p>
            <a:pPr marL="0" indent="0">
              <a:buNone/>
            </a:pPr>
            <a:r>
              <a:rPr lang="en-GB" dirty="0"/>
              <a:t>The brain perceives an object’s colour as stable under different lighting conditions. For example, a red apple looks red in sunlight or under fluorescent light, even though the wavelengths reflected change.</a:t>
            </a:r>
          </a:p>
          <a:p>
            <a:endParaRPr lang="en-GB" dirty="0"/>
          </a:p>
        </p:txBody>
      </p:sp>
      <p:sp>
        <p:nvSpPr>
          <p:cNvPr id="6" name="Slide Number Placeholder 5">
            <a:extLst>
              <a:ext uri="{FF2B5EF4-FFF2-40B4-BE49-F238E27FC236}">
                <a16:creationId xmlns:a16="http://schemas.microsoft.com/office/drawing/2014/main" id="{7D580FA3-D30F-B853-4678-CC2190E3DB1B}"/>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36</a:t>
            </a:fld>
            <a:endParaRPr lang="en-GB" noProof="0">
              <a:solidFill>
                <a:prstClr val="black">
                  <a:tint val="75000"/>
                </a:prstClr>
              </a:solidFill>
            </a:endParaRPr>
          </a:p>
        </p:txBody>
      </p:sp>
      <p:pic>
        <p:nvPicPr>
          <p:cNvPr id="4098" name="Picture 2" descr="Colour constancy in human vision (see online version for colours) |  Download Scientific Diagram">
            <a:extLst>
              <a:ext uri="{FF2B5EF4-FFF2-40B4-BE49-F238E27FC236}">
                <a16:creationId xmlns:a16="http://schemas.microsoft.com/office/drawing/2014/main" id="{0AFCE8CD-B92A-077A-98B7-DD1A2E7059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5112" y="2119745"/>
            <a:ext cx="399097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204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C4E2D-A7DC-9A20-6A7A-A7CBC21AAFDB}"/>
              </a:ext>
            </a:extLst>
          </p:cNvPr>
          <p:cNvSpPr>
            <a:spLocks noGrp="1"/>
          </p:cNvSpPr>
          <p:nvPr>
            <p:ph type="title"/>
          </p:nvPr>
        </p:nvSpPr>
        <p:spPr/>
        <p:txBody>
          <a:bodyPr/>
          <a:lstStyle/>
          <a:p>
            <a:r>
              <a:rPr lang="en-GB" dirty="0"/>
              <a:t>Location constancy</a:t>
            </a:r>
          </a:p>
        </p:txBody>
      </p:sp>
      <p:sp>
        <p:nvSpPr>
          <p:cNvPr id="3" name="Content Placeholder 2">
            <a:extLst>
              <a:ext uri="{FF2B5EF4-FFF2-40B4-BE49-F238E27FC236}">
                <a16:creationId xmlns:a16="http://schemas.microsoft.com/office/drawing/2014/main" id="{F38AABEB-4957-E55D-E593-FAA83444F065}"/>
              </a:ext>
            </a:extLst>
          </p:cNvPr>
          <p:cNvSpPr>
            <a:spLocks noGrp="1"/>
          </p:cNvSpPr>
          <p:nvPr>
            <p:ph idx="1"/>
          </p:nvPr>
        </p:nvSpPr>
        <p:spPr/>
        <p:txBody>
          <a:bodyPr/>
          <a:lstStyle/>
          <a:p>
            <a:r>
              <a:rPr lang="en-GB" dirty="0"/>
              <a:t>Moving our heads around produces a constantly changing pattern of retinal images, yet we don’t perceive the world as spinning around. This is because </a:t>
            </a:r>
            <a:r>
              <a:rPr lang="en-GB" i="1" dirty="0"/>
              <a:t>kinaesthetic</a:t>
            </a:r>
            <a:endParaRPr lang="en-GB" dirty="0"/>
          </a:p>
        </p:txBody>
      </p:sp>
      <p:sp>
        <p:nvSpPr>
          <p:cNvPr id="6" name="Slide Number Placeholder 5">
            <a:extLst>
              <a:ext uri="{FF2B5EF4-FFF2-40B4-BE49-F238E27FC236}">
                <a16:creationId xmlns:a16="http://schemas.microsoft.com/office/drawing/2014/main" id="{94732C7C-BAD3-7E0A-EE7E-1BAFF4AB0C7A}"/>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37</a:t>
            </a:fld>
            <a:endParaRPr lang="en-GB" noProof="0">
              <a:solidFill>
                <a:prstClr val="black">
                  <a:tint val="75000"/>
                </a:prstClr>
              </a:solidFill>
            </a:endParaRPr>
          </a:p>
        </p:txBody>
      </p:sp>
    </p:spTree>
    <p:extLst>
      <p:ext uri="{BB962C8B-B14F-4D97-AF65-F5344CB8AC3E}">
        <p14:creationId xmlns:p14="http://schemas.microsoft.com/office/powerpoint/2010/main" val="2588190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5B365-3ED0-508F-3DE0-71136CFAB30E}"/>
              </a:ext>
            </a:extLst>
          </p:cNvPr>
          <p:cNvSpPr>
            <a:spLocks noGrp="1"/>
          </p:cNvSpPr>
          <p:nvPr>
            <p:ph type="title"/>
          </p:nvPr>
        </p:nvSpPr>
        <p:spPr/>
        <p:txBody>
          <a:bodyPr/>
          <a:lstStyle/>
          <a:p>
            <a:r>
              <a:rPr lang="en-GB" dirty="0"/>
              <a:t>Illusions</a:t>
            </a:r>
          </a:p>
        </p:txBody>
      </p:sp>
      <p:sp>
        <p:nvSpPr>
          <p:cNvPr id="3" name="Content Placeholder 2">
            <a:extLst>
              <a:ext uri="{FF2B5EF4-FFF2-40B4-BE49-F238E27FC236}">
                <a16:creationId xmlns:a16="http://schemas.microsoft.com/office/drawing/2014/main" id="{501569C4-0BE8-8A31-978C-066E1C3DA5D6}"/>
              </a:ext>
            </a:extLst>
          </p:cNvPr>
          <p:cNvSpPr>
            <a:spLocks noGrp="1"/>
          </p:cNvSpPr>
          <p:nvPr>
            <p:ph idx="1"/>
          </p:nvPr>
        </p:nvSpPr>
        <p:spPr/>
        <p:txBody>
          <a:bodyPr>
            <a:normAutofit fontScale="77500" lnSpcReduction="20000"/>
          </a:bodyPr>
          <a:lstStyle/>
          <a:p>
            <a:r>
              <a:rPr lang="en-US" altLang="en-US" dirty="0"/>
              <a:t>These offer examples of how perception can be wrong and how what we see is not the truthful reflection of what's out there</a:t>
            </a:r>
          </a:p>
          <a:p>
            <a:endParaRPr lang="en-US" altLang="en-US" dirty="0"/>
          </a:p>
          <a:p>
            <a:r>
              <a:rPr lang="en-US" altLang="en-US" dirty="0"/>
              <a:t>Perception is based not only on the stimulus but also knowledge and experience</a:t>
            </a:r>
          </a:p>
          <a:p>
            <a:endParaRPr lang="en-US" altLang="en-US" dirty="0"/>
          </a:p>
          <a:p>
            <a:r>
              <a:rPr lang="en-US" altLang="en-US" dirty="0"/>
              <a:t>The Ponzo illusion</a:t>
            </a:r>
          </a:p>
          <a:p>
            <a:r>
              <a:rPr lang="en-US" altLang="en-US" dirty="0"/>
              <a:t>The Horizontal-Vertical illusion</a:t>
            </a:r>
          </a:p>
          <a:p>
            <a:r>
              <a:rPr lang="en-US" altLang="en-US" dirty="0"/>
              <a:t>The Muller-Lyer illusion</a:t>
            </a:r>
          </a:p>
          <a:p>
            <a:r>
              <a:rPr lang="en-GB" altLang="en-US" dirty="0"/>
              <a:t>The </a:t>
            </a:r>
            <a:r>
              <a:rPr lang="en-GB" altLang="en-US" dirty="0" err="1"/>
              <a:t>Poggendorf</a:t>
            </a:r>
            <a:r>
              <a:rPr lang="en-GB" altLang="en-US" dirty="0"/>
              <a:t> illusion</a:t>
            </a:r>
            <a:endParaRPr lang="en-US" altLang="en-US" dirty="0"/>
          </a:p>
          <a:p>
            <a:r>
              <a:rPr lang="en-GB" dirty="0"/>
              <a:t>Titchener’s circles</a:t>
            </a:r>
          </a:p>
          <a:p>
            <a:endParaRPr lang="en-GB" dirty="0"/>
          </a:p>
        </p:txBody>
      </p:sp>
      <p:sp>
        <p:nvSpPr>
          <p:cNvPr id="6" name="Slide Number Placeholder 5">
            <a:extLst>
              <a:ext uri="{FF2B5EF4-FFF2-40B4-BE49-F238E27FC236}">
                <a16:creationId xmlns:a16="http://schemas.microsoft.com/office/drawing/2014/main" id="{9B78BA5F-DA3F-10D5-45FA-857E1558A440}"/>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38</a:t>
            </a:fld>
            <a:endParaRPr lang="en-GB" noProof="0">
              <a:solidFill>
                <a:prstClr val="black">
                  <a:tint val="75000"/>
                </a:prstClr>
              </a:solidFill>
            </a:endParaRPr>
          </a:p>
        </p:txBody>
      </p:sp>
    </p:spTree>
    <p:extLst>
      <p:ext uri="{BB962C8B-B14F-4D97-AF65-F5344CB8AC3E}">
        <p14:creationId xmlns:p14="http://schemas.microsoft.com/office/powerpoint/2010/main" val="30510262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F209-9529-6207-6C07-13B0FB32C67D}"/>
              </a:ext>
            </a:extLst>
          </p:cNvPr>
          <p:cNvSpPr>
            <a:spLocks noGrp="1"/>
          </p:cNvSpPr>
          <p:nvPr>
            <p:ph type="title"/>
          </p:nvPr>
        </p:nvSpPr>
        <p:spPr/>
        <p:txBody>
          <a:bodyPr/>
          <a:lstStyle/>
          <a:p>
            <a:r>
              <a:rPr lang="en-GB" b="1" dirty="0"/>
              <a:t>The Ponzo Illusion</a:t>
            </a:r>
          </a:p>
        </p:txBody>
      </p:sp>
      <p:pic>
        <p:nvPicPr>
          <p:cNvPr id="9" name="Content Placeholder 8">
            <a:extLst>
              <a:ext uri="{FF2B5EF4-FFF2-40B4-BE49-F238E27FC236}">
                <a16:creationId xmlns:a16="http://schemas.microsoft.com/office/drawing/2014/main" id="{43CDC0A9-837F-A5C5-68C2-B7C87034271B}"/>
              </a:ext>
            </a:extLst>
          </p:cNvPr>
          <p:cNvPicPr>
            <a:picLocks noGrp="1" noChangeAspect="1"/>
          </p:cNvPicPr>
          <p:nvPr>
            <p:ph sz="half" idx="1"/>
          </p:nvPr>
        </p:nvPicPr>
        <p:blipFill>
          <a:blip r:embed="rId2"/>
          <a:stretch>
            <a:fillRect/>
          </a:stretch>
        </p:blipFill>
        <p:spPr>
          <a:xfrm>
            <a:off x="838200" y="1825624"/>
            <a:ext cx="4820919" cy="4351337"/>
          </a:xfrm>
          <a:prstGeom prst="rect">
            <a:avLst/>
          </a:prstGeom>
        </p:spPr>
      </p:pic>
      <p:sp>
        <p:nvSpPr>
          <p:cNvPr id="4" name="Content Placeholder 3">
            <a:extLst>
              <a:ext uri="{FF2B5EF4-FFF2-40B4-BE49-F238E27FC236}">
                <a16:creationId xmlns:a16="http://schemas.microsoft.com/office/drawing/2014/main" id="{37E72CD8-9769-D94A-93F3-BA1A8CF69B41}"/>
              </a:ext>
            </a:extLst>
          </p:cNvPr>
          <p:cNvSpPr>
            <a:spLocks noGrp="1"/>
          </p:cNvSpPr>
          <p:nvPr>
            <p:ph sz="half" idx="2"/>
          </p:nvPr>
        </p:nvSpPr>
        <p:spPr/>
        <p:txBody>
          <a:bodyPr/>
          <a:lstStyle/>
          <a:p>
            <a:pPr marL="0" indent="0">
              <a:buNone/>
            </a:pPr>
            <a:r>
              <a:rPr lang="en-GB" dirty="0"/>
              <a:t>The horizontal bar at the top is seen as being longer than the horizontal line at the bottom, even though they’re both the same length.</a:t>
            </a:r>
          </a:p>
        </p:txBody>
      </p:sp>
      <p:sp>
        <p:nvSpPr>
          <p:cNvPr id="7" name="Slide Number Placeholder 6">
            <a:extLst>
              <a:ext uri="{FF2B5EF4-FFF2-40B4-BE49-F238E27FC236}">
                <a16:creationId xmlns:a16="http://schemas.microsoft.com/office/drawing/2014/main" id="{C1206C78-DE64-A3D8-5DCF-AEE2B4EE26C1}"/>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39</a:t>
            </a:fld>
            <a:endParaRPr lang="en-GB" noProof="0">
              <a:solidFill>
                <a:prstClr val="black">
                  <a:tint val="75000"/>
                </a:prstClr>
              </a:solidFill>
            </a:endParaRPr>
          </a:p>
        </p:txBody>
      </p:sp>
    </p:spTree>
    <p:extLst>
      <p:ext uri="{BB962C8B-B14F-4D97-AF65-F5344CB8AC3E}">
        <p14:creationId xmlns:p14="http://schemas.microsoft.com/office/powerpoint/2010/main" val="517701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FAED-6D0F-ECBD-C077-845890E2C68F}"/>
              </a:ext>
            </a:extLst>
          </p:cNvPr>
          <p:cNvSpPr>
            <a:spLocks noGrp="1"/>
          </p:cNvSpPr>
          <p:nvPr>
            <p:ph type="title"/>
          </p:nvPr>
        </p:nvSpPr>
        <p:spPr/>
        <p:txBody>
          <a:bodyPr/>
          <a:lstStyle/>
          <a:p>
            <a:r>
              <a:rPr lang="en-GB" b="1" dirty="0"/>
              <a:t>The Horizontal-Vertical </a:t>
            </a:r>
            <a:r>
              <a:rPr lang="en-GB" b="1" dirty="0" smtClean="0"/>
              <a:t>Illusion</a:t>
            </a:r>
            <a:endParaRPr lang="en-GB" b="1" dirty="0"/>
          </a:p>
        </p:txBody>
      </p:sp>
      <p:pic>
        <p:nvPicPr>
          <p:cNvPr id="9" name="Content Placeholder 8">
            <a:extLst>
              <a:ext uri="{FF2B5EF4-FFF2-40B4-BE49-F238E27FC236}">
                <a16:creationId xmlns:a16="http://schemas.microsoft.com/office/drawing/2014/main" id="{8FF92DFA-B2D6-0EE8-1667-283E10059BA5}"/>
              </a:ext>
            </a:extLst>
          </p:cNvPr>
          <p:cNvPicPr>
            <a:picLocks noGrp="1" noChangeAspect="1"/>
          </p:cNvPicPr>
          <p:nvPr>
            <p:ph sz="half" idx="1"/>
          </p:nvPr>
        </p:nvPicPr>
        <p:blipFill>
          <a:blip r:embed="rId2"/>
          <a:stretch>
            <a:fillRect/>
          </a:stretch>
        </p:blipFill>
        <p:spPr>
          <a:xfrm>
            <a:off x="1101436" y="1932710"/>
            <a:ext cx="4114800" cy="2594410"/>
          </a:xfrm>
          <a:prstGeom prst="rect">
            <a:avLst/>
          </a:prstGeom>
        </p:spPr>
      </p:pic>
      <p:sp>
        <p:nvSpPr>
          <p:cNvPr id="4" name="Content Placeholder 3">
            <a:extLst>
              <a:ext uri="{FF2B5EF4-FFF2-40B4-BE49-F238E27FC236}">
                <a16:creationId xmlns:a16="http://schemas.microsoft.com/office/drawing/2014/main" id="{75FCBDEE-E263-7CC2-E461-F45C771CA615}"/>
              </a:ext>
            </a:extLst>
          </p:cNvPr>
          <p:cNvSpPr>
            <a:spLocks noGrp="1"/>
          </p:cNvSpPr>
          <p:nvPr>
            <p:ph sz="half" idx="2"/>
          </p:nvPr>
        </p:nvSpPr>
        <p:spPr/>
        <p:txBody>
          <a:bodyPr/>
          <a:lstStyle/>
          <a:p>
            <a:pPr marL="0" indent="0">
              <a:buNone/>
            </a:pPr>
            <a:r>
              <a:rPr lang="en-GB" dirty="0"/>
              <a:t>The vertical line appears longer than the horizontal line – even though they’re of equal length.</a:t>
            </a:r>
          </a:p>
        </p:txBody>
      </p:sp>
      <p:sp>
        <p:nvSpPr>
          <p:cNvPr id="7" name="Slide Number Placeholder 6">
            <a:extLst>
              <a:ext uri="{FF2B5EF4-FFF2-40B4-BE49-F238E27FC236}">
                <a16:creationId xmlns:a16="http://schemas.microsoft.com/office/drawing/2014/main" id="{7FE11A51-CB95-4DC3-715D-3F595998450F}"/>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40</a:t>
            </a:fld>
            <a:endParaRPr lang="en-GB" noProof="0">
              <a:solidFill>
                <a:prstClr val="black">
                  <a:tint val="75000"/>
                </a:prstClr>
              </a:solidFill>
            </a:endParaRPr>
          </a:p>
        </p:txBody>
      </p:sp>
    </p:spTree>
    <p:extLst>
      <p:ext uri="{BB962C8B-B14F-4D97-AF65-F5344CB8AC3E}">
        <p14:creationId xmlns:p14="http://schemas.microsoft.com/office/powerpoint/2010/main" val="1580949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6F551-593F-3EA5-51AF-0BA9ADEC130B}"/>
              </a:ext>
            </a:extLst>
          </p:cNvPr>
          <p:cNvSpPr>
            <a:spLocks noGrp="1"/>
          </p:cNvSpPr>
          <p:nvPr>
            <p:ph type="title"/>
          </p:nvPr>
        </p:nvSpPr>
        <p:spPr/>
        <p:txBody>
          <a:bodyPr/>
          <a:lstStyle/>
          <a:p>
            <a:r>
              <a:rPr lang="en-GB" b="1" dirty="0"/>
              <a:t>The Muller-Lyer Illusion</a:t>
            </a:r>
          </a:p>
        </p:txBody>
      </p:sp>
      <p:pic>
        <p:nvPicPr>
          <p:cNvPr id="9" name="Content Placeholder 8">
            <a:extLst>
              <a:ext uri="{FF2B5EF4-FFF2-40B4-BE49-F238E27FC236}">
                <a16:creationId xmlns:a16="http://schemas.microsoft.com/office/drawing/2014/main" id="{DA5033A6-04D1-FB73-6646-A632F024CD14}"/>
              </a:ext>
            </a:extLst>
          </p:cNvPr>
          <p:cNvPicPr>
            <a:picLocks noGrp="1" noChangeAspect="1"/>
          </p:cNvPicPr>
          <p:nvPr>
            <p:ph sz="half" idx="1"/>
          </p:nvPr>
        </p:nvPicPr>
        <p:blipFill>
          <a:blip r:embed="rId2"/>
          <a:stretch>
            <a:fillRect/>
          </a:stretch>
        </p:blipFill>
        <p:spPr>
          <a:xfrm>
            <a:off x="1236518" y="2483428"/>
            <a:ext cx="4326081" cy="2135140"/>
          </a:xfrm>
          <a:prstGeom prst="rect">
            <a:avLst/>
          </a:prstGeom>
        </p:spPr>
      </p:pic>
      <p:sp>
        <p:nvSpPr>
          <p:cNvPr id="4" name="Content Placeholder 3">
            <a:extLst>
              <a:ext uri="{FF2B5EF4-FFF2-40B4-BE49-F238E27FC236}">
                <a16:creationId xmlns:a16="http://schemas.microsoft.com/office/drawing/2014/main" id="{15FE7178-62BF-3477-EBAD-2ECAA3304B84}"/>
              </a:ext>
            </a:extLst>
          </p:cNvPr>
          <p:cNvSpPr>
            <a:spLocks noGrp="1"/>
          </p:cNvSpPr>
          <p:nvPr>
            <p:ph sz="half" idx="2"/>
          </p:nvPr>
        </p:nvSpPr>
        <p:spPr/>
        <p:txBody>
          <a:bodyPr/>
          <a:lstStyle/>
          <a:p>
            <a:pPr marL="0" indent="0">
              <a:buNone/>
            </a:pPr>
            <a:r>
              <a:rPr lang="en-GB" dirty="0"/>
              <a:t>The line with the outgoing fins appears to be longer than the line with the ingoing fins, but in fact they’re the same length. </a:t>
            </a:r>
          </a:p>
        </p:txBody>
      </p:sp>
      <p:sp>
        <p:nvSpPr>
          <p:cNvPr id="7" name="Slide Number Placeholder 6">
            <a:extLst>
              <a:ext uri="{FF2B5EF4-FFF2-40B4-BE49-F238E27FC236}">
                <a16:creationId xmlns:a16="http://schemas.microsoft.com/office/drawing/2014/main" id="{48776676-BF47-D15F-7CC6-778C0EC6F9D1}"/>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41</a:t>
            </a:fld>
            <a:endParaRPr lang="en-GB" noProof="0">
              <a:solidFill>
                <a:prstClr val="black">
                  <a:tint val="75000"/>
                </a:prstClr>
              </a:solidFill>
            </a:endParaRPr>
          </a:p>
        </p:txBody>
      </p:sp>
    </p:spTree>
    <p:extLst>
      <p:ext uri="{BB962C8B-B14F-4D97-AF65-F5344CB8AC3E}">
        <p14:creationId xmlns:p14="http://schemas.microsoft.com/office/powerpoint/2010/main" val="3565131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14BC8-6072-4071-1592-9AFA26DD4D27}"/>
              </a:ext>
            </a:extLst>
          </p:cNvPr>
          <p:cNvSpPr>
            <a:spLocks noGrp="1"/>
          </p:cNvSpPr>
          <p:nvPr>
            <p:ph type="title"/>
          </p:nvPr>
        </p:nvSpPr>
        <p:spPr/>
        <p:txBody>
          <a:bodyPr/>
          <a:lstStyle/>
          <a:p>
            <a:r>
              <a:rPr lang="en-GB" b="1" dirty="0"/>
              <a:t>The </a:t>
            </a:r>
            <a:r>
              <a:rPr lang="en-GB" b="1" dirty="0" err="1"/>
              <a:t>Poggendorf</a:t>
            </a:r>
            <a:r>
              <a:rPr lang="en-GB" b="1" dirty="0"/>
              <a:t> Illusion</a:t>
            </a:r>
          </a:p>
        </p:txBody>
      </p:sp>
      <p:pic>
        <p:nvPicPr>
          <p:cNvPr id="9" name="Content Placeholder 8">
            <a:extLst>
              <a:ext uri="{FF2B5EF4-FFF2-40B4-BE49-F238E27FC236}">
                <a16:creationId xmlns:a16="http://schemas.microsoft.com/office/drawing/2014/main" id="{D51298CC-0635-41F5-376E-07A7D649A782}"/>
              </a:ext>
            </a:extLst>
          </p:cNvPr>
          <p:cNvPicPr>
            <a:picLocks noGrp="1" noChangeAspect="1"/>
          </p:cNvPicPr>
          <p:nvPr>
            <p:ph sz="half" idx="1"/>
          </p:nvPr>
        </p:nvPicPr>
        <p:blipFill>
          <a:blip r:embed="rId2"/>
          <a:stretch>
            <a:fillRect/>
          </a:stretch>
        </p:blipFill>
        <p:spPr>
          <a:xfrm>
            <a:off x="1145895" y="2176041"/>
            <a:ext cx="3402956" cy="2377751"/>
          </a:xfrm>
          <a:prstGeom prst="rect">
            <a:avLst/>
          </a:prstGeom>
        </p:spPr>
      </p:pic>
      <p:sp>
        <p:nvSpPr>
          <p:cNvPr id="4" name="Content Placeholder 3">
            <a:extLst>
              <a:ext uri="{FF2B5EF4-FFF2-40B4-BE49-F238E27FC236}">
                <a16:creationId xmlns:a16="http://schemas.microsoft.com/office/drawing/2014/main" id="{9DE111A5-BB0D-3AC8-8858-5F056EDDD6FE}"/>
              </a:ext>
            </a:extLst>
          </p:cNvPr>
          <p:cNvSpPr>
            <a:spLocks noGrp="1"/>
          </p:cNvSpPr>
          <p:nvPr>
            <p:ph sz="half" idx="2"/>
          </p:nvPr>
        </p:nvSpPr>
        <p:spPr/>
        <p:txBody>
          <a:bodyPr/>
          <a:lstStyle/>
          <a:p>
            <a:pPr marL="0" indent="0">
              <a:buNone/>
            </a:pPr>
            <a:r>
              <a:rPr lang="en-GB" dirty="0"/>
              <a:t>Seems like the segments of the diagonal line are offset, even though they’re not.</a:t>
            </a:r>
          </a:p>
        </p:txBody>
      </p:sp>
      <p:sp>
        <p:nvSpPr>
          <p:cNvPr id="7" name="Slide Number Placeholder 6">
            <a:extLst>
              <a:ext uri="{FF2B5EF4-FFF2-40B4-BE49-F238E27FC236}">
                <a16:creationId xmlns:a16="http://schemas.microsoft.com/office/drawing/2014/main" id="{37F7B2D2-6A31-6C52-C38D-4CBC4C4835C2}"/>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42</a:t>
            </a:fld>
            <a:endParaRPr lang="en-GB" noProof="0">
              <a:solidFill>
                <a:prstClr val="black">
                  <a:tint val="75000"/>
                </a:prstClr>
              </a:solidFill>
            </a:endParaRPr>
          </a:p>
        </p:txBody>
      </p:sp>
    </p:spTree>
    <p:extLst>
      <p:ext uri="{BB962C8B-B14F-4D97-AF65-F5344CB8AC3E}">
        <p14:creationId xmlns:p14="http://schemas.microsoft.com/office/powerpoint/2010/main" val="3857579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BFC2D-F23D-CD0C-D815-E63A2481E05F}"/>
              </a:ext>
            </a:extLst>
          </p:cNvPr>
          <p:cNvSpPr>
            <a:spLocks noGrp="1"/>
          </p:cNvSpPr>
          <p:nvPr>
            <p:ph type="title"/>
          </p:nvPr>
        </p:nvSpPr>
        <p:spPr/>
        <p:txBody>
          <a:bodyPr/>
          <a:lstStyle/>
          <a:p>
            <a:r>
              <a:rPr lang="en-GB" b="1" dirty="0"/>
              <a:t>Titchener’s circles</a:t>
            </a:r>
            <a:endParaRPr lang="en-GB" dirty="0"/>
          </a:p>
        </p:txBody>
      </p:sp>
      <p:pic>
        <p:nvPicPr>
          <p:cNvPr id="9" name="Content Placeholder 8">
            <a:extLst>
              <a:ext uri="{FF2B5EF4-FFF2-40B4-BE49-F238E27FC236}">
                <a16:creationId xmlns:a16="http://schemas.microsoft.com/office/drawing/2014/main" id="{62C0792F-EC03-ED64-00D3-2620F731C6A7}"/>
              </a:ext>
            </a:extLst>
          </p:cNvPr>
          <p:cNvPicPr>
            <a:picLocks noGrp="1" noChangeAspect="1"/>
          </p:cNvPicPr>
          <p:nvPr>
            <p:ph sz="half" idx="1"/>
          </p:nvPr>
        </p:nvPicPr>
        <p:blipFill>
          <a:blip r:embed="rId2"/>
          <a:stretch>
            <a:fillRect/>
          </a:stretch>
        </p:blipFill>
        <p:spPr>
          <a:xfrm>
            <a:off x="838200" y="2268638"/>
            <a:ext cx="4914418" cy="2803359"/>
          </a:xfrm>
          <a:prstGeom prst="rect">
            <a:avLst/>
          </a:prstGeom>
        </p:spPr>
      </p:pic>
      <p:sp>
        <p:nvSpPr>
          <p:cNvPr id="4" name="Content Placeholder 3">
            <a:extLst>
              <a:ext uri="{FF2B5EF4-FFF2-40B4-BE49-F238E27FC236}">
                <a16:creationId xmlns:a16="http://schemas.microsoft.com/office/drawing/2014/main" id="{AFC4F808-2546-6E4D-4B09-D29E95AE51BF}"/>
              </a:ext>
            </a:extLst>
          </p:cNvPr>
          <p:cNvSpPr>
            <a:spLocks noGrp="1"/>
          </p:cNvSpPr>
          <p:nvPr>
            <p:ph sz="half" idx="2"/>
          </p:nvPr>
        </p:nvSpPr>
        <p:spPr/>
        <p:txBody>
          <a:bodyPr/>
          <a:lstStyle/>
          <a:p>
            <a:pPr marL="0" indent="0">
              <a:buNone/>
            </a:pPr>
            <a:r>
              <a:rPr lang="en-GB" dirty="0"/>
              <a:t>The central circle in the left-hand group is seen as being larger than the central circle of the right-hand group, but they’re both the same size.</a:t>
            </a:r>
          </a:p>
        </p:txBody>
      </p:sp>
      <p:sp>
        <p:nvSpPr>
          <p:cNvPr id="7" name="Slide Number Placeholder 6">
            <a:extLst>
              <a:ext uri="{FF2B5EF4-FFF2-40B4-BE49-F238E27FC236}">
                <a16:creationId xmlns:a16="http://schemas.microsoft.com/office/drawing/2014/main" id="{82545F5B-2805-2671-D486-4B37FB3CD4FB}"/>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43</a:t>
            </a:fld>
            <a:endParaRPr lang="en-GB" noProof="0">
              <a:solidFill>
                <a:prstClr val="black">
                  <a:tint val="75000"/>
                </a:prstClr>
              </a:solidFill>
            </a:endParaRPr>
          </a:p>
        </p:txBody>
      </p:sp>
    </p:spTree>
    <p:extLst>
      <p:ext uri="{BB962C8B-B14F-4D97-AF65-F5344CB8AC3E}">
        <p14:creationId xmlns:p14="http://schemas.microsoft.com/office/powerpoint/2010/main" val="139257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56E15-45CA-8020-791E-590E80B1ED2D}"/>
              </a:ext>
            </a:extLst>
          </p:cNvPr>
          <p:cNvSpPr>
            <a:spLocks noGrp="1"/>
          </p:cNvSpPr>
          <p:nvPr>
            <p:ph type="title"/>
          </p:nvPr>
        </p:nvSpPr>
        <p:spPr/>
        <p:txBody>
          <a:bodyPr/>
          <a:lstStyle/>
          <a:p>
            <a:r>
              <a:rPr lang="en-GB" dirty="0"/>
              <a:t>Theories of Visual Perception</a:t>
            </a:r>
          </a:p>
        </p:txBody>
      </p:sp>
      <p:sp>
        <p:nvSpPr>
          <p:cNvPr id="3" name="Content Placeholder 2">
            <a:extLst>
              <a:ext uri="{FF2B5EF4-FFF2-40B4-BE49-F238E27FC236}">
                <a16:creationId xmlns:a16="http://schemas.microsoft.com/office/drawing/2014/main" id="{815298CF-BB57-98F0-40E5-313EB39D870F}"/>
              </a:ext>
            </a:extLst>
          </p:cNvPr>
          <p:cNvSpPr>
            <a:spLocks noGrp="1"/>
          </p:cNvSpPr>
          <p:nvPr>
            <p:ph idx="1"/>
          </p:nvPr>
        </p:nvSpPr>
        <p:spPr>
          <a:xfrm>
            <a:off x="636368" y="1690688"/>
            <a:ext cx="9829800" cy="3859742"/>
          </a:xfrm>
        </p:spPr>
        <p:txBody>
          <a:bodyPr>
            <a:normAutofit fontScale="85000" lnSpcReduction="20000"/>
          </a:bodyPr>
          <a:lstStyle/>
          <a:p>
            <a:pPr marL="514350" indent="-514350">
              <a:buAutoNum type="arabicPeriod"/>
            </a:pPr>
            <a:r>
              <a:rPr lang="en-GB" b="1" dirty="0" smtClean="0"/>
              <a:t>Gestalt Theory </a:t>
            </a:r>
            <a:r>
              <a:rPr lang="en-GB" dirty="0" smtClean="0"/>
              <a:t>(as discussed - </a:t>
            </a:r>
            <a:r>
              <a:rPr lang="en-US" dirty="0"/>
              <a:t>"the whole is greater than the sum of its parts</a:t>
            </a:r>
            <a:r>
              <a:rPr lang="en-US" dirty="0" smtClean="0"/>
              <a:t>.“</a:t>
            </a:r>
          </a:p>
          <a:p>
            <a:pPr marL="514350" indent="-514350">
              <a:buAutoNum type="arabicPeriod"/>
            </a:pPr>
            <a:endParaRPr lang="en-US" dirty="0"/>
          </a:p>
          <a:p>
            <a:pPr marL="0" indent="0">
              <a:buNone/>
            </a:pPr>
            <a:r>
              <a:rPr lang="en-GB" b="1" dirty="0" smtClean="0"/>
              <a:t>2. </a:t>
            </a:r>
            <a:r>
              <a:rPr lang="en-US" b="1" dirty="0"/>
              <a:t>Constructivist </a:t>
            </a:r>
            <a:r>
              <a:rPr lang="en-US" b="1" dirty="0" smtClean="0"/>
              <a:t>Theory </a:t>
            </a:r>
            <a:r>
              <a:rPr lang="en-US" dirty="0" smtClean="0"/>
              <a:t>(Gregory, 1966) - </a:t>
            </a:r>
            <a:r>
              <a:rPr lang="en-US" dirty="0"/>
              <a:t>perception is an active, constructive process. The brain uses sensory input, prior knowledge, and expectations to build an interpretation of the visual world</a:t>
            </a:r>
            <a:r>
              <a:rPr lang="en-US" dirty="0" smtClean="0"/>
              <a:t>.</a:t>
            </a:r>
            <a:r>
              <a:rPr lang="en-US" dirty="0"/>
              <a:t> </a:t>
            </a:r>
            <a:r>
              <a:rPr lang="en-US" u="sng" dirty="0"/>
              <a:t>Perception is driven by higher-level cognitive processes</a:t>
            </a:r>
            <a:r>
              <a:rPr lang="en-US" dirty="0"/>
              <a:t>, such as memory, experience, and context. For instance, we recognize a blurry image as a face because we’ve seen faces before</a:t>
            </a:r>
            <a:r>
              <a:rPr lang="en-US" dirty="0" smtClean="0"/>
              <a:t>.</a:t>
            </a:r>
          </a:p>
          <a:p>
            <a:pPr marL="0" indent="0">
              <a:buNone/>
            </a:pPr>
            <a:r>
              <a:rPr lang="en-US" i="1" dirty="0" smtClean="0"/>
              <a:t>e.g. When </a:t>
            </a:r>
            <a:r>
              <a:rPr lang="en-US" i="1" dirty="0"/>
              <a:t>reading messy handwriting, your brain uses context and prior knowledge of words to decipher the text, even if some letters are unclear.</a:t>
            </a:r>
          </a:p>
          <a:p>
            <a:pPr marL="0" indent="0">
              <a:buNone/>
            </a:pPr>
            <a:endParaRPr lang="en-US" dirty="0"/>
          </a:p>
          <a:p>
            <a:pPr marL="0" indent="0">
              <a:buNone/>
            </a:pPr>
            <a:endParaRPr lang="en-US" dirty="0"/>
          </a:p>
          <a:p>
            <a:pPr marL="0" indent="0">
              <a:buNone/>
            </a:pPr>
            <a:endParaRPr lang="en-GB" dirty="0"/>
          </a:p>
        </p:txBody>
      </p:sp>
      <p:sp>
        <p:nvSpPr>
          <p:cNvPr id="6" name="Slide Number Placeholder 5">
            <a:extLst>
              <a:ext uri="{FF2B5EF4-FFF2-40B4-BE49-F238E27FC236}">
                <a16:creationId xmlns:a16="http://schemas.microsoft.com/office/drawing/2014/main" id="{AD97DFF8-8638-760E-60F5-4E287985E2CF}"/>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44</a:t>
            </a:fld>
            <a:endParaRPr lang="en-GB" noProof="0">
              <a:solidFill>
                <a:prstClr val="black">
                  <a:tint val="75000"/>
                </a:prstClr>
              </a:solidFill>
            </a:endParaRPr>
          </a:p>
        </p:txBody>
      </p:sp>
    </p:spTree>
    <p:extLst>
      <p:ext uri="{BB962C8B-B14F-4D97-AF65-F5344CB8AC3E}">
        <p14:creationId xmlns:p14="http://schemas.microsoft.com/office/powerpoint/2010/main" val="2672030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56E15-45CA-8020-791E-590E80B1ED2D}"/>
              </a:ext>
            </a:extLst>
          </p:cNvPr>
          <p:cNvSpPr>
            <a:spLocks noGrp="1"/>
          </p:cNvSpPr>
          <p:nvPr>
            <p:ph type="title"/>
          </p:nvPr>
        </p:nvSpPr>
        <p:spPr/>
        <p:txBody>
          <a:bodyPr/>
          <a:lstStyle/>
          <a:p>
            <a:r>
              <a:rPr lang="en-GB" dirty="0"/>
              <a:t>Theories of Visual Perception</a:t>
            </a:r>
          </a:p>
        </p:txBody>
      </p:sp>
      <p:sp>
        <p:nvSpPr>
          <p:cNvPr id="3" name="Content Placeholder 2">
            <a:extLst>
              <a:ext uri="{FF2B5EF4-FFF2-40B4-BE49-F238E27FC236}">
                <a16:creationId xmlns:a16="http://schemas.microsoft.com/office/drawing/2014/main" id="{815298CF-BB57-98F0-40E5-313EB39D870F}"/>
              </a:ext>
            </a:extLst>
          </p:cNvPr>
          <p:cNvSpPr>
            <a:spLocks noGrp="1"/>
          </p:cNvSpPr>
          <p:nvPr>
            <p:ph idx="1"/>
          </p:nvPr>
        </p:nvSpPr>
        <p:spPr>
          <a:xfrm>
            <a:off x="636368" y="1690688"/>
            <a:ext cx="9829800" cy="3859742"/>
          </a:xfrm>
        </p:spPr>
        <p:txBody>
          <a:bodyPr>
            <a:normAutofit fontScale="92500" lnSpcReduction="10000"/>
          </a:bodyPr>
          <a:lstStyle/>
          <a:p>
            <a:pPr marL="0" indent="0">
              <a:buNone/>
            </a:pPr>
            <a:r>
              <a:rPr lang="en-US" b="1" dirty="0" smtClean="0"/>
              <a:t>3. Ecological Theory (Gibson, 1966) - </a:t>
            </a:r>
            <a:r>
              <a:rPr lang="en-US" dirty="0"/>
              <a:t>perception is direct and does not require complex cognitive processing. The environment provides all the information needed for perception through "affordances" (cues about how objects can be used</a:t>
            </a:r>
            <a:r>
              <a:rPr lang="en-US" dirty="0" smtClean="0"/>
              <a:t>). </a:t>
            </a:r>
            <a:r>
              <a:rPr lang="en-US" dirty="0"/>
              <a:t>Gibson’s theory emphasizes the </a:t>
            </a:r>
            <a:r>
              <a:rPr lang="en-US" u="sng" dirty="0"/>
              <a:t>interaction between organisms and their environment</a:t>
            </a:r>
            <a:r>
              <a:rPr lang="en-US" dirty="0"/>
              <a:t>, focusing on real-world, ecological contexts rather than lab-based stimuli.</a:t>
            </a:r>
          </a:p>
          <a:p>
            <a:pPr marL="0" indent="0">
              <a:buNone/>
            </a:pPr>
            <a:endParaRPr lang="en-US" dirty="0"/>
          </a:p>
          <a:p>
            <a:pPr marL="0" indent="0">
              <a:buNone/>
            </a:pPr>
            <a:r>
              <a:rPr lang="en-US" i="1" dirty="0" smtClean="0"/>
              <a:t>e.g. </a:t>
            </a:r>
            <a:r>
              <a:rPr lang="en-US" i="1" dirty="0"/>
              <a:t>When walking through a forest, you perceive the ground’s texture and slopes directly, allowing you to navigate without consciously analyzing every step.</a:t>
            </a:r>
          </a:p>
          <a:p>
            <a:pPr marL="0" indent="0">
              <a:buNone/>
            </a:pPr>
            <a:endParaRPr lang="en-US" dirty="0"/>
          </a:p>
          <a:p>
            <a:pPr marL="0" indent="0">
              <a:buNone/>
            </a:pPr>
            <a:endParaRPr lang="en-US" dirty="0"/>
          </a:p>
          <a:p>
            <a:pPr marL="0" indent="0">
              <a:buNone/>
            </a:pPr>
            <a:endParaRPr lang="en-US" dirty="0"/>
          </a:p>
          <a:p>
            <a:pPr marL="0" indent="0">
              <a:buNone/>
            </a:pPr>
            <a:endParaRPr lang="en-GB" dirty="0"/>
          </a:p>
        </p:txBody>
      </p:sp>
      <p:sp>
        <p:nvSpPr>
          <p:cNvPr id="6" name="Slide Number Placeholder 5">
            <a:extLst>
              <a:ext uri="{FF2B5EF4-FFF2-40B4-BE49-F238E27FC236}">
                <a16:creationId xmlns:a16="http://schemas.microsoft.com/office/drawing/2014/main" id="{AD97DFF8-8638-760E-60F5-4E287985E2CF}"/>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45</a:t>
            </a:fld>
            <a:endParaRPr lang="en-GB" noProof="0">
              <a:solidFill>
                <a:prstClr val="black">
                  <a:tint val="75000"/>
                </a:prstClr>
              </a:solidFill>
            </a:endParaRPr>
          </a:p>
        </p:txBody>
      </p:sp>
    </p:spTree>
    <p:extLst>
      <p:ext uri="{BB962C8B-B14F-4D97-AF65-F5344CB8AC3E}">
        <p14:creationId xmlns:p14="http://schemas.microsoft.com/office/powerpoint/2010/main" val="1797370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390148850"/>
              </p:ext>
            </p:extLst>
          </p:nvPr>
        </p:nvGraphicFramePr>
        <p:xfrm>
          <a:off x="467322" y="489013"/>
          <a:ext cx="10515346" cy="5120640"/>
        </p:xfrm>
        <a:graphic>
          <a:graphicData uri="http://schemas.openxmlformats.org/drawingml/2006/table">
            <a:tbl>
              <a:tblPr firstRow="1" bandRow="1">
                <a:tableStyleId>{5C22544A-7EE6-4342-B048-85BDC9FD1C3A}</a:tableStyleId>
              </a:tblPr>
              <a:tblGrid>
                <a:gridCol w="1850365">
                  <a:extLst>
                    <a:ext uri="{9D8B030D-6E8A-4147-A177-3AD203B41FA5}">
                      <a16:colId xmlns:a16="http://schemas.microsoft.com/office/drawing/2014/main" val="628609349"/>
                    </a:ext>
                  </a:extLst>
                </a:gridCol>
                <a:gridCol w="3944885">
                  <a:extLst>
                    <a:ext uri="{9D8B030D-6E8A-4147-A177-3AD203B41FA5}">
                      <a16:colId xmlns:a16="http://schemas.microsoft.com/office/drawing/2014/main" val="790800085"/>
                    </a:ext>
                  </a:extLst>
                </a:gridCol>
                <a:gridCol w="4720096">
                  <a:extLst>
                    <a:ext uri="{9D8B030D-6E8A-4147-A177-3AD203B41FA5}">
                      <a16:colId xmlns:a16="http://schemas.microsoft.com/office/drawing/2014/main" val="222600826"/>
                    </a:ext>
                  </a:extLst>
                </a:gridCol>
              </a:tblGrid>
              <a:tr h="370840">
                <a:tc>
                  <a:txBody>
                    <a:bodyPr/>
                    <a:lstStyle/>
                    <a:p>
                      <a:r>
                        <a:rPr lang="en-US" dirty="0" smtClean="0">
                          <a:effectLst/>
                        </a:rPr>
                        <a:t>Aspect</a:t>
                      </a:r>
                      <a:endParaRPr lang="en-US" dirty="0">
                        <a:effectLst/>
                      </a:endParaRPr>
                    </a:p>
                  </a:txBody>
                  <a:tcPr/>
                </a:tc>
                <a:tc>
                  <a:txBody>
                    <a:bodyPr/>
                    <a:lstStyle/>
                    <a:p>
                      <a:r>
                        <a:rPr lang="en-US" dirty="0" smtClean="0">
                          <a:effectLst/>
                        </a:rPr>
                        <a:t>Gibson's Direct (Ecological) Theory</a:t>
                      </a:r>
                      <a:endParaRPr lang="en-US" dirty="0">
                        <a:effectLst/>
                      </a:endParaRPr>
                    </a:p>
                  </a:txBody>
                  <a:tcPr/>
                </a:tc>
                <a:tc>
                  <a:txBody>
                    <a:bodyPr/>
                    <a:lstStyle/>
                    <a:p>
                      <a:r>
                        <a:rPr lang="en-US" dirty="0" smtClean="0">
                          <a:effectLst/>
                        </a:rPr>
                        <a:t>Gregory's Constructivist (Indirect) Theory</a:t>
                      </a:r>
                      <a:endParaRPr lang="en-US" dirty="0">
                        <a:effectLst/>
                      </a:endParaRPr>
                    </a:p>
                  </a:txBody>
                  <a:tcPr/>
                </a:tc>
                <a:extLst>
                  <a:ext uri="{0D108BD9-81ED-4DB2-BD59-A6C34878D82A}">
                    <a16:rowId xmlns:a16="http://schemas.microsoft.com/office/drawing/2014/main" val="2085322709"/>
                  </a:ext>
                </a:extLst>
              </a:tr>
              <a:tr h="370840">
                <a:tc>
                  <a:txBody>
                    <a:bodyPr/>
                    <a:lstStyle/>
                    <a:p>
                      <a:r>
                        <a:rPr lang="en-US" b="1" dirty="0" smtClean="0"/>
                        <a:t>Key assumptions</a:t>
                      </a:r>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Perception is direct and bottom-up; we "pick up" invariant information from the environment without needing inferences.</a:t>
                      </a:r>
                      <a:endParaRPr lang="en-US" dirty="0"/>
                    </a:p>
                  </a:txBody>
                  <a:tcPr/>
                </a:tc>
                <a:tc>
                  <a:txBody>
                    <a:bodyPr/>
                    <a:lstStyle/>
                    <a:p>
                      <a:r>
                        <a:rPr lang="en-US" dirty="0" smtClean="0"/>
                        <a:t>Perception is indirect and top-down;</a:t>
                      </a:r>
                      <a:r>
                        <a:rPr lang="en-US" baseline="0" dirty="0" smtClean="0"/>
                        <a:t> the brain constructs perceptions by testing hypothesis based on sensory data and prior knowledge.</a:t>
                      </a:r>
                      <a:endParaRPr lang="en-US" dirty="0"/>
                    </a:p>
                  </a:txBody>
                  <a:tcPr/>
                </a:tc>
                <a:extLst>
                  <a:ext uri="{0D108BD9-81ED-4DB2-BD59-A6C34878D82A}">
                    <a16:rowId xmlns:a16="http://schemas.microsoft.com/office/drawing/2014/main" val="667429273"/>
                  </a:ext>
                </a:extLst>
              </a:tr>
              <a:tr h="370840">
                <a:tc>
                  <a:txBody>
                    <a:bodyPr/>
                    <a:lstStyle/>
                    <a:p>
                      <a:r>
                        <a:rPr lang="en-US" b="1" dirty="0" smtClean="0"/>
                        <a:t>Role of environment</a:t>
                      </a:r>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Central; </a:t>
                      </a:r>
                      <a:r>
                        <a:rPr lang="en-US" dirty="0" smtClean="0">
                          <a:effectLst/>
                        </a:rPr>
                        <a:t>the optic array provides rich, unambiguous information (e.g., affordances) that specifies what actions are possible.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Provides incomplete or ambiguous sensory input, which must be supplemented by cognitive processes.</a:t>
                      </a:r>
                    </a:p>
                    <a:p>
                      <a:endParaRPr lang="en-US" dirty="0"/>
                    </a:p>
                  </a:txBody>
                  <a:tcPr/>
                </a:tc>
                <a:extLst>
                  <a:ext uri="{0D108BD9-81ED-4DB2-BD59-A6C34878D82A}">
                    <a16:rowId xmlns:a16="http://schemas.microsoft.com/office/drawing/2014/main" val="4271688173"/>
                  </a:ext>
                </a:extLst>
              </a:tr>
              <a:tr h="370840">
                <a:tc>
                  <a:txBody>
                    <a:bodyPr/>
                    <a:lstStyle/>
                    <a:p>
                      <a:r>
                        <a:rPr lang="en-US" b="1" dirty="0" smtClean="0"/>
                        <a:t>Role of cognition</a:t>
                      </a:r>
                      <a:endParaRPr lang="en-US" b="1" dirty="0"/>
                    </a:p>
                  </a:txBody>
                  <a:tcPr/>
                </a:tc>
                <a:tc>
                  <a:txBody>
                    <a:bodyPr/>
                    <a:lstStyle/>
                    <a:p>
                      <a:r>
                        <a:rPr lang="en-US" dirty="0" smtClean="0"/>
                        <a:t>Minimal; perception happens as a result of direct resonance with the environment.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Essential;</a:t>
                      </a:r>
                      <a:r>
                        <a:rPr lang="en-US" baseline="0" dirty="0" smtClean="0"/>
                        <a:t> </a:t>
                      </a:r>
                      <a:r>
                        <a:rPr lang="en-US" dirty="0" smtClean="0">
                          <a:effectLst/>
                        </a:rPr>
                        <a:t>involves active interpretation using past experiences, expectations, and inferences.</a:t>
                      </a:r>
                      <a:endParaRPr lang="en-US" dirty="0"/>
                    </a:p>
                  </a:txBody>
                  <a:tcPr/>
                </a:tc>
                <a:extLst>
                  <a:ext uri="{0D108BD9-81ED-4DB2-BD59-A6C34878D82A}">
                    <a16:rowId xmlns:a16="http://schemas.microsoft.com/office/drawing/2014/main" val="2842522231"/>
                  </a:ext>
                </a:extLst>
              </a:tr>
              <a:tr h="370840">
                <a:tc>
                  <a:txBody>
                    <a:bodyPr/>
                    <a:lstStyle/>
                    <a:p>
                      <a:r>
                        <a:rPr lang="en-US" b="1" dirty="0" smtClean="0"/>
                        <a:t>Explanation of illusions</a:t>
                      </a:r>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Occur due to insufficient or artificial environmental information (e.g., in lab settings), not cognitive errors.</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Result from misapplied hypotheses or perceptual errors based on prior knowledge (e.g., size illusions from depth cues).</a:t>
                      </a:r>
                    </a:p>
                    <a:p>
                      <a:endParaRPr lang="en-US" dirty="0"/>
                    </a:p>
                  </a:txBody>
                  <a:tcPr/>
                </a:tc>
                <a:extLst>
                  <a:ext uri="{0D108BD9-81ED-4DB2-BD59-A6C34878D82A}">
                    <a16:rowId xmlns:a16="http://schemas.microsoft.com/office/drawing/2014/main" val="1467516337"/>
                  </a:ext>
                </a:extLst>
              </a:tr>
            </a:tbl>
          </a:graphicData>
        </a:graphic>
      </p:graphicFrame>
      <p:sp>
        <p:nvSpPr>
          <p:cNvPr id="6" name="Slide Number Placeholder 5"/>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46</a:t>
            </a:fld>
            <a:endParaRPr lang="en-GB" noProof="0">
              <a:solidFill>
                <a:prstClr val="black">
                  <a:tint val="75000"/>
                </a:prstClr>
              </a:solidFill>
            </a:endParaRPr>
          </a:p>
        </p:txBody>
      </p:sp>
    </p:spTree>
    <p:extLst>
      <p:ext uri="{BB962C8B-B14F-4D97-AF65-F5344CB8AC3E}">
        <p14:creationId xmlns:p14="http://schemas.microsoft.com/office/powerpoint/2010/main" val="2252015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56E15-45CA-8020-791E-590E80B1ED2D}"/>
              </a:ext>
            </a:extLst>
          </p:cNvPr>
          <p:cNvSpPr>
            <a:spLocks noGrp="1"/>
          </p:cNvSpPr>
          <p:nvPr>
            <p:ph type="title"/>
          </p:nvPr>
        </p:nvSpPr>
        <p:spPr/>
        <p:txBody>
          <a:bodyPr/>
          <a:lstStyle/>
          <a:p>
            <a:r>
              <a:rPr lang="en-GB" dirty="0"/>
              <a:t>Theories of Visual Perception</a:t>
            </a:r>
          </a:p>
        </p:txBody>
      </p:sp>
      <p:sp>
        <p:nvSpPr>
          <p:cNvPr id="3" name="Content Placeholder 2">
            <a:extLst>
              <a:ext uri="{FF2B5EF4-FFF2-40B4-BE49-F238E27FC236}">
                <a16:creationId xmlns:a16="http://schemas.microsoft.com/office/drawing/2014/main" id="{815298CF-BB57-98F0-40E5-313EB39D870F}"/>
              </a:ext>
            </a:extLst>
          </p:cNvPr>
          <p:cNvSpPr>
            <a:spLocks noGrp="1"/>
          </p:cNvSpPr>
          <p:nvPr>
            <p:ph idx="1"/>
          </p:nvPr>
        </p:nvSpPr>
        <p:spPr>
          <a:xfrm>
            <a:off x="636368" y="1690688"/>
            <a:ext cx="9829800" cy="3859742"/>
          </a:xfrm>
        </p:spPr>
        <p:txBody>
          <a:bodyPr>
            <a:normAutofit lnSpcReduction="10000"/>
          </a:bodyPr>
          <a:lstStyle/>
          <a:p>
            <a:pPr marL="0" indent="0" algn="just">
              <a:buNone/>
            </a:pPr>
            <a:r>
              <a:rPr lang="en-US" dirty="0"/>
              <a:t>While Gregory’s constructivist (‘top-down’) </a:t>
            </a:r>
            <a:r>
              <a:rPr lang="en-US" dirty="0" smtClean="0"/>
              <a:t>and Gibson’s </a:t>
            </a:r>
            <a:r>
              <a:rPr lang="en-US" dirty="0"/>
              <a:t>direct (‘bottom-up’) approaches may </a:t>
            </a:r>
            <a:r>
              <a:rPr lang="en-US" dirty="0" smtClean="0"/>
              <a:t>appear to </a:t>
            </a:r>
            <a:r>
              <a:rPr lang="en-US" dirty="0"/>
              <a:t>contradict each other, it’s possible to see them </a:t>
            </a:r>
            <a:r>
              <a:rPr lang="en-US" dirty="0" smtClean="0"/>
              <a:t>as </a:t>
            </a:r>
            <a:r>
              <a:rPr lang="en-US" b="1" dirty="0" smtClean="0"/>
              <a:t>complementary</a:t>
            </a:r>
            <a:r>
              <a:rPr lang="en-US" b="1" dirty="0"/>
              <a:t>. </a:t>
            </a:r>
            <a:r>
              <a:rPr lang="en-US" dirty="0"/>
              <a:t>According to Harris (1998</a:t>
            </a:r>
            <a:r>
              <a:rPr lang="en-US" dirty="0" smtClean="0"/>
              <a:t>): “</a:t>
            </a:r>
            <a:r>
              <a:rPr lang="en-US" i="1" dirty="0"/>
              <a:t>Perception is not just a single task but </a:t>
            </a:r>
            <a:r>
              <a:rPr lang="en-US" i="1" dirty="0" smtClean="0"/>
              <a:t>…contributes </a:t>
            </a:r>
            <a:r>
              <a:rPr lang="en-US" i="1" dirty="0"/>
              <a:t>in many different ways to </a:t>
            </a:r>
            <a:r>
              <a:rPr lang="en-US" i="1" dirty="0" smtClean="0"/>
              <a:t>everyday life </a:t>
            </a:r>
            <a:r>
              <a:rPr lang="en-US" i="1" dirty="0"/>
              <a:t>… Some of these … are obviously </a:t>
            </a:r>
            <a:r>
              <a:rPr lang="en-US" i="1" dirty="0" smtClean="0"/>
              <a:t>more difficult </a:t>
            </a:r>
            <a:r>
              <a:rPr lang="en-US" i="1" dirty="0"/>
              <a:t>than others and it seems </a:t>
            </a:r>
            <a:r>
              <a:rPr lang="en-US" i="1" dirty="0" smtClean="0"/>
              <a:t>likely that </a:t>
            </a:r>
            <a:r>
              <a:rPr lang="en-US" i="1" dirty="0"/>
              <a:t>some can be accomplished directly, </a:t>
            </a:r>
            <a:r>
              <a:rPr lang="en-US" i="1" dirty="0" smtClean="0"/>
              <a:t>as Gibson </a:t>
            </a:r>
            <a:r>
              <a:rPr lang="en-US" i="1" dirty="0"/>
              <a:t>maintained, whilst others may </a:t>
            </a:r>
            <a:r>
              <a:rPr lang="en-US" i="1" dirty="0" smtClean="0"/>
              <a:t>require sophisticated </a:t>
            </a:r>
            <a:r>
              <a:rPr lang="en-US" i="1" dirty="0"/>
              <a:t>internal knowledge and are </a:t>
            </a:r>
            <a:r>
              <a:rPr lang="en-US" i="1" dirty="0" smtClean="0"/>
              <a:t>thus better </a:t>
            </a:r>
            <a:r>
              <a:rPr lang="en-US" i="1" dirty="0"/>
              <a:t>described by the indirect approach</a:t>
            </a:r>
            <a:r>
              <a:rPr lang="en-US" i="1" dirty="0" smtClean="0"/>
              <a:t>.”</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GB" dirty="0"/>
          </a:p>
        </p:txBody>
      </p:sp>
      <p:sp>
        <p:nvSpPr>
          <p:cNvPr id="6" name="Slide Number Placeholder 5">
            <a:extLst>
              <a:ext uri="{FF2B5EF4-FFF2-40B4-BE49-F238E27FC236}">
                <a16:creationId xmlns:a16="http://schemas.microsoft.com/office/drawing/2014/main" id="{AD97DFF8-8638-760E-60F5-4E287985E2CF}"/>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47</a:t>
            </a:fld>
            <a:endParaRPr lang="en-GB" noProof="0">
              <a:solidFill>
                <a:prstClr val="black">
                  <a:tint val="75000"/>
                </a:prstClr>
              </a:solidFill>
            </a:endParaRPr>
          </a:p>
        </p:txBody>
      </p:sp>
    </p:spTree>
    <p:extLst>
      <p:ext uri="{BB962C8B-B14F-4D97-AF65-F5344CB8AC3E}">
        <p14:creationId xmlns:p14="http://schemas.microsoft.com/office/powerpoint/2010/main" val="754238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 </a:t>
            </a:r>
            <a:r>
              <a:rPr lang="en-US" dirty="0"/>
              <a:t>s</a:t>
            </a:r>
            <a:r>
              <a:rPr lang="en-US" dirty="0" smtClean="0"/>
              <a:t>ummary</a:t>
            </a:r>
            <a:endParaRPr lang="en-US" dirty="0"/>
          </a:p>
        </p:txBody>
      </p:sp>
      <p:sp>
        <p:nvSpPr>
          <p:cNvPr id="3" name="Content Placeholder 2"/>
          <p:cNvSpPr>
            <a:spLocks noGrp="1"/>
          </p:cNvSpPr>
          <p:nvPr>
            <p:ph idx="1"/>
          </p:nvPr>
        </p:nvSpPr>
        <p:spPr/>
        <p:txBody>
          <a:bodyPr/>
          <a:lstStyle/>
          <a:p>
            <a:r>
              <a:rPr lang="en-US" dirty="0" smtClean="0"/>
              <a:t>What is perception?</a:t>
            </a:r>
          </a:p>
          <a:p>
            <a:r>
              <a:rPr lang="en-US" dirty="0" smtClean="0"/>
              <a:t>Laws of perception</a:t>
            </a:r>
          </a:p>
          <a:p>
            <a:r>
              <a:rPr lang="en-US" dirty="0" smtClean="0"/>
              <a:t>Depth perception: pictorial and non-pictorial cues</a:t>
            </a:r>
          </a:p>
          <a:p>
            <a:r>
              <a:rPr lang="en-US" dirty="0" smtClean="0"/>
              <a:t>Principles of constancy </a:t>
            </a:r>
          </a:p>
          <a:p>
            <a:r>
              <a:rPr lang="en-US" dirty="0" smtClean="0"/>
              <a:t>Illusions</a:t>
            </a:r>
          </a:p>
          <a:p>
            <a:r>
              <a:rPr lang="en-US" dirty="0" smtClean="0"/>
              <a:t>Ecological and Constructivist theories of visual perception</a:t>
            </a:r>
          </a:p>
          <a:p>
            <a:endParaRPr lang="en-US" dirty="0" smtClean="0"/>
          </a:p>
          <a:p>
            <a:endParaRPr lang="en-US" dirty="0"/>
          </a:p>
        </p:txBody>
      </p:sp>
      <p:sp>
        <p:nvSpPr>
          <p:cNvPr id="6" name="Slide Number Placeholder 5"/>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t>48</a:t>
            </a:fld>
            <a:endParaRPr lang="en-GB" noProof="0">
              <a:solidFill>
                <a:prstClr val="black">
                  <a:tint val="75000"/>
                </a:prstClr>
              </a:solidFill>
            </a:endParaRPr>
          </a:p>
        </p:txBody>
      </p:sp>
    </p:spTree>
    <p:extLst>
      <p:ext uri="{BB962C8B-B14F-4D97-AF65-F5344CB8AC3E}">
        <p14:creationId xmlns:p14="http://schemas.microsoft.com/office/powerpoint/2010/main" val="3782603934"/>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A449C04-64B3-4403-94B7-8D2284C38D1B}">
  <ds:schemaRefs/>
</ds:datastoreItem>
</file>

<file path=customXml/itemProps2.xml><?xml version="1.0" encoding="utf-8"?>
<ds:datastoreItem xmlns:ds="http://schemas.openxmlformats.org/officeDocument/2006/customXml" ds:itemID="{8413533D-8C39-401E-8B75-B1AEEEC56B93}">
  <ds:schemaRefs/>
</ds:datastoreItem>
</file>

<file path=customXml/itemProps3.xml><?xml version="1.0" encoding="utf-8"?>
<ds:datastoreItem xmlns:ds="http://schemas.openxmlformats.org/officeDocument/2006/customXml" ds:itemID="{FBDEF148-1770-458F-8F5B-C3D0A278AA97}">
  <ds:schemaRefs/>
</ds:datastoreItem>
</file>

<file path=docProps/app.xml><?xml version="1.0" encoding="utf-8"?>
<Properties xmlns="http://schemas.openxmlformats.org/officeDocument/2006/extended-properties" xmlns:vt="http://schemas.openxmlformats.org/officeDocument/2006/docPropsVTypes">
  <Template>{7D97989F-C2EB-4842-810D-8E2C49F70ACA}tf78504181_win32</Template>
  <TotalTime>242</TotalTime>
  <Words>1890</Words>
  <Application>Microsoft Office PowerPoint</Application>
  <PresentationFormat>Widescreen</PresentationFormat>
  <Paragraphs>194</Paragraphs>
  <Slides>48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Avenir Next LT Pro</vt:lpstr>
      <vt:lpstr>Calibri</vt:lpstr>
      <vt:lpstr>Tw Cen MT</vt:lpstr>
      <vt:lpstr>ShapesVTI</vt:lpstr>
      <vt:lpstr>PSYC100 GENERAL PSYCHOLOGY</vt:lpstr>
      <vt:lpstr>Lecture Outline</vt:lpstr>
      <vt:lpstr>What is perception?</vt:lpstr>
      <vt:lpstr>What is perception?</vt:lpstr>
      <vt:lpstr>Gestalt principles of perceptual organization</vt:lpstr>
      <vt:lpstr>Figure-ground separation</vt:lpstr>
      <vt:lpstr>PowerPoint Presentation</vt:lpstr>
      <vt:lpstr>Proximity</vt:lpstr>
      <vt:lpstr>PowerPoint Presentation</vt:lpstr>
      <vt:lpstr>Closure</vt:lpstr>
      <vt:lpstr>PowerPoint Presentation</vt:lpstr>
      <vt:lpstr>Similarity</vt:lpstr>
      <vt:lpstr>PowerPoint Presentation</vt:lpstr>
      <vt:lpstr>Continuity</vt:lpstr>
      <vt:lpstr>PowerPoint Presentation</vt:lpstr>
      <vt:lpstr>Symmetry</vt:lpstr>
      <vt:lpstr>PowerPoint Presentation</vt:lpstr>
      <vt:lpstr>PowerPoint Presentation</vt:lpstr>
      <vt:lpstr>Depth perception</vt:lpstr>
      <vt:lpstr>PowerPoint Presentation</vt:lpstr>
      <vt:lpstr>Non-pictorial cues</vt:lpstr>
      <vt:lpstr>Retinal disparity</vt:lpstr>
      <vt:lpstr>Convergence</vt:lpstr>
      <vt:lpstr>Pictorial cues</vt:lpstr>
      <vt:lpstr>Pictorial cues</vt:lpstr>
      <vt:lpstr>Pictorial cues</vt:lpstr>
      <vt:lpstr>Pictorial cues</vt:lpstr>
      <vt:lpstr>Pictorial cues</vt:lpstr>
      <vt:lpstr>Pictorial cues</vt:lpstr>
      <vt:lpstr>Pictorial cues</vt:lpstr>
      <vt:lpstr>Perceptual consistency</vt:lpstr>
      <vt:lpstr>Size constancy</vt:lpstr>
      <vt:lpstr>Ames Room (Ames, 1946)</vt:lpstr>
      <vt:lpstr>Shape constancy</vt:lpstr>
      <vt:lpstr>Brightness constancy</vt:lpstr>
      <vt:lpstr>Colour constancy</vt:lpstr>
      <vt:lpstr>Location constancy</vt:lpstr>
      <vt:lpstr>Illusions</vt:lpstr>
      <vt:lpstr>The Ponzo Illusion</vt:lpstr>
      <vt:lpstr>The Horizontal-Vertical Illusion</vt:lpstr>
      <vt:lpstr>The Muller-Lyer Illusion</vt:lpstr>
      <vt:lpstr>The Poggendorf Illusion</vt:lpstr>
      <vt:lpstr>Titchener’s circles</vt:lpstr>
      <vt:lpstr>Theories of Visual Perception</vt:lpstr>
      <vt:lpstr>Theories of Visual Perception</vt:lpstr>
      <vt:lpstr>PowerPoint Presentation</vt:lpstr>
      <vt:lpstr>Theories of Visual Perception</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PSYC100 GENERAL PSYCHOLOGY</dc:title>
  <dc:creator>Asli Niyazi</dc:creator>
  <cp:lastModifiedBy>aslı</cp:lastModifiedBy>
  <cp:revision>25</cp:revision>
  <dcterms:created xsi:type="dcterms:W3CDTF">2025-09-15T11:00:00Z</dcterms:created>
  <dcterms:modified xsi:type="dcterms:W3CDTF">2025-10-22T09:14:30Z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5E38D8AC59964BF086E0BA330233805E_12</vt:lpwstr>
  </property>
  <property fmtid="{D5CDD505-2E9C-101B-9397-08002B2CF9AE}" pid="4" name="KSOProductBuildVer">
    <vt:lpwstr>2057-12.2.0.22549</vt:lpwstr>
  </property>
</Properties>
</file>