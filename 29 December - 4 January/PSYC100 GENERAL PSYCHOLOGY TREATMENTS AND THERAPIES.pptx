
<file path=[Content_Types].xml><?xml version="1.0" encoding="utf-8"?>
<Types xmlns="http://schemas.openxmlformats.org/package/2006/content-types">
  <Default Extension="png" ContentType="image/png"/>
  <Default Extension="jpeg" ContentType="image/jpeg"/>
  <Default Extension="emf" ContentType="image/x-e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37"/>
  </p:notesMasterIdLst>
  <p:sldIdLst>
    <p:sldId id="256" r:id="rId2"/>
    <p:sldId id="259" r:id="rId3"/>
    <p:sldId id="260" r:id="rId4"/>
    <p:sldId id="261" r:id="rId5"/>
    <p:sldId id="262" r:id="rId6"/>
    <p:sldId id="263" r:id="rId7"/>
    <p:sldId id="264" r:id="rId8"/>
    <p:sldId id="265" r:id="rId9"/>
    <p:sldId id="266" r:id="rId10"/>
    <p:sldId id="267" r:id="rId11"/>
    <p:sldId id="268" r:id="rId12"/>
    <p:sldId id="269" r:id="rId13"/>
    <p:sldId id="270" r:id="rId14"/>
    <p:sldId id="271" r:id="rId15"/>
    <p:sldId id="272" r:id="rId16"/>
    <p:sldId id="273" r:id="rId17"/>
    <p:sldId id="274" r:id="rId18"/>
    <p:sldId id="275" r:id="rId19"/>
    <p:sldId id="276" r:id="rId20"/>
    <p:sldId id="277" r:id="rId21"/>
    <p:sldId id="278" r:id="rId22"/>
    <p:sldId id="279" r:id="rId23"/>
    <p:sldId id="280" r:id="rId24"/>
    <p:sldId id="281" r:id="rId25"/>
    <p:sldId id="282" r:id="rId26"/>
    <p:sldId id="283" r:id="rId27"/>
    <p:sldId id="284" r:id="rId28"/>
    <p:sldId id="294" r:id="rId29"/>
    <p:sldId id="286" r:id="rId30"/>
    <p:sldId id="287" r:id="rId31"/>
    <p:sldId id="288" r:id="rId32"/>
    <p:sldId id="289" r:id="rId33"/>
    <p:sldId id="290" r:id="rId34"/>
    <p:sldId id="291" r:id="rId35"/>
    <p:sldId id="293" r:id="rId3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2" d="100"/>
          <a:sy n="112" d="100"/>
        </p:scale>
        <p:origin x="41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viewProps" Target="view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notesMaster" Target="notesMasters/notesMaster1.xml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9009656-FF91-4106-B667-9ADB5E2F65FB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E7AE87F-7063-483E-AAC7-F779BA369B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50568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0" y="-2373"/>
            <a:ext cx="12192000" cy="6867027"/>
            <a:chOff x="0" y="-2373"/>
            <a:chExt cx="12192000" cy="6867027"/>
          </a:xfrm>
        </p:grpSpPr>
        <p:sp>
          <p:nvSpPr>
            <p:cNvPr id="8" name="Rectangle 7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2000"/>
                    <a:hueMod val="108000"/>
                    <a:satMod val="164000"/>
                    <a:lumMod val="69000"/>
                  </a:schemeClr>
                  <a:schemeClr val="dk2">
                    <a:tint val="96000"/>
                    <a:hueMod val="90000"/>
                    <a:satMod val="130000"/>
                    <a:lumMod val="134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Oval 10"/>
            <p:cNvSpPr/>
            <p:nvPr/>
          </p:nvSpPr>
          <p:spPr>
            <a:xfrm>
              <a:off x="322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1000"/>
                  </a:schemeClr>
                </a:gs>
                <a:gs pos="75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Oval 11"/>
            <p:cNvSpPr/>
            <p:nvPr/>
          </p:nvSpPr>
          <p:spPr>
            <a:xfrm>
              <a:off x="175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8000"/>
                  </a:schemeClr>
                </a:gs>
                <a:gs pos="72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7000"/>
                  </a:schemeClr>
                </a:gs>
                <a:gs pos="69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7999412" y="-2373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73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8609012" y="5874054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66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9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2099733"/>
            <a:ext cx="8825658" cy="2677648"/>
          </a:xfrm>
        </p:spPr>
        <p:txBody>
          <a:bodyPr anchor="b"/>
          <a:lstStyle>
            <a:lvl1pPr>
              <a:defRPr sz="54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 rot="5400000">
            <a:off x="10089390" y="1792223"/>
            <a:ext cx="990599" cy="304799"/>
          </a:xfrm>
        </p:spPr>
        <p:txBody>
          <a:bodyPr anchor="t"/>
          <a:lstStyle>
            <a:lvl1pPr algn="l">
              <a:defRPr b="0" i="0">
                <a:solidFill>
                  <a:schemeClr val="bg1"/>
                </a:solidFill>
              </a:defRPr>
            </a:lvl1pPr>
          </a:lstStyle>
          <a:p>
            <a:fld id="{1E700B27-DE4C-4B9E-BB11-B9027034A00F}" type="datetimeFigureOut">
              <a:rPr lang="en-US" dirty="0"/>
              <a:pPr/>
              <a:t>12/17/2025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 rot="5400000">
            <a:off x="8959592" y="3226820"/>
            <a:ext cx="3859795" cy="304801"/>
          </a:xfrm>
        </p:spPr>
        <p:txBody>
          <a:bodyPr/>
          <a:lstStyle>
            <a:lvl1pPr>
              <a:defRPr b="0" i="0"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0" name="Rectangle 9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351008" y="292608"/>
            <a:ext cx="838199" cy="767687"/>
          </a:xfrm>
        </p:spPr>
        <p:txBody>
          <a:bodyPr/>
          <a:lstStyle>
            <a:lvl1pPr>
              <a:defRPr sz="2800" b="0" i="0">
                <a:latin typeface="+mj-lt"/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/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C51FCE-E4BB-4680-8E50-3C0E348D2609}" type="datetimeFigureOut">
              <a:rPr lang="en-US" dirty="0"/>
              <a:t>12/17/2025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/>
          <p:cNvGrpSpPr/>
          <p:nvPr/>
        </p:nvGrpSpPr>
        <p:grpSpPr>
          <a:xfrm>
            <a:off x="0" y="-2373"/>
            <a:ext cx="12192000" cy="6867027"/>
            <a:chOff x="0" y="-2373"/>
            <a:chExt cx="12192000" cy="6867027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2000"/>
                    <a:hueMod val="108000"/>
                    <a:satMod val="164000"/>
                    <a:lumMod val="69000"/>
                  </a:schemeClr>
                  <a:schemeClr val="dk2">
                    <a:tint val="96000"/>
                    <a:hueMod val="90000"/>
                    <a:satMod val="130000"/>
                    <a:lumMod val="134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322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1000"/>
                  </a:schemeClr>
                </a:gs>
                <a:gs pos="75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175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8000"/>
                  </a:schemeClr>
                </a:gs>
                <a:gs pos="72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7000"/>
                  </a:schemeClr>
                </a:gs>
                <a:gs pos="69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7999412" y="-2373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73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74054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66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Rectangle 6"/>
            <p:cNvSpPr/>
            <p:nvPr/>
          </p:nvSpPr>
          <p:spPr>
            <a:xfrm>
              <a:off x="7289800" y="402165"/>
              <a:ext cx="44788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9" name="Freeform 5"/>
            <p:cNvSpPr/>
            <p:nvPr/>
          </p:nvSpPr>
          <p:spPr bwMode="gray">
            <a:xfrm rot="15922489">
              <a:off x="4698352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5"/>
            <p:cNvSpPr/>
            <p:nvPr/>
          </p:nvSpPr>
          <p:spPr bwMode="gray">
            <a:xfrm rot="16200000">
              <a:off x="3787244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677645"/>
            <a:ext cx="4351023" cy="2283824"/>
          </a:xfrm>
        </p:spPr>
        <p:txBody>
          <a:bodyPr anchor="ctr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95558" y="2677644"/>
            <a:ext cx="3755379" cy="2283823"/>
          </a:xfrm>
        </p:spPr>
        <p:txBody>
          <a:bodyPr anchor="ctr"/>
          <a:lstStyle>
            <a:lvl1pPr marL="0" indent="0" algn="l">
              <a:buNone/>
              <a:defRPr sz="2000" cap="all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AA073D-A903-47F8-8D16-77642FB0DF1F}" type="datetimeFigureOut">
              <a:rPr lang="en-US" dirty="0"/>
              <a:t>12/17/2025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5" name="Rectangle 14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54954" y="2603500"/>
            <a:ext cx="4825158" cy="3416301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8712" y="2603500"/>
            <a:ext cx="4825159" cy="3416300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91FA40-626B-4CA1-85D0-7A9016E395BA}" type="datetimeFigureOut">
              <a:rPr lang="en-US" dirty="0"/>
              <a:t>12/17/2025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4825157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54954" y="3179762"/>
            <a:ext cx="4825158" cy="2840039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08712" y="2603500"/>
            <a:ext cx="482515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08710" y="3179762"/>
            <a:ext cx="4825159" cy="2840039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F425EA-B9DC-48A7-991E-9A82573B1B21}" type="datetimeFigureOut">
              <a:rPr lang="en-US" dirty="0"/>
              <a:t>12/17/2025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CB97F8-6CEB-469B-AFCC-889F2A2B1D5A}" type="datetimeFigureOut">
              <a:rPr lang="en-US" dirty="0"/>
              <a:t>12/17/2025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A9179F-009E-4FA5-B091-7EBB82A185BD}" type="datetimeFigureOut">
              <a:rPr lang="en-US" dirty="0"/>
              <a:t>12/17/2025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3"/>
          <p:cNvGrpSpPr/>
          <p:nvPr/>
        </p:nvGrpSpPr>
        <p:grpSpPr>
          <a:xfrm>
            <a:off x="0" y="-2373"/>
            <a:ext cx="12192000" cy="6867027"/>
            <a:chOff x="0" y="-2373"/>
            <a:chExt cx="12192000" cy="6867027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2000"/>
                    <a:hueMod val="108000"/>
                    <a:satMod val="164000"/>
                    <a:lumMod val="69000"/>
                  </a:schemeClr>
                  <a:schemeClr val="dk2">
                    <a:tint val="96000"/>
                    <a:hueMod val="90000"/>
                    <a:satMod val="130000"/>
                    <a:lumMod val="134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322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1000"/>
                  </a:schemeClr>
                </a:gs>
                <a:gs pos="75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175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8000"/>
                  </a:schemeClr>
                </a:gs>
                <a:gs pos="72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7000"/>
                  </a:schemeClr>
                </a:gs>
                <a:gs pos="69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-2373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73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5874054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66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8" name="Rectangle 7"/>
            <p:cNvSpPr/>
            <p:nvPr/>
          </p:nvSpPr>
          <p:spPr>
            <a:xfrm>
              <a:off x="5713412" y="402165"/>
              <a:ext cx="6055253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Freeform 5"/>
            <p:cNvSpPr/>
            <p:nvPr/>
          </p:nvSpPr>
          <p:spPr bwMode="gray">
            <a:xfrm rot="15922489">
              <a:off x="3140485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9" name="Freeform 5"/>
            <p:cNvSpPr/>
            <p:nvPr/>
          </p:nvSpPr>
          <p:spPr bwMode="gray">
            <a:xfrm rot="16200000">
              <a:off x="2229377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3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295400"/>
            <a:ext cx="2793159" cy="16002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81146" y="1447800"/>
            <a:ext cx="5190065" cy="4572000"/>
          </a:xfrm>
        </p:spPr>
        <p:txBody>
          <a:bodyPr anchor="ctr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5" y="2895600"/>
            <a:ext cx="2793158" cy="3129279"/>
          </a:xfrm>
        </p:spPr>
        <p:txBody>
          <a:bodyPr/>
          <a:lstStyle>
            <a:lvl1pPr marL="0" indent="0">
              <a:buNone/>
              <a:defRPr sz="1400">
                <a:solidFill>
                  <a:schemeClr val="accent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665CEB-0076-4E37-B880-BCEA9784DE0A}" type="datetimeFigureOut">
              <a:rPr lang="en-US" dirty="0"/>
              <a:t>12/17/2025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5" name="Rectangle 14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roup 19"/>
          <p:cNvGrpSpPr/>
          <p:nvPr/>
        </p:nvGrpSpPr>
        <p:grpSpPr>
          <a:xfrm>
            <a:off x="0" y="-2373"/>
            <a:ext cx="12192000" cy="6867027"/>
            <a:chOff x="0" y="-2373"/>
            <a:chExt cx="12192000" cy="6867027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2000"/>
                    <a:hueMod val="108000"/>
                    <a:satMod val="164000"/>
                    <a:lumMod val="69000"/>
                  </a:schemeClr>
                  <a:schemeClr val="dk2">
                    <a:tint val="96000"/>
                    <a:hueMod val="90000"/>
                    <a:satMod val="130000"/>
                    <a:lumMod val="134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322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1000"/>
                  </a:schemeClr>
                </a:gs>
                <a:gs pos="75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175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8000"/>
                  </a:schemeClr>
                </a:gs>
                <a:gs pos="72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7000"/>
                  </a:schemeClr>
                </a:gs>
                <a:gs pos="69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7999412" y="-2373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73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74054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66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8" name="Rectangle 7"/>
            <p:cNvSpPr/>
            <p:nvPr/>
          </p:nvSpPr>
          <p:spPr>
            <a:xfrm>
              <a:off x="6172200" y="402165"/>
              <a:ext cx="55964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9" name="Freeform 5"/>
            <p:cNvSpPr/>
            <p:nvPr/>
          </p:nvSpPr>
          <p:spPr bwMode="gray">
            <a:xfrm rot="16200000">
              <a:off x="32954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0" name="Freeform 5"/>
            <p:cNvSpPr/>
            <p:nvPr/>
          </p:nvSpPr>
          <p:spPr bwMode="gray">
            <a:xfrm rot="15922489">
              <a:off x="4203594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3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693332"/>
            <a:ext cx="3860260" cy="173566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547870" y="1143000"/>
            <a:ext cx="3227193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5" y="3657600"/>
            <a:ext cx="3859212" cy="137160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accent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149E5E-3896-4118-99A7-7B85668F1C5E}" type="datetimeFigureOut">
              <a:rPr lang="en-US" dirty="0"/>
              <a:t>12/17/2025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8"/>
          <p:cNvGrpSpPr/>
          <p:nvPr/>
        </p:nvGrpSpPr>
        <p:grpSpPr>
          <a:xfrm>
            <a:off x="0" y="-2373"/>
            <a:ext cx="12192000" cy="6867027"/>
            <a:chOff x="0" y="-2373"/>
            <a:chExt cx="12192000" cy="6867027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2000"/>
                    <a:hueMod val="108000"/>
                    <a:satMod val="164000"/>
                    <a:lumMod val="69000"/>
                  </a:schemeClr>
                  <a:schemeClr val="dk2">
                    <a:tint val="96000"/>
                    <a:hueMod val="90000"/>
                    <a:satMod val="130000"/>
                    <a:lumMod val="134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322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1000"/>
                  </a:schemeClr>
                </a:gs>
                <a:gs pos="75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175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8000"/>
                  </a:schemeClr>
                </a:gs>
                <a:gs pos="72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7000"/>
                  </a:schemeClr>
                </a:gs>
                <a:gs pos="69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7999412" y="-2373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73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74054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66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8" name="Freeform 5"/>
            <p:cNvSpPr/>
            <p:nvPr/>
          </p:nvSpPr>
          <p:spPr bwMode="gray">
            <a:xfrm rot="10371525">
              <a:off x="263767" y="443825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9" name="Freeform 5"/>
            <p:cNvSpPr/>
            <p:nvPr/>
          </p:nvSpPr>
          <p:spPr bwMode="gray">
            <a:xfrm rot="10800000">
              <a:off x="459506" y="321130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966674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6" y="553666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accent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0F4739-9812-4A9F-890D-2AD6BA5F6EE8}" type="datetimeFigureOut">
              <a:rPr lang="en-US" dirty="0"/>
              <a:t>12/17/2025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3" name="Rectangle 12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/>
          <p:cNvGrpSpPr/>
          <p:nvPr/>
        </p:nvGrpSpPr>
        <p:grpSpPr>
          <a:xfrm>
            <a:off x="0" y="-2373"/>
            <a:ext cx="12192000" cy="6867027"/>
            <a:chOff x="0" y="-2373"/>
            <a:chExt cx="12192000" cy="6867027"/>
          </a:xfrm>
        </p:grpSpPr>
        <p:sp>
          <p:nvSpPr>
            <p:cNvPr id="10" name="Rectangle 9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2000"/>
                    <a:hueMod val="108000"/>
                    <a:satMod val="164000"/>
                    <a:lumMod val="69000"/>
                  </a:schemeClr>
                  <a:schemeClr val="dk2">
                    <a:tint val="96000"/>
                    <a:hueMod val="90000"/>
                    <a:satMod val="130000"/>
                    <a:lumMod val="134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322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1000"/>
                  </a:schemeClr>
                </a:gs>
                <a:gs pos="75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175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8000"/>
                  </a:schemeClr>
                </a:gs>
                <a:gs pos="72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7000"/>
                  </a:schemeClr>
                </a:gs>
                <a:gs pos="69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7999412" y="-2373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73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74054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66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9" name="Freeform 5"/>
            <p:cNvSpPr/>
            <p:nvPr/>
          </p:nvSpPr>
          <p:spPr bwMode="gray">
            <a:xfrm rot="21010068">
              <a:off x="8490951" y="271487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7" name="Freeform 5"/>
            <p:cNvSpPr/>
            <p:nvPr/>
          </p:nvSpPr>
          <p:spPr bwMode="gray">
            <a:xfrm>
              <a:off x="455612" y="2801319"/>
              <a:ext cx="11277600" cy="3602637"/>
            </a:xfrm>
            <a:custGeom>
              <a:avLst/>
              <a:gdLst/>
              <a:ahLst/>
              <a:cxnLst/>
              <a:rect l="l" t="t" r="r" b="b"/>
              <a:pathLst>
                <a:path w="10000" h="7946">
                  <a:moveTo>
                    <a:pt x="0" y="0"/>
                  </a:moveTo>
                  <a:lnTo>
                    <a:pt x="0" y="7945"/>
                  </a:lnTo>
                  <a:lnTo>
                    <a:pt x="10000" y="7946"/>
                  </a:lnTo>
                  <a:lnTo>
                    <a:pt x="10000" y="4"/>
                  </a:lnTo>
                  <a:lnTo>
                    <a:pt x="10000" y="4"/>
                  </a:lnTo>
                  <a:lnTo>
                    <a:pt x="9773" y="91"/>
                  </a:lnTo>
                  <a:lnTo>
                    <a:pt x="9547" y="175"/>
                  </a:lnTo>
                  <a:lnTo>
                    <a:pt x="9320" y="256"/>
                  </a:lnTo>
                  <a:lnTo>
                    <a:pt x="9092" y="326"/>
                  </a:lnTo>
                  <a:lnTo>
                    <a:pt x="8865" y="396"/>
                  </a:lnTo>
                  <a:lnTo>
                    <a:pt x="8637" y="462"/>
                  </a:lnTo>
                  <a:lnTo>
                    <a:pt x="8412" y="518"/>
                  </a:lnTo>
                  <a:lnTo>
                    <a:pt x="8184" y="571"/>
                  </a:lnTo>
                  <a:lnTo>
                    <a:pt x="7957" y="620"/>
                  </a:lnTo>
                  <a:lnTo>
                    <a:pt x="7734" y="662"/>
                  </a:lnTo>
                  <a:lnTo>
                    <a:pt x="7508" y="704"/>
                  </a:lnTo>
                  <a:lnTo>
                    <a:pt x="7285" y="739"/>
                  </a:lnTo>
                  <a:lnTo>
                    <a:pt x="7062" y="767"/>
                  </a:lnTo>
                  <a:lnTo>
                    <a:pt x="6840" y="795"/>
                  </a:lnTo>
                  <a:lnTo>
                    <a:pt x="6620" y="819"/>
                  </a:lnTo>
                  <a:lnTo>
                    <a:pt x="6402" y="837"/>
                  </a:lnTo>
                  <a:lnTo>
                    <a:pt x="6184" y="851"/>
                  </a:lnTo>
                  <a:lnTo>
                    <a:pt x="5968" y="865"/>
                  </a:lnTo>
                  <a:lnTo>
                    <a:pt x="5755" y="872"/>
                  </a:lnTo>
                  <a:lnTo>
                    <a:pt x="5542" y="879"/>
                  </a:lnTo>
                  <a:lnTo>
                    <a:pt x="5332" y="882"/>
                  </a:lnTo>
                  <a:lnTo>
                    <a:pt x="5124" y="879"/>
                  </a:lnTo>
                  <a:lnTo>
                    <a:pt x="4918" y="879"/>
                  </a:lnTo>
                  <a:lnTo>
                    <a:pt x="4714" y="872"/>
                  </a:lnTo>
                  <a:lnTo>
                    <a:pt x="4514" y="861"/>
                  </a:lnTo>
                  <a:lnTo>
                    <a:pt x="4316" y="851"/>
                  </a:lnTo>
                  <a:lnTo>
                    <a:pt x="4122" y="840"/>
                  </a:lnTo>
                  <a:lnTo>
                    <a:pt x="3929" y="823"/>
                  </a:lnTo>
                  <a:lnTo>
                    <a:pt x="3739" y="805"/>
                  </a:lnTo>
                  <a:lnTo>
                    <a:pt x="3553" y="788"/>
                  </a:lnTo>
                  <a:lnTo>
                    <a:pt x="3190" y="742"/>
                  </a:lnTo>
                  <a:lnTo>
                    <a:pt x="2842" y="693"/>
                  </a:lnTo>
                  <a:lnTo>
                    <a:pt x="2508" y="641"/>
                  </a:lnTo>
                  <a:lnTo>
                    <a:pt x="2192" y="585"/>
                  </a:lnTo>
                  <a:lnTo>
                    <a:pt x="1890" y="525"/>
                  </a:lnTo>
                  <a:lnTo>
                    <a:pt x="1610" y="462"/>
                  </a:lnTo>
                  <a:lnTo>
                    <a:pt x="1347" y="399"/>
                  </a:lnTo>
                  <a:lnTo>
                    <a:pt x="1105" y="336"/>
                  </a:lnTo>
                  <a:lnTo>
                    <a:pt x="883" y="277"/>
                  </a:lnTo>
                  <a:lnTo>
                    <a:pt x="686" y="221"/>
                  </a:lnTo>
                  <a:lnTo>
                    <a:pt x="508" y="168"/>
                  </a:lnTo>
                  <a:lnTo>
                    <a:pt x="358" y="123"/>
                  </a:lnTo>
                  <a:lnTo>
                    <a:pt x="232" y="81"/>
                  </a:lnTo>
                  <a:lnTo>
                    <a:pt x="59" y="2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1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063416"/>
            <a:ext cx="8825659" cy="1379755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543300"/>
            <a:ext cx="8825659" cy="24765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845AC5-A3F8-44AA-BA8F-596CDCC976D3}" type="datetimeFigureOut">
              <a:rPr lang="en-US" dirty="0"/>
              <a:t>12/17/2025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3" name="Rectangle 12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2373"/>
            <a:ext cx="12192000" cy="6867027"/>
            <a:chOff x="0" y="-2373"/>
            <a:chExt cx="12192000" cy="6867027"/>
          </a:xfrm>
        </p:grpSpPr>
        <p:sp>
          <p:nvSpPr>
            <p:cNvPr id="15" name="Rectangle 14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2000"/>
                    <a:hueMod val="108000"/>
                    <a:satMod val="164000"/>
                    <a:lumMod val="69000"/>
                  </a:schemeClr>
                  <a:schemeClr val="dk2">
                    <a:tint val="96000"/>
                    <a:hueMod val="90000"/>
                    <a:satMod val="130000"/>
                    <a:lumMod val="134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322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1000"/>
                  </a:schemeClr>
                </a:gs>
                <a:gs pos="75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175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8000"/>
                  </a:schemeClr>
                </a:gs>
                <a:gs pos="72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7000"/>
                  </a:schemeClr>
                </a:gs>
                <a:gs pos="69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7999412" y="-2373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73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8609012" y="5874054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66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Freeform 5"/>
            <p:cNvSpPr/>
            <p:nvPr/>
          </p:nvSpPr>
          <p:spPr bwMode="gray">
            <a:xfrm rot="21010068">
              <a:off x="8490951" y="41851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24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6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13" name="TextBox 12"/>
          <p:cNvSpPr txBox="1"/>
          <p:nvPr/>
        </p:nvSpPr>
        <p:spPr>
          <a:xfrm>
            <a:off x="9719438" y="2631815"/>
            <a:ext cx="80191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accent1"/>
                </a:solidFill>
                <a:latin typeface="Arial"/>
                <a:cs typeface="Arial"/>
              </a:defRPr>
            </a:lvl1pPr>
          </a:lstStyle>
          <a:p>
            <a:pPr lvl="0"/>
            <a:r>
              <a:rPr lang="en-US" sz="9600" dirty="0"/>
              <a:t>”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8295" y="591093"/>
            <a:ext cx="80191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accent1"/>
                </a:solidFill>
                <a:latin typeface="Arial"/>
                <a:cs typeface="Arial"/>
              </a:defRPr>
            </a:lvl1pPr>
          </a:lstStyle>
          <a:p>
            <a:pPr lvl="0"/>
            <a:r>
              <a:rPr lang="en-US" sz="9600" dirty="0"/>
              <a:t>“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81878" y="980517"/>
            <a:ext cx="8453906" cy="2698249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 bwMode="gray">
          <a:xfrm>
            <a:off x="1945945" y="3678766"/>
            <a:ext cx="7725772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/>
                </a:solidFill>
                <a:latin typeface="+mn-lt"/>
                <a:ea typeface="+mn-ea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73B183-A821-4095-A363-9EC968635539}" type="datetimeFigureOut">
              <a:rPr lang="en-US" dirty="0"/>
              <a:t>12/17/2025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2" name="Rectangle 31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oup 17"/>
          <p:cNvGrpSpPr/>
          <p:nvPr/>
        </p:nvGrpSpPr>
        <p:grpSpPr>
          <a:xfrm>
            <a:off x="0" y="-2373"/>
            <a:ext cx="12192000" cy="6867027"/>
            <a:chOff x="0" y="-2373"/>
            <a:chExt cx="12192000" cy="6867027"/>
          </a:xfrm>
        </p:grpSpPr>
        <p:sp>
          <p:nvSpPr>
            <p:cNvPr id="10" name="Rectangle 9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2000"/>
                    <a:hueMod val="108000"/>
                    <a:satMod val="164000"/>
                    <a:lumMod val="69000"/>
                  </a:schemeClr>
                  <a:schemeClr val="dk2">
                    <a:tint val="96000"/>
                    <a:hueMod val="90000"/>
                    <a:satMod val="130000"/>
                    <a:lumMod val="134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322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1000"/>
                  </a:schemeClr>
                </a:gs>
                <a:gs pos="75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175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8000"/>
                  </a:schemeClr>
                </a:gs>
                <a:gs pos="72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7000"/>
                  </a:schemeClr>
                </a:gs>
                <a:gs pos="69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7999412" y="-2373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73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609012" y="5874054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66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Freeform 5"/>
            <p:cNvSpPr/>
            <p:nvPr/>
          </p:nvSpPr>
          <p:spPr bwMode="gray">
            <a:xfrm rot="21010068">
              <a:off x="8490951" y="4193583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1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370667"/>
            <a:ext cx="8825660" cy="1822514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5033068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4D01B4-0AA5-45E6-B2E6-5FA4078AEBCF}" type="datetimeFigureOut">
              <a:rPr lang="en-US" dirty="0"/>
              <a:t>12/17/2025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Rectangle 11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17299"/>
            <a:ext cx="312916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54954" y="3193561"/>
            <a:ext cx="3129168" cy="283349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2721" y="2603502"/>
            <a:ext cx="314538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12721" y="3193561"/>
            <a:ext cx="3145380" cy="283349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86700" y="2617299"/>
            <a:ext cx="3161029" cy="576261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86700" y="3193561"/>
            <a:ext cx="3164719" cy="28334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cxnSp>
        <p:nvCxnSpPr>
          <p:cNvPr id="22" name="Straight Connector 21"/>
          <p:cNvCxnSpPr/>
          <p:nvPr/>
        </p:nvCxnSpPr>
        <p:spPr>
          <a:xfrm>
            <a:off x="440397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1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>
            <a:off x="777240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1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47335C-0450-40D7-8612-B3203BED4F28}" type="datetimeFigureOut">
              <a:rPr lang="en-US" dirty="0"/>
              <a:t>12/17/2025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2" y="4532845"/>
            <a:ext cx="30504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334552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54953" y="5109107"/>
            <a:ext cx="3050437" cy="91794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72537" y="4532846"/>
            <a:ext cx="3046766" cy="651156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748463" y="2603500"/>
            <a:ext cx="2691241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4568865" y="5184002"/>
            <a:ext cx="3050438" cy="84305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83434" y="4532847"/>
            <a:ext cx="3050438" cy="65115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63031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83434" y="5184001"/>
            <a:ext cx="3050437" cy="843054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4388153" y="2603500"/>
            <a:ext cx="0" cy="3517594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7801905" y="2603500"/>
            <a:ext cx="0" cy="3492500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46A105-2A1C-4284-B4EA-07CF89B1A393}" type="datetimeFigureOut">
              <a:rPr lang="en-US" dirty="0"/>
              <a:t>12/17/2025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973668"/>
            <a:ext cx="8825660" cy="706964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DBE609-F3F2-45E6-BD6A-E03A8C86C1AE}" type="datetimeFigureOut">
              <a:rPr lang="en-US" dirty="0"/>
              <a:t>12/17/2025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8"/>
          <p:cNvGrpSpPr/>
          <p:nvPr/>
        </p:nvGrpSpPr>
        <p:grpSpPr>
          <a:xfrm>
            <a:off x="0" y="-2373"/>
            <a:ext cx="12192000" cy="6867027"/>
            <a:chOff x="0" y="-2373"/>
            <a:chExt cx="12192000" cy="6867027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2000"/>
                    <a:hueMod val="108000"/>
                    <a:satMod val="164000"/>
                    <a:lumMod val="69000"/>
                  </a:schemeClr>
                  <a:schemeClr val="dk2">
                    <a:tint val="96000"/>
                    <a:hueMod val="90000"/>
                    <a:satMod val="130000"/>
                    <a:lumMod val="134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322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1000"/>
                  </a:schemeClr>
                </a:gs>
                <a:gs pos="75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175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8000"/>
                  </a:schemeClr>
                </a:gs>
                <a:gs pos="72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7000"/>
                  </a:schemeClr>
                </a:gs>
                <a:gs pos="69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7999412" y="-2373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73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74054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66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Freeform 5"/>
            <p:cNvSpPr/>
            <p:nvPr/>
          </p:nvSpPr>
          <p:spPr bwMode="gray">
            <a:xfrm rot="5101749">
              <a:off x="6294738" y="457773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Rectangle 7"/>
            <p:cNvSpPr/>
            <p:nvPr/>
          </p:nvSpPr>
          <p:spPr>
            <a:xfrm>
              <a:off x="414867" y="402165"/>
              <a:ext cx="6510866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9" name="Freeform 5"/>
            <p:cNvSpPr/>
            <p:nvPr/>
          </p:nvSpPr>
          <p:spPr bwMode="gray">
            <a:xfrm rot="5400000">
              <a:off x="44492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576756" y="1278468"/>
            <a:ext cx="1413933" cy="4748589"/>
          </a:xfrm>
        </p:spPr>
        <p:txBody>
          <a:bodyPr vert="eaVert" anchor="b" anchorCtr="0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1278468"/>
            <a:ext cx="6247546" cy="4748590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24AD68-089C-4467-A8F3-EA2BBCA6B44E}" type="datetimeFigureOut">
              <a:rPr lang="en-US" dirty="0"/>
              <a:t>12/17/2025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3" name="Rectangle 12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-2373"/>
            <a:ext cx="12192000" cy="6867027"/>
            <a:chOff x="0" y="-2373"/>
            <a:chExt cx="12192000" cy="6867027"/>
          </a:xfrm>
        </p:grpSpPr>
        <p:sp>
          <p:nvSpPr>
            <p:cNvPr id="26" name="Rectangle 25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19">
                <a:duotone>
                  <a:schemeClr val="dk2">
                    <a:shade val="62000"/>
                    <a:hueMod val="108000"/>
                    <a:satMod val="164000"/>
                    <a:lumMod val="69000"/>
                  </a:schemeClr>
                  <a:schemeClr val="dk2">
                    <a:tint val="96000"/>
                    <a:hueMod val="90000"/>
                    <a:satMod val="130000"/>
                    <a:lumMod val="134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322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1000"/>
                  </a:schemeClr>
                </a:gs>
                <a:gs pos="75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175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8000"/>
                  </a:schemeClr>
                </a:gs>
                <a:gs pos="72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7000"/>
                  </a:schemeClr>
                </a:gs>
                <a:gs pos="69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7999412" y="-2373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73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74054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66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Freeform 5"/>
            <p:cNvSpPr/>
            <p:nvPr/>
          </p:nvSpPr>
          <p:spPr bwMode="gray">
            <a:xfrm rot="21010068">
              <a:off x="8490951" y="17975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20" name="Freeform 5"/>
            <p:cNvSpPr/>
            <p:nvPr/>
          </p:nvSpPr>
          <p:spPr bwMode="gray">
            <a:xfrm>
              <a:off x="459506" y="1866405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21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1154953" y="973668"/>
            <a:ext cx="8761413" cy="7069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2603500"/>
            <a:ext cx="8761412" cy="34163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650938" y="639406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1000" b="1" i="0">
                <a:solidFill>
                  <a:schemeClr val="accent1"/>
                </a:solidFill>
              </a:defRPr>
            </a:lvl1pPr>
          </a:lstStyle>
          <a:p>
            <a:fld id="{7E0D914D-B099-4142-A885-11F276715148}" type="datetimeFigureOut">
              <a:rPr lang="en-US" dirty="0"/>
              <a:t>12/17/2025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28358" y="6391838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000" b="1" i="0">
                <a:solidFill>
                  <a:schemeClr val="accent1"/>
                </a:solidFill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22" name="Rectangle 21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bg1"/>
                </a:solidFill>
                <a:latin typeface="+mn-lt"/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8" r:id="rId9"/>
    <p:sldLayoutId id="2147483667" r:id="rId10"/>
    <p:sldLayoutId id="2147483661" r:id="rId11"/>
    <p:sldLayoutId id="2147483664" r:id="rId12"/>
    <p:sldLayoutId id="2147483662" r:id="rId13"/>
    <p:sldLayoutId id="2147483669" r:id="rId14"/>
    <p:sldLayoutId id="2147483670" r:id="rId15"/>
    <p:sldLayoutId id="2147483658" r:id="rId16"/>
    <p:sldLayoutId id="2147483659" r:id="rId17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3600" b="0" i="0" kern="1200">
          <a:solidFill>
            <a:schemeClr val="bg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emf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2099733"/>
            <a:ext cx="8825658" cy="1335676"/>
          </a:xfrm>
        </p:spPr>
        <p:txBody>
          <a:bodyPr/>
          <a:lstStyle/>
          <a:p>
            <a:r>
              <a:rPr lang="en-US" sz="4000" b="1" dirty="0" smtClean="0"/>
              <a:t>PSYC100 GENERAL PSYCHOLOGY</a:t>
            </a:r>
            <a:endParaRPr lang="en-US" sz="4000" b="1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sz="3200" b="1" dirty="0" smtClean="0"/>
              <a:t>TREATMENTS AND THERAPIES</a:t>
            </a:r>
            <a:endParaRPr lang="en-US" sz="3200" b="1" dirty="0"/>
          </a:p>
        </p:txBody>
      </p:sp>
    </p:spTree>
    <p:extLst>
      <p:ext uri="{BB962C8B-B14F-4D97-AF65-F5344CB8AC3E}">
        <p14:creationId xmlns:p14="http://schemas.microsoft.com/office/powerpoint/2010/main" val="33344553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Title 1"/>
          <p:cNvSpPr>
            <a:spLocks noGrp="1"/>
          </p:cNvSpPr>
          <p:nvPr>
            <p:ph type="title"/>
          </p:nvPr>
        </p:nvSpPr>
        <p:spPr>
          <a:xfrm>
            <a:off x="854905" y="621707"/>
            <a:ext cx="8153400" cy="990600"/>
          </a:xfrm>
        </p:spPr>
        <p:txBody>
          <a:bodyPr/>
          <a:lstStyle/>
          <a:p>
            <a:pPr>
              <a:defRPr/>
            </a:pPr>
            <a:r>
              <a:rPr lang="en-GB" altLang="tr-TR" b="1" dirty="0" smtClean="0"/>
              <a:t>Learning Outcomes</a:t>
            </a:r>
          </a:p>
        </p:txBody>
      </p:sp>
      <p:sp>
        <p:nvSpPr>
          <p:cNvPr id="8195" name="Content Placeholder 2"/>
          <p:cNvSpPr>
            <a:spLocks noGrp="1"/>
          </p:cNvSpPr>
          <p:nvPr>
            <p:ph idx="1"/>
          </p:nvPr>
        </p:nvSpPr>
        <p:spPr>
          <a:xfrm>
            <a:off x="632715" y="2488963"/>
            <a:ext cx="8153400" cy="4495800"/>
          </a:xfrm>
        </p:spPr>
        <p:txBody>
          <a:bodyPr/>
          <a:lstStyle/>
          <a:p>
            <a:pPr eaLnBrk="1" hangingPunct="1"/>
            <a:r>
              <a:rPr lang="en-GB" altLang="tr-TR" sz="3200" dirty="0" smtClean="0"/>
              <a:t>Biological treatments </a:t>
            </a:r>
          </a:p>
          <a:p>
            <a:pPr eaLnBrk="1" hangingPunct="1"/>
            <a:r>
              <a:rPr lang="en-GB" altLang="tr-TR" sz="3200" dirty="0" smtClean="0"/>
              <a:t>Psychodynamic therapies</a:t>
            </a:r>
          </a:p>
          <a:p>
            <a:pPr eaLnBrk="1" hangingPunct="1"/>
            <a:r>
              <a:rPr lang="en-GB" altLang="tr-TR" sz="3200" dirty="0" smtClean="0"/>
              <a:t>Humanistic therapies</a:t>
            </a:r>
          </a:p>
          <a:p>
            <a:pPr eaLnBrk="1" hangingPunct="1"/>
            <a:r>
              <a:rPr lang="en-GB" altLang="tr-TR" sz="3200" dirty="0" smtClean="0"/>
              <a:t>Cognitive therapies</a:t>
            </a:r>
          </a:p>
          <a:p>
            <a:pPr eaLnBrk="1" hangingPunct="1"/>
            <a:r>
              <a:rPr lang="en-GB" altLang="tr-TR" sz="3200" dirty="0" smtClean="0"/>
              <a:t>Behavioural therapies</a:t>
            </a:r>
          </a:p>
          <a:p>
            <a:pPr eaLnBrk="1" hangingPunct="1"/>
            <a:endParaRPr lang="en-GB" altLang="tr-TR" dirty="0" smtClean="0"/>
          </a:p>
          <a:p>
            <a:pPr eaLnBrk="1" hangingPunct="1"/>
            <a:endParaRPr lang="en-GB" altLang="tr-TR" dirty="0" smtClean="0"/>
          </a:p>
          <a:p>
            <a:pPr eaLnBrk="1" hangingPunct="1"/>
            <a:endParaRPr lang="en-GB" altLang="tr-TR" dirty="0" smtClean="0"/>
          </a:p>
        </p:txBody>
      </p:sp>
    </p:spTree>
    <p:extLst>
      <p:ext uri="{BB962C8B-B14F-4D97-AF65-F5344CB8AC3E}">
        <p14:creationId xmlns:p14="http://schemas.microsoft.com/office/powerpoint/2010/main" val="28124946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/>
          </p:cNvSpPr>
          <p:nvPr>
            <p:ph type="title"/>
          </p:nvPr>
        </p:nvSpPr>
        <p:spPr>
          <a:xfrm>
            <a:off x="2111138" y="638798"/>
            <a:ext cx="8153400" cy="990600"/>
          </a:xfrm>
        </p:spPr>
        <p:txBody>
          <a:bodyPr/>
          <a:lstStyle/>
          <a:p>
            <a:pPr>
              <a:defRPr/>
            </a:pPr>
            <a:r>
              <a:rPr lang="en-US" altLang="tr-TR" b="1" dirty="0" smtClean="0"/>
              <a:t>Major Approaches to Treatment</a:t>
            </a:r>
          </a:p>
        </p:txBody>
      </p:sp>
      <p:sp>
        <p:nvSpPr>
          <p:cNvPr id="9219" name="Rectangle 4"/>
          <p:cNvSpPr>
            <a:spLocks noChangeArrowheads="1"/>
          </p:cNvSpPr>
          <p:nvPr/>
        </p:nvSpPr>
        <p:spPr bwMode="auto">
          <a:xfrm>
            <a:off x="2016125" y="2320925"/>
            <a:ext cx="1841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endParaRPr lang="tr-TR" altLang="tr-TR"/>
          </a:p>
        </p:txBody>
      </p:sp>
      <p:sp>
        <p:nvSpPr>
          <p:cNvPr id="9221" name="Rectangle 1"/>
          <p:cNvSpPr>
            <a:spLocks noChangeArrowheads="1"/>
          </p:cNvSpPr>
          <p:nvPr/>
        </p:nvSpPr>
        <p:spPr bwMode="auto">
          <a:xfrm>
            <a:off x="740391" y="6023849"/>
            <a:ext cx="10724780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800" dirty="0"/>
              <a:t>Other examples: EMDR, ACT, Schema, DBT, Gestalt, Existential, </a:t>
            </a:r>
            <a:r>
              <a:rPr lang="en-US" altLang="en-US" sz="1800" dirty="0" smtClean="0"/>
              <a:t>Attachment-based, couples therapy, sex therapy, family therapy </a:t>
            </a:r>
            <a:r>
              <a:rPr lang="en-US" altLang="en-US" sz="1800" dirty="0"/>
              <a:t>etc.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12213" y="2486114"/>
            <a:ext cx="4762500" cy="34019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48355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/>
          </p:cNvSpPr>
          <p:nvPr>
            <p:ph type="title"/>
          </p:nvPr>
        </p:nvSpPr>
        <p:spPr>
          <a:xfrm>
            <a:off x="1897493" y="792622"/>
            <a:ext cx="8153400" cy="990600"/>
          </a:xfrm>
        </p:spPr>
        <p:txBody>
          <a:bodyPr/>
          <a:lstStyle/>
          <a:p>
            <a:pPr>
              <a:defRPr/>
            </a:pPr>
            <a:r>
              <a:rPr lang="en-US" altLang="tr-TR" b="1" dirty="0" smtClean="0"/>
              <a:t>I - Biological Approaches</a:t>
            </a:r>
          </a:p>
        </p:txBody>
      </p:sp>
      <p:sp>
        <p:nvSpPr>
          <p:cNvPr id="10243" name="Rectangle 3"/>
          <p:cNvSpPr>
            <a:spLocks noGrp="1"/>
          </p:cNvSpPr>
          <p:nvPr>
            <p:ph idx="1"/>
          </p:nvPr>
        </p:nvSpPr>
        <p:spPr>
          <a:xfrm>
            <a:off x="350704" y="2362200"/>
            <a:ext cx="8153400" cy="4495800"/>
          </a:xfrm>
        </p:spPr>
        <p:txBody>
          <a:bodyPr/>
          <a:lstStyle/>
          <a:p>
            <a:pPr eaLnBrk="1" hangingPunct="1"/>
            <a:r>
              <a:rPr lang="en-US" altLang="tr-TR" sz="2800" u="sng" dirty="0"/>
              <a:t>Drug Therapies:</a:t>
            </a:r>
          </a:p>
          <a:p>
            <a:pPr lvl="1" eaLnBrk="1" hangingPunct="1"/>
            <a:r>
              <a:rPr lang="en-US" altLang="tr-TR" sz="2400" dirty="0"/>
              <a:t>Most commonly used biological interventions</a:t>
            </a:r>
          </a:p>
          <a:p>
            <a:pPr lvl="1" eaLnBrk="1" hangingPunct="1"/>
            <a:r>
              <a:rPr lang="en-US" altLang="tr-TR" sz="2400" i="1" dirty="0"/>
              <a:t>Psychopharmacology:</a:t>
            </a:r>
            <a:r>
              <a:rPr lang="en-US" altLang="tr-TR" sz="2400" dirty="0"/>
              <a:t> the study of how drugs affect cognitions, emotions, and behavior</a:t>
            </a:r>
          </a:p>
          <a:p>
            <a:pPr lvl="1" eaLnBrk="1" hangingPunct="1"/>
            <a:endParaRPr lang="en-US" altLang="tr-TR" sz="2400" dirty="0"/>
          </a:p>
          <a:p>
            <a:pPr eaLnBrk="1" hangingPunct="1"/>
            <a:r>
              <a:rPr lang="en-US" altLang="tr-TR" sz="2800" dirty="0"/>
              <a:t>Three major categories:</a:t>
            </a:r>
          </a:p>
          <a:p>
            <a:pPr lvl="1" eaLnBrk="1" hangingPunct="1"/>
            <a:r>
              <a:rPr lang="en-US" altLang="tr-TR" sz="2400" dirty="0"/>
              <a:t>Antipsychotic drugs</a:t>
            </a:r>
          </a:p>
          <a:p>
            <a:pPr lvl="1" eaLnBrk="1" hangingPunct="1"/>
            <a:r>
              <a:rPr lang="en-US" altLang="tr-TR" sz="2400" dirty="0"/>
              <a:t>Antianxiety drugs</a:t>
            </a:r>
          </a:p>
          <a:p>
            <a:pPr lvl="1" eaLnBrk="1" hangingPunct="1"/>
            <a:r>
              <a:rPr lang="en-US" altLang="tr-TR" sz="2400" dirty="0"/>
              <a:t>Antidepressant drugs</a:t>
            </a:r>
            <a:endParaRPr lang="en-US" altLang="tr-TR" sz="2400" u="sng" dirty="0"/>
          </a:p>
        </p:txBody>
      </p:sp>
    </p:spTree>
    <p:extLst>
      <p:ext uri="{BB962C8B-B14F-4D97-AF65-F5344CB8AC3E}">
        <p14:creationId xmlns:p14="http://schemas.microsoft.com/office/powerpoint/2010/main" val="4457419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/>
          </p:cNvSpPr>
          <p:nvPr>
            <p:ph type="title"/>
          </p:nvPr>
        </p:nvSpPr>
        <p:spPr>
          <a:xfrm>
            <a:off x="1316379" y="672981"/>
            <a:ext cx="8153400" cy="990600"/>
          </a:xfrm>
        </p:spPr>
        <p:txBody>
          <a:bodyPr/>
          <a:lstStyle/>
          <a:p>
            <a:pPr>
              <a:defRPr/>
            </a:pPr>
            <a:r>
              <a:rPr lang="en-US" altLang="tr-TR" b="1" dirty="0" smtClean="0"/>
              <a:t>A) Drug Therapies</a:t>
            </a:r>
          </a:p>
        </p:txBody>
      </p:sp>
      <p:sp>
        <p:nvSpPr>
          <p:cNvPr id="11267" name="Rectangle 3"/>
          <p:cNvSpPr>
            <a:spLocks noGrp="1"/>
          </p:cNvSpPr>
          <p:nvPr>
            <p:ph idx="1"/>
          </p:nvPr>
        </p:nvSpPr>
        <p:spPr>
          <a:xfrm>
            <a:off x="213970" y="2617149"/>
            <a:ext cx="11416855" cy="4495800"/>
          </a:xfrm>
        </p:spPr>
        <p:txBody>
          <a:bodyPr/>
          <a:lstStyle/>
          <a:p>
            <a:pPr eaLnBrk="1" hangingPunct="1"/>
            <a:r>
              <a:rPr lang="en-US" altLang="tr-TR" sz="3600" u="sng" dirty="0"/>
              <a:t>Antipsychotic Drugs:</a:t>
            </a:r>
          </a:p>
          <a:p>
            <a:pPr lvl="1" eaLnBrk="1" hangingPunct="1"/>
            <a:r>
              <a:rPr lang="en-US" altLang="tr-TR" sz="3200" dirty="0"/>
              <a:t>Decrease action of </a:t>
            </a:r>
            <a:r>
              <a:rPr lang="en-US" altLang="tr-TR" sz="3200" b="1" dirty="0"/>
              <a:t>dopamine</a:t>
            </a:r>
          </a:p>
          <a:p>
            <a:pPr lvl="1" eaLnBrk="1" hangingPunct="1"/>
            <a:r>
              <a:rPr lang="en-US" altLang="tr-TR" sz="3200" dirty="0"/>
              <a:t>Reduce positive symptoms of schizophrenia (e.g. delusions and hallucinations)</a:t>
            </a:r>
          </a:p>
          <a:p>
            <a:pPr lvl="1" eaLnBrk="1" hangingPunct="1"/>
            <a:r>
              <a:rPr lang="en-US" altLang="tr-TR" sz="3200" dirty="0"/>
              <a:t>Little effect on negative symptoms</a:t>
            </a:r>
          </a:p>
        </p:txBody>
      </p:sp>
    </p:spTree>
    <p:extLst>
      <p:ext uri="{BB962C8B-B14F-4D97-AF65-F5344CB8AC3E}">
        <p14:creationId xmlns:p14="http://schemas.microsoft.com/office/powerpoint/2010/main" val="9891192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/>
          </p:cNvSpPr>
          <p:nvPr>
            <p:ph type="title"/>
          </p:nvPr>
        </p:nvSpPr>
        <p:spPr>
          <a:xfrm>
            <a:off x="1265104" y="647344"/>
            <a:ext cx="8153400" cy="990600"/>
          </a:xfrm>
        </p:spPr>
        <p:txBody>
          <a:bodyPr/>
          <a:lstStyle/>
          <a:p>
            <a:pPr>
              <a:defRPr/>
            </a:pPr>
            <a:r>
              <a:rPr lang="en-US" altLang="tr-TR" b="1" dirty="0" smtClean="0"/>
              <a:t>Drug Therapies</a:t>
            </a:r>
          </a:p>
        </p:txBody>
      </p:sp>
      <p:sp>
        <p:nvSpPr>
          <p:cNvPr id="12291" name="Rectangle 3"/>
          <p:cNvSpPr>
            <a:spLocks noGrp="1"/>
          </p:cNvSpPr>
          <p:nvPr>
            <p:ph idx="1"/>
          </p:nvPr>
        </p:nvSpPr>
        <p:spPr>
          <a:xfrm>
            <a:off x="453252" y="2600058"/>
            <a:ext cx="11263031" cy="4495800"/>
          </a:xfrm>
        </p:spPr>
        <p:txBody>
          <a:bodyPr/>
          <a:lstStyle/>
          <a:p>
            <a:pPr eaLnBrk="1" hangingPunct="1"/>
            <a:r>
              <a:rPr lang="en-US" altLang="tr-TR" sz="3600" u="sng" dirty="0"/>
              <a:t>Antianxiety Drugs:</a:t>
            </a:r>
          </a:p>
          <a:p>
            <a:pPr lvl="1" eaLnBrk="1" hangingPunct="1"/>
            <a:r>
              <a:rPr lang="en-US" altLang="tr-TR" sz="3200" dirty="0"/>
              <a:t>Designed to reduce anxiety without affecting alertness or concentration</a:t>
            </a:r>
          </a:p>
          <a:p>
            <a:pPr lvl="1" eaLnBrk="1" hangingPunct="1"/>
            <a:r>
              <a:rPr lang="en-US" altLang="tr-TR" sz="3200" dirty="0"/>
              <a:t>Side effects:  drowsiness, lethargy, concentration difficulties, dependence</a:t>
            </a:r>
            <a:endParaRPr lang="en-US" altLang="tr-TR" sz="3200" u="sng" dirty="0"/>
          </a:p>
        </p:txBody>
      </p:sp>
    </p:spTree>
    <p:extLst>
      <p:ext uri="{BB962C8B-B14F-4D97-AF65-F5344CB8AC3E}">
        <p14:creationId xmlns:p14="http://schemas.microsoft.com/office/powerpoint/2010/main" val="10407110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/>
          </p:cNvSpPr>
          <p:nvPr>
            <p:ph type="title"/>
          </p:nvPr>
        </p:nvSpPr>
        <p:spPr>
          <a:xfrm>
            <a:off x="1128371" y="715711"/>
            <a:ext cx="8153400" cy="990600"/>
          </a:xfrm>
        </p:spPr>
        <p:txBody>
          <a:bodyPr/>
          <a:lstStyle/>
          <a:p>
            <a:pPr>
              <a:defRPr/>
            </a:pPr>
            <a:r>
              <a:rPr lang="en-US" altLang="tr-TR" b="1" dirty="0" smtClean="0"/>
              <a:t>Drug Therapies</a:t>
            </a:r>
          </a:p>
        </p:txBody>
      </p:sp>
      <p:sp>
        <p:nvSpPr>
          <p:cNvPr id="13315" name="Rectangle 3"/>
          <p:cNvSpPr>
            <a:spLocks noGrp="1"/>
          </p:cNvSpPr>
          <p:nvPr>
            <p:ph idx="1"/>
          </p:nvPr>
        </p:nvSpPr>
        <p:spPr>
          <a:xfrm>
            <a:off x="521620" y="2429142"/>
            <a:ext cx="11194664" cy="4495800"/>
          </a:xfrm>
        </p:spPr>
        <p:txBody>
          <a:bodyPr>
            <a:normAutofit/>
          </a:bodyPr>
          <a:lstStyle/>
          <a:p>
            <a:pPr eaLnBrk="1" hangingPunct="1"/>
            <a:r>
              <a:rPr lang="en-US" altLang="tr-TR" sz="3600" u="sng" dirty="0"/>
              <a:t>Antidepressant Drugs:</a:t>
            </a:r>
          </a:p>
          <a:p>
            <a:pPr lvl="1" eaLnBrk="1" hangingPunct="1"/>
            <a:r>
              <a:rPr lang="en-US" altLang="tr-TR" sz="3200" dirty="0"/>
              <a:t>Four classes:</a:t>
            </a:r>
          </a:p>
          <a:p>
            <a:pPr marL="1062038" lvl="2" indent="-514350">
              <a:buFont typeface="Rockwell Condensed" panose="02060603050405020104" pitchFamily="18" charset="0"/>
              <a:buAutoNum type="arabicPeriod"/>
            </a:pPr>
            <a:r>
              <a:rPr lang="en-US" altLang="tr-TR" sz="3200" dirty="0"/>
              <a:t>Tricyclics</a:t>
            </a:r>
          </a:p>
          <a:p>
            <a:pPr marL="1062038" lvl="2" indent="-514350">
              <a:buFont typeface="Rockwell Condensed" panose="02060603050405020104" pitchFamily="18" charset="0"/>
              <a:buAutoNum type="arabicPeriod"/>
            </a:pPr>
            <a:r>
              <a:rPr lang="en-US" altLang="tr-TR" sz="3200" dirty="0"/>
              <a:t>Monoamine oxidase (MAO) inhibitors</a:t>
            </a:r>
          </a:p>
          <a:p>
            <a:pPr marL="1062038" lvl="2" indent="-514350">
              <a:buFont typeface="Rockwell Condensed" panose="02060603050405020104" pitchFamily="18" charset="0"/>
              <a:buAutoNum type="arabicPeriod"/>
            </a:pPr>
            <a:r>
              <a:rPr lang="en-US" altLang="tr-TR" sz="3200" dirty="0"/>
              <a:t>Selective serotonin reuptake inhibitors (SSRIs)</a:t>
            </a:r>
          </a:p>
          <a:p>
            <a:pPr marL="1062038" lvl="2" indent="-514350">
              <a:buFont typeface="Rockwell Condensed" panose="02060603050405020104" pitchFamily="18" charset="0"/>
              <a:buAutoNum type="arabicPeriod"/>
            </a:pPr>
            <a:r>
              <a:rPr lang="en-US" altLang="tr-TR" sz="3200" dirty="0" err="1"/>
              <a:t>Seratonin</a:t>
            </a:r>
            <a:r>
              <a:rPr lang="en-US" altLang="tr-TR" sz="3200" dirty="0"/>
              <a:t> norepinephrine reuptake inhibitors (SNRIs)</a:t>
            </a:r>
            <a:endParaRPr lang="en-US" altLang="tr-TR" sz="3200" u="sng" dirty="0"/>
          </a:p>
        </p:txBody>
      </p:sp>
    </p:spTree>
    <p:extLst>
      <p:ext uri="{BB962C8B-B14F-4D97-AF65-F5344CB8AC3E}">
        <p14:creationId xmlns:p14="http://schemas.microsoft.com/office/powerpoint/2010/main" val="37089394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/>
          </p:cNvSpPr>
          <p:nvPr>
            <p:ph type="title"/>
          </p:nvPr>
        </p:nvSpPr>
        <p:spPr>
          <a:xfrm>
            <a:off x="1025822" y="690073"/>
            <a:ext cx="8153400" cy="990600"/>
          </a:xfrm>
        </p:spPr>
        <p:txBody>
          <a:bodyPr/>
          <a:lstStyle/>
          <a:p>
            <a:pPr>
              <a:defRPr/>
            </a:pPr>
            <a:r>
              <a:rPr lang="en-US" altLang="tr-TR" b="1" dirty="0" smtClean="0"/>
              <a:t>Drug Therapies</a:t>
            </a:r>
          </a:p>
        </p:txBody>
      </p:sp>
      <p:sp>
        <p:nvSpPr>
          <p:cNvPr id="14339" name="Rectangle 3"/>
          <p:cNvSpPr>
            <a:spLocks noGrp="1"/>
          </p:cNvSpPr>
          <p:nvPr>
            <p:ph idx="1"/>
          </p:nvPr>
        </p:nvSpPr>
        <p:spPr>
          <a:xfrm>
            <a:off x="478891" y="2362200"/>
            <a:ext cx="11220302" cy="4495800"/>
          </a:xfrm>
        </p:spPr>
        <p:txBody>
          <a:bodyPr/>
          <a:lstStyle/>
          <a:p>
            <a:pPr eaLnBrk="1" hangingPunct="1"/>
            <a:r>
              <a:rPr lang="en-US" altLang="tr-TR" sz="3600" u="sng" dirty="0"/>
              <a:t>Antidepressant Drugs (continued):</a:t>
            </a:r>
          </a:p>
          <a:p>
            <a:pPr lvl="1" eaLnBrk="1" hangingPunct="1"/>
            <a:r>
              <a:rPr lang="en-US" altLang="tr-TR" sz="3200" dirty="0"/>
              <a:t>Tricyclics and MAO inhibitors:</a:t>
            </a:r>
          </a:p>
          <a:p>
            <a:pPr lvl="2" eaLnBrk="1" hangingPunct="1"/>
            <a:r>
              <a:rPr lang="en-US" altLang="tr-TR" sz="3200" dirty="0"/>
              <a:t>Increase activity of </a:t>
            </a:r>
            <a:r>
              <a:rPr lang="en-US" altLang="tr-TR" sz="3200" b="1" dirty="0"/>
              <a:t>norepinephrine and serotonin</a:t>
            </a:r>
          </a:p>
          <a:p>
            <a:pPr lvl="2" eaLnBrk="1" hangingPunct="1"/>
            <a:r>
              <a:rPr lang="en-US" altLang="tr-TR" sz="3200" dirty="0"/>
              <a:t>MAOs more severe side effects</a:t>
            </a:r>
          </a:p>
        </p:txBody>
      </p:sp>
    </p:spTree>
    <p:extLst>
      <p:ext uri="{BB962C8B-B14F-4D97-AF65-F5344CB8AC3E}">
        <p14:creationId xmlns:p14="http://schemas.microsoft.com/office/powerpoint/2010/main" val="7735627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/>
          </p:cNvSpPr>
          <p:nvPr>
            <p:ph type="title"/>
          </p:nvPr>
        </p:nvSpPr>
        <p:spPr>
          <a:xfrm>
            <a:off x="889089" y="630252"/>
            <a:ext cx="8153400" cy="990600"/>
          </a:xfrm>
        </p:spPr>
        <p:txBody>
          <a:bodyPr/>
          <a:lstStyle/>
          <a:p>
            <a:pPr>
              <a:defRPr/>
            </a:pPr>
            <a:r>
              <a:rPr lang="en-US" altLang="tr-TR" b="1" dirty="0" smtClean="0"/>
              <a:t>Drug Therapies</a:t>
            </a:r>
          </a:p>
        </p:txBody>
      </p:sp>
      <p:sp>
        <p:nvSpPr>
          <p:cNvPr id="11267" name="Rectangle 3"/>
          <p:cNvSpPr>
            <a:spLocks noGrp="1"/>
          </p:cNvSpPr>
          <p:nvPr>
            <p:ph idx="1"/>
          </p:nvPr>
        </p:nvSpPr>
        <p:spPr>
          <a:xfrm>
            <a:off x="547257" y="2362200"/>
            <a:ext cx="11134844" cy="4495800"/>
          </a:xfrm>
        </p:spPr>
        <p:txBody>
          <a:bodyPr rtlCol="0">
            <a:normAutofit/>
          </a:bodyPr>
          <a:lstStyle/>
          <a:p>
            <a:pPr marL="182880" indent="-182880">
              <a:buClr>
                <a:schemeClr val="accent1">
                  <a:lumMod val="75000"/>
                </a:schemeClr>
              </a:buClr>
              <a:defRPr/>
            </a:pPr>
            <a:r>
              <a:rPr lang="en-US" altLang="tr-TR" sz="3600" u="sng" dirty="0"/>
              <a:t>Antidepressant Drugs (continued):</a:t>
            </a:r>
          </a:p>
          <a:p>
            <a:pPr lvl="1" indent="-182880">
              <a:buClr>
                <a:schemeClr val="accent1">
                  <a:lumMod val="75000"/>
                </a:schemeClr>
              </a:buClr>
              <a:defRPr/>
            </a:pPr>
            <a:r>
              <a:rPr lang="en-US" altLang="tr-TR" sz="3200" dirty="0"/>
              <a:t>SSRIs:</a:t>
            </a:r>
          </a:p>
          <a:p>
            <a:pPr marL="1188720" lvl="3" indent="-182880">
              <a:buClr>
                <a:schemeClr val="accent1">
                  <a:lumMod val="75000"/>
                </a:schemeClr>
              </a:buClr>
              <a:defRPr/>
            </a:pPr>
            <a:r>
              <a:rPr lang="en-US" altLang="tr-TR" sz="3000" dirty="0"/>
              <a:t>Increase activity of </a:t>
            </a:r>
            <a:r>
              <a:rPr lang="en-US" altLang="tr-TR" sz="3000" b="1" dirty="0"/>
              <a:t>serotonin</a:t>
            </a:r>
          </a:p>
          <a:p>
            <a:pPr marL="1188720" lvl="3" indent="-182880">
              <a:buClr>
                <a:schemeClr val="accent1">
                  <a:lumMod val="75000"/>
                </a:schemeClr>
              </a:buClr>
              <a:defRPr/>
            </a:pPr>
            <a:r>
              <a:rPr lang="en-US" altLang="tr-TR" sz="3000" dirty="0"/>
              <a:t>Milder side effects than other antidepressants</a:t>
            </a:r>
          </a:p>
          <a:p>
            <a:pPr marL="1188720" lvl="3" indent="-182880">
              <a:buClr>
                <a:schemeClr val="accent1">
                  <a:lumMod val="75000"/>
                </a:schemeClr>
              </a:buClr>
              <a:defRPr/>
            </a:pPr>
            <a:r>
              <a:rPr lang="en-US" altLang="tr-TR" sz="3000" dirty="0"/>
              <a:t>Reduce depressive symptoms more rapidly</a:t>
            </a:r>
          </a:p>
          <a:p>
            <a:pPr lvl="1" indent="-182880">
              <a:buClr>
                <a:schemeClr val="accent1">
                  <a:lumMod val="75000"/>
                </a:schemeClr>
              </a:buClr>
              <a:defRPr/>
            </a:pPr>
            <a:r>
              <a:rPr lang="en-GB" altLang="tr-TR" sz="3200" dirty="0"/>
              <a:t>SNRIs:</a:t>
            </a:r>
          </a:p>
          <a:p>
            <a:pPr marL="1188720" lvl="3" indent="-182880">
              <a:buClr>
                <a:schemeClr val="accent1">
                  <a:lumMod val="75000"/>
                </a:schemeClr>
              </a:buClr>
              <a:defRPr/>
            </a:pPr>
            <a:r>
              <a:rPr lang="tr-TR" altLang="tr-TR" sz="3000" dirty="0" err="1"/>
              <a:t>Increase</a:t>
            </a:r>
            <a:r>
              <a:rPr lang="tr-TR" altLang="tr-TR" sz="3000" dirty="0"/>
              <a:t> </a:t>
            </a:r>
            <a:r>
              <a:rPr lang="tr-TR" altLang="tr-TR" sz="3000" b="1" dirty="0" err="1"/>
              <a:t>Serotonin</a:t>
            </a:r>
            <a:r>
              <a:rPr lang="tr-TR" altLang="tr-TR" sz="3000" b="1" dirty="0"/>
              <a:t> </a:t>
            </a:r>
            <a:r>
              <a:rPr lang="tr-TR" altLang="tr-TR" sz="3000" b="1" dirty="0" err="1"/>
              <a:t>and</a:t>
            </a:r>
            <a:r>
              <a:rPr lang="tr-TR" altLang="tr-TR" sz="3000" b="1" dirty="0"/>
              <a:t> NE</a:t>
            </a:r>
            <a:endParaRPr lang="en-GB" altLang="tr-TR" sz="3000" b="1" dirty="0"/>
          </a:p>
          <a:p>
            <a:pPr marL="731520" lvl="2" indent="-182880">
              <a:buClr>
                <a:schemeClr val="accent1">
                  <a:lumMod val="75000"/>
                </a:schemeClr>
              </a:buClr>
              <a:defRPr/>
            </a:pPr>
            <a:endParaRPr lang="en-US" altLang="tr-TR" sz="3200" u="sng" dirty="0"/>
          </a:p>
        </p:txBody>
      </p:sp>
    </p:spTree>
    <p:extLst>
      <p:ext uri="{BB962C8B-B14F-4D97-AF65-F5344CB8AC3E}">
        <p14:creationId xmlns:p14="http://schemas.microsoft.com/office/powerpoint/2010/main" val="2294381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/>
          </p:cNvSpPr>
          <p:nvPr>
            <p:ph type="title"/>
          </p:nvPr>
        </p:nvSpPr>
        <p:spPr>
          <a:xfrm>
            <a:off x="1017276" y="612449"/>
            <a:ext cx="8153400" cy="990600"/>
          </a:xfrm>
        </p:spPr>
        <p:txBody>
          <a:bodyPr/>
          <a:lstStyle/>
          <a:p>
            <a:pPr>
              <a:defRPr/>
            </a:pPr>
            <a:r>
              <a:rPr lang="en-US" altLang="tr-TR" b="1" dirty="0" smtClean="0"/>
              <a:t>Drug Therapies</a:t>
            </a:r>
          </a:p>
        </p:txBody>
      </p:sp>
      <p:sp>
        <p:nvSpPr>
          <p:cNvPr id="16387" name="Rectangle 3"/>
          <p:cNvSpPr>
            <a:spLocks noGrp="1"/>
          </p:cNvSpPr>
          <p:nvPr>
            <p:ph idx="1"/>
          </p:nvPr>
        </p:nvSpPr>
        <p:spPr>
          <a:xfrm>
            <a:off x="470344" y="2362200"/>
            <a:ext cx="11245939" cy="4495800"/>
          </a:xfrm>
        </p:spPr>
        <p:txBody>
          <a:bodyPr>
            <a:normAutofit/>
          </a:bodyPr>
          <a:lstStyle/>
          <a:p>
            <a:pPr eaLnBrk="1" hangingPunct="1"/>
            <a:r>
              <a:rPr lang="en-US" altLang="tr-TR" sz="3600" b="1" dirty="0"/>
              <a:t>Criticisms of Drug Treatments:</a:t>
            </a:r>
          </a:p>
          <a:p>
            <a:pPr lvl="1" eaLnBrk="1" hangingPunct="1"/>
            <a:r>
              <a:rPr lang="en-US" altLang="tr-TR" sz="3200" dirty="0"/>
              <a:t>As much as 90% of effects may be placebo effects</a:t>
            </a:r>
          </a:p>
          <a:p>
            <a:pPr lvl="1" eaLnBrk="1" hangingPunct="1"/>
            <a:r>
              <a:rPr lang="en-US" altLang="tr-TR" sz="3200" dirty="0"/>
              <a:t>Do not “cure” the disorder</a:t>
            </a:r>
          </a:p>
          <a:p>
            <a:pPr lvl="1" eaLnBrk="1" hangingPunct="1"/>
            <a:r>
              <a:rPr lang="en-US" altLang="tr-TR" sz="3200" dirty="0"/>
              <a:t>Do not teach client coping and problem solving skills to deal with life problems</a:t>
            </a:r>
          </a:p>
          <a:p>
            <a:pPr lvl="1" eaLnBrk="1" hangingPunct="1"/>
            <a:r>
              <a:rPr lang="en-US" altLang="tr-TR" sz="3200" dirty="0"/>
              <a:t>High relapse rate</a:t>
            </a:r>
            <a:endParaRPr lang="en-US" altLang="tr-TR" sz="3200" u="sng" dirty="0"/>
          </a:p>
        </p:txBody>
      </p:sp>
    </p:spTree>
    <p:extLst>
      <p:ext uri="{BB962C8B-B14F-4D97-AF65-F5344CB8AC3E}">
        <p14:creationId xmlns:p14="http://schemas.microsoft.com/office/powerpoint/2010/main" val="29138583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/>
          </p:cNvSpPr>
          <p:nvPr>
            <p:ph type="title"/>
          </p:nvPr>
        </p:nvSpPr>
        <p:spPr>
          <a:xfrm>
            <a:off x="727075" y="596070"/>
            <a:ext cx="8153400" cy="990600"/>
          </a:xfrm>
        </p:spPr>
        <p:txBody>
          <a:bodyPr/>
          <a:lstStyle/>
          <a:p>
            <a:pPr>
              <a:defRPr/>
            </a:pPr>
            <a:r>
              <a:rPr lang="en-US" altLang="tr-TR" b="1" dirty="0" smtClean="0"/>
              <a:t>B) Electroconvulsive Therapy</a:t>
            </a:r>
          </a:p>
        </p:txBody>
      </p:sp>
      <p:sp>
        <p:nvSpPr>
          <p:cNvPr id="12291" name="Rectangle 3">
            <a:extLst>
              <a:ext uri="{FF2B5EF4-FFF2-40B4-BE49-F238E27FC236}">
                <a16:creationId xmlns:a16="http://schemas.microsoft.com/office/drawing/2014/main" id="{A658402E-4841-4E35-A170-549B48D97F5E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590372" y="2293834"/>
            <a:ext cx="8153400" cy="4495800"/>
          </a:xfrm>
        </p:spPr>
        <p:txBody>
          <a:bodyPr rtlCol="0">
            <a:normAutofit/>
          </a:bodyPr>
          <a:lstStyle/>
          <a:p>
            <a:pPr marL="182880" indent="-182880">
              <a:buClr>
                <a:schemeClr val="accent1">
                  <a:lumMod val="75000"/>
                </a:schemeClr>
              </a:buClr>
              <a:defRPr/>
            </a:pPr>
            <a:r>
              <a:rPr lang="en-US" sz="2800" dirty="0"/>
              <a:t>Patient is given a sedative </a:t>
            </a:r>
            <a:r>
              <a:rPr lang="en-US" sz="2800" dirty="0" smtClean="0"/>
              <a:t>and a </a:t>
            </a:r>
            <a:r>
              <a:rPr lang="en-US" sz="2800" dirty="0"/>
              <a:t>muscle relaxant</a:t>
            </a:r>
          </a:p>
          <a:p>
            <a:pPr marL="182880" indent="-182880">
              <a:buClr>
                <a:schemeClr val="accent1">
                  <a:lumMod val="75000"/>
                </a:schemeClr>
              </a:buClr>
              <a:defRPr/>
            </a:pPr>
            <a:r>
              <a:rPr lang="en-US" sz="2800" dirty="0"/>
              <a:t>Patient is placed on padded </a:t>
            </a:r>
            <a:r>
              <a:rPr lang="en-US" sz="2800" dirty="0" smtClean="0"/>
              <a:t>mattress</a:t>
            </a:r>
            <a:r>
              <a:rPr lang="en-US" sz="2800" dirty="0"/>
              <a:t>, where electrodes are </a:t>
            </a:r>
            <a:r>
              <a:rPr lang="en-US" sz="2800" dirty="0" smtClean="0"/>
              <a:t>attached </a:t>
            </a:r>
            <a:r>
              <a:rPr lang="en-US" sz="2800" dirty="0"/>
              <a:t>to scalp</a:t>
            </a:r>
          </a:p>
          <a:p>
            <a:pPr marL="182880" indent="-182880">
              <a:buClr>
                <a:schemeClr val="accent1">
                  <a:lumMod val="75000"/>
                </a:schemeClr>
              </a:buClr>
              <a:defRPr/>
            </a:pPr>
            <a:r>
              <a:rPr lang="en-US" sz="2800" dirty="0"/>
              <a:t>Brief shock (less than one second</a:t>
            </a:r>
            <a:r>
              <a:rPr lang="en-US" sz="2800" dirty="0" smtClean="0"/>
              <a:t>) is </a:t>
            </a:r>
            <a:r>
              <a:rPr lang="en-US" sz="2800" dirty="0"/>
              <a:t>applied, causing a seizure of the </a:t>
            </a:r>
            <a:r>
              <a:rPr lang="en-US" sz="2800" dirty="0" smtClean="0"/>
              <a:t>CNS</a:t>
            </a:r>
            <a:endParaRPr lang="en-US" sz="2800" dirty="0"/>
          </a:p>
          <a:p>
            <a:pPr marL="182880" indent="-182880">
              <a:buClr>
                <a:schemeClr val="accent1">
                  <a:lumMod val="75000"/>
                </a:schemeClr>
              </a:buClr>
              <a:defRPr/>
            </a:pPr>
            <a:r>
              <a:rPr lang="en-US" sz="2800" dirty="0"/>
              <a:t>Short-term effects: headache, sore muscles, confusion</a:t>
            </a:r>
          </a:p>
        </p:txBody>
      </p:sp>
      <p:pic>
        <p:nvPicPr>
          <p:cNvPr id="17412" name="Picture 7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80475" y="2859280"/>
            <a:ext cx="2819400" cy="2971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4560432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/>
          </p:cNvSpPr>
          <p:nvPr>
            <p:ph type="title"/>
          </p:nvPr>
        </p:nvSpPr>
        <p:spPr>
          <a:xfrm>
            <a:off x="871998" y="604615"/>
            <a:ext cx="8153400" cy="990600"/>
          </a:xfrm>
        </p:spPr>
        <p:txBody>
          <a:bodyPr/>
          <a:lstStyle/>
          <a:p>
            <a:pPr>
              <a:defRPr/>
            </a:pPr>
            <a:r>
              <a:rPr lang="en-US" altLang="tr-TR" b="1" dirty="0" smtClean="0"/>
              <a:t>Electroconvulsive Therapy</a:t>
            </a:r>
          </a:p>
        </p:txBody>
      </p:sp>
      <p:sp>
        <p:nvSpPr>
          <p:cNvPr id="18435" name="Rectangle 3"/>
          <p:cNvSpPr>
            <a:spLocks noGrp="1"/>
          </p:cNvSpPr>
          <p:nvPr>
            <p:ph idx="1"/>
          </p:nvPr>
        </p:nvSpPr>
        <p:spPr>
          <a:xfrm>
            <a:off x="547257" y="2362200"/>
            <a:ext cx="11126298" cy="4495800"/>
          </a:xfrm>
        </p:spPr>
        <p:txBody>
          <a:bodyPr>
            <a:normAutofit/>
          </a:bodyPr>
          <a:lstStyle/>
          <a:p>
            <a:pPr eaLnBrk="1" hangingPunct="1"/>
            <a:r>
              <a:rPr lang="en-US" altLang="tr-TR" sz="3600" dirty="0"/>
              <a:t>Useful in treating severe depression, particularly if there is a high risk of suicide</a:t>
            </a:r>
          </a:p>
          <a:p>
            <a:pPr lvl="1" eaLnBrk="1" hangingPunct="1"/>
            <a:r>
              <a:rPr lang="en-US" altLang="tr-TR" sz="3200" dirty="0"/>
              <a:t>Effects can be immediate</a:t>
            </a:r>
          </a:p>
          <a:p>
            <a:pPr lvl="1" eaLnBrk="1" hangingPunct="1"/>
            <a:r>
              <a:rPr lang="en-US" altLang="tr-TR" sz="3200" dirty="0"/>
              <a:t>No one knows why it works</a:t>
            </a:r>
          </a:p>
          <a:p>
            <a:pPr lvl="1" eaLnBrk="1" hangingPunct="1"/>
            <a:r>
              <a:rPr lang="en-US" altLang="tr-TR" sz="3200" dirty="0"/>
              <a:t>Used primarily in patients with major depression who cannot take or do not respond to medication</a:t>
            </a:r>
          </a:p>
        </p:txBody>
      </p:sp>
    </p:spTree>
    <p:extLst>
      <p:ext uri="{BB962C8B-B14F-4D97-AF65-F5344CB8AC3E}">
        <p14:creationId xmlns:p14="http://schemas.microsoft.com/office/powerpoint/2010/main" val="4878045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/>
          </p:cNvSpPr>
          <p:nvPr>
            <p:ph type="title"/>
          </p:nvPr>
        </p:nvSpPr>
        <p:spPr>
          <a:xfrm>
            <a:off x="914727" y="587523"/>
            <a:ext cx="8153400" cy="990600"/>
          </a:xfrm>
        </p:spPr>
        <p:txBody>
          <a:bodyPr/>
          <a:lstStyle/>
          <a:p>
            <a:pPr>
              <a:defRPr/>
            </a:pPr>
            <a:r>
              <a:rPr lang="en-US" altLang="tr-TR" b="1" dirty="0" smtClean="0"/>
              <a:t>Electroconvulsive Therapy</a:t>
            </a:r>
          </a:p>
        </p:txBody>
      </p:sp>
      <p:sp>
        <p:nvSpPr>
          <p:cNvPr id="19459" name="Rectangle 3"/>
          <p:cNvSpPr>
            <a:spLocks noGrp="1"/>
          </p:cNvSpPr>
          <p:nvPr>
            <p:ph idx="1"/>
          </p:nvPr>
        </p:nvSpPr>
        <p:spPr>
          <a:xfrm>
            <a:off x="495982" y="2362200"/>
            <a:ext cx="11049386" cy="4495800"/>
          </a:xfrm>
        </p:spPr>
        <p:txBody>
          <a:bodyPr/>
          <a:lstStyle/>
          <a:p>
            <a:pPr eaLnBrk="1" hangingPunct="1"/>
            <a:r>
              <a:rPr lang="en-US" altLang="tr-TR" sz="3600" b="1" dirty="0"/>
              <a:t>Criticisms of ECT:</a:t>
            </a:r>
          </a:p>
          <a:p>
            <a:pPr lvl="1" eaLnBrk="1" hangingPunct="1"/>
            <a:r>
              <a:rPr lang="en-US" altLang="tr-TR" sz="3200" dirty="0"/>
              <a:t>Possibility of relapse is high</a:t>
            </a:r>
          </a:p>
          <a:p>
            <a:pPr lvl="1" eaLnBrk="1" hangingPunct="1"/>
            <a:r>
              <a:rPr lang="en-US" altLang="tr-TR" sz="3200" dirty="0"/>
              <a:t>Possibility of permanent memory loss</a:t>
            </a:r>
          </a:p>
          <a:p>
            <a:pPr lvl="1" eaLnBrk="1" hangingPunct="1"/>
            <a:r>
              <a:rPr lang="en-US" altLang="tr-TR" sz="3200" dirty="0"/>
              <a:t>Possibility of permanent brain damage</a:t>
            </a:r>
          </a:p>
        </p:txBody>
      </p:sp>
    </p:spTree>
    <p:extLst>
      <p:ext uri="{BB962C8B-B14F-4D97-AF65-F5344CB8AC3E}">
        <p14:creationId xmlns:p14="http://schemas.microsoft.com/office/powerpoint/2010/main" val="41821044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/>
          </p:cNvSpPr>
          <p:nvPr>
            <p:ph type="title"/>
          </p:nvPr>
        </p:nvSpPr>
        <p:spPr>
          <a:xfrm>
            <a:off x="863451" y="570431"/>
            <a:ext cx="8153400" cy="990600"/>
          </a:xfrm>
        </p:spPr>
        <p:txBody>
          <a:bodyPr/>
          <a:lstStyle/>
          <a:p>
            <a:pPr>
              <a:defRPr/>
            </a:pPr>
            <a:r>
              <a:rPr lang="en-US" altLang="tr-TR" b="1" dirty="0" smtClean="0"/>
              <a:t>C) Psychosurgery</a:t>
            </a:r>
          </a:p>
        </p:txBody>
      </p:sp>
      <p:sp>
        <p:nvSpPr>
          <p:cNvPr id="20483" name="Rectangle 3"/>
          <p:cNvSpPr>
            <a:spLocks noGrp="1"/>
          </p:cNvSpPr>
          <p:nvPr>
            <p:ph idx="1"/>
          </p:nvPr>
        </p:nvSpPr>
        <p:spPr>
          <a:xfrm>
            <a:off x="478890" y="2362200"/>
            <a:ext cx="11143390" cy="4495800"/>
          </a:xfrm>
        </p:spPr>
        <p:txBody>
          <a:bodyPr/>
          <a:lstStyle/>
          <a:p>
            <a:pPr eaLnBrk="1" hangingPunct="1"/>
            <a:r>
              <a:rPr lang="en-US" altLang="tr-TR" sz="3600" u="sng" dirty="0"/>
              <a:t>Psychosurgery:</a:t>
            </a:r>
            <a:r>
              <a:rPr lang="en-US" altLang="tr-TR" sz="3600" dirty="0"/>
              <a:t> surgical procedures that remove or destroy brain tissue in an attempt to change disordered behavior</a:t>
            </a:r>
          </a:p>
          <a:p>
            <a:pPr lvl="1" eaLnBrk="1" hangingPunct="1"/>
            <a:r>
              <a:rPr lang="en-US" altLang="tr-TR" sz="3200" dirty="0"/>
              <a:t>Used rarely, as a last resort</a:t>
            </a:r>
            <a:endParaRPr lang="en-US" altLang="tr-TR" sz="3200" u="sng" dirty="0"/>
          </a:p>
        </p:txBody>
      </p:sp>
    </p:spTree>
    <p:extLst>
      <p:ext uri="{BB962C8B-B14F-4D97-AF65-F5344CB8AC3E}">
        <p14:creationId xmlns:p14="http://schemas.microsoft.com/office/powerpoint/2010/main" val="33077673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/>
          </p:cNvSpPr>
          <p:nvPr>
            <p:ph type="title"/>
          </p:nvPr>
        </p:nvSpPr>
        <p:spPr>
          <a:xfrm>
            <a:off x="786539" y="638798"/>
            <a:ext cx="8153400" cy="990600"/>
          </a:xfrm>
        </p:spPr>
        <p:txBody>
          <a:bodyPr/>
          <a:lstStyle/>
          <a:p>
            <a:pPr>
              <a:defRPr/>
            </a:pPr>
            <a:r>
              <a:rPr lang="en-US" altLang="tr-TR" b="1" dirty="0" smtClean="0"/>
              <a:t>II - Psychodynamic Therapies</a:t>
            </a:r>
          </a:p>
        </p:txBody>
      </p:sp>
      <p:sp>
        <p:nvSpPr>
          <p:cNvPr id="21507" name="Rectangle 3"/>
          <p:cNvSpPr>
            <a:spLocks noGrp="1"/>
          </p:cNvSpPr>
          <p:nvPr>
            <p:ph idx="1"/>
          </p:nvPr>
        </p:nvSpPr>
        <p:spPr>
          <a:xfrm>
            <a:off x="487437" y="2266772"/>
            <a:ext cx="11203210" cy="4495800"/>
          </a:xfrm>
        </p:spPr>
        <p:txBody>
          <a:bodyPr>
            <a:normAutofit/>
          </a:bodyPr>
          <a:lstStyle/>
          <a:p>
            <a:pPr eaLnBrk="1" hangingPunct="1"/>
            <a:r>
              <a:rPr lang="en-US" altLang="tr-TR" sz="3600" dirty="0"/>
              <a:t>Focus on internal conflicts and unconscious factors that underlie maladaptive behavior</a:t>
            </a:r>
          </a:p>
          <a:p>
            <a:pPr eaLnBrk="1" hangingPunct="1"/>
            <a:r>
              <a:rPr lang="en-US" altLang="tr-TR" sz="3600" dirty="0"/>
              <a:t>Goal is to help clients achieve insight</a:t>
            </a:r>
          </a:p>
          <a:p>
            <a:pPr lvl="1" eaLnBrk="1" hangingPunct="1"/>
            <a:r>
              <a:rPr lang="en-US" altLang="tr-TR" sz="3200" b="1" i="1" dirty="0"/>
              <a:t>Insight</a:t>
            </a:r>
            <a:r>
              <a:rPr lang="en-US" altLang="tr-TR" sz="3200" i="1" dirty="0"/>
              <a:t>:</a:t>
            </a:r>
            <a:r>
              <a:rPr lang="en-US" altLang="tr-TR" sz="3200" dirty="0"/>
              <a:t> the conscious awareness of the psychodynamics that underlie their problems</a:t>
            </a:r>
          </a:p>
        </p:txBody>
      </p:sp>
    </p:spTree>
    <p:extLst>
      <p:ext uri="{BB962C8B-B14F-4D97-AF65-F5344CB8AC3E}">
        <p14:creationId xmlns:p14="http://schemas.microsoft.com/office/powerpoint/2010/main" val="14073529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/>
          <p:cNvSpPr>
            <a:spLocks noGrp="1"/>
          </p:cNvSpPr>
          <p:nvPr>
            <p:ph type="title"/>
          </p:nvPr>
        </p:nvSpPr>
        <p:spPr>
          <a:xfrm>
            <a:off x="983093" y="613160"/>
            <a:ext cx="8153400" cy="990600"/>
          </a:xfrm>
        </p:spPr>
        <p:txBody>
          <a:bodyPr/>
          <a:lstStyle/>
          <a:p>
            <a:pPr>
              <a:defRPr/>
            </a:pPr>
            <a:r>
              <a:rPr lang="en-US" altLang="tr-TR" dirty="0" smtClean="0"/>
              <a:t>Psychodynamic Techniques</a:t>
            </a:r>
          </a:p>
        </p:txBody>
      </p:sp>
      <p:sp>
        <p:nvSpPr>
          <p:cNvPr id="18435" name="Rectangle 3"/>
          <p:cNvSpPr>
            <a:spLocks noGrp="1"/>
          </p:cNvSpPr>
          <p:nvPr>
            <p:ph idx="1"/>
          </p:nvPr>
        </p:nvSpPr>
        <p:spPr>
          <a:xfrm>
            <a:off x="487436" y="2292410"/>
            <a:ext cx="11228847" cy="4495800"/>
          </a:xfrm>
        </p:spPr>
        <p:txBody>
          <a:bodyPr rtlCol="0">
            <a:normAutofit/>
          </a:bodyPr>
          <a:lstStyle/>
          <a:p>
            <a:pPr marL="182880" indent="-182880">
              <a:buClr>
                <a:schemeClr val="accent1">
                  <a:lumMod val="75000"/>
                </a:schemeClr>
              </a:buClr>
              <a:defRPr/>
            </a:pPr>
            <a:r>
              <a:rPr lang="en-US" altLang="tr-TR" sz="3200" b="1" i="1" dirty="0"/>
              <a:t>Free Association</a:t>
            </a:r>
            <a:r>
              <a:rPr lang="en-US" altLang="tr-TR" sz="3200" i="1" dirty="0"/>
              <a:t>:</a:t>
            </a:r>
            <a:r>
              <a:rPr lang="en-US" altLang="tr-TR" sz="3200" dirty="0"/>
              <a:t> clients verbally report without censorship any thoughts, feelings, or images that enter their awareness</a:t>
            </a:r>
          </a:p>
          <a:p>
            <a:pPr lvl="1" indent="-182880">
              <a:buClr>
                <a:schemeClr val="accent1">
                  <a:lumMod val="75000"/>
                </a:schemeClr>
              </a:buClr>
              <a:defRPr/>
            </a:pPr>
            <a:r>
              <a:rPr lang="en-US" altLang="tr-TR" sz="3200" dirty="0"/>
              <a:t>Provides clues about important themes and issues</a:t>
            </a:r>
          </a:p>
          <a:p>
            <a:pPr marL="182880" indent="-182880">
              <a:buClr>
                <a:schemeClr val="accent1">
                  <a:lumMod val="75000"/>
                </a:schemeClr>
              </a:buClr>
              <a:defRPr/>
            </a:pPr>
            <a:r>
              <a:rPr lang="en-US" altLang="tr-TR" sz="3200" b="1" i="1" dirty="0"/>
              <a:t>Dream Interpretation</a:t>
            </a:r>
            <a:r>
              <a:rPr lang="en-US" altLang="tr-TR" sz="3200" i="1" dirty="0"/>
              <a:t>: </a:t>
            </a:r>
            <a:r>
              <a:rPr lang="en-US" altLang="tr-TR" sz="3200" dirty="0"/>
              <a:t>dreams express unconscious dreams, fantasies, and wishes</a:t>
            </a:r>
          </a:p>
          <a:p>
            <a:pPr lvl="1" indent="-182880">
              <a:buClr>
                <a:schemeClr val="accent1">
                  <a:lumMod val="75000"/>
                </a:schemeClr>
              </a:buClr>
              <a:defRPr/>
            </a:pPr>
            <a:r>
              <a:rPr lang="en-US" altLang="tr-TR" sz="3200" dirty="0"/>
              <a:t>Analyst helps client interpret the symbolism in the dream</a:t>
            </a:r>
          </a:p>
        </p:txBody>
      </p:sp>
    </p:spTree>
    <p:extLst>
      <p:ext uri="{BB962C8B-B14F-4D97-AF65-F5344CB8AC3E}">
        <p14:creationId xmlns:p14="http://schemas.microsoft.com/office/powerpoint/2010/main" val="41916611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/>
          <p:cNvSpPr>
            <a:spLocks noGrp="1"/>
          </p:cNvSpPr>
          <p:nvPr>
            <p:ph type="title"/>
          </p:nvPr>
        </p:nvSpPr>
        <p:spPr>
          <a:xfrm>
            <a:off x="983093" y="655890"/>
            <a:ext cx="8153400" cy="990600"/>
          </a:xfrm>
        </p:spPr>
        <p:txBody>
          <a:bodyPr/>
          <a:lstStyle/>
          <a:p>
            <a:pPr>
              <a:defRPr/>
            </a:pPr>
            <a:r>
              <a:rPr lang="en-US" altLang="tr-TR" dirty="0" smtClean="0"/>
              <a:t>III - Humanistic Psychotherapies</a:t>
            </a:r>
          </a:p>
        </p:txBody>
      </p:sp>
      <p:sp>
        <p:nvSpPr>
          <p:cNvPr id="23555" name="Rectangle 3"/>
          <p:cNvSpPr>
            <a:spLocks noGrp="1"/>
          </p:cNvSpPr>
          <p:nvPr>
            <p:ph idx="1"/>
          </p:nvPr>
        </p:nvSpPr>
        <p:spPr>
          <a:xfrm>
            <a:off x="495982" y="2206952"/>
            <a:ext cx="11160481" cy="4495800"/>
          </a:xfrm>
        </p:spPr>
        <p:txBody>
          <a:bodyPr>
            <a:normAutofit/>
          </a:bodyPr>
          <a:lstStyle/>
          <a:p>
            <a:pPr eaLnBrk="1" hangingPunct="1"/>
            <a:r>
              <a:rPr lang="en-US" altLang="tr-TR" sz="3600" dirty="0"/>
              <a:t>Humanists view people as capable of consciously controlling their actions</a:t>
            </a:r>
          </a:p>
          <a:p>
            <a:pPr lvl="1" eaLnBrk="1" hangingPunct="1"/>
            <a:r>
              <a:rPr lang="en-US" altLang="tr-TR" sz="3200" dirty="0"/>
              <a:t>People should take responsibility for their own choices and behavior</a:t>
            </a:r>
          </a:p>
          <a:p>
            <a:pPr lvl="1" eaLnBrk="1" hangingPunct="1"/>
            <a:r>
              <a:rPr lang="en-US" altLang="tr-TR" sz="3200" dirty="0"/>
              <a:t>Everyone possesses inner resources for self-healing and personal growth</a:t>
            </a:r>
          </a:p>
          <a:p>
            <a:pPr lvl="1" eaLnBrk="1" hangingPunct="1"/>
            <a:r>
              <a:rPr lang="en-US" altLang="tr-TR" sz="3200" dirty="0"/>
              <a:t>Focus is primarily on the present and future instead of the past</a:t>
            </a:r>
          </a:p>
          <a:p>
            <a:pPr lvl="1" eaLnBrk="1" hangingPunct="1"/>
            <a:endParaRPr lang="en-US" altLang="tr-TR" sz="3200" dirty="0"/>
          </a:p>
        </p:txBody>
      </p:sp>
    </p:spTree>
    <p:extLst>
      <p:ext uri="{BB962C8B-B14F-4D97-AF65-F5344CB8AC3E}">
        <p14:creationId xmlns:p14="http://schemas.microsoft.com/office/powerpoint/2010/main" val="18064706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Grp="1"/>
          </p:cNvSpPr>
          <p:nvPr>
            <p:ph type="title"/>
          </p:nvPr>
        </p:nvSpPr>
        <p:spPr>
          <a:xfrm>
            <a:off x="871998" y="630253"/>
            <a:ext cx="8153400" cy="990600"/>
          </a:xfrm>
        </p:spPr>
        <p:txBody>
          <a:bodyPr/>
          <a:lstStyle/>
          <a:p>
            <a:pPr>
              <a:defRPr/>
            </a:pPr>
            <a:r>
              <a:rPr lang="en-US" altLang="tr-TR" dirty="0" smtClean="0"/>
              <a:t>Humanistic Psychotherapies</a:t>
            </a:r>
          </a:p>
        </p:txBody>
      </p:sp>
      <p:sp>
        <p:nvSpPr>
          <p:cNvPr id="24579" name="Rectangle 3"/>
          <p:cNvSpPr>
            <a:spLocks noGrp="1"/>
          </p:cNvSpPr>
          <p:nvPr>
            <p:ph idx="1"/>
          </p:nvPr>
        </p:nvSpPr>
        <p:spPr>
          <a:xfrm>
            <a:off x="538711" y="2258226"/>
            <a:ext cx="11075023" cy="4495800"/>
          </a:xfrm>
        </p:spPr>
        <p:txBody>
          <a:bodyPr>
            <a:normAutofit/>
          </a:bodyPr>
          <a:lstStyle/>
          <a:p>
            <a:pPr eaLnBrk="1" hangingPunct="1"/>
            <a:r>
              <a:rPr lang="en-US" altLang="tr-TR" sz="2800" u="sng" dirty="0"/>
              <a:t>Person-Centered Therapy/Client-Centered Therapy (Carl Rogers) :</a:t>
            </a:r>
            <a:r>
              <a:rPr lang="en-US" altLang="tr-TR" sz="2800" dirty="0"/>
              <a:t> three important therapist attributes:</a:t>
            </a:r>
          </a:p>
          <a:p>
            <a:pPr lvl="1" eaLnBrk="1" hangingPunct="1"/>
            <a:r>
              <a:rPr lang="en-US" altLang="tr-TR" sz="2400" b="1" i="1" dirty="0"/>
              <a:t>Unconditional Positive Regard</a:t>
            </a:r>
            <a:r>
              <a:rPr lang="en-US" altLang="tr-TR" sz="2400" dirty="0"/>
              <a:t>: communicated when the therapist shows that he or she genuinely cares about and accepts the client, without judgment or evaluation</a:t>
            </a:r>
          </a:p>
          <a:p>
            <a:pPr lvl="1" eaLnBrk="1" hangingPunct="1"/>
            <a:r>
              <a:rPr lang="en-US" altLang="tr-TR" sz="2400" b="1" i="1" dirty="0"/>
              <a:t>Empathy</a:t>
            </a:r>
            <a:r>
              <a:rPr lang="en-US" altLang="tr-TR" sz="2400" dirty="0"/>
              <a:t>: willingness and ability to view the world through the client’s eyes</a:t>
            </a:r>
          </a:p>
          <a:p>
            <a:pPr lvl="1" eaLnBrk="1" hangingPunct="1"/>
            <a:r>
              <a:rPr lang="en-US" altLang="tr-TR" sz="2400" b="1" i="1" dirty="0"/>
              <a:t>Genuineness</a:t>
            </a:r>
            <a:r>
              <a:rPr lang="en-US" altLang="tr-TR" sz="2400" dirty="0"/>
              <a:t>: consistency between the way the therapist feels and the way he or she behaves</a:t>
            </a:r>
            <a:endParaRPr lang="en-US" altLang="tr-TR" sz="2400" u="sng" dirty="0"/>
          </a:p>
        </p:txBody>
      </p:sp>
    </p:spTree>
    <p:extLst>
      <p:ext uri="{BB962C8B-B14F-4D97-AF65-F5344CB8AC3E}">
        <p14:creationId xmlns:p14="http://schemas.microsoft.com/office/powerpoint/2010/main" val="32856462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Grp="1"/>
          </p:cNvSpPr>
          <p:nvPr>
            <p:ph type="title"/>
          </p:nvPr>
        </p:nvSpPr>
        <p:spPr>
          <a:xfrm>
            <a:off x="897635" y="587524"/>
            <a:ext cx="8153400" cy="990600"/>
          </a:xfrm>
        </p:spPr>
        <p:txBody>
          <a:bodyPr/>
          <a:lstStyle/>
          <a:p>
            <a:pPr>
              <a:defRPr/>
            </a:pPr>
            <a:r>
              <a:rPr lang="en-US" altLang="tr-TR" dirty="0" smtClean="0"/>
              <a:t>IV - Cognitive Therapies</a:t>
            </a:r>
          </a:p>
        </p:txBody>
      </p:sp>
      <p:sp>
        <p:nvSpPr>
          <p:cNvPr id="25603" name="Rectangle 3"/>
          <p:cNvSpPr>
            <a:spLocks noGrp="1"/>
          </p:cNvSpPr>
          <p:nvPr>
            <p:ph idx="1"/>
          </p:nvPr>
        </p:nvSpPr>
        <p:spPr>
          <a:xfrm>
            <a:off x="538711" y="2362200"/>
            <a:ext cx="11160482" cy="4495800"/>
          </a:xfrm>
        </p:spPr>
        <p:txBody>
          <a:bodyPr/>
          <a:lstStyle/>
          <a:p>
            <a:pPr eaLnBrk="1" hangingPunct="1"/>
            <a:r>
              <a:rPr lang="en-US" altLang="tr-TR" sz="3600" dirty="0"/>
              <a:t>Focus on the role of </a:t>
            </a:r>
            <a:r>
              <a:rPr lang="en-US" altLang="tr-TR" sz="3600" b="1" u="sng" dirty="0"/>
              <a:t>irrational</a:t>
            </a:r>
            <a:r>
              <a:rPr lang="en-US" altLang="tr-TR" sz="3600" dirty="0"/>
              <a:t> and self-defeating thought patterns</a:t>
            </a:r>
          </a:p>
          <a:p>
            <a:pPr lvl="1" eaLnBrk="1" hangingPunct="1"/>
            <a:r>
              <a:rPr lang="en-US" altLang="tr-TR" sz="3200" dirty="0"/>
              <a:t>Therapists try to help clients discover and change the cognitions that underlie their problems</a:t>
            </a:r>
          </a:p>
          <a:p>
            <a:pPr lvl="1" eaLnBrk="1" hangingPunct="1"/>
            <a:r>
              <a:rPr lang="en-US" altLang="tr-TR" sz="3200" dirty="0"/>
              <a:t>Thought patterns are not unconscious, but they can be automatic and ingrained</a:t>
            </a:r>
          </a:p>
        </p:txBody>
      </p:sp>
    </p:spTree>
    <p:extLst>
      <p:ext uri="{BB962C8B-B14F-4D97-AF65-F5344CB8AC3E}">
        <p14:creationId xmlns:p14="http://schemas.microsoft.com/office/powerpoint/2010/main" val="32876376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Grp="1"/>
          </p:cNvSpPr>
          <p:nvPr>
            <p:ph type="title"/>
          </p:nvPr>
        </p:nvSpPr>
        <p:spPr>
          <a:xfrm>
            <a:off x="829269" y="613160"/>
            <a:ext cx="8153400" cy="990600"/>
          </a:xfrm>
        </p:spPr>
        <p:txBody>
          <a:bodyPr/>
          <a:lstStyle/>
          <a:p>
            <a:pPr>
              <a:defRPr/>
            </a:pPr>
            <a:r>
              <a:rPr lang="en-US" altLang="tr-TR" dirty="0" smtClean="0"/>
              <a:t>Cognitive Therapies</a:t>
            </a:r>
          </a:p>
        </p:txBody>
      </p:sp>
      <p:sp>
        <p:nvSpPr>
          <p:cNvPr id="22531" name="Rectangle 3"/>
          <p:cNvSpPr>
            <a:spLocks noGrp="1"/>
          </p:cNvSpPr>
          <p:nvPr>
            <p:ph idx="1"/>
          </p:nvPr>
        </p:nvSpPr>
        <p:spPr>
          <a:xfrm>
            <a:off x="555802" y="2215498"/>
            <a:ext cx="11075023" cy="4495800"/>
          </a:xfrm>
        </p:spPr>
        <p:txBody>
          <a:bodyPr rtlCol="0">
            <a:normAutofit fontScale="92500" lnSpcReduction="10000"/>
          </a:bodyPr>
          <a:lstStyle/>
          <a:p>
            <a:pPr marL="182880" indent="-182880">
              <a:buClr>
                <a:schemeClr val="accent1">
                  <a:lumMod val="75000"/>
                </a:schemeClr>
              </a:buClr>
              <a:defRPr/>
            </a:pPr>
            <a:r>
              <a:rPr lang="en-US" altLang="tr-TR" sz="3600" b="1" u="sng" dirty="0"/>
              <a:t>A - Rational-Emotive </a:t>
            </a:r>
            <a:r>
              <a:rPr lang="en-US" altLang="tr-TR" sz="3600" b="1" u="sng" dirty="0" err="1"/>
              <a:t>Behavioural</a:t>
            </a:r>
            <a:r>
              <a:rPr lang="en-US" altLang="tr-TR" sz="3600" b="1" u="sng" dirty="0"/>
              <a:t> Therapy (Albert Ellis)</a:t>
            </a:r>
            <a:r>
              <a:rPr lang="en-US" altLang="tr-TR" sz="3600" u="sng" dirty="0"/>
              <a:t>:</a:t>
            </a:r>
            <a:r>
              <a:rPr lang="en-US" altLang="tr-TR" sz="3600" dirty="0"/>
              <a:t> ABCD Model</a:t>
            </a:r>
          </a:p>
          <a:p>
            <a:pPr lvl="1" indent="-182880">
              <a:buClr>
                <a:schemeClr val="accent1">
                  <a:lumMod val="75000"/>
                </a:schemeClr>
              </a:buClr>
              <a:defRPr/>
            </a:pPr>
            <a:r>
              <a:rPr lang="en-US" altLang="tr-TR" sz="3200" i="1" dirty="0"/>
              <a:t>A:</a:t>
            </a:r>
            <a:r>
              <a:rPr lang="en-US" altLang="tr-TR" sz="3200" dirty="0"/>
              <a:t> the </a:t>
            </a:r>
            <a:r>
              <a:rPr lang="en-US" altLang="tr-TR" sz="3200" i="1" dirty="0"/>
              <a:t>activating event</a:t>
            </a:r>
            <a:r>
              <a:rPr lang="en-US" altLang="tr-TR" sz="3200" dirty="0"/>
              <a:t> that seems to trigger the emotion</a:t>
            </a:r>
          </a:p>
          <a:p>
            <a:pPr lvl="1" indent="-182880">
              <a:buClr>
                <a:schemeClr val="accent1">
                  <a:lumMod val="75000"/>
                </a:schemeClr>
              </a:buClr>
              <a:defRPr/>
            </a:pPr>
            <a:r>
              <a:rPr lang="en-US" altLang="tr-TR" sz="3200" i="1" dirty="0"/>
              <a:t>B:</a:t>
            </a:r>
            <a:r>
              <a:rPr lang="en-US" altLang="tr-TR" sz="3200" dirty="0"/>
              <a:t> the </a:t>
            </a:r>
            <a:r>
              <a:rPr lang="en-US" altLang="tr-TR" sz="3200" i="1" dirty="0"/>
              <a:t>belief system</a:t>
            </a:r>
            <a:r>
              <a:rPr lang="en-US" altLang="tr-TR" sz="3200" dirty="0"/>
              <a:t> that underlies the way in which a person appraises the event</a:t>
            </a:r>
          </a:p>
          <a:p>
            <a:pPr lvl="1" indent="-182880">
              <a:buClr>
                <a:schemeClr val="accent1">
                  <a:lumMod val="75000"/>
                </a:schemeClr>
              </a:buClr>
              <a:defRPr/>
            </a:pPr>
            <a:r>
              <a:rPr lang="en-US" altLang="tr-TR" sz="3200" i="1" dirty="0"/>
              <a:t>C:</a:t>
            </a:r>
            <a:r>
              <a:rPr lang="en-US" altLang="tr-TR" sz="3200" dirty="0"/>
              <a:t> the emotional and behavioral </a:t>
            </a:r>
            <a:r>
              <a:rPr lang="en-US" altLang="tr-TR" sz="3200" i="1" dirty="0"/>
              <a:t>consequences</a:t>
            </a:r>
            <a:r>
              <a:rPr lang="en-US" altLang="tr-TR" sz="3200" dirty="0"/>
              <a:t> of that appraisal</a:t>
            </a:r>
          </a:p>
          <a:p>
            <a:pPr lvl="1" indent="-182880">
              <a:buClr>
                <a:schemeClr val="accent1">
                  <a:lumMod val="75000"/>
                </a:schemeClr>
              </a:buClr>
              <a:defRPr/>
            </a:pPr>
            <a:r>
              <a:rPr lang="en-US" altLang="tr-TR" sz="3200" i="1" dirty="0"/>
              <a:t>D:</a:t>
            </a:r>
            <a:r>
              <a:rPr lang="en-US" altLang="tr-TR" sz="3200" dirty="0"/>
              <a:t> </a:t>
            </a:r>
            <a:r>
              <a:rPr lang="en-US" altLang="tr-TR" sz="3200" i="1" dirty="0"/>
              <a:t>disputing</a:t>
            </a:r>
            <a:r>
              <a:rPr lang="en-US" altLang="tr-TR" sz="3200" dirty="0"/>
              <a:t> (challenging) erroneous belief systems</a:t>
            </a:r>
            <a:endParaRPr lang="en-US" altLang="tr-TR" sz="3200" u="sng" dirty="0"/>
          </a:p>
        </p:txBody>
      </p:sp>
    </p:spTree>
    <p:extLst>
      <p:ext uri="{BB962C8B-B14F-4D97-AF65-F5344CB8AC3E}">
        <p14:creationId xmlns:p14="http://schemas.microsoft.com/office/powerpoint/2010/main" val="28891503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6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57400" y="838200"/>
            <a:ext cx="7924800" cy="5410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1733809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674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35188" y="549275"/>
            <a:ext cx="7848600" cy="5975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0954156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/>
          </p:cNvSpPr>
          <p:nvPr>
            <p:ph type="title"/>
          </p:nvPr>
        </p:nvSpPr>
        <p:spPr>
          <a:xfrm>
            <a:off x="966001" y="604615"/>
            <a:ext cx="8153400" cy="990600"/>
          </a:xfrm>
        </p:spPr>
        <p:txBody>
          <a:bodyPr/>
          <a:lstStyle/>
          <a:p>
            <a:pPr>
              <a:defRPr/>
            </a:pPr>
            <a:r>
              <a:rPr lang="en-US" altLang="tr-TR" dirty="0" smtClean="0"/>
              <a:t>Cognitive Therapies</a:t>
            </a:r>
          </a:p>
        </p:txBody>
      </p:sp>
      <p:sp>
        <p:nvSpPr>
          <p:cNvPr id="29699" name="Rectangle 3"/>
          <p:cNvSpPr>
            <a:spLocks noGrp="1"/>
          </p:cNvSpPr>
          <p:nvPr>
            <p:ph idx="1"/>
          </p:nvPr>
        </p:nvSpPr>
        <p:spPr>
          <a:xfrm>
            <a:off x="461799" y="2300955"/>
            <a:ext cx="11220302" cy="4495800"/>
          </a:xfrm>
        </p:spPr>
        <p:txBody>
          <a:bodyPr>
            <a:normAutofit/>
          </a:bodyPr>
          <a:lstStyle/>
          <a:p>
            <a:pPr eaLnBrk="1" hangingPunct="1"/>
            <a:r>
              <a:rPr lang="en-US" altLang="tr-TR" sz="3200" b="1" u="sng" dirty="0"/>
              <a:t>B - Cognitive Therapy (Aaron Beck)</a:t>
            </a:r>
            <a:r>
              <a:rPr lang="en-US" altLang="tr-TR" sz="3200" b="1" dirty="0"/>
              <a:t>: </a:t>
            </a:r>
            <a:r>
              <a:rPr lang="en-US" altLang="tr-TR" sz="3200" dirty="0"/>
              <a:t>goal is to identify </a:t>
            </a:r>
            <a:r>
              <a:rPr lang="en-US" altLang="tr-TR" sz="3200" b="1" dirty="0"/>
              <a:t>faulty/negative automatic thoughts </a:t>
            </a:r>
            <a:r>
              <a:rPr lang="en-US" altLang="tr-TR" sz="3200" dirty="0"/>
              <a:t>and to help clients change these thought patterns</a:t>
            </a:r>
          </a:p>
          <a:p>
            <a:pPr marL="901700" lvl="2"/>
            <a:r>
              <a:rPr lang="en-US" altLang="tr-TR" sz="2000" i="1" dirty="0"/>
              <a:t>For example, “I am worthless and cannot do anything right” thought in depression.</a:t>
            </a:r>
          </a:p>
          <a:p>
            <a:pPr marL="901700" lvl="2"/>
            <a:r>
              <a:rPr lang="en-US" altLang="tr-TR" sz="2000" i="1" dirty="0"/>
              <a:t>The “Negative Triad”</a:t>
            </a:r>
          </a:p>
          <a:p>
            <a:pPr marL="501650" lvl="1"/>
            <a:r>
              <a:rPr lang="en-US" altLang="tr-TR" sz="3200" dirty="0"/>
              <a:t>Help clients realize that their thoughts, and not the situation, cause their maladaptive emotional reactions</a:t>
            </a:r>
          </a:p>
          <a:p>
            <a:pPr marL="501650" lvl="1"/>
            <a:endParaRPr lang="en-US" altLang="tr-TR" i="1" u="sng" dirty="0" smtClean="0"/>
          </a:p>
        </p:txBody>
      </p:sp>
    </p:spTree>
    <p:extLst>
      <p:ext uri="{BB962C8B-B14F-4D97-AF65-F5344CB8AC3E}">
        <p14:creationId xmlns:p14="http://schemas.microsoft.com/office/powerpoint/2010/main" val="21851078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22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8500" y="1471614"/>
            <a:ext cx="5715000" cy="391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1223273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Title 1"/>
          <p:cNvSpPr>
            <a:spLocks noGrp="1"/>
          </p:cNvSpPr>
          <p:nvPr>
            <p:ph type="title"/>
          </p:nvPr>
        </p:nvSpPr>
        <p:spPr>
          <a:xfrm>
            <a:off x="825381" y="330807"/>
            <a:ext cx="7772400" cy="1609344"/>
          </a:xfrm>
        </p:spPr>
        <p:txBody>
          <a:bodyPr/>
          <a:lstStyle/>
          <a:p>
            <a:pPr>
              <a:defRPr/>
            </a:pPr>
            <a:r>
              <a:rPr lang="en-US" altLang="tr-TR" dirty="0" smtClean="0"/>
              <a:t>Cognitive Therapies</a:t>
            </a:r>
            <a:endParaRPr lang="en-US" altLang="en-US" dirty="0" smtClean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534FE4-4DD2-4C07-BE8C-4DE26B8873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0641" y="2351518"/>
            <a:ext cx="11113094" cy="4051300"/>
          </a:xfrm>
        </p:spPr>
        <p:txBody>
          <a:bodyPr rtlCol="0">
            <a:normAutofit fontScale="85000" lnSpcReduction="10000"/>
          </a:bodyPr>
          <a:lstStyle/>
          <a:p>
            <a:pPr marL="182880" indent="-182880">
              <a:buClr>
                <a:schemeClr val="accent1">
                  <a:lumMod val="75000"/>
                </a:schemeClr>
              </a:buClr>
              <a:defRPr/>
            </a:pPr>
            <a:r>
              <a:rPr lang="en-US" sz="2800" b="1" u="sng" dirty="0"/>
              <a:t>C – </a:t>
            </a:r>
            <a:r>
              <a:rPr lang="en-US" sz="2800" b="1" u="sng" dirty="0" smtClean="0"/>
              <a:t>Cognitive </a:t>
            </a:r>
            <a:r>
              <a:rPr lang="en-US" sz="2800" b="1" u="sng" dirty="0" err="1" smtClean="0"/>
              <a:t>Behavioural</a:t>
            </a:r>
            <a:r>
              <a:rPr lang="en-US" sz="2800" b="1" u="sng" dirty="0" smtClean="0"/>
              <a:t> Therapy: </a:t>
            </a:r>
            <a:r>
              <a:rPr lang="en-US" dirty="0" smtClean="0"/>
              <a:t>CBT </a:t>
            </a:r>
            <a:r>
              <a:rPr lang="en-US" dirty="0"/>
              <a:t>is a widely used, evidence-based form of talk therapy that helps people manage problems by changing the way they think (cognitions) and behave</a:t>
            </a:r>
            <a:r>
              <a:rPr lang="en-US" dirty="0" smtClean="0"/>
              <a:t>.</a:t>
            </a:r>
          </a:p>
          <a:p>
            <a:pPr marL="182880" indent="-182880">
              <a:buClr>
                <a:schemeClr val="accent1">
                  <a:lumMod val="75000"/>
                </a:schemeClr>
              </a:buClr>
              <a:defRPr/>
            </a:pPr>
            <a:r>
              <a:rPr lang="en-US" dirty="0"/>
              <a:t>It is based on the concept that our thoughts, feelings, and behaviors are interconnected. Negative or distorted thought patterns can lead to emotional distress and unhelpful behaviors, creating a vicious cycle.</a:t>
            </a:r>
          </a:p>
          <a:p>
            <a:pPr marL="182880" indent="-182880">
              <a:buClr>
                <a:schemeClr val="accent1">
                  <a:lumMod val="75000"/>
                </a:schemeClr>
              </a:buClr>
              <a:defRPr/>
            </a:pPr>
            <a:r>
              <a:rPr lang="en-US" dirty="0"/>
              <a:t>CBT focuses on identifying and challenging these unhelpful thoughts, replacing them with more balanced and realistic ones, while also encouraging healthier behavioral changes</a:t>
            </a:r>
            <a:r>
              <a:rPr lang="en-US" dirty="0" smtClean="0"/>
              <a:t>.</a:t>
            </a:r>
          </a:p>
          <a:p>
            <a:pPr marL="182880" indent="-182880">
              <a:buClr>
                <a:schemeClr val="accent1">
                  <a:lumMod val="75000"/>
                </a:schemeClr>
              </a:buClr>
              <a:defRPr/>
            </a:pPr>
            <a:r>
              <a:rPr lang="en-US" dirty="0" smtClean="0"/>
              <a:t>Uses the ABC model</a:t>
            </a:r>
          </a:p>
          <a:p>
            <a:pPr marL="0" indent="0">
              <a:buNone/>
            </a:pPr>
            <a:r>
              <a:rPr lang="en-US" b="1" dirty="0" smtClean="0"/>
              <a:t>E.g. Someone with </a:t>
            </a:r>
            <a:r>
              <a:rPr lang="en-US" b="1" dirty="0"/>
              <a:t>social anxiety is invited to a work party.</a:t>
            </a:r>
          </a:p>
          <a:p>
            <a:r>
              <a:rPr lang="en-US" b="1" dirty="0"/>
              <a:t>A (Activating Event):</a:t>
            </a:r>
            <a:r>
              <a:rPr lang="en-US" dirty="0"/>
              <a:t> You arrive at the party and notice a group of colleagues talking, but no one immediately approaches you to chat</a:t>
            </a:r>
            <a:r>
              <a:rPr lang="en-US" dirty="0" smtClean="0"/>
              <a:t>.</a:t>
            </a:r>
          </a:p>
          <a:p>
            <a:r>
              <a:rPr lang="en-US" b="1" dirty="0"/>
              <a:t>B (Belief): </a:t>
            </a:r>
            <a:r>
              <a:rPr lang="en-US" dirty="0"/>
              <a:t>"They think I'm boring and awkward. Everyone here dislikes me, and I'll never fit in. This proves I'm unlikeable."</a:t>
            </a:r>
          </a:p>
          <a:p>
            <a:r>
              <a:rPr lang="en-US" b="1" dirty="0"/>
              <a:t>C (Consequence):</a:t>
            </a:r>
            <a:r>
              <a:rPr lang="en-US" dirty="0"/>
              <a:t> </a:t>
            </a:r>
            <a:r>
              <a:rPr lang="en-US" b="1" dirty="0"/>
              <a:t>Emotional:</a:t>
            </a:r>
            <a:r>
              <a:rPr lang="en-US" dirty="0"/>
              <a:t> Intense anxiety, embarrassment, or shame</a:t>
            </a:r>
            <a:r>
              <a:rPr lang="en-US" dirty="0" smtClean="0"/>
              <a:t>. &amp; </a:t>
            </a:r>
            <a:r>
              <a:rPr lang="en-US" b="1" dirty="0" smtClean="0"/>
              <a:t>Behavioral</a:t>
            </a:r>
            <a:r>
              <a:rPr lang="en-US" b="1" dirty="0"/>
              <a:t>:</a:t>
            </a:r>
            <a:r>
              <a:rPr lang="en-US" dirty="0"/>
              <a:t> You leave the party early, avoid eye contact, or stand alone in a corner.</a:t>
            </a:r>
          </a:p>
          <a:p>
            <a:endParaRPr lang="en-US" dirty="0"/>
          </a:p>
          <a:p>
            <a:pPr marL="182880" indent="-182880">
              <a:buClr>
                <a:schemeClr val="accent1">
                  <a:lumMod val="75000"/>
                </a:schemeClr>
              </a:buClr>
              <a:defRPr/>
            </a:pPr>
            <a:endParaRPr lang="en-US" dirty="0"/>
          </a:p>
          <a:p>
            <a:pPr marL="182880" indent="-182880">
              <a:buClr>
                <a:schemeClr val="accent1">
                  <a:lumMod val="75000"/>
                </a:schemeClr>
              </a:buClr>
              <a:defRPr/>
            </a:pPr>
            <a:endParaRPr lang="en-US" dirty="0"/>
          </a:p>
          <a:p>
            <a:pPr marL="182880" indent="-182880">
              <a:buClr>
                <a:schemeClr val="accent1">
                  <a:lumMod val="75000"/>
                </a:schemeClr>
              </a:buClr>
              <a:defRPr/>
            </a:pPr>
            <a:endParaRPr lang="en-US" b="1" u="sng" dirty="0"/>
          </a:p>
        </p:txBody>
      </p:sp>
    </p:spTree>
    <p:extLst>
      <p:ext uri="{BB962C8B-B14F-4D97-AF65-F5344CB8AC3E}">
        <p14:creationId xmlns:p14="http://schemas.microsoft.com/office/powerpoint/2010/main" val="23711315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/>
          <p:cNvSpPr>
            <a:spLocks noGrp="1"/>
          </p:cNvSpPr>
          <p:nvPr>
            <p:ph type="title"/>
          </p:nvPr>
        </p:nvSpPr>
        <p:spPr>
          <a:xfrm>
            <a:off x="974547" y="609600"/>
            <a:ext cx="8153400" cy="990600"/>
          </a:xfrm>
        </p:spPr>
        <p:txBody>
          <a:bodyPr/>
          <a:lstStyle/>
          <a:p>
            <a:pPr>
              <a:defRPr/>
            </a:pPr>
            <a:r>
              <a:rPr lang="en-US" altLang="tr-TR" dirty="0" smtClean="0"/>
              <a:t>V - Behavior Therapies</a:t>
            </a:r>
          </a:p>
        </p:txBody>
      </p:sp>
      <p:sp>
        <p:nvSpPr>
          <p:cNvPr id="32771" name="Rectangle 3"/>
          <p:cNvSpPr>
            <a:spLocks noGrp="1"/>
          </p:cNvSpPr>
          <p:nvPr>
            <p:ph idx="1"/>
          </p:nvPr>
        </p:nvSpPr>
        <p:spPr>
          <a:xfrm>
            <a:off x="572893" y="2372882"/>
            <a:ext cx="11023749" cy="4495800"/>
          </a:xfrm>
        </p:spPr>
        <p:txBody>
          <a:bodyPr>
            <a:normAutofit/>
          </a:bodyPr>
          <a:lstStyle/>
          <a:p>
            <a:pPr eaLnBrk="1" hangingPunct="1">
              <a:lnSpc>
                <a:spcPct val="80000"/>
              </a:lnSpc>
            </a:pPr>
            <a:r>
              <a:rPr lang="en-US" altLang="tr-TR" sz="3600" dirty="0"/>
              <a:t>Behavioral approaches believe that: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tr-TR" sz="3200" dirty="0"/>
              <a:t>Maladaptive behaviors are not merely symptoms of underlying problems</a:t>
            </a:r>
          </a:p>
          <a:p>
            <a:pPr lvl="2" eaLnBrk="1" hangingPunct="1">
              <a:lnSpc>
                <a:spcPct val="80000"/>
              </a:lnSpc>
            </a:pPr>
            <a:r>
              <a:rPr lang="en-US" altLang="tr-TR" sz="3200" dirty="0"/>
              <a:t>The behaviors </a:t>
            </a:r>
            <a:r>
              <a:rPr lang="en-US" altLang="tr-TR" sz="3200" i="1" dirty="0"/>
              <a:t>are</a:t>
            </a:r>
            <a:r>
              <a:rPr lang="en-US" altLang="tr-TR" sz="3200" dirty="0"/>
              <a:t> the problem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tr-TR" sz="3200" dirty="0"/>
              <a:t>Problem behaviors are learned in the same ways normal behaviors are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tr-TR" sz="3200" dirty="0"/>
              <a:t>Maladaptive behaviors can be unlearned by applying classical conditioning, operant conditioning, and modeling principles</a:t>
            </a:r>
          </a:p>
        </p:txBody>
      </p:sp>
    </p:spTree>
    <p:extLst>
      <p:ext uri="{BB962C8B-B14F-4D97-AF65-F5344CB8AC3E}">
        <p14:creationId xmlns:p14="http://schemas.microsoft.com/office/powerpoint/2010/main" val="1835537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/>
          <p:cNvSpPr>
            <a:spLocks noGrp="1"/>
          </p:cNvSpPr>
          <p:nvPr>
            <p:ph type="title"/>
          </p:nvPr>
        </p:nvSpPr>
        <p:spPr>
          <a:xfrm>
            <a:off x="760902" y="655890"/>
            <a:ext cx="8153400" cy="990600"/>
          </a:xfrm>
        </p:spPr>
        <p:txBody>
          <a:bodyPr/>
          <a:lstStyle/>
          <a:p>
            <a:pPr>
              <a:defRPr/>
            </a:pPr>
            <a:r>
              <a:rPr lang="en-US" altLang="tr-TR" dirty="0" smtClean="0"/>
              <a:t>Behavior Therapies</a:t>
            </a:r>
          </a:p>
        </p:txBody>
      </p:sp>
      <p:sp>
        <p:nvSpPr>
          <p:cNvPr id="43011" name="Rectangle 3">
            <a:extLst>
              <a:ext uri="{FF2B5EF4-FFF2-40B4-BE49-F238E27FC236}">
                <a16:creationId xmlns:a16="http://schemas.microsoft.com/office/drawing/2014/main" id="{D17AC241-C75C-4E24-9C34-AF60D55A2CE8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70344" y="2389974"/>
            <a:ext cx="11245939" cy="4876800"/>
          </a:xfrm>
        </p:spPr>
        <p:txBody>
          <a:bodyPr rtlCol="0">
            <a:normAutofit/>
          </a:bodyPr>
          <a:lstStyle/>
          <a:p>
            <a:pPr marL="182880" indent="-182880">
              <a:buClr>
                <a:schemeClr val="accent1">
                  <a:lumMod val="75000"/>
                </a:schemeClr>
              </a:buClr>
              <a:buFont typeface="Wingdings" charset="2"/>
              <a:buChar char="§"/>
              <a:defRPr/>
            </a:pPr>
            <a:r>
              <a:rPr lang="en-US" sz="3600" b="1" u="sng" dirty="0">
                <a:latin typeface="+mj-lt"/>
              </a:rPr>
              <a:t>A - Exposure Therapy</a:t>
            </a:r>
            <a:endParaRPr lang="en-US" sz="3600" b="1" dirty="0">
              <a:latin typeface="+mj-lt"/>
            </a:endParaRPr>
          </a:p>
          <a:p>
            <a:pPr marL="502920" lvl="1" indent="-182880">
              <a:buClr>
                <a:schemeClr val="accent1">
                  <a:lumMod val="75000"/>
                </a:schemeClr>
              </a:buClr>
              <a:buFont typeface="Wingdings" charset="2"/>
              <a:buChar char="§"/>
              <a:defRPr/>
            </a:pPr>
            <a:r>
              <a:rPr lang="en-US" sz="3200" dirty="0"/>
              <a:t>Treat phobias through exposure to the feared</a:t>
            </a:r>
            <a:r>
              <a:rPr lang="tr-TR" sz="3200" dirty="0"/>
              <a:t> </a:t>
            </a:r>
            <a:r>
              <a:rPr lang="tr-TR" sz="3200" dirty="0" err="1"/>
              <a:t>stimulus</a:t>
            </a:r>
            <a:r>
              <a:rPr lang="en-US" sz="3200" dirty="0"/>
              <a:t> </a:t>
            </a:r>
            <a:endParaRPr lang="tr-TR" sz="3200" dirty="0"/>
          </a:p>
          <a:p>
            <a:pPr marL="502920" lvl="1" indent="-182880">
              <a:buClr>
                <a:schemeClr val="accent1">
                  <a:lumMod val="75000"/>
                </a:schemeClr>
              </a:buClr>
              <a:buFont typeface="Wingdings" charset="2"/>
              <a:buChar char="§"/>
              <a:defRPr/>
            </a:pPr>
            <a:r>
              <a:rPr lang="en-US" sz="3200" dirty="0"/>
              <a:t>Highly effective for reducing anxiety responses</a:t>
            </a:r>
          </a:p>
          <a:p>
            <a:pPr marL="502920" lvl="1" indent="-182880">
              <a:buClr>
                <a:schemeClr val="accent1">
                  <a:lumMod val="75000"/>
                </a:schemeClr>
              </a:buClr>
              <a:buFont typeface="Wingdings" charset="2"/>
              <a:buChar char="§"/>
              <a:defRPr/>
            </a:pPr>
            <a:r>
              <a:rPr lang="en-US" sz="3200" dirty="0"/>
              <a:t>Systematic desensitization and Flooding</a:t>
            </a:r>
          </a:p>
        </p:txBody>
      </p:sp>
    </p:spTree>
    <p:extLst>
      <p:ext uri="{BB962C8B-B14F-4D97-AF65-F5344CB8AC3E}">
        <p14:creationId xmlns:p14="http://schemas.microsoft.com/office/powerpoint/2010/main" val="28624637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4636" y="1423242"/>
            <a:ext cx="8382727" cy="40115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59489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842" name="Picture 6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7848" y="1102407"/>
            <a:ext cx="4742915" cy="50163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46221" y="1162228"/>
            <a:ext cx="4794190" cy="47001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53116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2"/>
          <p:cNvSpPr>
            <a:spLocks noGrp="1"/>
          </p:cNvSpPr>
          <p:nvPr>
            <p:ph type="title"/>
          </p:nvPr>
        </p:nvSpPr>
        <p:spPr>
          <a:xfrm>
            <a:off x="658353" y="604615"/>
            <a:ext cx="8153400" cy="990600"/>
          </a:xfrm>
        </p:spPr>
        <p:txBody>
          <a:bodyPr/>
          <a:lstStyle/>
          <a:p>
            <a:pPr>
              <a:defRPr/>
            </a:pPr>
            <a:r>
              <a:rPr lang="en-US" altLang="tr-TR" dirty="0" smtClean="0"/>
              <a:t>Behavior Therapies</a:t>
            </a:r>
          </a:p>
        </p:txBody>
      </p:sp>
      <p:sp>
        <p:nvSpPr>
          <p:cNvPr id="47107" name="Rectangle 3">
            <a:extLst>
              <a:ext uri="{FF2B5EF4-FFF2-40B4-BE49-F238E27FC236}">
                <a16:creationId xmlns:a16="http://schemas.microsoft.com/office/drawing/2014/main" id="{71661944-485D-42A9-B8D0-056AD7D3EEA8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95981" y="2362200"/>
            <a:ext cx="11177573" cy="4495800"/>
          </a:xfrm>
        </p:spPr>
        <p:txBody>
          <a:bodyPr rtlCol="0">
            <a:normAutofit/>
          </a:bodyPr>
          <a:lstStyle/>
          <a:p>
            <a:pPr marL="182880" indent="-182880">
              <a:buClr>
                <a:schemeClr val="accent1">
                  <a:lumMod val="75000"/>
                </a:schemeClr>
              </a:buClr>
              <a:buFont typeface="Wingdings" charset="2"/>
              <a:buChar char="§"/>
              <a:defRPr/>
            </a:pPr>
            <a:r>
              <a:rPr lang="en-US" sz="3600" b="1" u="sng" dirty="0"/>
              <a:t>B - Aversion Therapy</a:t>
            </a:r>
            <a:r>
              <a:rPr lang="en-US" sz="3600" u="sng" dirty="0"/>
              <a:t>:</a:t>
            </a:r>
            <a:r>
              <a:rPr lang="en-US" sz="3600" dirty="0"/>
              <a:t> the therapist pairs a stimulus that is attractive to the client with a noxious </a:t>
            </a:r>
            <a:r>
              <a:rPr lang="tr-TR" sz="3600" dirty="0" err="1"/>
              <a:t>stimulus</a:t>
            </a:r>
            <a:r>
              <a:rPr lang="en-US" sz="3600" dirty="0"/>
              <a:t> in an attempt to condition an aversion to the </a:t>
            </a:r>
            <a:r>
              <a:rPr lang="tr-TR" sz="3600" dirty="0" err="1"/>
              <a:t>stimulus</a:t>
            </a:r>
            <a:r>
              <a:rPr lang="en-US" sz="3600" dirty="0"/>
              <a:t> </a:t>
            </a:r>
            <a:endParaRPr lang="tr-TR" sz="3600" dirty="0"/>
          </a:p>
          <a:p>
            <a:pPr lvl="1" indent="-182880">
              <a:buClr>
                <a:schemeClr val="accent1">
                  <a:lumMod val="75000"/>
                </a:schemeClr>
              </a:buClr>
              <a:buFont typeface="Wingdings" charset="2"/>
              <a:buChar char="§"/>
              <a:defRPr/>
            </a:pPr>
            <a:r>
              <a:rPr lang="en-US" sz="3600" dirty="0"/>
              <a:t>Examples: alcohol, pedophiles</a:t>
            </a:r>
          </a:p>
          <a:p>
            <a:pPr marL="502920" lvl="1" indent="-182880">
              <a:buClr>
                <a:schemeClr val="accent1">
                  <a:lumMod val="75000"/>
                </a:schemeClr>
              </a:buClr>
              <a:buFont typeface="Wingdings" charset="2"/>
              <a:buChar char="§"/>
              <a:defRPr/>
            </a:pPr>
            <a:r>
              <a:rPr lang="en-US" sz="3200" dirty="0"/>
              <a:t>More effective if paired with a comprehensive treatment program</a:t>
            </a:r>
          </a:p>
        </p:txBody>
      </p:sp>
    </p:spTree>
    <p:extLst>
      <p:ext uri="{BB962C8B-B14F-4D97-AF65-F5344CB8AC3E}">
        <p14:creationId xmlns:p14="http://schemas.microsoft.com/office/powerpoint/2010/main" val="25260085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2"/>
          <p:cNvSpPr>
            <a:spLocks noGrp="1"/>
          </p:cNvSpPr>
          <p:nvPr>
            <p:ph type="title"/>
          </p:nvPr>
        </p:nvSpPr>
        <p:spPr>
          <a:xfrm>
            <a:off x="752356" y="553340"/>
            <a:ext cx="8153400" cy="990600"/>
          </a:xfrm>
        </p:spPr>
        <p:txBody>
          <a:bodyPr/>
          <a:lstStyle/>
          <a:p>
            <a:pPr>
              <a:defRPr/>
            </a:pPr>
            <a:r>
              <a:rPr lang="en-US" altLang="tr-TR" dirty="0" smtClean="0"/>
              <a:t>Behavior Therapies</a:t>
            </a:r>
          </a:p>
        </p:txBody>
      </p:sp>
      <p:pic>
        <p:nvPicPr>
          <p:cNvPr id="37891" name="Picture 5" descr="pas82760_161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24200" y="2401368"/>
            <a:ext cx="6400800" cy="39994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6655517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5" name="Rectangle 4"/>
          <p:cNvSpPr>
            <a:spLocks noChangeArrowheads="1"/>
          </p:cNvSpPr>
          <p:nvPr/>
        </p:nvSpPr>
        <p:spPr bwMode="auto">
          <a:xfrm>
            <a:off x="5666574" y="2125055"/>
            <a:ext cx="5904104" cy="3046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dirty="0"/>
              <a:t>Malcolm McDowell in a scene from </a:t>
            </a:r>
            <a:r>
              <a:rPr lang="en-US" i="1" dirty="0"/>
              <a:t>A</a:t>
            </a:r>
          </a:p>
          <a:p>
            <a:r>
              <a:rPr lang="en-US" i="1" dirty="0"/>
              <a:t>Clockwork Orange</a:t>
            </a:r>
            <a:r>
              <a:rPr lang="en-US" dirty="0"/>
              <a:t>. His eyes are clamped open, </a:t>
            </a:r>
            <a:r>
              <a:rPr lang="en-US" dirty="0" smtClean="0"/>
              <a:t>forcing him </a:t>
            </a:r>
            <a:r>
              <a:rPr lang="en-US" dirty="0"/>
              <a:t>to watch a film portraying acts of violence </a:t>
            </a:r>
            <a:r>
              <a:rPr lang="en-US" dirty="0" smtClean="0"/>
              <a:t>and sadism</a:t>
            </a:r>
            <a:r>
              <a:rPr lang="en-US" dirty="0"/>
              <a:t>, as part of aversion therapy. He’d earlier been</a:t>
            </a:r>
          </a:p>
          <a:p>
            <a:r>
              <a:rPr lang="en-US" dirty="0"/>
              <a:t>given an emetic drug, so that extreme nausea </a:t>
            </a:r>
            <a:r>
              <a:rPr lang="en-US" dirty="0" smtClean="0"/>
              <a:t>and violence </a:t>
            </a:r>
            <a:r>
              <a:rPr lang="en-US" dirty="0"/>
              <a:t>will become </a:t>
            </a:r>
            <a:r>
              <a:rPr lang="en-US" dirty="0" smtClean="0"/>
              <a:t>associated.</a:t>
            </a:r>
            <a:endParaRPr lang="en-GB" altLang="en-US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3326" y="1992699"/>
            <a:ext cx="4901101" cy="30093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68215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2"/>
          <p:cNvSpPr>
            <a:spLocks noGrp="1"/>
          </p:cNvSpPr>
          <p:nvPr>
            <p:ph type="title"/>
          </p:nvPr>
        </p:nvSpPr>
        <p:spPr>
          <a:xfrm>
            <a:off x="897635" y="609600"/>
            <a:ext cx="8153400" cy="990600"/>
          </a:xfrm>
        </p:spPr>
        <p:txBody>
          <a:bodyPr/>
          <a:lstStyle/>
          <a:p>
            <a:pPr>
              <a:defRPr/>
            </a:pPr>
            <a:r>
              <a:rPr lang="en-US" altLang="tr-TR" dirty="0" smtClean="0"/>
              <a:t>Behavior Therapies</a:t>
            </a:r>
          </a:p>
        </p:txBody>
      </p:sp>
      <p:sp>
        <p:nvSpPr>
          <p:cNvPr id="39939" name="Rectangle 3"/>
          <p:cNvSpPr>
            <a:spLocks noGrp="1" noChangeArrowheads="1"/>
          </p:cNvSpPr>
          <p:nvPr>
            <p:ph idx="1"/>
          </p:nvPr>
        </p:nvSpPr>
        <p:spPr>
          <a:xfrm>
            <a:off x="453253" y="2258226"/>
            <a:ext cx="11143389" cy="4495800"/>
          </a:xfrm>
        </p:spPr>
        <p:txBody>
          <a:bodyPr>
            <a:normAutofit/>
          </a:bodyPr>
          <a:lstStyle/>
          <a:p>
            <a:pPr eaLnBrk="1" hangingPunct="1"/>
            <a:r>
              <a:rPr lang="en-US" altLang="en-US" sz="3600" b="1" u="sng" dirty="0"/>
              <a:t>C - Token Economy</a:t>
            </a:r>
          </a:p>
          <a:p>
            <a:pPr lvl="1" eaLnBrk="1" hangingPunct="1">
              <a:spcAft>
                <a:spcPct val="0"/>
              </a:spcAft>
            </a:pPr>
            <a:r>
              <a:rPr lang="en-US" altLang="en-US" sz="3200" dirty="0"/>
              <a:t>System for strengthening desired behaviors through the systematic application of positive reinforcement</a:t>
            </a:r>
          </a:p>
          <a:p>
            <a:pPr lvl="2" eaLnBrk="1" hangingPunct="1">
              <a:spcAft>
                <a:spcPct val="0"/>
              </a:spcAft>
            </a:pPr>
            <a:r>
              <a:rPr lang="en-US" altLang="en-US" sz="3200" dirty="0"/>
              <a:t>Tokens are given for desirable behaviors; they can then be exchanged for tangible </a:t>
            </a:r>
            <a:r>
              <a:rPr lang="en-US" altLang="en-US" sz="3200" dirty="0" err="1"/>
              <a:t>reinforcers</a:t>
            </a:r>
            <a:endParaRPr lang="en-US" altLang="en-US" sz="3200" dirty="0"/>
          </a:p>
          <a:p>
            <a:pPr lvl="2" eaLnBrk="1" hangingPunct="1">
              <a:spcAft>
                <a:spcPct val="0"/>
              </a:spcAft>
            </a:pPr>
            <a:r>
              <a:rPr lang="en-US" altLang="en-US" sz="3200" dirty="0"/>
              <a:t>Very effective in a wide variety of situations</a:t>
            </a:r>
          </a:p>
        </p:txBody>
      </p:sp>
    </p:spTree>
    <p:extLst>
      <p:ext uri="{BB962C8B-B14F-4D97-AF65-F5344CB8AC3E}">
        <p14:creationId xmlns:p14="http://schemas.microsoft.com/office/powerpoint/2010/main" val="41350156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81375" y="895350"/>
            <a:ext cx="5429250" cy="5067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97161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Title 1"/>
          <p:cNvSpPr>
            <a:spLocks noGrp="1"/>
          </p:cNvSpPr>
          <p:nvPr>
            <p:ph type="title"/>
          </p:nvPr>
        </p:nvSpPr>
        <p:spPr>
          <a:xfrm>
            <a:off x="726719" y="664435"/>
            <a:ext cx="8153400" cy="990600"/>
          </a:xfrm>
        </p:spPr>
        <p:txBody>
          <a:bodyPr/>
          <a:lstStyle/>
          <a:p>
            <a:pPr>
              <a:defRPr/>
            </a:pPr>
            <a:r>
              <a:rPr lang="en-GB" altLang="tr-TR" dirty="0" smtClean="0"/>
              <a:t>Lecture summary</a:t>
            </a:r>
          </a:p>
        </p:txBody>
      </p:sp>
      <p:sp>
        <p:nvSpPr>
          <p:cNvPr id="44035" name="Content Placeholder 2"/>
          <p:cNvSpPr>
            <a:spLocks noGrp="1"/>
          </p:cNvSpPr>
          <p:nvPr>
            <p:ph idx="1"/>
          </p:nvPr>
        </p:nvSpPr>
        <p:spPr>
          <a:xfrm>
            <a:off x="530164" y="2574420"/>
            <a:ext cx="11126299" cy="4495800"/>
          </a:xfrm>
        </p:spPr>
        <p:txBody>
          <a:bodyPr/>
          <a:lstStyle/>
          <a:p>
            <a:pPr eaLnBrk="1" hangingPunct="1"/>
            <a:r>
              <a:rPr lang="en-GB" altLang="tr-TR" sz="2800" dirty="0"/>
              <a:t>What are biological treatments (e.g. drug treatment)?  Psychodynamic therapies? Humanistic therapies? Cognitive therapies? Behavioural therapies?</a:t>
            </a:r>
          </a:p>
          <a:p>
            <a:pPr eaLnBrk="1" hangingPunct="1"/>
            <a:endParaRPr lang="en-GB" altLang="tr-TR" sz="2800" dirty="0"/>
          </a:p>
          <a:p>
            <a:pPr eaLnBrk="1" hangingPunct="1"/>
            <a:endParaRPr lang="en-GB" altLang="tr-TR" dirty="0" smtClean="0"/>
          </a:p>
          <a:p>
            <a:pPr eaLnBrk="1" hangingPunct="1"/>
            <a:endParaRPr lang="en-GB" altLang="tr-TR" dirty="0" smtClean="0"/>
          </a:p>
          <a:p>
            <a:pPr eaLnBrk="1" hangingPunct="1"/>
            <a:endParaRPr lang="en-GB" altLang="tr-TR" dirty="0" smtClean="0"/>
          </a:p>
          <a:p>
            <a:pPr eaLnBrk="1" hangingPunct="1"/>
            <a:endParaRPr lang="en-GB" altLang="tr-TR" dirty="0" smtClean="0"/>
          </a:p>
        </p:txBody>
      </p:sp>
    </p:spTree>
    <p:extLst>
      <p:ext uri="{BB962C8B-B14F-4D97-AF65-F5344CB8AC3E}">
        <p14:creationId xmlns:p14="http://schemas.microsoft.com/office/powerpoint/2010/main" val="22356583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 Boardroom">
  <a:themeElements>
    <a:clrScheme name="Ion Boardroom">
      <a:dk1>
        <a:sysClr val="windowText" lastClr="000000"/>
      </a:dk1>
      <a:lt1>
        <a:sysClr val="window" lastClr="FFFFFF"/>
      </a:lt1>
      <a:dk2>
        <a:srgbClr val="0E5580"/>
      </a:dk2>
      <a:lt2>
        <a:srgbClr val="EBEBEB"/>
      </a:lt2>
      <a:accent1>
        <a:srgbClr val="ACD433"/>
      </a:accent1>
      <a:accent2>
        <a:srgbClr val="E6C133"/>
      </a:accent2>
      <a:accent3>
        <a:srgbClr val="EF7A24"/>
      </a:accent3>
      <a:accent4>
        <a:srgbClr val="5AA0F5"/>
      </a:accent4>
      <a:accent5>
        <a:srgbClr val="75CEEC"/>
      </a:accent5>
      <a:accent6>
        <a:srgbClr val="65D6A0"/>
      </a:accent6>
      <a:hlink>
        <a:srgbClr val="C4E46E"/>
      </a:hlink>
      <a:folHlink>
        <a:srgbClr val="BDE0FB"/>
      </a:folHlink>
    </a:clrScheme>
    <a:fontScheme name="Ion Boardroom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 Boardroom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2000"/>
                <a:hueMod val="96000"/>
                <a:satMod val="128000"/>
                <a:lumMod val="114000"/>
              </a:schemeClr>
            </a:gs>
            <a:gs pos="100000">
              <a:schemeClr val="phClr">
                <a:shade val="62000"/>
                <a:hueMod val="100000"/>
                <a:satMod val="13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2000"/>
                <a:hueMod val="108000"/>
                <a:satMod val="164000"/>
                <a:lumMod val="69000"/>
              </a:schemeClr>
              <a:schemeClr val="phClr">
                <a:tint val="96000"/>
                <a:hueMod val="90000"/>
                <a:satMod val="130000"/>
                <a:lumMod val="134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 Boardroom" id="{FC33163D-4339-46B1-8EED-24C834239D99}" vid="{A3AB87EF-B655-4FFF-8D05-F333AD7F2789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 Boardroom</Template>
  <TotalTime>52</TotalTime>
  <Words>1210</Words>
  <Application>Microsoft Office PowerPoint</Application>
  <PresentationFormat>Widescreen</PresentationFormat>
  <Paragraphs>147</Paragraphs>
  <Slides>35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35</vt:i4>
      </vt:variant>
    </vt:vector>
  </HeadingPairs>
  <TitlesOfParts>
    <vt:vector size="43" baseType="lpstr">
      <vt:lpstr>ＭＳ Ｐゴシック</vt:lpstr>
      <vt:lpstr>Arial</vt:lpstr>
      <vt:lpstr>Calibri</vt:lpstr>
      <vt:lpstr>Century Gothic</vt:lpstr>
      <vt:lpstr>Rockwell Condensed</vt:lpstr>
      <vt:lpstr>Wingdings</vt:lpstr>
      <vt:lpstr>Wingdings 3</vt:lpstr>
      <vt:lpstr>Ion Boardroom</vt:lpstr>
      <vt:lpstr>PSYC100 GENERAL PSYCHOLOGY</vt:lpstr>
      <vt:lpstr>Learning Outcomes</vt:lpstr>
      <vt:lpstr>Major Approaches to Treatment</vt:lpstr>
      <vt:lpstr>I - Biological Approaches</vt:lpstr>
      <vt:lpstr>A) Drug Therapies</vt:lpstr>
      <vt:lpstr>Drug Therapies</vt:lpstr>
      <vt:lpstr>Drug Therapies</vt:lpstr>
      <vt:lpstr>Drug Therapies</vt:lpstr>
      <vt:lpstr>Drug Therapies</vt:lpstr>
      <vt:lpstr>Drug Therapies</vt:lpstr>
      <vt:lpstr>B) Electroconvulsive Therapy</vt:lpstr>
      <vt:lpstr>Electroconvulsive Therapy</vt:lpstr>
      <vt:lpstr>Electroconvulsive Therapy</vt:lpstr>
      <vt:lpstr>C) Psychosurgery</vt:lpstr>
      <vt:lpstr>II - Psychodynamic Therapies</vt:lpstr>
      <vt:lpstr>Psychodynamic Techniques</vt:lpstr>
      <vt:lpstr>III - Humanistic Psychotherapies</vt:lpstr>
      <vt:lpstr>Humanistic Psychotherapies</vt:lpstr>
      <vt:lpstr>IV - Cognitive Therapies</vt:lpstr>
      <vt:lpstr>Cognitive Therapies</vt:lpstr>
      <vt:lpstr>PowerPoint Presentation</vt:lpstr>
      <vt:lpstr>PowerPoint Presentation</vt:lpstr>
      <vt:lpstr>Cognitive Therapies</vt:lpstr>
      <vt:lpstr>PowerPoint Presentation</vt:lpstr>
      <vt:lpstr>Cognitive Therapies</vt:lpstr>
      <vt:lpstr>V - Behavior Therapies</vt:lpstr>
      <vt:lpstr>Behavior Therapies</vt:lpstr>
      <vt:lpstr>PowerPoint Presentation</vt:lpstr>
      <vt:lpstr>PowerPoint Presentation</vt:lpstr>
      <vt:lpstr>Behavior Therapies</vt:lpstr>
      <vt:lpstr>Behavior Therapies</vt:lpstr>
      <vt:lpstr>PowerPoint Presentation</vt:lpstr>
      <vt:lpstr>Behavior Therapies</vt:lpstr>
      <vt:lpstr>PowerPoint Presentation</vt:lpstr>
      <vt:lpstr>Lecture summary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PSYC100 GENERAL PSYCHOLOGY</dc:title>
  <dc:creator>aslı</dc:creator>
  <cp:lastModifiedBy>aslı</cp:lastModifiedBy>
  <cp:revision>7</cp:revision>
  <dcterms:created xsi:type="dcterms:W3CDTF">2025-12-17T07:59:51Z</dcterms:created>
  <dcterms:modified xsi:type="dcterms:W3CDTF">2025-12-17T08:54:37Z</dcterms:modified>
</cp:coreProperties>
</file>