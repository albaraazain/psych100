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82" r:id="rId10"/>
    <p:sldId id="281" r:id="rId11"/>
    <p:sldId id="263" r:id="rId12"/>
    <p:sldId id="264" r:id="rId13"/>
    <p:sldId id="265" r:id="rId14"/>
    <p:sldId id="266" r:id="rId15"/>
    <p:sldId id="283" r:id="rId16"/>
    <p:sldId id="267" r:id="rId17"/>
    <p:sldId id="268" r:id="rId18"/>
    <p:sldId id="279" r:id="rId19"/>
    <p:sldId id="280" r:id="rId20"/>
    <p:sldId id="270" r:id="rId21"/>
    <p:sldId id="271" r:id="rId22"/>
    <p:sldId id="272" r:id="rId23"/>
    <p:sldId id="276" r:id="rId24"/>
    <p:sldId id="277" r:id="rId25"/>
    <p:sldId id="278" r:id="rId26"/>
    <p:sldId id="27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AADABD9-417A-4B1F-921A-525BD5B2C4B5}"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5B3FD8F0-2F10-4673-A039-85D60AA32FB4}">
      <dgm:prSet/>
      <dgm:spPr/>
      <dgm:t>
        <a:bodyPr/>
        <a:lstStyle/>
        <a:p>
          <a:r>
            <a:rPr lang="en-GB"/>
            <a:t>Behaviourist approaches</a:t>
          </a:r>
          <a:endParaRPr lang="en-US"/>
        </a:p>
      </dgm:t>
    </dgm:pt>
    <dgm:pt modelId="{AE2F5554-370E-4425-9492-C512FE2AE87E}" cxnId="{EDAA4594-836F-4403-BAF4-EA77D2CE4741}" type="parTrans">
      <dgm:prSet/>
      <dgm:spPr/>
      <dgm:t>
        <a:bodyPr/>
        <a:lstStyle/>
        <a:p>
          <a:endParaRPr lang="en-US"/>
        </a:p>
      </dgm:t>
    </dgm:pt>
    <dgm:pt modelId="{9E04CCE1-D5DC-47A7-96E5-865E91EF7D28}" cxnId="{EDAA4594-836F-4403-BAF4-EA77D2CE4741}" type="sibTrans">
      <dgm:prSet/>
      <dgm:spPr/>
      <dgm:t>
        <a:bodyPr/>
        <a:lstStyle/>
        <a:p>
          <a:endParaRPr lang="en-US"/>
        </a:p>
      </dgm:t>
    </dgm:pt>
    <dgm:pt modelId="{BDFDB44E-DB89-4957-9060-4C021AB04362}">
      <dgm:prSet/>
      <dgm:spPr/>
      <dgm:t>
        <a:bodyPr/>
        <a:lstStyle/>
        <a:p>
          <a:r>
            <a:rPr lang="en-GB"/>
            <a:t>Classical conditioning - Pavlov, Watson</a:t>
          </a:r>
          <a:endParaRPr lang="en-US"/>
        </a:p>
      </dgm:t>
    </dgm:pt>
    <dgm:pt modelId="{62CC1CF4-8B8A-481F-A878-63229EAF9E80}" cxnId="{D4A058C8-70B1-4EF5-872A-9BF9BE252DC1}" type="parTrans">
      <dgm:prSet/>
      <dgm:spPr/>
      <dgm:t>
        <a:bodyPr/>
        <a:lstStyle/>
        <a:p>
          <a:endParaRPr lang="en-US"/>
        </a:p>
      </dgm:t>
    </dgm:pt>
    <dgm:pt modelId="{BAFF4A19-70CC-4BEE-9A1A-3A6854F9D5DB}" cxnId="{D4A058C8-70B1-4EF5-872A-9BF9BE252DC1}" type="sibTrans">
      <dgm:prSet/>
      <dgm:spPr/>
      <dgm:t>
        <a:bodyPr/>
        <a:lstStyle/>
        <a:p>
          <a:endParaRPr lang="en-US"/>
        </a:p>
      </dgm:t>
    </dgm:pt>
    <dgm:pt modelId="{27AD3CE6-0D9A-47BD-97BB-A0A49B729B31}">
      <dgm:prSet/>
      <dgm:spPr/>
      <dgm:t>
        <a:bodyPr/>
        <a:lstStyle/>
        <a:p>
          <a:r>
            <a:rPr lang="en-GB"/>
            <a:t>Operant conditioning - Thorndike, Skinner</a:t>
          </a:r>
          <a:endParaRPr lang="en-US"/>
        </a:p>
      </dgm:t>
    </dgm:pt>
    <dgm:pt modelId="{8D624C38-89B4-4205-8544-B942E172976D}" cxnId="{9E3193E7-54FF-4A54-BA01-FF0EDBAE1530}" type="parTrans">
      <dgm:prSet/>
      <dgm:spPr/>
      <dgm:t>
        <a:bodyPr/>
        <a:lstStyle/>
        <a:p>
          <a:endParaRPr lang="en-US"/>
        </a:p>
      </dgm:t>
    </dgm:pt>
    <dgm:pt modelId="{3A0BA121-DC69-4275-83A1-A9A5EEBBE78B}" cxnId="{9E3193E7-54FF-4A54-BA01-FF0EDBAE1530}" type="sibTrans">
      <dgm:prSet/>
      <dgm:spPr/>
      <dgm:t>
        <a:bodyPr/>
        <a:lstStyle/>
        <a:p>
          <a:endParaRPr lang="en-US"/>
        </a:p>
      </dgm:t>
    </dgm:pt>
    <dgm:pt modelId="{A9EE7FB8-29E5-4D35-971A-9C94B3144B13}">
      <dgm:prSet/>
      <dgm:spPr/>
      <dgm:t>
        <a:bodyPr/>
        <a:lstStyle/>
        <a:p>
          <a:r>
            <a:rPr lang="en-GB"/>
            <a:t>Cognitive approaches</a:t>
          </a:r>
          <a:endParaRPr lang="en-US"/>
        </a:p>
      </dgm:t>
    </dgm:pt>
    <dgm:pt modelId="{9C0CBC01-C3D8-4203-A92D-7603810FC813}" cxnId="{81B62568-C546-4F76-ADDD-B529322CD21D}" type="parTrans">
      <dgm:prSet/>
      <dgm:spPr/>
      <dgm:t>
        <a:bodyPr/>
        <a:lstStyle/>
        <a:p>
          <a:endParaRPr lang="en-US"/>
        </a:p>
      </dgm:t>
    </dgm:pt>
    <dgm:pt modelId="{C7B3BE54-F347-435D-9EFB-368195489AE4}" cxnId="{81B62568-C546-4F76-ADDD-B529322CD21D}" type="sibTrans">
      <dgm:prSet/>
      <dgm:spPr/>
      <dgm:t>
        <a:bodyPr/>
        <a:lstStyle/>
        <a:p>
          <a:endParaRPr lang="en-US"/>
        </a:p>
      </dgm:t>
    </dgm:pt>
    <dgm:pt modelId="{F5B01ED0-AFA1-401A-8931-796AE3262CA5}">
      <dgm:prSet/>
      <dgm:spPr/>
      <dgm:t>
        <a:bodyPr/>
        <a:lstStyle/>
        <a:p>
          <a:r>
            <a:rPr lang="en-GB"/>
            <a:t>Tolman</a:t>
          </a:r>
          <a:endParaRPr lang="en-US"/>
        </a:p>
      </dgm:t>
    </dgm:pt>
    <dgm:pt modelId="{19CEA6EB-D349-499F-A980-33245A2CB412}" cxnId="{FFD376AE-41F4-4D97-B087-5662D3104E21}" type="parTrans">
      <dgm:prSet/>
      <dgm:spPr/>
      <dgm:t>
        <a:bodyPr/>
        <a:lstStyle/>
        <a:p>
          <a:endParaRPr lang="en-US"/>
        </a:p>
      </dgm:t>
    </dgm:pt>
    <dgm:pt modelId="{DEED882B-CFB1-4222-8F94-C180BECCC1EA}" cxnId="{FFD376AE-41F4-4D97-B087-5662D3104E21}" type="sibTrans">
      <dgm:prSet/>
      <dgm:spPr/>
      <dgm:t>
        <a:bodyPr/>
        <a:lstStyle/>
        <a:p>
          <a:endParaRPr lang="en-US"/>
        </a:p>
      </dgm:t>
    </dgm:pt>
    <dgm:pt modelId="{F88C025D-97D4-4FD0-BE2D-4C531756E73C}">
      <dgm:prSet/>
      <dgm:spPr/>
      <dgm:t>
        <a:bodyPr/>
        <a:lstStyle/>
        <a:p>
          <a:r>
            <a:rPr lang="en-GB"/>
            <a:t>Kohler</a:t>
          </a:r>
          <a:endParaRPr lang="en-US"/>
        </a:p>
      </dgm:t>
    </dgm:pt>
    <dgm:pt modelId="{30EC773F-5E42-4BE0-BD32-163313995A2B}" cxnId="{5FDA3D40-FEFA-412E-BBC3-6BFED71CC9CC}" type="parTrans">
      <dgm:prSet/>
      <dgm:spPr/>
      <dgm:t>
        <a:bodyPr/>
        <a:lstStyle/>
        <a:p>
          <a:endParaRPr lang="en-US"/>
        </a:p>
      </dgm:t>
    </dgm:pt>
    <dgm:pt modelId="{5796E581-A078-4C19-A86A-87918C8FA689}" cxnId="{5FDA3D40-FEFA-412E-BBC3-6BFED71CC9CC}" type="sibTrans">
      <dgm:prSet/>
      <dgm:spPr/>
      <dgm:t>
        <a:bodyPr/>
        <a:lstStyle/>
        <a:p>
          <a:endParaRPr lang="en-US"/>
        </a:p>
      </dgm:t>
    </dgm:pt>
    <dgm:pt modelId="{777A4929-7DDE-4ACD-A801-D19CD64465E2}" type="pres">
      <dgm:prSet presAssocID="{7AADABD9-417A-4B1F-921A-525BD5B2C4B5}" presName="linear" presStyleCnt="0">
        <dgm:presLayoutVars>
          <dgm:animLvl val="lvl"/>
          <dgm:resizeHandles val="exact"/>
        </dgm:presLayoutVars>
      </dgm:prSet>
      <dgm:spPr/>
    </dgm:pt>
    <dgm:pt modelId="{7E7ACB0A-7511-47CF-9DC2-C8B419923AEF}" type="pres">
      <dgm:prSet presAssocID="{5B3FD8F0-2F10-4673-A039-85D60AA32FB4}" presName="parentText" presStyleLbl="node1" presStyleIdx="0" presStyleCnt="2">
        <dgm:presLayoutVars>
          <dgm:chMax val="0"/>
          <dgm:bulletEnabled val="1"/>
        </dgm:presLayoutVars>
      </dgm:prSet>
      <dgm:spPr/>
    </dgm:pt>
    <dgm:pt modelId="{DFA127A0-0575-47AF-8EFB-5C338713B15E}" type="pres">
      <dgm:prSet presAssocID="{5B3FD8F0-2F10-4673-A039-85D60AA32FB4}" presName="childText" presStyleLbl="revTx" presStyleIdx="0" presStyleCnt="2">
        <dgm:presLayoutVars>
          <dgm:bulletEnabled val="1"/>
        </dgm:presLayoutVars>
      </dgm:prSet>
      <dgm:spPr/>
    </dgm:pt>
    <dgm:pt modelId="{2FA34444-334D-440C-8B20-00900DDEB979}" type="pres">
      <dgm:prSet presAssocID="{A9EE7FB8-29E5-4D35-971A-9C94B3144B13}" presName="parentText" presStyleLbl="node1" presStyleIdx="1" presStyleCnt="2">
        <dgm:presLayoutVars>
          <dgm:chMax val="0"/>
          <dgm:bulletEnabled val="1"/>
        </dgm:presLayoutVars>
      </dgm:prSet>
      <dgm:spPr/>
    </dgm:pt>
    <dgm:pt modelId="{D5EB0115-4DAB-4F72-8BB7-FA124EB663C2}" type="pres">
      <dgm:prSet presAssocID="{A9EE7FB8-29E5-4D35-971A-9C94B3144B13}" presName="childText" presStyleLbl="revTx" presStyleIdx="1" presStyleCnt="2">
        <dgm:presLayoutVars>
          <dgm:bulletEnabled val="1"/>
        </dgm:presLayoutVars>
      </dgm:prSet>
      <dgm:spPr/>
    </dgm:pt>
  </dgm:ptLst>
  <dgm:cxnLst>
    <dgm:cxn modelId="{F8C29808-972B-404F-81BF-AF51993593EB}" type="presOf" srcId="{27AD3CE6-0D9A-47BD-97BB-A0A49B729B31}" destId="{DFA127A0-0575-47AF-8EFB-5C338713B15E}" srcOrd="0" destOrd="1" presId="urn:microsoft.com/office/officeart/2005/8/layout/vList2"/>
    <dgm:cxn modelId="{DAF6AA3B-144C-4479-8208-154ABD8B4D05}" type="presOf" srcId="{5B3FD8F0-2F10-4673-A039-85D60AA32FB4}" destId="{7E7ACB0A-7511-47CF-9DC2-C8B419923AEF}" srcOrd="0" destOrd="0" presId="urn:microsoft.com/office/officeart/2005/8/layout/vList2"/>
    <dgm:cxn modelId="{5FDA3D40-FEFA-412E-BBC3-6BFED71CC9CC}" srcId="{A9EE7FB8-29E5-4D35-971A-9C94B3144B13}" destId="{F88C025D-97D4-4FD0-BE2D-4C531756E73C}" srcOrd="1" destOrd="0" parTransId="{30EC773F-5E42-4BE0-BD32-163313995A2B}" sibTransId="{5796E581-A078-4C19-A86A-87918C8FA689}"/>
    <dgm:cxn modelId="{EE68245C-3408-43CE-9524-962E26228E7F}" type="presOf" srcId="{F88C025D-97D4-4FD0-BE2D-4C531756E73C}" destId="{D5EB0115-4DAB-4F72-8BB7-FA124EB663C2}" srcOrd="0" destOrd="1" presId="urn:microsoft.com/office/officeart/2005/8/layout/vList2"/>
    <dgm:cxn modelId="{81B62568-C546-4F76-ADDD-B529322CD21D}" srcId="{7AADABD9-417A-4B1F-921A-525BD5B2C4B5}" destId="{A9EE7FB8-29E5-4D35-971A-9C94B3144B13}" srcOrd="1" destOrd="0" parTransId="{9C0CBC01-C3D8-4203-A92D-7603810FC813}" sibTransId="{C7B3BE54-F347-435D-9EFB-368195489AE4}"/>
    <dgm:cxn modelId="{F86E006C-1AD4-4EAC-AF1C-4A9FCC98E4F0}" type="presOf" srcId="{F5B01ED0-AFA1-401A-8931-796AE3262CA5}" destId="{D5EB0115-4DAB-4F72-8BB7-FA124EB663C2}" srcOrd="0" destOrd="0" presId="urn:microsoft.com/office/officeart/2005/8/layout/vList2"/>
    <dgm:cxn modelId="{C0E5C270-4F96-420B-A30F-2A1F83692ACD}" type="presOf" srcId="{BDFDB44E-DB89-4957-9060-4C021AB04362}" destId="{DFA127A0-0575-47AF-8EFB-5C338713B15E}" srcOrd="0" destOrd="0" presId="urn:microsoft.com/office/officeart/2005/8/layout/vList2"/>
    <dgm:cxn modelId="{EDAA4594-836F-4403-BAF4-EA77D2CE4741}" srcId="{7AADABD9-417A-4B1F-921A-525BD5B2C4B5}" destId="{5B3FD8F0-2F10-4673-A039-85D60AA32FB4}" srcOrd="0" destOrd="0" parTransId="{AE2F5554-370E-4425-9492-C512FE2AE87E}" sibTransId="{9E04CCE1-D5DC-47A7-96E5-865E91EF7D28}"/>
    <dgm:cxn modelId="{FFD376AE-41F4-4D97-B087-5662D3104E21}" srcId="{A9EE7FB8-29E5-4D35-971A-9C94B3144B13}" destId="{F5B01ED0-AFA1-401A-8931-796AE3262CA5}" srcOrd="0" destOrd="0" parTransId="{19CEA6EB-D349-499F-A980-33245A2CB412}" sibTransId="{DEED882B-CFB1-4222-8F94-C180BECCC1EA}"/>
    <dgm:cxn modelId="{2C0AF9C7-535D-459F-9B46-77F1FC77E42A}" type="presOf" srcId="{7AADABD9-417A-4B1F-921A-525BD5B2C4B5}" destId="{777A4929-7DDE-4ACD-A801-D19CD64465E2}" srcOrd="0" destOrd="0" presId="urn:microsoft.com/office/officeart/2005/8/layout/vList2"/>
    <dgm:cxn modelId="{D4A058C8-70B1-4EF5-872A-9BF9BE252DC1}" srcId="{5B3FD8F0-2F10-4673-A039-85D60AA32FB4}" destId="{BDFDB44E-DB89-4957-9060-4C021AB04362}" srcOrd="0" destOrd="0" parTransId="{62CC1CF4-8B8A-481F-A878-63229EAF9E80}" sibTransId="{BAFF4A19-70CC-4BEE-9A1A-3A6854F9D5DB}"/>
    <dgm:cxn modelId="{9E3193E7-54FF-4A54-BA01-FF0EDBAE1530}" srcId="{5B3FD8F0-2F10-4673-A039-85D60AA32FB4}" destId="{27AD3CE6-0D9A-47BD-97BB-A0A49B729B31}" srcOrd="1" destOrd="0" parTransId="{8D624C38-89B4-4205-8544-B942E172976D}" sibTransId="{3A0BA121-DC69-4275-83A1-A9A5EEBBE78B}"/>
    <dgm:cxn modelId="{B5989BEC-D112-4A6A-B74C-00A6F2C41D77}" type="presOf" srcId="{A9EE7FB8-29E5-4D35-971A-9C94B3144B13}" destId="{2FA34444-334D-440C-8B20-00900DDEB979}" srcOrd="0" destOrd="0" presId="urn:microsoft.com/office/officeart/2005/8/layout/vList2"/>
    <dgm:cxn modelId="{7F4CE1D0-B5A2-41F1-9495-0A94DD928D9D}" type="presParOf" srcId="{777A4929-7DDE-4ACD-A801-D19CD64465E2}" destId="{7E7ACB0A-7511-47CF-9DC2-C8B419923AEF}" srcOrd="0" destOrd="0" presId="urn:microsoft.com/office/officeart/2005/8/layout/vList2"/>
    <dgm:cxn modelId="{2346D779-A801-446D-AD6E-3F293C8B42F7}" type="presParOf" srcId="{777A4929-7DDE-4ACD-A801-D19CD64465E2}" destId="{DFA127A0-0575-47AF-8EFB-5C338713B15E}" srcOrd="1" destOrd="0" presId="urn:microsoft.com/office/officeart/2005/8/layout/vList2"/>
    <dgm:cxn modelId="{D0C8E474-D73C-4F77-B640-9851E0D46A7D}" type="presParOf" srcId="{777A4929-7DDE-4ACD-A801-D19CD64465E2}" destId="{2FA34444-334D-440C-8B20-00900DDEB979}" srcOrd="2" destOrd="0" presId="urn:microsoft.com/office/officeart/2005/8/layout/vList2"/>
    <dgm:cxn modelId="{98A60605-0F14-4EFD-A616-CDAD024E641D}" type="presParOf" srcId="{777A4929-7DDE-4ACD-A801-D19CD64465E2}" destId="{D5EB0115-4DAB-4F72-8BB7-FA124EB663C2}" srcOrd="3"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7ACB0A-7511-47CF-9DC2-C8B419923AEF}">
      <dsp:nvSpPr>
        <dsp:cNvPr id="0" name=""/>
        <dsp:cNvSpPr/>
      </dsp:nvSpPr>
      <dsp:spPr>
        <a:xfrm>
          <a:off x="0" y="9409"/>
          <a:ext cx="6666833" cy="105534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GB" sz="4400" kern="1200"/>
            <a:t>Behaviourist approaches</a:t>
          </a:r>
          <a:endParaRPr lang="en-US" sz="4400" kern="1200"/>
        </a:p>
      </dsp:txBody>
      <dsp:txXfrm>
        <a:off x="51517" y="60926"/>
        <a:ext cx="6563799" cy="952306"/>
      </dsp:txXfrm>
    </dsp:sp>
    <dsp:sp modelId="{DFA127A0-0575-47AF-8EFB-5C338713B15E}">
      <dsp:nvSpPr>
        <dsp:cNvPr id="0" name=""/>
        <dsp:cNvSpPr/>
      </dsp:nvSpPr>
      <dsp:spPr>
        <a:xfrm>
          <a:off x="0" y="1064749"/>
          <a:ext cx="6666833" cy="2140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55880" rIns="312928" bIns="55880" numCol="1" spcCol="1270" anchor="t" anchorCtr="0">
          <a:noAutofit/>
        </a:bodyPr>
        <a:lstStyle/>
        <a:p>
          <a:pPr marL="285750" lvl="1" indent="-285750" algn="l" defTabSz="1511300">
            <a:lnSpc>
              <a:spcPct val="90000"/>
            </a:lnSpc>
            <a:spcBef>
              <a:spcPct val="0"/>
            </a:spcBef>
            <a:spcAft>
              <a:spcPct val="20000"/>
            </a:spcAft>
            <a:buChar char="•"/>
          </a:pPr>
          <a:r>
            <a:rPr lang="en-GB" sz="3400" kern="1200"/>
            <a:t>Classical conditioning - Pavlov, Watson</a:t>
          </a:r>
          <a:endParaRPr lang="en-US" sz="3400" kern="1200"/>
        </a:p>
        <a:p>
          <a:pPr marL="285750" lvl="1" indent="-285750" algn="l" defTabSz="1511300">
            <a:lnSpc>
              <a:spcPct val="90000"/>
            </a:lnSpc>
            <a:spcBef>
              <a:spcPct val="0"/>
            </a:spcBef>
            <a:spcAft>
              <a:spcPct val="20000"/>
            </a:spcAft>
            <a:buChar char="•"/>
          </a:pPr>
          <a:r>
            <a:rPr lang="en-GB" sz="3400" kern="1200"/>
            <a:t>Operant conditioning - Thorndike, Skinner</a:t>
          </a:r>
          <a:endParaRPr lang="en-US" sz="3400" kern="1200"/>
        </a:p>
      </dsp:txBody>
      <dsp:txXfrm>
        <a:off x="0" y="1064749"/>
        <a:ext cx="6666833" cy="2140380"/>
      </dsp:txXfrm>
    </dsp:sp>
    <dsp:sp modelId="{2FA34444-334D-440C-8B20-00900DDEB979}">
      <dsp:nvSpPr>
        <dsp:cNvPr id="0" name=""/>
        <dsp:cNvSpPr/>
      </dsp:nvSpPr>
      <dsp:spPr>
        <a:xfrm>
          <a:off x="0" y="3205130"/>
          <a:ext cx="6666833" cy="105534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GB" sz="4400" kern="1200"/>
            <a:t>Cognitive approaches</a:t>
          </a:r>
          <a:endParaRPr lang="en-US" sz="4400" kern="1200"/>
        </a:p>
      </dsp:txBody>
      <dsp:txXfrm>
        <a:off x="51517" y="3256647"/>
        <a:ext cx="6563799" cy="952306"/>
      </dsp:txXfrm>
    </dsp:sp>
    <dsp:sp modelId="{D5EB0115-4DAB-4F72-8BB7-FA124EB663C2}">
      <dsp:nvSpPr>
        <dsp:cNvPr id="0" name=""/>
        <dsp:cNvSpPr/>
      </dsp:nvSpPr>
      <dsp:spPr>
        <a:xfrm>
          <a:off x="0" y="4260470"/>
          <a:ext cx="6666833" cy="1184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55880" rIns="312928" bIns="55880" numCol="1" spcCol="1270" anchor="t" anchorCtr="0">
          <a:noAutofit/>
        </a:bodyPr>
        <a:lstStyle/>
        <a:p>
          <a:pPr marL="285750" lvl="1" indent="-285750" algn="l" defTabSz="1511300">
            <a:lnSpc>
              <a:spcPct val="90000"/>
            </a:lnSpc>
            <a:spcBef>
              <a:spcPct val="0"/>
            </a:spcBef>
            <a:spcAft>
              <a:spcPct val="20000"/>
            </a:spcAft>
            <a:buChar char="•"/>
          </a:pPr>
          <a:r>
            <a:rPr lang="en-GB" sz="3400" kern="1200"/>
            <a:t>Tolman</a:t>
          </a:r>
          <a:endParaRPr lang="en-US" sz="3400" kern="1200"/>
        </a:p>
        <a:p>
          <a:pPr marL="285750" lvl="1" indent="-285750" algn="l" defTabSz="1511300">
            <a:lnSpc>
              <a:spcPct val="90000"/>
            </a:lnSpc>
            <a:spcBef>
              <a:spcPct val="0"/>
            </a:spcBef>
            <a:spcAft>
              <a:spcPct val="20000"/>
            </a:spcAft>
            <a:buChar char="•"/>
          </a:pPr>
          <a:r>
            <a:rPr lang="en-GB" sz="3400" kern="1200"/>
            <a:t>Kohler</a:t>
          </a:r>
          <a:endParaRPr lang="en-US" sz="3400" kern="1200"/>
        </a:p>
      </dsp:txBody>
      <dsp:txXfrm>
        <a:off x="0" y="4260470"/>
        <a:ext cx="6666833" cy="11840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E8648BE2-32D1-4EA4-8657-97CD6D8A1235}"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GB" dirty="0"/>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E8648BE2-32D1-4EA4-8657-97CD6D8A1235}"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E8648BE2-32D1-4EA4-8657-97CD6D8A1235}"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Date Placeholder 4"/>
          <p:cNvSpPr>
            <a:spLocks noGrp="1"/>
          </p:cNvSpPr>
          <p:nvPr>
            <p:ph type="dt" sz="half" idx="10"/>
          </p:nvPr>
        </p:nvSpPr>
        <p:spPr/>
        <p:txBody>
          <a:bodyPr/>
          <a:lstStyle/>
          <a:p>
            <a:fld id="{E8648BE2-32D1-4EA4-8657-97CD6D8A1235}"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7" name="Date Placeholder 6"/>
          <p:cNvSpPr>
            <a:spLocks noGrp="1"/>
          </p:cNvSpPr>
          <p:nvPr>
            <p:ph type="dt" sz="half" idx="10"/>
          </p:nvPr>
        </p:nvSpPr>
        <p:spPr/>
        <p:txBody>
          <a:bodyPr/>
          <a:lstStyle/>
          <a:p>
            <a:fld id="{E8648BE2-32D1-4EA4-8657-97CD6D8A1235}"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8648BE2-32D1-4EA4-8657-97CD6D8A1235}"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648BE2-32D1-4EA4-8657-97CD6D8A1235}"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E8648BE2-32D1-4EA4-8657-97CD6D8A1235}"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E8648BE2-32D1-4EA4-8657-97CD6D8A1235}"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E8648BE2-32D1-4EA4-8657-97CD6D8A1235}"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E8648BE2-32D1-4EA4-8657-97CD6D8A1235}"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648BE2-32D1-4EA4-8657-97CD6D8A1235}"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C4F0B0-4EA8-43B6-BEE6-3309C8F0631B}"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648BE2-32D1-4EA4-8657-97CD6D8A1235}" type="datetimeFigureOut">
              <a:rPr lang="en-GB" smtClean="0"/>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C4F0B0-4EA8-43B6-BEE6-3309C8F0631B}"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1.pn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p:cNvSpPr>
            <a:spLocks noGrp="1" noRot="1" noChangeAspect="1" noMove="1" noResize="1" noEditPoints="1" noAdjustHandles="1" noChangeArrowheads="1" noChangeShapeType="1" noTextEdit="1"/>
          </p:cNvSpPr>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1314824" y="735106"/>
            <a:ext cx="10053763" cy="2928470"/>
          </a:xfrm>
        </p:spPr>
        <p:txBody>
          <a:bodyPr anchor="b">
            <a:normAutofit/>
          </a:bodyPr>
          <a:lstStyle/>
          <a:p>
            <a:pPr algn="l"/>
            <a:r>
              <a:rPr lang="en-GB" sz="4800" b="1">
                <a:solidFill>
                  <a:srgbClr val="FFFFFF"/>
                </a:solidFill>
              </a:rPr>
              <a:t>PSYC100 GENERAL PSYCHOLOGY</a:t>
            </a:r>
            <a:endParaRPr lang="en-GB" sz="4800" b="1">
              <a:solidFill>
                <a:srgbClr val="FFFFFF"/>
              </a:solidFill>
            </a:endParaRPr>
          </a:p>
        </p:txBody>
      </p:sp>
      <p:sp>
        <p:nvSpPr>
          <p:cNvPr id="3" name="Subtitle 2"/>
          <p:cNvSpPr>
            <a:spLocks noGrp="1"/>
          </p:cNvSpPr>
          <p:nvPr>
            <p:ph type="subTitle" idx="1"/>
          </p:nvPr>
        </p:nvSpPr>
        <p:spPr>
          <a:xfrm>
            <a:off x="1350682" y="4870824"/>
            <a:ext cx="10005951" cy="1458258"/>
          </a:xfrm>
        </p:spPr>
        <p:txBody>
          <a:bodyPr anchor="ctr">
            <a:normAutofit/>
          </a:bodyPr>
          <a:lstStyle/>
          <a:p>
            <a:r>
              <a:rPr lang="en-GB" sz="3600" b="1" dirty="0"/>
              <a:t>LEARNING</a:t>
            </a:r>
            <a:endParaRPr lang="en-GB" sz="3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GB" sz="4000" b="1">
                <a:solidFill>
                  <a:srgbClr val="FFFFFF"/>
                </a:solidFill>
              </a:rPr>
              <a:t>Learning Outcomes</a:t>
            </a:r>
            <a:endParaRPr lang="en-GB" sz="4000" b="1">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en-GB" dirty="0"/>
              <a:t>What is learning?</a:t>
            </a:r>
            <a:endParaRPr lang="en-GB" dirty="0"/>
          </a:p>
          <a:p>
            <a:r>
              <a:rPr lang="en-GB" dirty="0"/>
              <a:t>Behaviourist approaches</a:t>
            </a:r>
            <a:endParaRPr lang="en-GB" dirty="0"/>
          </a:p>
          <a:p>
            <a:pPr lvl="1"/>
            <a:r>
              <a:rPr lang="en-GB" sz="2800" dirty="0"/>
              <a:t>Classical conditioning</a:t>
            </a:r>
            <a:endParaRPr lang="en-GB" sz="2800" dirty="0"/>
          </a:p>
          <a:p>
            <a:pPr lvl="1"/>
            <a:r>
              <a:rPr lang="en-GB" sz="2800" dirty="0"/>
              <a:t>Operant conditioning</a:t>
            </a:r>
            <a:endParaRPr lang="en-GB" sz="2800" dirty="0"/>
          </a:p>
          <a:p>
            <a:r>
              <a:rPr lang="en-GB" dirty="0"/>
              <a:t>Cognitive approaches</a:t>
            </a:r>
            <a:endParaRPr lang="en-GB" dirty="0"/>
          </a:p>
          <a:p>
            <a:pPr lvl="1"/>
            <a:r>
              <a:rPr lang="en-GB" sz="2800" dirty="0"/>
              <a:t>Tolman’s cognitive behaviourism</a:t>
            </a:r>
            <a:endParaRPr lang="en-GB" sz="2800" dirty="0"/>
          </a:p>
          <a:p>
            <a:pPr lvl="1"/>
            <a:r>
              <a:rPr lang="en-GB" sz="2800" dirty="0"/>
              <a:t>Kohler’s insight learning</a:t>
            </a:r>
            <a:endParaRPr lang="en-GB"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GB" sz="4000">
                <a:solidFill>
                  <a:srgbClr val="FFFFFF"/>
                </a:solidFill>
              </a:rPr>
              <a:t>What is learning?</a:t>
            </a:r>
            <a:endParaRPr lang="en-GB"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lnSpcReduction="10000"/>
          </a:bodyPr>
          <a:lstStyle/>
          <a:p>
            <a:pPr marL="0" indent="0" algn="just">
              <a:buNone/>
            </a:pPr>
            <a:r>
              <a:rPr lang="en-GB" dirty="0"/>
              <a:t>Learning, in the context of psychology, is defined as a relatively permanent change in behaviour, knowledge, capability, or attitude that occurs as a result of experience. This process involves the acquisition, modification, or strengthening of behaviours (and cognitive structures) through interaction with the environment, excluding changes due to maturation, fatigue, or temporary states (Ormrod, 2016).</a:t>
            </a:r>
            <a:endParaRPr lang="en-GB" dirty="0"/>
          </a:p>
          <a:p>
            <a:pPr marL="0" indent="0" algn="just">
              <a:buNone/>
            </a:pPr>
            <a:r>
              <a:rPr lang="en-GB" dirty="0"/>
              <a:t>e.g. </a:t>
            </a:r>
            <a:r>
              <a:rPr lang="en-US" altLang="en-GB" dirty="0"/>
              <a:t>maturation (e.g., a child walking due to physical development), fatigue (e.g., slower reactions when tired), or temporary states (e.g., altered behavior due to a mood swing</a:t>
            </a:r>
            <a:endParaRPr lang="en-US" altLang="en-GB" dirty="0"/>
          </a:p>
          <a:p>
            <a:pPr marL="0" indent="0">
              <a:buNone/>
            </a:pP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3D3F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1"/>
          <a:stretch>
            <a:fillRect/>
          </a:stretch>
        </p:blipFill>
        <p:spPr>
          <a:xfrm>
            <a:off x="1313970" y="643467"/>
            <a:ext cx="9564060" cy="55710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21200" y="-808279"/>
            <a:ext cx="7592197" cy="1667569"/>
          </a:xfrm>
        </p:spPr>
        <p:txBody>
          <a:bodyPr anchor="b">
            <a:normAutofit/>
          </a:bodyPr>
          <a:lstStyle/>
          <a:p>
            <a:pPr algn="ctr"/>
            <a:r>
              <a:rPr lang="en-GB" sz="4000" dirty="0"/>
              <a:t>Classical Conditioning- Pavlov</a:t>
            </a:r>
            <a:endParaRPr lang="en-GB" sz="4000" dirty="0"/>
          </a:p>
        </p:txBody>
      </p:sp>
      <p:pic>
        <p:nvPicPr>
          <p:cNvPr id="5" name="Picture 4"/>
          <p:cNvPicPr>
            <a:picLocks noChangeAspect="1"/>
          </p:cNvPicPr>
          <p:nvPr/>
        </p:nvPicPr>
        <p:blipFill>
          <a:blip r:embed="rId1"/>
          <a:stretch>
            <a:fillRect/>
          </a:stretch>
        </p:blipFill>
        <p:spPr>
          <a:xfrm>
            <a:off x="1068130" y="1968327"/>
            <a:ext cx="3876165" cy="2489651"/>
          </a:xfrm>
          <a:prstGeom prst="rect">
            <a:avLst/>
          </a:prstGeom>
        </p:spPr>
      </p:pic>
      <p:sp>
        <p:nvSpPr>
          <p:cNvPr id="3" name="Content Placeholder 2"/>
          <p:cNvSpPr>
            <a:spLocks noGrp="1"/>
          </p:cNvSpPr>
          <p:nvPr>
            <p:ph idx="1"/>
          </p:nvPr>
        </p:nvSpPr>
        <p:spPr>
          <a:xfrm>
            <a:off x="5039360" y="1233693"/>
            <a:ext cx="6898640" cy="3749253"/>
          </a:xfrm>
        </p:spPr>
        <p:txBody>
          <a:bodyPr anchor="t">
            <a:noAutofit/>
          </a:bodyPr>
          <a:lstStyle/>
          <a:p>
            <a:pPr marL="0" indent="0">
              <a:buNone/>
            </a:pPr>
            <a:r>
              <a:rPr lang="en-GB" sz="1800" i="1" dirty="0"/>
              <a:t>Before</a:t>
            </a:r>
            <a:r>
              <a:rPr lang="en-GB" sz="1800" dirty="0"/>
              <a:t> conditioning, the taste of food will naturally and automatically make the dog salivate, but the sound of a bell won’t. So, the food is referred to as an </a:t>
            </a:r>
            <a:r>
              <a:rPr lang="en-GB" sz="1800" b="1" i="1" dirty="0"/>
              <a:t>unconditioned stimulus</a:t>
            </a:r>
            <a:r>
              <a:rPr lang="en-GB" sz="1800" b="1" dirty="0"/>
              <a:t> (UCS)</a:t>
            </a:r>
            <a:r>
              <a:rPr lang="en-GB" sz="1800" dirty="0"/>
              <a:t>, and the salivation is an </a:t>
            </a:r>
            <a:r>
              <a:rPr lang="en-GB" sz="1800" b="1" i="1" dirty="0"/>
              <a:t>unconditioned response</a:t>
            </a:r>
            <a:r>
              <a:rPr lang="en-GB" sz="1800" b="1" dirty="0"/>
              <a:t> (UCR) </a:t>
            </a:r>
            <a:r>
              <a:rPr lang="en-GB" sz="1800" dirty="0"/>
              <a:t>– an automatic, reflex, biologically built-in response. The dog doesn’t have to learn to salivate in response to food, because it does so naturally. </a:t>
            </a:r>
            <a:endParaRPr lang="en-GB" sz="1800" dirty="0"/>
          </a:p>
          <a:p>
            <a:pPr marL="0" indent="0">
              <a:buNone/>
            </a:pPr>
            <a:endParaRPr lang="en-GB" sz="1800" dirty="0"/>
          </a:p>
          <a:p>
            <a:pPr marL="0" indent="0">
              <a:buNone/>
            </a:pPr>
            <a:r>
              <a:rPr lang="en-GB" sz="1800" i="1" dirty="0"/>
              <a:t>During </a:t>
            </a:r>
            <a:r>
              <a:rPr lang="en-GB" sz="1800" dirty="0"/>
              <a:t>conditioning, the bell is paired with the food. Because the bell doesn’t naturally produce salivation, it’s called a </a:t>
            </a:r>
            <a:r>
              <a:rPr lang="en-GB" sz="1800" b="1" i="1" dirty="0"/>
              <a:t>conditioned stimulus</a:t>
            </a:r>
            <a:r>
              <a:rPr lang="en-GB" sz="1800" b="1" dirty="0"/>
              <a:t> (CS</a:t>
            </a:r>
            <a:r>
              <a:rPr lang="en-GB" sz="1800" dirty="0"/>
              <a:t>): it only produces salivation </a:t>
            </a:r>
            <a:r>
              <a:rPr lang="en-GB" sz="1800" i="1" dirty="0"/>
              <a:t>on the condition</a:t>
            </a:r>
            <a:r>
              <a:rPr lang="en-GB" sz="1800" dirty="0"/>
              <a:t> that it’s paired with the UCS. It’s also </a:t>
            </a:r>
            <a:r>
              <a:rPr lang="en-GB" sz="1800" i="1" dirty="0"/>
              <a:t>neutral</a:t>
            </a:r>
            <a:r>
              <a:rPr lang="en-GB" sz="1800" dirty="0"/>
              <a:t> with regard to salivation prior to conditioning. </a:t>
            </a:r>
            <a:endParaRPr lang="en-GB" sz="1800" dirty="0"/>
          </a:p>
          <a:p>
            <a:pPr marL="0" indent="0">
              <a:buNone/>
            </a:pPr>
            <a:endParaRPr lang="en-GB" sz="1800" dirty="0"/>
          </a:p>
          <a:p>
            <a:pPr marL="0" indent="0">
              <a:buNone/>
            </a:pPr>
            <a:r>
              <a:rPr lang="en-GB" sz="1800" dirty="0"/>
              <a:t>If the bell and food are paired often enough, the dog starts to salivate as soon as it hears the bell and </a:t>
            </a:r>
            <a:r>
              <a:rPr lang="en-GB" sz="1800" i="1" dirty="0"/>
              <a:t>before </a:t>
            </a:r>
            <a:r>
              <a:rPr lang="en-GB" sz="1800" dirty="0"/>
              <a:t>the food is presented. When this occurs, conditioning has taken place. The salivation is now referred to as a </a:t>
            </a:r>
            <a:r>
              <a:rPr lang="en-GB" sz="1800" b="1" i="1" dirty="0"/>
              <a:t>conditioned response</a:t>
            </a:r>
            <a:r>
              <a:rPr lang="en-GB" sz="1800" b="1" dirty="0"/>
              <a:t> (CR</a:t>
            </a:r>
            <a:r>
              <a:rPr lang="en-GB" sz="1800" dirty="0"/>
              <a:t>), because it’s produced by a conditioned stimulus (CS) – the bell.</a:t>
            </a:r>
            <a:endParaRPr lang="en-GB" sz="1800" dirty="0"/>
          </a:p>
        </p:txBody>
      </p:sp>
      <p:sp>
        <p:nvSpPr>
          <p:cNvPr id="12" name="Rectangle 11"/>
          <p:cNvSpPr>
            <a:spLocks noGrp="1" noRot="1" noChangeAspect="1" noMove="1" noResize="1" noEditPoints="1" noAdjustHandles="1" noChangeArrowheads="1" noChangeShapeType="1" noTextEdit="1"/>
          </p:cNvSpPr>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GB" sz="4000">
                <a:solidFill>
                  <a:srgbClr val="FFFFFF"/>
                </a:solidFill>
              </a:rPr>
              <a:t>Classical conditioning</a:t>
            </a:r>
            <a:endParaRPr lang="en-GB"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en-GB" sz="3200" dirty="0"/>
              <a:t>Generalisation – responding to all similar sounds</a:t>
            </a:r>
            <a:endParaRPr lang="en-GB" sz="3200" dirty="0"/>
          </a:p>
          <a:p>
            <a:r>
              <a:rPr lang="en-GB" sz="3200" dirty="0"/>
              <a:t>Discrimination – responding only to the conditioned sound</a:t>
            </a:r>
            <a:endParaRPr lang="en-GB" sz="3200" dirty="0"/>
          </a:p>
          <a:p>
            <a:r>
              <a:rPr lang="en-GB" sz="3200" dirty="0"/>
              <a:t>Extinction – the response is inhibited if the bell is not paired with food (not totally eliminated)</a:t>
            </a:r>
            <a:endParaRPr lang="en-GB" sz="3200" dirty="0"/>
          </a:p>
          <a:p>
            <a:r>
              <a:rPr lang="en-GB" sz="3200" dirty="0"/>
              <a:t>Spontaneous recovery – salivation reappears</a:t>
            </a:r>
            <a:endParaRPr lang="en-GB"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GB" sz="4000" dirty="0">
                <a:solidFill>
                  <a:srgbClr val="FFFFFF"/>
                </a:solidFill>
              </a:rPr>
              <a:t>Classical conditioning and phobias</a:t>
            </a:r>
            <a:endParaRPr lang="en-GB" sz="4000" dirty="0">
              <a:solidFill>
                <a:srgbClr val="FFFFFF"/>
              </a:solidFill>
            </a:endParaRPr>
          </a:p>
        </p:txBody>
      </p:sp>
      <p:sp>
        <p:nvSpPr>
          <p:cNvPr id="3" name="Content Placeholder 2"/>
          <p:cNvSpPr>
            <a:spLocks noGrp="1"/>
          </p:cNvSpPr>
          <p:nvPr>
            <p:ph idx="1"/>
          </p:nvPr>
        </p:nvSpPr>
        <p:spPr>
          <a:xfrm>
            <a:off x="363682" y="2318197"/>
            <a:ext cx="11429999" cy="3683358"/>
          </a:xfrm>
        </p:spPr>
        <p:txBody>
          <a:bodyPr anchor="ctr">
            <a:noAutofit/>
          </a:bodyPr>
          <a:lstStyle/>
          <a:p>
            <a:r>
              <a:rPr lang="en-GB" sz="3200" dirty="0"/>
              <a:t>The case of Little Albert  (Watson and Rayner, 1920) - conditioning.</a:t>
            </a:r>
            <a:endParaRPr lang="en-GB" sz="3200" dirty="0"/>
          </a:p>
          <a:p>
            <a:r>
              <a:rPr lang="en-GB" sz="3200" dirty="0"/>
              <a:t>The case of Little Peter (Jones, 194) - unconditioning.</a:t>
            </a:r>
            <a:endParaRPr lang="en-GB" sz="3200" dirty="0"/>
          </a:p>
          <a:p>
            <a:endParaRPr lang="en-GB" sz="3200" dirty="0"/>
          </a:p>
          <a:p>
            <a:r>
              <a:rPr lang="en-US" altLang="en-GB" sz="3200" dirty="0"/>
              <a:t>"Little Albert" experiment (1920), where a baby was conditioned to fear a white rat through classical conditioning. In contrast, Jones aimed to uncondition or desensitize a fear response in a young child, demonstrating that phobias could be reversed through gradual exposure and positive associations.</a:t>
            </a:r>
            <a:endParaRPr lang="en-US" altLang="en-GB" sz="3200" dirty="0"/>
          </a:p>
          <a:p>
            <a:endParaRPr lang="en-GB" sz="3200" dirty="0"/>
          </a:p>
          <a:p>
            <a:endParaRPr lang="en-GB"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8021" y="278535"/>
            <a:ext cx="9895951" cy="1033669"/>
          </a:xfrm>
        </p:spPr>
        <p:txBody>
          <a:bodyPr>
            <a:normAutofit/>
          </a:bodyPr>
          <a:lstStyle/>
          <a:p>
            <a:r>
              <a:rPr lang="en-GB" sz="4000" dirty="0">
                <a:solidFill>
                  <a:srgbClr val="FFFFFF"/>
                </a:solidFill>
              </a:rPr>
              <a:t>Classical conditioning and phobias</a:t>
            </a:r>
            <a:endParaRPr lang="en-GB" sz="4000" dirty="0">
              <a:solidFill>
                <a:srgbClr val="FFFFFF"/>
              </a:solidFill>
            </a:endParaRPr>
          </a:p>
        </p:txBody>
      </p:sp>
      <p:sp>
        <p:nvSpPr>
          <p:cNvPr id="3" name="Content Placeholder 2"/>
          <p:cNvSpPr>
            <a:spLocks noGrp="1"/>
          </p:cNvSpPr>
          <p:nvPr>
            <p:ph idx="1"/>
          </p:nvPr>
        </p:nvSpPr>
        <p:spPr>
          <a:xfrm>
            <a:off x="572383" y="2379346"/>
            <a:ext cx="11047229" cy="4404226"/>
          </a:xfrm>
        </p:spPr>
        <p:txBody>
          <a:bodyPr anchor="ctr">
            <a:normAutofit fontScale="85000" lnSpcReduction="20000"/>
          </a:bodyPr>
          <a:lstStyle/>
          <a:p>
            <a:pPr marL="0" indent="0">
              <a:buNone/>
            </a:pPr>
            <a:r>
              <a:rPr lang="en-GB" sz="2600" dirty="0"/>
              <a:t>"Little Peter" was a healthy, intelligent boy approximately 2 years and 10 months old. Peter exhibited a strong phobia of furry animals, particularly a white rat, but this fear generalized to similar stimuli like rabbits, fur coats, feathers, and cotton wool (but not to non-furry objects like wooden blocks). His reactions included crying, fleeing, and physiological signs of distress (e.g., sweating, rapid heartbeat).</a:t>
            </a:r>
            <a:endParaRPr lang="en-GB" sz="2600" dirty="0"/>
          </a:p>
          <a:p>
            <a:pPr marL="0" indent="0">
              <a:buNone/>
            </a:pPr>
            <a:endParaRPr lang="en-GB" sz="2600" dirty="0"/>
          </a:p>
          <a:p>
            <a:pPr marL="0" lvl="0" indent="0" eaLnBrk="0" fontAlgn="base" hangingPunct="0">
              <a:lnSpc>
                <a:spcPct val="100000"/>
              </a:lnSpc>
              <a:spcBef>
                <a:spcPct val="0"/>
              </a:spcBef>
              <a:spcAft>
                <a:spcPct val="0"/>
              </a:spcAft>
              <a:buNone/>
            </a:pPr>
            <a:r>
              <a:rPr lang="en-US" altLang="en-US" sz="2600" dirty="0"/>
              <a:t>Peter was seated at a table with his favorite foods (e.g., candy, crackers, milk) to create a positive emotional state. The feared stimulus (starting with the rat, then shifting focus to the rabbit as it elicited stronger fear) was introduced at a safe distance (e.g., across the room). </a:t>
            </a:r>
            <a:endParaRPr lang="en-US" altLang="en-US" sz="2600" dirty="0"/>
          </a:p>
          <a:p>
            <a:pPr marL="0" lvl="0" indent="0" eaLnBrk="0" fontAlgn="base" hangingPunct="0">
              <a:lnSpc>
                <a:spcPct val="100000"/>
              </a:lnSpc>
              <a:spcBef>
                <a:spcPct val="0"/>
              </a:spcBef>
              <a:spcAft>
                <a:spcPct val="0"/>
              </a:spcAft>
              <a:buNone/>
            </a:pPr>
            <a:r>
              <a:rPr lang="en-US" altLang="en-US" sz="2600" dirty="0"/>
              <a:t>Over sessions, the distance was gradually reduced while maintaining the pleasant activity, associating the stimulus with enjoyment rather than fear. </a:t>
            </a:r>
            <a:endParaRPr lang="en-US" altLang="en-US" sz="2600" dirty="0"/>
          </a:p>
          <a:p>
            <a:pPr marL="0" lvl="0" indent="0" eaLnBrk="0" fontAlgn="base" hangingPunct="0">
              <a:lnSpc>
                <a:spcPct val="100000"/>
              </a:lnSpc>
              <a:spcBef>
                <a:spcPct val="0"/>
              </a:spcBef>
              <a:spcAft>
                <a:spcPct val="0"/>
              </a:spcAft>
              <a:buNone/>
            </a:pPr>
            <a:endParaRPr lang="en-US" altLang="en-US" sz="2600" dirty="0"/>
          </a:p>
          <a:p>
            <a:pPr marL="0" indent="0" eaLnBrk="0" fontAlgn="base" hangingPunct="0">
              <a:lnSpc>
                <a:spcPct val="100000"/>
              </a:lnSpc>
              <a:spcBef>
                <a:spcPct val="0"/>
              </a:spcBef>
              <a:spcAft>
                <a:spcPct val="0"/>
              </a:spcAft>
              <a:buNone/>
            </a:pPr>
            <a:r>
              <a:rPr lang="en-GB" sz="2600" dirty="0"/>
              <a:t>Peter's terror subsided progressively. He stopped crying when the rabbit was nearby, began tolerating closer proximity, and eventually petted and held the rabbit without distress—sometimes even enjoying it while eating.</a:t>
            </a:r>
            <a:endParaRPr lang="en-GB" sz="2600" dirty="0"/>
          </a:p>
          <a:p>
            <a:pPr marL="0" lvl="0" indent="0" eaLnBrk="0" fontAlgn="base" hangingPunct="0">
              <a:lnSpc>
                <a:spcPct val="100000"/>
              </a:lnSpc>
              <a:spcBef>
                <a:spcPct val="0"/>
              </a:spcBef>
              <a:spcAft>
                <a:spcPct val="0"/>
              </a:spcAft>
              <a:buNone/>
            </a:pPr>
            <a:endParaRPr lang="en-US" altLang="en-US" sz="2400" dirty="0"/>
          </a:p>
          <a:p>
            <a:endParaRPr lang="en-GB" sz="2000" dirty="0"/>
          </a:p>
          <a:p>
            <a:endParaRPr lang="en-GB" sz="2000" dirty="0"/>
          </a:p>
          <a:p>
            <a:endParaRPr lang="en-GB"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GB" sz="4000">
                <a:solidFill>
                  <a:srgbClr val="FFFFFF"/>
                </a:solidFill>
              </a:rPr>
              <a:t>Classical conditioning and phobias</a:t>
            </a:r>
            <a:endParaRPr lang="en-GB" sz="4000">
              <a:solidFill>
                <a:srgbClr val="FFFFFF"/>
              </a:solidFill>
            </a:endParaRPr>
          </a:p>
        </p:txBody>
      </p:sp>
      <p:sp>
        <p:nvSpPr>
          <p:cNvPr id="3" name="Content Placeholder 2"/>
          <p:cNvSpPr>
            <a:spLocks noGrp="1"/>
          </p:cNvSpPr>
          <p:nvPr>
            <p:ph idx="1"/>
          </p:nvPr>
        </p:nvSpPr>
        <p:spPr>
          <a:xfrm>
            <a:off x="363682" y="2318197"/>
            <a:ext cx="11429999" cy="3683358"/>
          </a:xfrm>
        </p:spPr>
        <p:txBody>
          <a:bodyPr anchor="ctr">
            <a:noAutofit/>
          </a:bodyPr>
          <a:lstStyle/>
          <a:p>
            <a:r>
              <a:rPr lang="en-GB" sz="3200" dirty="0"/>
              <a:t>Think about your phobias</a:t>
            </a:r>
            <a:endParaRPr lang="en-GB" sz="3200" dirty="0"/>
          </a:p>
          <a:p>
            <a:r>
              <a:rPr lang="en-GB" sz="3200" dirty="0"/>
              <a:t>Is it a learned behaviour?</a:t>
            </a:r>
            <a:endParaRPr lang="en-GB" sz="3200" dirty="0"/>
          </a:p>
          <a:p>
            <a:r>
              <a:rPr lang="en-GB" sz="3200" dirty="0"/>
              <a:t>How can we treat these phobias?</a:t>
            </a:r>
            <a:endParaRPr lang="en-GB" sz="3200" dirty="0"/>
          </a:p>
          <a:p>
            <a:pPr lvl="1"/>
            <a:r>
              <a:rPr lang="en-GB" sz="3200" dirty="0"/>
              <a:t>Exposure therapy – systematic desensitization</a:t>
            </a:r>
            <a:endParaRPr lang="en-GB"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GB" sz="4000">
                <a:solidFill>
                  <a:srgbClr val="FFFFFF"/>
                </a:solidFill>
              </a:rPr>
              <a:t>Operant conditioning</a:t>
            </a:r>
            <a:endParaRPr lang="en-GB"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en-GB" sz="3200" dirty="0"/>
              <a:t>Edward </a:t>
            </a:r>
            <a:r>
              <a:rPr lang="en-GB" sz="3200" b="1" dirty="0"/>
              <a:t>Thorndike</a:t>
            </a:r>
            <a:r>
              <a:rPr lang="en-GB" sz="3200" dirty="0"/>
              <a:t>’s experiments, particularly his work with cats in puzzle boxes, were foundational to the development of operant conditioning, a learning process later expanded upon by B.F. </a:t>
            </a:r>
            <a:r>
              <a:rPr lang="en-GB" sz="3200" b="1" dirty="0"/>
              <a:t>Skinner. </a:t>
            </a:r>
            <a:r>
              <a:rPr lang="en-GB" sz="3200" dirty="0"/>
              <a:t>Thorndike’s research is a cornerstone of operant conditioning.</a:t>
            </a:r>
            <a:endParaRPr lang="en-GB" sz="3200" dirty="0"/>
          </a:p>
          <a:p>
            <a:endParaRPr lang="en-GB"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200" y="-274019"/>
            <a:ext cx="5323715" cy="1642970"/>
          </a:xfrm>
        </p:spPr>
        <p:txBody>
          <a:bodyPr vert="horz" lIns="91440" tIns="45720" rIns="91440" bIns="45720" rtlCol="0" anchor="b">
            <a:normAutofit/>
          </a:bodyPr>
          <a:lstStyle/>
          <a:p>
            <a:r>
              <a:rPr lang="en-US" sz="4000" b="1" kern="1200" dirty="0">
                <a:solidFill>
                  <a:schemeClr val="tx1"/>
                </a:solidFill>
                <a:latin typeface="+mj-lt"/>
                <a:ea typeface="+mj-ea"/>
                <a:cs typeface="+mj-cs"/>
              </a:rPr>
              <a:t>Thorndike</a:t>
            </a:r>
            <a:endParaRPr lang="en-US" sz="4000" b="1" kern="1200" dirty="0">
              <a:solidFill>
                <a:schemeClr val="tx1"/>
              </a:solidFill>
              <a:latin typeface="+mj-lt"/>
              <a:ea typeface="+mj-ea"/>
              <a:cs typeface="+mj-cs"/>
            </a:endParaRPr>
          </a:p>
        </p:txBody>
      </p:sp>
      <p:sp>
        <p:nvSpPr>
          <p:cNvPr id="3" name="Content Placeholder 2"/>
          <p:cNvSpPr>
            <a:spLocks noGrp="1"/>
          </p:cNvSpPr>
          <p:nvPr>
            <p:ph sz="half" idx="1"/>
          </p:nvPr>
        </p:nvSpPr>
        <p:spPr>
          <a:xfrm>
            <a:off x="281323" y="1714391"/>
            <a:ext cx="6454757" cy="4798169"/>
          </a:xfrm>
        </p:spPr>
        <p:txBody>
          <a:bodyPr vert="horz" lIns="91440" tIns="45720" rIns="91440" bIns="45720" rtlCol="0" anchor="t">
            <a:normAutofit fontScale="92500" lnSpcReduction="20000"/>
          </a:bodyPr>
          <a:lstStyle/>
          <a:p>
            <a:r>
              <a:rPr lang="en-US" sz="2600" dirty="0"/>
              <a:t>Procedure – re. image</a:t>
            </a:r>
            <a:endParaRPr lang="en-US" sz="2600" dirty="0"/>
          </a:p>
          <a:p>
            <a:pPr algn="just"/>
            <a:r>
              <a:rPr lang="en-US" sz="2600" b="1" dirty="0"/>
              <a:t>Observations</a:t>
            </a:r>
            <a:r>
              <a:rPr lang="en-US" sz="2600" dirty="0"/>
              <a:t>- Initially, the cat engaged in random behaviours (e.g., scratching, clawing, or biting the box) in an attempt to escape, “trial-and-error learning”; Over time, the cat began to associate the specific action (e.g., pressing the lever) with the consequence of escaping and receiving food; With repeated trials, the time taken to escape decreased significantly, as the cat learned to perform the correct action more quickly and efficiently.</a:t>
            </a:r>
            <a:endParaRPr lang="en-US" sz="2600" dirty="0"/>
          </a:p>
          <a:p>
            <a:r>
              <a:rPr lang="en-US" sz="2600" b="1" dirty="0"/>
              <a:t>Key Finding</a:t>
            </a:r>
            <a:r>
              <a:rPr lang="en-US" sz="2600" dirty="0"/>
              <a:t>: “Law of Effect” behaviours followed by satisfying consequences were more likely to be repeated, while behaviours followed by unsatisfying consequences were less likely to occur again.</a:t>
            </a:r>
            <a:endParaRPr lang="en-US" sz="2600" dirty="0"/>
          </a:p>
          <a:p>
            <a:endParaRPr lang="en-US" sz="1600" dirty="0"/>
          </a:p>
          <a:p>
            <a:endParaRPr lang="en-US" sz="1600" dirty="0"/>
          </a:p>
          <a:p>
            <a:endParaRPr lang="en-US" sz="1600" dirty="0"/>
          </a:p>
          <a:p>
            <a:endParaRPr lang="en-US" sz="1600" dirty="0"/>
          </a:p>
        </p:txBody>
      </p:sp>
      <p:sp>
        <p:nvSpPr>
          <p:cNvPr id="13" name="Rectangle 12"/>
          <p:cNvSpPr>
            <a:spLocks noGrp="1" noRot="1" noChangeAspect="1" noMove="1" noResize="1" noEditPoints="1" noAdjustHandles="1" noChangeArrowheads="1" noChangeShapeType="1" noTextEdit="1"/>
          </p:cNvSpPr>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a:spLocks noGrp="1" noRot="1" noChangeAspect="1" noMove="1" noResize="1" noEditPoints="1" noAdjustHandles="1" noChangeArrowheads="1" noChangeShapeType="1" noTextEdit="1"/>
          </p:cNvSpPr>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a:spLocks noGrp="1" noRot="1" noChangeAspect="1" noMove="1" noResize="1" noEditPoints="1" noAdjustHandles="1" noChangeArrowheads="1" noChangeShapeType="1" noTextEdit="1"/>
          </p:cNvSpPr>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a:spLocks noGrp="1" noRot="1" noChangeAspect="1" noMove="1" noResize="1" noEditPoints="1" noAdjustHandles="1" noChangeArrowheads="1" noChangeShapeType="1" noTextEdit="1"/>
          </p:cNvSpPr>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5"/>
          <p:cNvPicPr>
            <a:picLocks noGrp="1" noChangeAspect="1"/>
          </p:cNvPicPr>
          <p:nvPr>
            <p:ph sz="half" idx="2"/>
          </p:nvPr>
        </p:nvPicPr>
        <p:blipFill>
          <a:blip r:embed="rId1"/>
          <a:stretch>
            <a:fillRect/>
          </a:stretch>
        </p:blipFill>
        <p:spPr>
          <a:xfrm>
            <a:off x="7075967" y="1714391"/>
            <a:ext cx="4170530" cy="34611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0203" y="-116347"/>
            <a:ext cx="5323715" cy="1642970"/>
          </a:xfrm>
        </p:spPr>
        <p:txBody>
          <a:bodyPr vert="horz" lIns="91440" tIns="45720" rIns="91440" bIns="45720" rtlCol="0" anchor="b">
            <a:normAutofit/>
          </a:bodyPr>
          <a:lstStyle/>
          <a:p>
            <a:r>
              <a:rPr lang="en-US" sz="4000" b="1" kern="1200" dirty="0">
                <a:solidFill>
                  <a:schemeClr val="tx1"/>
                </a:solidFill>
                <a:latin typeface="+mj-lt"/>
                <a:ea typeface="+mj-ea"/>
                <a:cs typeface="+mj-cs"/>
              </a:rPr>
              <a:t>Skinner</a:t>
            </a:r>
            <a:endParaRPr lang="en-US" sz="4000" b="1" kern="1200" dirty="0">
              <a:solidFill>
                <a:schemeClr val="tx1"/>
              </a:solidFill>
              <a:latin typeface="+mj-lt"/>
              <a:ea typeface="+mj-ea"/>
              <a:cs typeface="+mj-cs"/>
            </a:endParaRPr>
          </a:p>
        </p:txBody>
      </p:sp>
      <p:sp>
        <p:nvSpPr>
          <p:cNvPr id="4" name="Content Placeholder 3"/>
          <p:cNvSpPr>
            <a:spLocks noGrp="1"/>
          </p:cNvSpPr>
          <p:nvPr>
            <p:ph sz="half" idx="1"/>
          </p:nvPr>
        </p:nvSpPr>
        <p:spPr>
          <a:xfrm>
            <a:off x="210203" y="1796294"/>
            <a:ext cx="6515717" cy="4604073"/>
          </a:xfrm>
        </p:spPr>
        <p:txBody>
          <a:bodyPr vert="horz" lIns="91440" tIns="45720" rIns="91440" bIns="45720" rtlCol="0" anchor="t">
            <a:normAutofit fontScale="92500" lnSpcReduction="10000"/>
          </a:bodyPr>
          <a:lstStyle/>
          <a:p>
            <a:r>
              <a:rPr lang="en-US" sz="2000" b="1" dirty="0"/>
              <a:t>Procedure: </a:t>
            </a:r>
            <a:r>
              <a:rPr lang="en-US" sz="2000" dirty="0"/>
              <a:t>re image</a:t>
            </a:r>
            <a:endParaRPr lang="en-US" sz="2000" dirty="0"/>
          </a:p>
          <a:p>
            <a:r>
              <a:rPr lang="en-US" sz="2000" b="1" dirty="0"/>
              <a:t>Observations</a:t>
            </a:r>
            <a:r>
              <a:rPr lang="en-US" sz="2000" dirty="0"/>
              <a:t>: </a:t>
            </a:r>
            <a:r>
              <a:rPr lang="en-GB" sz="2000" dirty="0"/>
              <a:t>Initially, the rat would explore the box and accidentally press the lever, receiving a food pellet. Over time, the rat learned to associate lever-pressing with the reward, increasing the frequency of this behaviour; Skinner noted that the rate and pattern of lever-pressing depended on the type and timing of the consequences. For instance: </a:t>
            </a:r>
            <a:r>
              <a:rPr lang="en-GB" sz="2000" b="1" dirty="0"/>
              <a:t>Continuous reinforcement</a:t>
            </a:r>
            <a:r>
              <a:rPr lang="en-GB" sz="2000" dirty="0"/>
              <a:t> (reward every time the lever was pressed) led to rapid learning. </a:t>
            </a:r>
            <a:r>
              <a:rPr lang="en-GB" sz="2000" b="1" dirty="0"/>
              <a:t>Intermittent reinforcement</a:t>
            </a:r>
            <a:r>
              <a:rPr lang="en-GB" sz="2000" dirty="0"/>
              <a:t> (reward delivered only occasionally, e.g., every third press or at random intervals) made the behaviour more resistant to extinction (stopping when rewards ceased); If a punishment (e.g., a mild shock) was delivered after lever-pressing, the behaviour decreased.</a:t>
            </a:r>
            <a:endParaRPr lang="en-GB" sz="2000" dirty="0"/>
          </a:p>
          <a:p>
            <a:r>
              <a:rPr lang="en-US" sz="2000" b="1" dirty="0"/>
              <a:t>Key Finding:  </a:t>
            </a:r>
            <a:r>
              <a:rPr lang="en-GB" sz="2000" dirty="0"/>
              <a:t>Skinner’s experiments demonstrated that behaviour is shaped by reinforcement (consequences that increase behaviour) and punishment (consequences that decrease behaviour).</a:t>
            </a:r>
            <a:endParaRPr lang="en-GB" sz="2000" dirty="0"/>
          </a:p>
          <a:p>
            <a:endParaRPr lang="en-US" sz="2000" b="1" dirty="0"/>
          </a:p>
        </p:txBody>
      </p:sp>
      <p:sp>
        <p:nvSpPr>
          <p:cNvPr id="13" name="Rectangle 12"/>
          <p:cNvSpPr>
            <a:spLocks noGrp="1" noRot="1" noChangeAspect="1" noMove="1" noResize="1" noEditPoints="1" noAdjustHandles="1" noChangeArrowheads="1" noChangeShapeType="1" noTextEdit="1"/>
          </p:cNvSpPr>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a:spLocks noGrp="1" noRot="1" noChangeAspect="1" noMove="1" noResize="1" noEditPoints="1" noAdjustHandles="1" noChangeArrowheads="1" noChangeShapeType="1" noTextEdit="1"/>
          </p:cNvSpPr>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a:spLocks noGrp="1" noRot="1" noChangeAspect="1" noMove="1" noResize="1" noEditPoints="1" noAdjustHandles="1" noChangeArrowheads="1" noChangeShapeType="1" noTextEdit="1"/>
          </p:cNvSpPr>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a:spLocks noGrp="1" noRot="1" noChangeAspect="1" noMove="1" noResize="1" noEditPoints="1" noAdjustHandles="1" noChangeArrowheads="1" noChangeShapeType="1" noTextEdit="1"/>
          </p:cNvSpPr>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5"/>
          <p:cNvPicPr>
            <a:picLocks noGrp="1" noChangeAspect="1"/>
          </p:cNvPicPr>
          <p:nvPr>
            <p:ph sz="half" idx="2"/>
          </p:nvPr>
        </p:nvPicPr>
        <p:blipFill>
          <a:blip r:embed="rId1"/>
          <a:stretch>
            <a:fillRect/>
          </a:stretch>
        </p:blipFill>
        <p:spPr>
          <a:xfrm>
            <a:off x="7075967" y="1350372"/>
            <a:ext cx="4170530" cy="41891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1"/>
          <a:stretch>
            <a:fillRect/>
          </a:stretch>
        </p:blipFill>
        <p:spPr>
          <a:xfrm>
            <a:off x="457200" y="1737360"/>
            <a:ext cx="11277600" cy="338327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0" y="0"/>
            <a:ext cx="832385"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1" name="Rectangle 10"/>
          <p:cNvSpPr>
            <a:spLocks noGrp="1" noRot="1" noChangeAspect="1" noMove="1" noResize="1" noEditPoints="1" noAdjustHandles="1" noChangeArrowheads="1" noChangeShapeType="1" noTextEdit="1"/>
          </p:cNvSpPr>
          <p:nvPr/>
        </p:nvSpPr>
        <p:spPr>
          <a:xfrm>
            <a:off x="832385" y="0"/>
            <a:ext cx="3218914"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92206" y="1608667"/>
            <a:ext cx="2823275" cy="4501127"/>
          </a:xfrm>
        </p:spPr>
        <p:txBody>
          <a:bodyPr anchor="t">
            <a:normAutofit/>
          </a:bodyPr>
          <a:lstStyle/>
          <a:p>
            <a:pPr algn="r"/>
            <a:r>
              <a:rPr lang="en-GB" sz="3200" dirty="0">
                <a:solidFill>
                  <a:srgbClr val="FFFFFF"/>
                </a:solidFill>
              </a:rPr>
              <a:t>Some examples</a:t>
            </a:r>
            <a:endParaRPr lang="en-GB" sz="3200" dirty="0">
              <a:solidFill>
                <a:srgbClr val="FFFFFF"/>
              </a:solidFill>
            </a:endParaRPr>
          </a:p>
        </p:txBody>
      </p:sp>
      <p:sp>
        <p:nvSpPr>
          <p:cNvPr id="3" name="Content Placeholder 2"/>
          <p:cNvSpPr>
            <a:spLocks noGrp="1"/>
          </p:cNvSpPr>
          <p:nvPr>
            <p:ph sz="half" idx="1"/>
          </p:nvPr>
        </p:nvSpPr>
        <p:spPr>
          <a:xfrm>
            <a:off x="4547698" y="467591"/>
            <a:ext cx="3421958" cy="6130636"/>
          </a:xfrm>
        </p:spPr>
        <p:txBody>
          <a:bodyPr>
            <a:normAutofit/>
          </a:bodyPr>
          <a:lstStyle/>
          <a:p>
            <a:r>
              <a:rPr lang="en-GB" sz="2400" b="1" dirty="0"/>
              <a:t>Positive reinforcement </a:t>
            </a:r>
            <a:r>
              <a:rPr lang="en-GB" sz="2400" dirty="0"/>
              <a:t>- An employee meets a sales target and receives a bonus. This motivates them to continue working hard to achieve future bonuses.</a:t>
            </a:r>
            <a:endParaRPr lang="en-GB" sz="2400" dirty="0"/>
          </a:p>
          <a:p>
            <a:r>
              <a:rPr lang="en-GB" sz="2400" b="1" dirty="0"/>
              <a:t>Negative reinforcement </a:t>
            </a:r>
            <a:r>
              <a:rPr lang="en-GB" sz="2400" dirty="0"/>
              <a:t>- A driver buckles their seatbelt to stop the car's annoying warning beep. The removal of the beep encourages consistent seatbelt use.</a:t>
            </a:r>
            <a:endParaRPr lang="en-GB" sz="2400" dirty="0"/>
          </a:p>
          <a:p>
            <a:endParaRPr lang="en-GB" sz="2400" dirty="0"/>
          </a:p>
        </p:txBody>
      </p:sp>
      <p:sp>
        <p:nvSpPr>
          <p:cNvPr id="4" name="Content Placeholder 3"/>
          <p:cNvSpPr>
            <a:spLocks noGrp="1"/>
          </p:cNvSpPr>
          <p:nvPr>
            <p:ph sz="half" idx="2"/>
          </p:nvPr>
        </p:nvSpPr>
        <p:spPr>
          <a:xfrm>
            <a:off x="8289696" y="550719"/>
            <a:ext cx="3421957" cy="5559076"/>
          </a:xfrm>
        </p:spPr>
        <p:txBody>
          <a:bodyPr>
            <a:normAutofit/>
          </a:bodyPr>
          <a:lstStyle/>
          <a:p>
            <a:r>
              <a:rPr lang="en-GB" sz="2400" b="1" dirty="0"/>
              <a:t>Positive punishment </a:t>
            </a:r>
            <a:r>
              <a:rPr lang="en-GB" sz="2400" dirty="0"/>
              <a:t>- A teenager breaks curfew and is assigned extra chores by their parents. The added chores discourage future curfew violations.</a:t>
            </a:r>
            <a:endParaRPr lang="en-GB" sz="2400" dirty="0"/>
          </a:p>
          <a:p>
            <a:r>
              <a:rPr lang="en-GB" sz="2400" b="1" dirty="0"/>
              <a:t>Negative punishment </a:t>
            </a:r>
            <a:r>
              <a:rPr lang="en-GB" sz="2400" dirty="0"/>
              <a:t>- A driver receives a speeding ticket, resulting in the loss of money (fine). This financial penalty discourages speeding in the future.</a:t>
            </a:r>
            <a:endParaRPr lang="en-GB" sz="2400" dirty="0"/>
          </a:p>
          <a:p>
            <a:endParaRPr lang="en-GB" sz="2400" dirty="0"/>
          </a:p>
        </p:txBody>
      </p:sp>
    </p:spTree>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a:spLocks noGrp="1" noRot="1" noChangeAspect="1" noMove="1" noResize="1" noEditPoints="1" noAdjustHandles="1" noChangeArrowheads="1" noChangeShapeType="1" noTextEdit="1"/>
          </p:cNvSpPr>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table with text on it&#10;&#10;AI-generated content may be incorrect."/>
          <p:cNvPicPr>
            <a:picLocks noGrp="1" noChangeAspect="1"/>
          </p:cNvPicPr>
          <p:nvPr>
            <p:ph idx="1"/>
          </p:nvPr>
        </p:nvPicPr>
        <p:blipFill>
          <a:blip r:embed="rId1"/>
          <a:srcRect b="10597"/>
          <a:stretch>
            <a:fillRect/>
          </a:stretch>
        </p:blipFill>
        <p:spPr>
          <a:xfrm>
            <a:off x="4038599" y="10"/>
            <a:ext cx="8160026" cy="6875809"/>
          </a:xfrm>
          <a:prstGeom prst="rect">
            <a:avLst/>
          </a:prstGeom>
        </p:spPr>
      </p:pic>
      <p:sp>
        <p:nvSpPr>
          <p:cNvPr id="16" name="Freeform: Shape 15"/>
          <p:cNvSpPr>
            <a:spLocks noGrp="1" noRot="1" noChangeAspect="1" noMove="1" noResize="1" noEditPoints="1" noAdjustHandles="1" noChangeArrowheads="1" noChangeShapeType="1" noTextEdit="1"/>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321310" y="2950210"/>
            <a:ext cx="3265805" cy="3531235"/>
          </a:xfrm>
        </p:spPr>
        <p:txBody>
          <a:bodyPr vert="horz" lIns="91440" tIns="45720" rIns="91440" bIns="45720" rtlCol="0" anchor="t">
            <a:normAutofit/>
          </a:bodyPr>
          <a:lstStyle/>
          <a:p>
            <a:pPr algn="r"/>
            <a:r>
              <a:rPr lang="en-US" sz="4000">
                <a:solidFill>
                  <a:srgbClr val="FFFFFF"/>
                </a:solidFill>
              </a:rPr>
              <a:t>Schedules of reinforcement</a:t>
            </a:r>
            <a:endParaRPr lang="en-US" sz="4000">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95679" y="278461"/>
            <a:ext cx="9895951" cy="1033669"/>
          </a:xfrm>
        </p:spPr>
        <p:txBody>
          <a:bodyPr>
            <a:normAutofit/>
          </a:bodyPr>
          <a:lstStyle/>
          <a:p>
            <a:r>
              <a:rPr lang="en-GB" sz="4000" dirty="0">
                <a:solidFill>
                  <a:srgbClr val="FFFFFF"/>
                </a:solidFill>
              </a:rPr>
              <a:t>Comparison of CC and OC</a:t>
            </a:r>
            <a:endParaRPr lang="en-GB" sz="4000" dirty="0">
              <a:solidFill>
                <a:srgbClr val="FFFFFF"/>
              </a:solidFill>
            </a:endParaRPr>
          </a:p>
        </p:txBody>
      </p:sp>
      <p:sp>
        <p:nvSpPr>
          <p:cNvPr id="3" name="Content Placeholder 2"/>
          <p:cNvSpPr>
            <a:spLocks noGrp="1"/>
          </p:cNvSpPr>
          <p:nvPr>
            <p:ph idx="1"/>
          </p:nvPr>
        </p:nvSpPr>
        <p:spPr>
          <a:xfrm>
            <a:off x="721359" y="2379346"/>
            <a:ext cx="9724031" cy="3683358"/>
          </a:xfrm>
        </p:spPr>
        <p:txBody>
          <a:bodyPr anchor="ctr">
            <a:noAutofit/>
          </a:bodyPr>
          <a:lstStyle/>
          <a:p>
            <a:r>
              <a:rPr lang="en-GB" sz="2400" dirty="0"/>
              <a:t>They’re both types of </a:t>
            </a:r>
            <a:r>
              <a:rPr lang="en-GB" sz="2400" i="1" dirty="0"/>
              <a:t>associative learning</a:t>
            </a:r>
            <a:r>
              <a:rPr lang="en-GB" sz="2400" dirty="0"/>
              <a:t>.</a:t>
            </a:r>
            <a:endParaRPr lang="en-GB" sz="2400" dirty="0"/>
          </a:p>
          <a:p>
            <a:r>
              <a:rPr lang="en-GB" sz="2400" dirty="0"/>
              <a:t>In CC, learning happens involuntarily, in OC learning is voluntary.</a:t>
            </a:r>
            <a:endParaRPr lang="en-GB" sz="2400" dirty="0"/>
          </a:p>
          <a:p>
            <a:r>
              <a:rPr lang="en-GB" sz="2400" dirty="0"/>
              <a:t>In CC, the stimulus is guaranteed to produce the response, while the likelihood of a particular operant response being emitted is a function of the past consequences of such behaviour.</a:t>
            </a:r>
            <a:endParaRPr lang="en-GB" sz="2400" dirty="0"/>
          </a:p>
          <a:p>
            <a:r>
              <a:rPr lang="en-GB" sz="2400" dirty="0"/>
              <a:t>In</a:t>
            </a:r>
            <a:r>
              <a:rPr lang="en-GB" sz="2400" i="1" dirty="0"/>
              <a:t> </a:t>
            </a:r>
            <a:r>
              <a:rPr lang="en-GB" sz="2400" dirty="0"/>
              <a:t>CC, the UCS works in basically the same way regardless of whether it’s pleasurable or aversive; in OC, responses that result in pleasurable outcomes are likely to be repeated, while those that result in aversive outcomes aren’t.</a:t>
            </a:r>
            <a:endParaRPr lang="en-GB" sz="2400" dirty="0"/>
          </a:p>
          <a:p>
            <a:r>
              <a:rPr lang="en-GB" sz="2400" dirty="0"/>
              <a:t>In CC, the reinforcer is presented regardless of what the animal does and is presented</a:t>
            </a:r>
            <a:r>
              <a:rPr lang="en-GB" sz="2400" i="1" dirty="0"/>
              <a:t> before</a:t>
            </a:r>
            <a:r>
              <a:rPr lang="en-GB" sz="2400" dirty="0"/>
              <a:t> the response. In OC, the reinforcer is only presented if the animal emits some specified, pre-selected behaviour, and is presented </a:t>
            </a:r>
            <a:r>
              <a:rPr lang="en-GB" sz="2400" i="1" dirty="0"/>
              <a:t>after </a:t>
            </a:r>
            <a:r>
              <a:rPr lang="en-GB" sz="2400" dirty="0"/>
              <a:t>the behaviour.</a:t>
            </a:r>
            <a:endParaRPr lang="en-GB"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GB" sz="4000" dirty="0">
                <a:solidFill>
                  <a:srgbClr val="FFFFFF"/>
                </a:solidFill>
              </a:rPr>
              <a:t>Do principles of learning apply to all species?</a:t>
            </a:r>
            <a:endParaRPr lang="en-GB" sz="4000" dirty="0">
              <a:solidFill>
                <a:srgbClr val="FFFFFF"/>
              </a:solidFill>
            </a:endParaRPr>
          </a:p>
        </p:txBody>
      </p:sp>
      <p:sp>
        <p:nvSpPr>
          <p:cNvPr id="3" name="Content Placeholder 2"/>
          <p:cNvSpPr>
            <a:spLocks noGrp="1"/>
          </p:cNvSpPr>
          <p:nvPr>
            <p:ph idx="1"/>
          </p:nvPr>
        </p:nvSpPr>
        <p:spPr>
          <a:xfrm>
            <a:off x="589281" y="2318197"/>
            <a:ext cx="11207384" cy="3683358"/>
          </a:xfrm>
        </p:spPr>
        <p:txBody>
          <a:bodyPr anchor="ctr">
            <a:noAutofit/>
          </a:bodyPr>
          <a:lstStyle/>
          <a:p>
            <a:endParaRPr lang="en-GB" dirty="0"/>
          </a:p>
          <a:p>
            <a:r>
              <a:rPr lang="en-GB" dirty="0"/>
              <a:t>According to the concept of </a:t>
            </a:r>
            <a:r>
              <a:rPr lang="en-GB" i="1" dirty="0"/>
              <a:t>preparedness </a:t>
            </a:r>
            <a:r>
              <a:rPr lang="en-GB" dirty="0"/>
              <a:t>(Seligman, 1970), animals are biologically prepared to learn actions that are closely related to the survival of their species (such as learned water or food aversions), and these </a:t>
            </a:r>
            <a:r>
              <a:rPr lang="en-GB" i="1" dirty="0"/>
              <a:t>prepared </a:t>
            </a:r>
            <a:r>
              <a:rPr lang="en-GB" dirty="0"/>
              <a:t>behaviours are learned with very little training. However, </a:t>
            </a:r>
            <a:r>
              <a:rPr lang="en-GB" i="1" dirty="0" err="1"/>
              <a:t>contraprepared</a:t>
            </a:r>
            <a:r>
              <a:rPr lang="en-GB" dirty="0"/>
              <a:t> behaviours are contrary to an animal’s natural tendencies, and so are learned with great difficulty, if at all.</a:t>
            </a:r>
            <a:endParaRPr lang="en-GB" dirty="0"/>
          </a:p>
          <a:p>
            <a:pPr lvl="1"/>
            <a:r>
              <a:rPr lang="en-GB" dirty="0"/>
              <a:t>E.g. E.g. </a:t>
            </a:r>
            <a:r>
              <a:rPr lang="en-US" dirty="0"/>
              <a:t>Susan Mineka (1980s) on rhesus monkeys showed they quickly learned to fear snakes after observing other monkeys react fearfully to them, even through video. This fear was acquired after just one or two exposures and persisted longer than fears conditioned to neutral stimuli like flowers.</a:t>
            </a:r>
            <a:endParaRPr lang="en-US" dirty="0"/>
          </a:p>
          <a:p>
            <a:r>
              <a:rPr lang="en-GB" dirty="0"/>
              <a:t>Same for humans.</a:t>
            </a:r>
            <a:endParaRPr lang="en-GB" dirty="0"/>
          </a:p>
          <a:p>
            <a:pPr lvl="1"/>
            <a:r>
              <a:rPr lang="en-GB" dirty="0"/>
              <a:t>E.g. Ohman et al. (1975) – humans can easily be conditioned to fear spiders and snakes, but not to flowers, houses or berries.</a:t>
            </a:r>
            <a:endParaRPr lang="en-GB" dirty="0"/>
          </a:p>
          <a:p>
            <a:pPr lvl="1"/>
            <a:endParaRPr lang="en-GB"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GB" sz="4000" dirty="0">
                <a:solidFill>
                  <a:srgbClr val="FFFFFF"/>
                </a:solidFill>
              </a:rPr>
              <a:t>Do principles of learning apply to all species?</a:t>
            </a:r>
            <a:endParaRPr lang="en-GB" sz="4000" dirty="0">
              <a:solidFill>
                <a:srgbClr val="FFFFFF"/>
              </a:solidFill>
            </a:endParaRPr>
          </a:p>
        </p:txBody>
      </p:sp>
      <p:sp>
        <p:nvSpPr>
          <p:cNvPr id="3" name="Content Placeholder 2"/>
          <p:cNvSpPr>
            <a:spLocks noGrp="1"/>
          </p:cNvSpPr>
          <p:nvPr>
            <p:ph idx="1"/>
          </p:nvPr>
        </p:nvSpPr>
        <p:spPr>
          <a:xfrm>
            <a:off x="589281" y="2318197"/>
            <a:ext cx="11207384" cy="3683358"/>
          </a:xfrm>
        </p:spPr>
        <p:txBody>
          <a:bodyPr anchor="ctr">
            <a:noAutofit/>
          </a:bodyPr>
          <a:lstStyle/>
          <a:p>
            <a:endParaRPr lang="en-GB" dirty="0"/>
          </a:p>
          <a:p>
            <a:pPr marL="0" lvl="1" indent="0"/>
            <a:r>
              <a:rPr lang="en-US" sz="2800" b="1" dirty="0"/>
              <a:t>Fear of heights</a:t>
            </a:r>
            <a:r>
              <a:rPr lang="en-US" sz="2800" dirty="0"/>
              <a:t>: conditioning studies where fear of heights is easily strengthened (Gibson &amp; Walk, 1960)</a:t>
            </a:r>
            <a:endParaRPr lang="en-US" sz="2800" dirty="0"/>
          </a:p>
          <a:p>
            <a:pPr marL="0" lvl="1" indent="0"/>
            <a:r>
              <a:rPr lang="en-GB" sz="2800" b="1" dirty="0"/>
              <a:t>Fear of the dark</a:t>
            </a:r>
            <a:r>
              <a:rPr lang="en-GB" sz="2800" dirty="0"/>
              <a:t>: </a:t>
            </a:r>
            <a:r>
              <a:rPr lang="en-US" sz="2800" dirty="0"/>
              <a:t>Studies (e.g., </a:t>
            </a:r>
            <a:r>
              <a:rPr lang="en-US" sz="2800" dirty="0" err="1"/>
              <a:t>Grillon</a:t>
            </a:r>
            <a:r>
              <a:rPr lang="en-US" sz="2800" dirty="0"/>
              <a:t> et al., 1997) show that fear responses to dark environments paired with aversive stimuli (e.g., loud noises) are stronger and more resistant to extinction than fears of bright, open spaces.</a:t>
            </a:r>
            <a:endParaRPr lang="en-US" sz="2800" dirty="0"/>
          </a:p>
          <a:p>
            <a:pPr marL="0" lvl="1" indent="0"/>
            <a:r>
              <a:rPr lang="en-US" sz="2800" b="1" dirty="0" err="1"/>
              <a:t>Öhman</a:t>
            </a:r>
            <a:r>
              <a:rPr lang="en-US" sz="2800" b="1" dirty="0"/>
              <a:t> and Mineka</a:t>
            </a:r>
            <a:r>
              <a:rPr lang="en-US" sz="2800" dirty="0"/>
              <a:t>’s work contrasted fear conditioning to evolutionarily relevant stimuli (snakes) with modern ones (electrical outlets). While shocks paired with outlets can induce fear, it requires more trials, is weaker, and extinguishes faster compared to snake-related fears.</a:t>
            </a:r>
            <a:endParaRPr lang="en-US" sz="2800" dirty="0"/>
          </a:p>
          <a:p>
            <a:pPr lvl="1"/>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white mouse eating cheese in the labyrinth"/>
          <p:cNvPicPr>
            <a:picLocks noChangeAspect="1"/>
          </p:cNvPicPr>
          <p:nvPr/>
        </p:nvPicPr>
        <p:blipFill>
          <a:blip r:embed="rId1"/>
          <a:srcRect t="2915" r="-4" b="13134"/>
          <a:stretch>
            <a:fillRect/>
          </a:stretch>
        </p:blipFill>
        <p:spPr>
          <a:xfrm>
            <a:off x="-1" y="-2"/>
            <a:ext cx="5410198" cy="6858002"/>
          </a:xfrm>
          <a:prstGeom prst="rect">
            <a:avLst/>
          </a:prstGeom>
        </p:spPr>
      </p:pic>
      <p:sp useBgFill="1">
        <p:nvSpPr>
          <p:cNvPr id="11" name="Rectangle 10"/>
          <p:cNvSpPr>
            <a:spLocks noGrp="1" noRot="1" noChangeAspect="1" noMove="1" noResize="1" noEditPoints="1" noAdjustHandles="1" noChangeArrowheads="1" noChangeShapeType="1" noTextEdit="1"/>
          </p:cNvSpPr>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15317" y="405685"/>
            <a:ext cx="5464968" cy="1559301"/>
          </a:xfrm>
        </p:spPr>
        <p:txBody>
          <a:bodyPr>
            <a:normAutofit/>
          </a:bodyPr>
          <a:lstStyle/>
          <a:p>
            <a:r>
              <a:rPr lang="en-GB" sz="4000" dirty="0"/>
              <a:t>Cognitive approaches</a:t>
            </a:r>
            <a:endParaRPr lang="en-GB" sz="4000" dirty="0"/>
          </a:p>
        </p:txBody>
      </p:sp>
      <p:sp>
        <p:nvSpPr>
          <p:cNvPr id="3" name="Content Placeholder 2"/>
          <p:cNvSpPr>
            <a:spLocks noGrp="1"/>
          </p:cNvSpPr>
          <p:nvPr>
            <p:ph idx="1"/>
          </p:nvPr>
        </p:nvSpPr>
        <p:spPr>
          <a:xfrm>
            <a:off x="6115316" y="2285999"/>
            <a:ext cx="5710923" cy="3954079"/>
          </a:xfrm>
        </p:spPr>
        <p:txBody>
          <a:bodyPr anchor="ctr">
            <a:normAutofit/>
          </a:bodyPr>
          <a:lstStyle/>
          <a:p>
            <a:r>
              <a:rPr lang="en-GB" sz="2000" dirty="0"/>
              <a:t>Social Learning Theory (Bandura, 1977): While not denying the role of both classical and operant conditioning, SLT focuses on </a:t>
            </a:r>
            <a:r>
              <a:rPr lang="en-GB" sz="2000" i="1" dirty="0"/>
              <a:t>observational learning</a:t>
            </a:r>
            <a:r>
              <a:rPr lang="en-GB" sz="2000" dirty="0"/>
              <a:t> (or </a:t>
            </a:r>
            <a:r>
              <a:rPr lang="en-GB" sz="2000" i="1" dirty="0"/>
              <a:t>modelling</a:t>
            </a:r>
            <a:r>
              <a:rPr lang="en-GB" sz="2000" dirty="0"/>
              <a:t>), in which cognitive factors are crucial.</a:t>
            </a:r>
            <a:endParaRPr lang="en-GB" sz="2000" dirty="0"/>
          </a:p>
          <a:p>
            <a:pPr lvl="1"/>
            <a:r>
              <a:rPr lang="en-GB" sz="1710" dirty="0"/>
              <a:t>e.g. Bobo doll experiment</a:t>
            </a:r>
            <a:endParaRPr lang="en-GB" sz="1710" dirty="0"/>
          </a:p>
          <a:p>
            <a:r>
              <a:rPr lang="en-GB" sz="2000" b="1" dirty="0"/>
              <a:t>Tolman’s Cognitive Behaviourism </a:t>
            </a:r>
            <a:r>
              <a:rPr lang="en-GB" sz="2000" dirty="0"/>
              <a:t>– his maze experiments, particularly his work with rats in the 1930s, were pivotal in challenging the strict behaviourist views of learning and introducing the concept of cognitive learning.</a:t>
            </a:r>
            <a:endParaRPr lang="en-GB" sz="2000" dirty="0"/>
          </a:p>
          <a:p>
            <a:r>
              <a:rPr lang="en-GB" sz="2000" dirty="0"/>
              <a:t>Kohler’s experiment with chimps.</a:t>
            </a:r>
            <a:endParaRPr lang="en-GB" sz="2000" dirty="0"/>
          </a:p>
          <a:p>
            <a:endParaRPr lang="en-GB"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3133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1"/>
          <a:stretch>
            <a:fillRect/>
          </a:stretch>
        </p:blipFill>
        <p:spPr>
          <a:xfrm>
            <a:off x="1117600" y="643467"/>
            <a:ext cx="4978400" cy="5571066"/>
          </a:xfrm>
          <a:prstGeom prst="rect">
            <a:avLst/>
          </a:prstGeom>
        </p:spPr>
      </p:pic>
      <p:sp>
        <p:nvSpPr>
          <p:cNvPr id="5" name="TextBox 4"/>
          <p:cNvSpPr txBox="1"/>
          <p:nvPr/>
        </p:nvSpPr>
        <p:spPr>
          <a:xfrm>
            <a:off x="6441440" y="1995716"/>
            <a:ext cx="4632960" cy="3970318"/>
          </a:xfrm>
          <a:prstGeom prst="rect">
            <a:avLst/>
          </a:prstGeom>
          <a:noFill/>
        </p:spPr>
        <p:txBody>
          <a:bodyPr wrap="square">
            <a:spAutoFit/>
          </a:bodyPr>
          <a:lstStyle/>
          <a:p>
            <a:pPr algn="just"/>
            <a:r>
              <a:rPr lang="en-GB" sz="2800" dirty="0"/>
              <a:t>Tolman concluded that Group 3 had been learning the maze’s layout during the non-rewarded trials, even though they didn’t demonstrate this learning until a reward was introduced. This phenomenon was termed </a:t>
            </a:r>
            <a:r>
              <a:rPr lang="en-GB" sz="2800" b="1" dirty="0"/>
              <a:t>latent learning (“cognitive maps”)</a:t>
            </a:r>
            <a:endParaRPr lang="en-GB"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GB" sz="3400">
                <a:solidFill>
                  <a:srgbClr val="FFFFFF"/>
                </a:solidFill>
              </a:rPr>
              <a:t>Comparison of operant conditioning and latent learning</a:t>
            </a:r>
            <a:endParaRPr lang="en-GB" sz="34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en-GB" sz="3200" dirty="0"/>
              <a:t>Operant conditioning, as developed by Skinner, emphasizes that behaviours are shaped by immediate consequences (reinforcement or punishment). Tolman’s findings showed that learning can occur without immediate reinforcement and be expressed later when a reinforcer is introduced.</a:t>
            </a:r>
            <a:endParaRPr lang="en-GB" sz="3200" dirty="0"/>
          </a:p>
          <a:p>
            <a:endParaRPr lang="en-GB"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p:cNvSpPr>
            <a:spLocks noGrp="1" noRot="1" noChangeAspect="1" noMove="1" noResize="1" noEditPoints="1" noAdjustHandles="1" noChangeArrowheads="1" noChangeShapeType="1" noTextEdit="1"/>
          </p:cNvSpPr>
          <p:nvPr/>
        </p:nvSpPr>
        <p:spPr>
          <a:xfrm>
            <a:off x="0" y="0"/>
            <a:ext cx="12192000" cy="5241925"/>
          </a:xfrm>
          <a:prstGeom prst="rect">
            <a:avLst/>
          </a:prstGeom>
          <a:solidFill>
            <a:srgbClr val="3133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476885" y="480060"/>
            <a:ext cx="11238230" cy="38277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GB"/>
              <a:t>Tolman concluded that Group 3 had been learning the maze’s layout during the non-rewarded tria</a:t>
            </a:r>
            <a:endParaRPr lang="en-US"/>
          </a:p>
        </p:txBody>
      </p:sp>
      <p:pic>
        <p:nvPicPr>
          <p:cNvPr id="4" name="Picture 3"/>
          <p:cNvPicPr>
            <a:picLocks noChangeAspect="1"/>
          </p:cNvPicPr>
          <p:nvPr/>
        </p:nvPicPr>
        <p:blipFill>
          <a:blip r:embed="rId1"/>
          <a:stretch>
            <a:fillRect/>
          </a:stretch>
        </p:blipFill>
        <p:spPr>
          <a:xfrm>
            <a:off x="760095" y="781050"/>
            <a:ext cx="8534400" cy="3055620"/>
          </a:xfrm>
          <a:prstGeom prst="rect">
            <a:avLst/>
          </a:prstGeom>
        </p:spPr>
      </p:pic>
      <p:sp>
        <p:nvSpPr>
          <p:cNvPr id="2" name="Text Box 1"/>
          <p:cNvSpPr txBox="1"/>
          <p:nvPr/>
        </p:nvSpPr>
        <p:spPr>
          <a:xfrm>
            <a:off x="563245" y="5490210"/>
            <a:ext cx="11151870" cy="953135"/>
          </a:xfrm>
          <a:prstGeom prst="rect">
            <a:avLst/>
          </a:prstGeom>
          <a:noFill/>
        </p:spPr>
        <p:txBody>
          <a:bodyPr wrap="square" rtlCol="0" anchor="t">
            <a:spAutoFit/>
          </a:bodyPr>
          <a:lstStyle/>
          <a:p>
            <a:r>
              <a:rPr lang="en-GB" altLang="en-US" sz="2800"/>
              <a:t>Kohler (1925) has demonstated that chimps learn by INSIGHT (</a:t>
            </a:r>
            <a:r>
              <a:rPr lang="en-US" altLang="en-GB" sz="2800"/>
              <a:t>the sudden</a:t>
            </a:r>
            <a:r>
              <a:rPr lang="en-GB" altLang="en-US" sz="2800"/>
              <a:t> </a:t>
            </a:r>
            <a:r>
              <a:rPr lang="en-US" altLang="en-GB" sz="2800"/>
              <a:t>perception of a useful relationship that helps</a:t>
            </a:r>
            <a:r>
              <a:rPr lang="en-GB" altLang="en-US" sz="2800"/>
              <a:t> </a:t>
            </a:r>
            <a:r>
              <a:rPr lang="en-US" altLang="en-GB" sz="2800"/>
              <a:t>to solve a</a:t>
            </a:r>
            <a:r>
              <a:rPr lang="en-GB" altLang="en-US" sz="2800"/>
              <a:t> </a:t>
            </a:r>
            <a:r>
              <a:rPr lang="en-US" altLang="en-GB" sz="2800"/>
              <a:t>problem</a:t>
            </a:r>
            <a:r>
              <a:rPr lang="en-GB" altLang="en-US" sz="2800"/>
              <a:t>).</a:t>
            </a:r>
            <a:endParaRPr lang="en-GB" altLang="en-US" sz="2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1371599" y="294538"/>
            <a:ext cx="9895951" cy="1033669"/>
          </a:xfrm>
        </p:spPr>
        <p:txBody>
          <a:bodyPr>
            <a:normAutofit/>
          </a:bodyPr>
          <a:lstStyle/>
          <a:p>
            <a:r>
              <a:rPr lang="en-GB" altLang="en-US" sz="4000">
                <a:solidFill>
                  <a:srgbClr val="FFFFFF"/>
                </a:solidFill>
              </a:rPr>
              <a:t>What about learned helplessness?</a:t>
            </a:r>
            <a:endParaRPr lang="en-GB" altLang="en-US" sz="4000">
              <a:solidFill>
                <a:srgbClr val="FFFFFF"/>
              </a:solidFill>
            </a:endParaRPr>
          </a:p>
        </p:txBody>
      </p:sp>
      <p:sp>
        <p:nvSpPr>
          <p:cNvPr id="5" name="Content Placeholder 4"/>
          <p:cNvSpPr>
            <a:spLocks noGrp="1"/>
          </p:cNvSpPr>
          <p:nvPr>
            <p:ph idx="1"/>
          </p:nvPr>
        </p:nvSpPr>
        <p:spPr>
          <a:xfrm>
            <a:off x="374073" y="2318197"/>
            <a:ext cx="11450782" cy="3683358"/>
          </a:xfrm>
        </p:spPr>
        <p:txBody>
          <a:bodyPr anchor="ctr">
            <a:noAutofit/>
          </a:bodyPr>
          <a:lstStyle/>
          <a:p>
            <a:r>
              <a:rPr lang="en-GB" altLang="en-US" sz="2400" dirty="0"/>
              <a:t>A</a:t>
            </a:r>
            <a:r>
              <a:rPr lang="en-US" altLang="en-GB" sz="2400" dirty="0"/>
              <a:t> condition where an </a:t>
            </a:r>
            <a:r>
              <a:rPr lang="en-GB" altLang="en-US" sz="2400" dirty="0"/>
              <a:t>individual/animal</a:t>
            </a:r>
            <a:r>
              <a:rPr lang="en-US" altLang="en-GB" sz="2400" dirty="0"/>
              <a:t>, after repeated exposure to uncontrollable negative events, develops a belief that they cannot influence outcomes, leading to passivity and reduced motivation to act, even when control is possible</a:t>
            </a:r>
            <a:r>
              <a:rPr lang="en-GB" altLang="en-US" sz="2400" dirty="0"/>
              <a:t> (Seligman, 1960s)</a:t>
            </a:r>
            <a:r>
              <a:rPr lang="en-US" altLang="en-GB" sz="2400" dirty="0"/>
              <a:t>.</a:t>
            </a:r>
            <a:endParaRPr lang="en-US" altLang="en-GB" sz="2400" dirty="0"/>
          </a:p>
          <a:p>
            <a:r>
              <a:rPr lang="en-US" altLang="en-GB" sz="2400" b="1" dirty="0"/>
              <a:t>Classical Conditioning</a:t>
            </a:r>
            <a:r>
              <a:rPr lang="en-US" altLang="en-GB" sz="2400" dirty="0"/>
              <a:t>: Learned helplessness involves associating an aversive stimulus with a lack of control, leading to a conditioned response of helplessness or resignation.</a:t>
            </a:r>
            <a:endParaRPr lang="en-US" altLang="en-GB" sz="2400" dirty="0"/>
          </a:p>
          <a:p>
            <a:r>
              <a:rPr lang="en-US" altLang="en-GB" sz="2400" b="1" dirty="0"/>
              <a:t>Operant Conditioning</a:t>
            </a:r>
            <a:r>
              <a:rPr lang="en-US" altLang="en-GB" sz="2400" dirty="0"/>
              <a:t>: When actions (e.g., attempts to escape or solve a problem) consistently fail to produce desired outcomes, the individual learns that their behavior has no effect, reducing future attempts (negative reinforcement of passivity).</a:t>
            </a:r>
            <a:endParaRPr lang="en-US" altLang="en-GB" sz="2400" dirty="0"/>
          </a:p>
          <a:p>
            <a:r>
              <a:rPr lang="en-US" altLang="en-GB" sz="2400" b="1" dirty="0"/>
              <a:t>Cognitive Learning</a:t>
            </a:r>
            <a:r>
              <a:rPr lang="en-US" altLang="en-GB" sz="2400" dirty="0"/>
              <a:t>: The cognitive aspect of learned helplessness emphasizes the role of perception and belief. Individuals internalize the idea that they are powerless, which shapes their expectations and behavior in new situations.</a:t>
            </a:r>
            <a:endParaRPr lang="en-US" altLang="en-GB"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b="1"/>
              <a:t>Learned helplessness</a:t>
            </a:r>
            <a:endParaRPr lang="en-GB" altLang="en-US" b="1"/>
          </a:p>
        </p:txBody>
      </p:sp>
      <p:pic>
        <p:nvPicPr>
          <p:cNvPr id="7" name="Content Placeholder 6"/>
          <p:cNvPicPr>
            <a:picLocks noGrp="1" noChangeAspect="1"/>
          </p:cNvPicPr>
          <p:nvPr>
            <p:ph sz="half" idx="1"/>
          </p:nvPr>
        </p:nvPicPr>
        <p:blipFill>
          <a:blip r:embed="rId1"/>
          <a:stretch>
            <a:fillRect/>
          </a:stretch>
        </p:blipFill>
        <p:spPr>
          <a:xfrm>
            <a:off x="838200" y="1825625"/>
            <a:ext cx="5062855" cy="4351655"/>
          </a:xfrm>
          <a:prstGeom prst="rect">
            <a:avLst/>
          </a:prstGeom>
        </p:spPr>
      </p:pic>
      <p:pic>
        <p:nvPicPr>
          <p:cNvPr id="8" name="Content Placeholder 7"/>
          <p:cNvPicPr>
            <a:picLocks noGrp="1" noChangeAspect="1"/>
          </p:cNvPicPr>
          <p:nvPr>
            <p:ph sz="half" idx="2"/>
          </p:nvPr>
        </p:nvPicPr>
        <p:blipFill>
          <a:blip r:embed="rId2"/>
          <a:stretch>
            <a:fillRect/>
          </a:stretch>
        </p:blipFill>
        <p:spPr>
          <a:xfrm>
            <a:off x="6171565" y="1825625"/>
            <a:ext cx="5182235" cy="43522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a:spLocks noGrp="1" noRot="1" noChangeAspect="1" noMove="1" noResize="1" noEditPoints="1" noAdjustHandles="1" noChangeArrowheads="1" noChangeShapeType="1" noTextEdit="1"/>
          </p:cNvSpPr>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a:spLocks noGrp="1" noRot="1" noChangeAspect="1" noMove="1" noResize="1" noEditPoints="1" noAdjustHandles="1" noChangeArrowheads="1" noChangeShapeType="1" noTextEdit="1"/>
          </p:cNvSpPr>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p:cNvSpPr>
            <a:spLocks noGrp="1" noRot="1" noChangeAspect="1" noMove="1" noResize="1" noEditPoints="1" noAdjustHandles="1" noChangeArrowheads="1" noChangeShapeType="1" noTextEdit="1"/>
          </p:cNvSpPr>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p:cNvSpPr>
            <a:spLocks noGrp="1" noRot="1" noChangeAspect="1" noMove="1" noResize="1" noEditPoints="1" noAdjustHandles="1" noChangeArrowheads="1" noChangeShapeType="1" noTextEdit="1"/>
          </p:cNvSpPr>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6478" y="1683756"/>
            <a:ext cx="3115265" cy="2396359"/>
          </a:xfrm>
        </p:spPr>
        <p:txBody>
          <a:bodyPr anchor="b">
            <a:normAutofit/>
          </a:bodyPr>
          <a:lstStyle/>
          <a:p>
            <a:pPr algn="r"/>
            <a:r>
              <a:rPr lang="en-GB" sz="4000">
                <a:solidFill>
                  <a:srgbClr val="FFFFFF"/>
                </a:solidFill>
              </a:rPr>
              <a:t>Lecture summary</a:t>
            </a:r>
            <a:endParaRPr lang="en-GB" sz="4000">
              <a:solidFill>
                <a:srgbClr val="FFFFFF"/>
              </a:solidFill>
            </a:endParaRPr>
          </a:p>
        </p:txBody>
      </p:sp>
      <p:graphicFrame>
        <p:nvGraphicFramePr>
          <p:cNvPr id="5" name="Content Placeholder 2"/>
          <p:cNvGraphicFramePr>
            <a:graphicFrameLocks noGrp="1"/>
          </p:cNvGraphicFramePr>
          <p:nvPr>
            <p:ph idx="1"/>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11028</Words>
  <Application>WPS Presentation</Application>
  <PresentationFormat>Widescreen</PresentationFormat>
  <Paragraphs>151</Paragraphs>
  <Slides>25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Arial</vt:lpstr>
      <vt:lpstr>SimSun</vt:lpstr>
      <vt:lpstr>Wingdings</vt:lpstr>
      <vt:lpstr>Calibri</vt:lpstr>
      <vt:lpstr>Calibri Light</vt:lpstr>
      <vt:lpstr>Microsoft YaHei</vt:lpstr>
      <vt:lpstr>Arial Unicode MS</vt:lpstr>
      <vt:lpstr>Office 2013 - 2022 Theme</vt:lpstr>
      <vt:lpstr>PSYC100 GENERAL PSYCHOLOGY</vt:lpstr>
      <vt:lpstr>Learning Outcomes</vt:lpstr>
      <vt:lpstr>What is learning?</vt:lpstr>
      <vt:lpstr>PowerPoint 演示文稿</vt:lpstr>
      <vt:lpstr>Classical Conditioning- Pavlov</vt:lpstr>
      <vt:lpstr>Classical conditioning</vt:lpstr>
      <vt:lpstr>Classical conditioning and phobias</vt:lpstr>
      <vt:lpstr>Classical conditioning and phobias</vt:lpstr>
      <vt:lpstr>Classical conditioning and phobias</vt:lpstr>
      <vt:lpstr>Operant conditioning</vt:lpstr>
      <vt:lpstr>Thorndike</vt:lpstr>
      <vt:lpstr>Skinner</vt:lpstr>
      <vt:lpstr>PowerPoint 演示文稿</vt:lpstr>
      <vt:lpstr>Some examples</vt:lpstr>
      <vt:lpstr>Schedules of reinforcement</vt:lpstr>
      <vt:lpstr>Comparison of CC and OC</vt:lpstr>
      <vt:lpstr>Do principles of learning apply to all species?</vt:lpstr>
      <vt:lpstr>Do principles of learning apply to all species?</vt:lpstr>
      <vt:lpstr>Cognitive approaches</vt:lpstr>
      <vt:lpstr>PowerPoint 演示文稿</vt:lpstr>
      <vt:lpstr>Comparison of operant conditioning and latent learning</vt:lpstr>
      <vt:lpstr>PowerPoint 演示文稿</vt:lpstr>
      <vt:lpstr>What about learned helplessness?</vt:lpstr>
      <vt:lpstr>Learned helplessness</vt:lpstr>
      <vt:lpstr>Lecture 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PSYC100 GENERAL PSYCHOLOGY</dc:title>
  <dc:creator>Asli Niyazi</dc:creator>
  <cp:lastModifiedBy>Asli Niyazi</cp:lastModifiedBy>
  <cp:revision>27</cp:revision>
  <dcterms:created xsi:type="dcterms:W3CDTF">2025-09-11T06:03:00Z</dcterms:created>
  <dcterms:modified xsi:type="dcterms:W3CDTF">2025-10-08T17:46:28Z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429A8E83887441C18FFFEF29559840E7_13</vt:lpwstr>
  </property>
  <property fmtid="{D5CDD505-2E9C-101B-9397-08002B2CF9AE}" pid="3" name="KSOProductBuildVer">
    <vt:lpwstr>2057-12.2.0.22549</vt:lpwstr>
  </property>
</Properties>
</file>