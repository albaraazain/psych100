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 id="259" r:id="rId7"/>
    <p:sldId id="261" r:id="rId8"/>
    <p:sldId id="262" r:id="rId9"/>
    <p:sldId id="263" r:id="rId10"/>
    <p:sldId id="266" r:id="rId11"/>
    <p:sldId id="267" r:id="rId12"/>
    <p:sldId id="268" r:id="rId13"/>
    <p:sldId id="269" r:id="rId14"/>
    <p:sldId id="270" r:id="rId15"/>
    <p:sldId id="271" r:id="rId16"/>
    <p:sldId id="272" r:id="rId17"/>
    <p:sldId id="273" r:id="rId18"/>
    <p:sldId id="277" r:id="rId19"/>
    <p:sldId id="278" r:id="rId20"/>
    <p:sldId id="279" r:id="rId21"/>
    <p:sldId id="280" r:id="rId22"/>
    <p:sldId id="282"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300" r:id="rId37"/>
    <p:sldId id="301" r:id="rId38"/>
    <p:sldId id="302" r:id="rId39"/>
    <p:sldId id="303" r:id="rId40"/>
    <p:sldId id="304" r:id="rId41"/>
    <p:sldId id="305" r:id="rId42"/>
    <p:sldId id="306" r:id="rId43"/>
    <p:sldId id="307" r:id="rId44"/>
    <p:sldId id="308" r:id="rId45"/>
    <p:sldId id="309" r:id="rId46"/>
    <p:sldId id="315" r:id="rId47"/>
    <p:sldId id="316" r:id="rId48"/>
    <p:sldId id="317" r:id="rId49"/>
    <p:sldId id="318" r:id="rId50"/>
    <p:sldId id="320" r:id="rId51"/>
    <p:sldId id="321" r:id="rId52"/>
    <p:sldId id="322" r:id="rId53"/>
    <p:sldId id="323" r:id="rId54"/>
    <p:sldId id="326" r:id="rId55"/>
    <p:sldId id="330" r:id="rId56"/>
    <p:sldId id="329"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tableStyles" Target="tableStyles.xml"/><Relationship Id="rId6" Type="http://schemas.openxmlformats.org/officeDocument/2006/relationships/notesMaster" Target="notesMasters/notesMaster1.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12291"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12292" name="Rectangle 2"/>
          <p:cNvSpPr>
            <a:spLocks noGrp="1" noRot="1" noChangeAspect="1" noTextEdit="1"/>
          </p:cNvSpPr>
          <p:nvPr>
            <p:ph type="sldImg"/>
          </p:nvPr>
        </p:nvSpPr>
        <p:spPr/>
      </p:sp>
      <p:sp>
        <p:nvSpPr>
          <p:cNvPr id="12293"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14339"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14340" name="Rectangle 2"/>
          <p:cNvSpPr>
            <a:spLocks noGrp="1" noRot="1" noChangeAspect="1" noTextEdit="1"/>
          </p:cNvSpPr>
          <p:nvPr>
            <p:ph type="sldImg"/>
          </p:nvPr>
        </p:nvSpPr>
        <p:spPr/>
      </p:sp>
      <p:sp>
        <p:nvSpPr>
          <p:cNvPr id="14341"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18435"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18436" name="Rectangle 2"/>
          <p:cNvSpPr>
            <a:spLocks noGrp="1" noRot="1" noChangeAspect="1" noTextEdit="1"/>
          </p:cNvSpPr>
          <p:nvPr>
            <p:ph type="sldImg"/>
          </p:nvPr>
        </p:nvSpPr>
        <p:spPr/>
      </p:sp>
      <p:sp>
        <p:nvSpPr>
          <p:cNvPr id="18437"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20483"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20484" name="Rectangle 2"/>
          <p:cNvSpPr>
            <a:spLocks noGrp="1" noRot="1" noChangeAspect="1" noTextEdit="1"/>
          </p:cNvSpPr>
          <p:nvPr>
            <p:ph type="sldImg"/>
          </p:nvPr>
        </p:nvSpPr>
        <p:spPr/>
      </p:sp>
      <p:sp>
        <p:nvSpPr>
          <p:cNvPr id="20485"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22531"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22532" name="Rectangle 2"/>
          <p:cNvSpPr>
            <a:spLocks noGrp="1" noRot="1" noChangeAspect="1" noTextEdit="1"/>
          </p:cNvSpPr>
          <p:nvPr>
            <p:ph type="sldImg"/>
          </p:nvPr>
        </p:nvSpPr>
        <p:spPr/>
      </p:sp>
      <p:sp>
        <p:nvSpPr>
          <p:cNvPr id="22533"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28675"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28676" name="Rectangle 2"/>
          <p:cNvSpPr>
            <a:spLocks noGrp="1" noRot="1" noChangeAspect="1" noTextEdit="1"/>
          </p:cNvSpPr>
          <p:nvPr>
            <p:ph type="sldImg"/>
          </p:nvPr>
        </p:nvSpPr>
        <p:spPr/>
      </p:sp>
      <p:sp>
        <p:nvSpPr>
          <p:cNvPr id="28677"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30723"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30724" name="Rectangle 2"/>
          <p:cNvSpPr>
            <a:spLocks noGrp="1" noRot="1" noChangeAspect="1" noTextEdit="1"/>
          </p:cNvSpPr>
          <p:nvPr>
            <p:ph type="sldImg"/>
          </p:nvPr>
        </p:nvSpPr>
        <p:spPr/>
      </p:sp>
      <p:sp>
        <p:nvSpPr>
          <p:cNvPr id="30725"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32771"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32772" name="Rectangle 2"/>
          <p:cNvSpPr>
            <a:spLocks noGrp="1" noRot="1" noChangeAspect="1" noTextEdit="1"/>
          </p:cNvSpPr>
          <p:nvPr>
            <p:ph type="sldImg"/>
          </p:nvPr>
        </p:nvSpPr>
        <p:spPr/>
      </p:sp>
      <p:sp>
        <p:nvSpPr>
          <p:cNvPr id="32773"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en-GB" altLang="tr-T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34819"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34820" name="Rectangle 2"/>
          <p:cNvSpPr>
            <a:spLocks noGrp="1" noRot="1" noChangeAspect="1" noTextEdit="1"/>
          </p:cNvSpPr>
          <p:nvPr>
            <p:ph type="sldImg"/>
          </p:nvPr>
        </p:nvSpPr>
        <p:spPr/>
      </p:sp>
      <p:sp>
        <p:nvSpPr>
          <p:cNvPr id="34821"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en-GB" altLang="tr-T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36867"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36868" name="Rectangle 2"/>
          <p:cNvSpPr>
            <a:spLocks noGrp="1" noRot="1" noChangeAspect="1" noTextEdit="1"/>
          </p:cNvSpPr>
          <p:nvPr>
            <p:ph type="sldImg"/>
          </p:nvPr>
        </p:nvSpPr>
        <p:spPr/>
      </p:sp>
      <p:sp>
        <p:nvSpPr>
          <p:cNvPr id="36869"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en-GB" altLang="tr-T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38915"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38916" name="Rectangle 2"/>
          <p:cNvSpPr>
            <a:spLocks noGrp="1" noRot="1" noChangeAspect="1" noTextEdit="1"/>
          </p:cNvSpPr>
          <p:nvPr>
            <p:ph type="sldImg"/>
          </p:nvPr>
        </p:nvSpPr>
        <p:spPr/>
      </p:sp>
      <p:sp>
        <p:nvSpPr>
          <p:cNvPr id="38917"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en-GB" altLang="tr-T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41987"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41988" name="Rectangle 2"/>
          <p:cNvSpPr>
            <a:spLocks noGrp="1" noRot="1" noChangeAspect="1" noTextEdit="1"/>
          </p:cNvSpPr>
          <p:nvPr>
            <p:ph type="sldImg"/>
          </p:nvPr>
        </p:nvSpPr>
        <p:spPr/>
      </p:sp>
      <p:sp>
        <p:nvSpPr>
          <p:cNvPr id="41989" name="Rectangle 3"/>
          <p:cNvSpPr>
            <a:spLocks noGrp="1"/>
          </p:cNvSpPr>
          <p:nvPr>
            <p:ph type="body" idx="1"/>
          </p:nvPr>
        </p:nvSpPr>
        <p:spPr>
          <a:xfrm>
            <a:off x="914400" y="4341813"/>
            <a:ext cx="5029200" cy="4116387"/>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49155"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49156" name="Rectangle 2"/>
          <p:cNvSpPr>
            <a:spLocks noGrp="1" noRot="1" noChangeAspect="1" noTextEdit="1"/>
          </p:cNvSpPr>
          <p:nvPr>
            <p:ph type="sldImg"/>
          </p:nvPr>
        </p:nvSpPr>
        <p:spPr/>
      </p:sp>
      <p:sp>
        <p:nvSpPr>
          <p:cNvPr id="49157" name="Rectangle 3"/>
          <p:cNvSpPr>
            <a:spLocks noGrp="1"/>
          </p:cNvSpPr>
          <p:nvPr>
            <p:ph type="body" idx="1"/>
          </p:nvPr>
        </p:nvSpPr>
        <p:spPr>
          <a:xfrm>
            <a:off x="914400" y="4343400"/>
            <a:ext cx="5029200" cy="4114800"/>
          </a:xfrm>
        </p:spPr>
        <p:txBody>
          <a:bodyPr wrap="square" lIns="91440" tIns="45720" rIns="91440" bIns="45720" anchor="t" anchorCtr="0"/>
          <a:lstStyle/>
          <a:p>
            <a:pPr lvl="0" eaLnBrk="1" hangingPunct="1">
              <a:spcBef>
                <a:spcPct val="0"/>
              </a:spcBef>
            </a:pPr>
            <a:endParaRPr lang="tr-TR" altLang="tr-TR" sz="1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51203"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51204" name="Rectangle 2"/>
          <p:cNvSpPr>
            <a:spLocks noGrp="1"/>
          </p:cNvSpPr>
          <p:nvPr>
            <p:ph type="body" idx="1"/>
          </p:nvPr>
        </p:nvSpPr>
        <p:spPr>
          <a:xfrm>
            <a:off x="914400" y="4343400"/>
            <a:ext cx="5029200" cy="4114800"/>
          </a:xfrm>
        </p:spPr>
        <p:txBody>
          <a:bodyPr wrap="square" lIns="90488" tIns="44450" rIns="90488" bIns="44450" anchor="t" anchorCtr="0"/>
          <a:lstStyle/>
          <a:p>
            <a:pPr lvl="0" eaLnBrk="1" hangingPunct="1">
              <a:spcBef>
                <a:spcPct val="0"/>
              </a:spcBef>
            </a:pPr>
            <a:endParaRPr lang="tr-TR" altLang="tr-TR" dirty="0"/>
          </a:p>
        </p:txBody>
      </p:sp>
      <p:sp>
        <p:nvSpPr>
          <p:cNvPr id="51205" name="Rectangle 3"/>
          <p:cNvSpPr>
            <a:spLocks noGrp="1" noRot="1" noChangeAspect="1" noTextEdit="1"/>
          </p:cNvSpPr>
          <p:nvPr>
            <p:ph type="sldImg"/>
          </p:nvPr>
        </p:nvSpPr>
        <p:spPr>
          <a:xfrm>
            <a:off x="1150938" y="692150"/>
            <a:ext cx="4556125" cy="3416300"/>
          </a:xfrm>
          <a:ln>
            <a:solidFill>
              <a:schemeClr val="tx1">
                <a:alpha val="100000"/>
              </a:schemeClr>
            </a:solid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53251"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53252" name="Rectangle 2"/>
          <p:cNvSpPr>
            <a:spLocks noGrp="1" noRot="1" noChangeAspect="1" noTextEdit="1"/>
          </p:cNvSpPr>
          <p:nvPr>
            <p:ph type="sldImg"/>
          </p:nvPr>
        </p:nvSpPr>
        <p:spPr>
          <a:xfrm>
            <a:off x="1127125" y="711200"/>
            <a:ext cx="4603750" cy="3454400"/>
          </a:xfrm>
        </p:spPr>
      </p:sp>
      <p:sp>
        <p:nvSpPr>
          <p:cNvPr id="53253" name="Rectangle 3"/>
          <p:cNvSpPr>
            <a:spLocks noGrp="1"/>
          </p:cNvSpPr>
          <p:nvPr>
            <p:ph type="body" idx="1"/>
          </p:nvPr>
        </p:nvSpPr>
        <p:spPr>
          <a:xfrm>
            <a:off x="914400" y="4368800"/>
            <a:ext cx="5029200" cy="40640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55299"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55300" name="Rectangle 2"/>
          <p:cNvSpPr>
            <a:spLocks noGrp="1" noRot="1" noChangeAspect="1" noTextEdit="1"/>
          </p:cNvSpPr>
          <p:nvPr>
            <p:ph type="sldImg"/>
          </p:nvPr>
        </p:nvSpPr>
        <p:spPr>
          <a:xfrm>
            <a:off x="1127125" y="711200"/>
            <a:ext cx="4603750" cy="3454400"/>
          </a:xfrm>
        </p:spPr>
      </p:sp>
      <p:sp>
        <p:nvSpPr>
          <p:cNvPr id="55301" name="Rectangle 3"/>
          <p:cNvSpPr>
            <a:spLocks noGrp="1"/>
          </p:cNvSpPr>
          <p:nvPr>
            <p:ph type="body" idx="1"/>
          </p:nvPr>
        </p:nvSpPr>
        <p:spPr>
          <a:xfrm>
            <a:off x="914400" y="4368800"/>
            <a:ext cx="5029200" cy="40640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59395"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59396" name="Rectangle 2"/>
          <p:cNvSpPr>
            <a:spLocks noGrp="1" noRot="1" noChangeAspect="1" noTextEdit="1"/>
          </p:cNvSpPr>
          <p:nvPr>
            <p:ph type="sldImg"/>
          </p:nvPr>
        </p:nvSpPr>
        <p:spPr>
          <a:xfrm>
            <a:off x="1127125" y="711200"/>
            <a:ext cx="4603750" cy="3454400"/>
          </a:xfrm>
        </p:spPr>
      </p:sp>
      <p:sp>
        <p:nvSpPr>
          <p:cNvPr id="59397" name="Rectangle 3"/>
          <p:cNvSpPr>
            <a:spLocks noGrp="1"/>
          </p:cNvSpPr>
          <p:nvPr>
            <p:ph type="body" idx="1"/>
          </p:nvPr>
        </p:nvSpPr>
        <p:spPr>
          <a:xfrm>
            <a:off x="914400" y="4368800"/>
            <a:ext cx="5029200" cy="40640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63491"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63492" name="Rectangle 2"/>
          <p:cNvSpPr>
            <a:spLocks noGrp="1" noRot="1" noChangeAspect="1" noTextEdit="1"/>
          </p:cNvSpPr>
          <p:nvPr>
            <p:ph type="sldImg"/>
          </p:nvPr>
        </p:nvSpPr>
        <p:spPr/>
      </p:sp>
      <p:sp>
        <p:nvSpPr>
          <p:cNvPr id="63493" name="Rectangle 3"/>
          <p:cNvSpPr>
            <a:spLocks noGrp="1"/>
          </p:cNvSpPr>
          <p:nvPr>
            <p:ph type="body" idx="1"/>
          </p:nvPr>
        </p:nvSpPr>
        <p:spPr>
          <a:xfrm>
            <a:off x="914400" y="4343400"/>
            <a:ext cx="5029200" cy="41148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65539"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65540" name="Rectangle 2"/>
          <p:cNvSpPr>
            <a:spLocks noGrp="1" noRot="1" noChangeAspect="1" noTextEdit="1"/>
          </p:cNvSpPr>
          <p:nvPr>
            <p:ph type="sldImg"/>
          </p:nvPr>
        </p:nvSpPr>
        <p:spPr/>
      </p:sp>
      <p:sp>
        <p:nvSpPr>
          <p:cNvPr id="65541" name="Rectangle 3"/>
          <p:cNvSpPr>
            <a:spLocks noGrp="1"/>
          </p:cNvSpPr>
          <p:nvPr>
            <p:ph type="body" idx="1"/>
          </p:nvPr>
        </p:nvSpPr>
        <p:spPr>
          <a:xfrm>
            <a:off x="914400" y="4343400"/>
            <a:ext cx="5029200" cy="41148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67587"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67588" name="Rectangle 2"/>
          <p:cNvSpPr>
            <a:spLocks noGrp="1" noRot="1" noChangeAspect="1" noTextEdit="1"/>
          </p:cNvSpPr>
          <p:nvPr>
            <p:ph type="sldImg"/>
          </p:nvPr>
        </p:nvSpPr>
        <p:spPr/>
      </p:sp>
      <p:sp>
        <p:nvSpPr>
          <p:cNvPr id="67589" name="Rectangle 3"/>
          <p:cNvSpPr>
            <a:spLocks noGrp="1"/>
          </p:cNvSpPr>
          <p:nvPr>
            <p:ph type="body" idx="1"/>
          </p:nvPr>
        </p:nvSpPr>
        <p:spPr>
          <a:xfrm>
            <a:off x="914400" y="4343400"/>
            <a:ext cx="5029200" cy="41148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69635"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69636" name="Rectangle 2"/>
          <p:cNvSpPr>
            <a:spLocks noGrp="1" noRot="1" noChangeAspect="1" noTextEdit="1"/>
          </p:cNvSpPr>
          <p:nvPr>
            <p:ph type="sldImg"/>
          </p:nvPr>
        </p:nvSpPr>
        <p:spPr/>
      </p:sp>
      <p:sp>
        <p:nvSpPr>
          <p:cNvPr id="69637" name="Rectangle 3"/>
          <p:cNvSpPr>
            <a:spLocks noGrp="1"/>
          </p:cNvSpPr>
          <p:nvPr>
            <p:ph type="body" idx="1"/>
          </p:nvPr>
        </p:nvSpPr>
        <p:spPr>
          <a:xfrm>
            <a:off x="914400" y="4343400"/>
            <a:ext cx="5029200" cy="41148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71683"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71684" name="Rectangle 2"/>
          <p:cNvSpPr>
            <a:spLocks noGrp="1" noRot="1" noChangeAspect="1" noTextEdit="1"/>
          </p:cNvSpPr>
          <p:nvPr>
            <p:ph type="sldImg"/>
          </p:nvPr>
        </p:nvSpPr>
        <p:spPr/>
      </p:sp>
      <p:sp>
        <p:nvSpPr>
          <p:cNvPr id="71685" name="Rectangle 3"/>
          <p:cNvSpPr>
            <a:spLocks noGrp="1"/>
          </p:cNvSpPr>
          <p:nvPr>
            <p:ph type="body" idx="1"/>
          </p:nvPr>
        </p:nvSpPr>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73731"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73732" name="Rectangle 2"/>
          <p:cNvSpPr>
            <a:spLocks noGrp="1" noRot="1" noChangeAspect="1" noTextEdit="1"/>
          </p:cNvSpPr>
          <p:nvPr>
            <p:ph type="sldImg"/>
          </p:nvPr>
        </p:nvSpPr>
        <p:spPr/>
      </p:sp>
      <p:sp>
        <p:nvSpPr>
          <p:cNvPr id="73733" name="Rectangle 3"/>
          <p:cNvSpPr>
            <a:spLocks noGrp="1"/>
          </p:cNvSpPr>
          <p:nvPr>
            <p:ph type="body" idx="1"/>
          </p:nvPr>
        </p:nvSpPr>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75779"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75780" name="Rectangle 2"/>
          <p:cNvSpPr>
            <a:spLocks noGrp="1" noRot="1" noChangeAspect="1" noTextEdit="1"/>
          </p:cNvSpPr>
          <p:nvPr>
            <p:ph type="sldImg"/>
          </p:nvPr>
        </p:nvSpPr>
        <p:spPr/>
      </p:sp>
      <p:sp>
        <p:nvSpPr>
          <p:cNvPr id="75781" name="Rectangle 3"/>
          <p:cNvSpPr>
            <a:spLocks noGrp="1"/>
          </p:cNvSpPr>
          <p:nvPr>
            <p:ph type="body" idx="1"/>
          </p:nvPr>
        </p:nvSpPr>
        <p:spPr>
          <a:xfrm>
            <a:off x="914400" y="4343400"/>
            <a:ext cx="5029200" cy="41148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78851"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78852" name="Rectangle 2"/>
          <p:cNvSpPr>
            <a:spLocks noGrp="1"/>
          </p:cNvSpPr>
          <p:nvPr>
            <p:ph type="body" idx="1"/>
          </p:nvPr>
        </p:nvSpPr>
        <p:spPr>
          <a:xfrm>
            <a:off x="914400" y="4343400"/>
            <a:ext cx="5029200" cy="4114800"/>
          </a:xfrm>
        </p:spPr>
        <p:txBody>
          <a:bodyPr wrap="square" lIns="90488" tIns="44450" rIns="90488" bIns="44450" anchor="t" anchorCtr="0"/>
          <a:lstStyle/>
          <a:p>
            <a:pPr lvl="0" eaLnBrk="1" hangingPunct="1">
              <a:spcBef>
                <a:spcPct val="0"/>
              </a:spcBef>
            </a:pPr>
            <a:endParaRPr lang="tr-TR" altLang="tr-TR" dirty="0"/>
          </a:p>
        </p:txBody>
      </p:sp>
      <p:sp>
        <p:nvSpPr>
          <p:cNvPr id="78853" name="Rectangle 3"/>
          <p:cNvSpPr>
            <a:spLocks noGrp="1" noRot="1" noChangeAspect="1" noTextEdit="1"/>
          </p:cNvSpPr>
          <p:nvPr>
            <p:ph type="sldImg"/>
          </p:nvPr>
        </p:nvSpPr>
        <p:spPr>
          <a:xfrm>
            <a:off x="393700" y="692150"/>
            <a:ext cx="6070600" cy="3416300"/>
          </a:xfrm>
          <a:ln>
            <a:solidFill>
              <a:schemeClr val="tx1">
                <a:alpha val="100000"/>
              </a:schemeClr>
            </a:solid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80899"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80900" name="Rectangle 2"/>
          <p:cNvSpPr>
            <a:spLocks noGrp="1" noRot="1" noChangeAspect="1" noTextEdit="1"/>
          </p:cNvSpPr>
          <p:nvPr>
            <p:ph type="sldImg"/>
          </p:nvPr>
        </p:nvSpPr>
        <p:spPr/>
      </p:sp>
      <p:sp>
        <p:nvSpPr>
          <p:cNvPr id="80901" name="Rectangle 3"/>
          <p:cNvSpPr>
            <a:spLocks noGrp="1"/>
          </p:cNvSpPr>
          <p:nvPr>
            <p:ph type="body" idx="1"/>
          </p:nvPr>
        </p:nvSpPr>
        <p:spPr>
          <a:xfrm>
            <a:off x="914400" y="4343400"/>
            <a:ext cx="5029200" cy="41148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83971"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83972" name="Rectangle 2"/>
          <p:cNvSpPr>
            <a:spLocks noGrp="1" noRot="1" noChangeAspect="1" noTextEdit="1"/>
          </p:cNvSpPr>
          <p:nvPr>
            <p:ph type="sldImg"/>
          </p:nvPr>
        </p:nvSpPr>
        <p:spPr/>
      </p:sp>
      <p:sp>
        <p:nvSpPr>
          <p:cNvPr id="83973" name="Rectangle 3"/>
          <p:cNvSpPr>
            <a:spLocks noGrp="1"/>
          </p:cNvSpPr>
          <p:nvPr>
            <p:ph type="body" idx="1"/>
          </p:nvPr>
        </p:nvSpPr>
        <p:spPr>
          <a:xfrm>
            <a:off x="914400" y="4343400"/>
            <a:ext cx="5029200" cy="41148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tr-TR" sz="1200" dirty="0">
                <a:latin typeface="Calibri" panose="020F0502020204030204" charset="0"/>
              </a:rPr>
            </a:fld>
            <a:endParaRPr lang="en-US" altLang="tr-TR" sz="1200" dirty="0">
              <a:latin typeface="Calibri" panose="020F0502020204030204" charset="0"/>
            </a:endParaRPr>
          </a:p>
        </p:txBody>
      </p:sp>
      <p:sp>
        <p:nvSpPr>
          <p:cNvPr id="86019" name="Rectangle 7"/>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GB" altLang="tr-TR" sz="1200" dirty="0">
                <a:latin typeface="Calibri" panose="020F0502020204030204" charset="0"/>
              </a:rPr>
            </a:fld>
            <a:endParaRPr lang="en-GB" altLang="tr-TR" sz="1200" dirty="0">
              <a:latin typeface="Calibri" panose="020F0502020204030204" charset="0"/>
            </a:endParaRPr>
          </a:p>
        </p:txBody>
      </p:sp>
      <p:sp>
        <p:nvSpPr>
          <p:cNvPr id="86020" name="Rectangle 2"/>
          <p:cNvSpPr>
            <a:spLocks noGrp="1" noRot="1" noChangeAspect="1" noTextEdit="1"/>
          </p:cNvSpPr>
          <p:nvPr>
            <p:ph type="sldImg"/>
          </p:nvPr>
        </p:nvSpPr>
        <p:spPr/>
      </p:sp>
      <p:sp>
        <p:nvSpPr>
          <p:cNvPr id="86021" name="Rectangle 3"/>
          <p:cNvSpPr>
            <a:spLocks noGrp="1"/>
          </p:cNvSpPr>
          <p:nvPr>
            <p:ph type="body" idx="1"/>
          </p:nvPr>
        </p:nvSpPr>
        <p:spPr>
          <a:xfrm>
            <a:off x="914400" y="4343400"/>
            <a:ext cx="5029200" cy="4114800"/>
          </a:xfrm>
        </p:spPr>
        <p:txBody>
          <a:bodyPr wrap="square" lIns="91440" tIns="45720" rIns="91440" bIns="45720" anchor="t" anchorCtr="0"/>
          <a:lstStyle/>
          <a:p>
            <a:pPr lvl="0" eaLnBrk="1" hangingPunct="1">
              <a:spcBef>
                <a:spcPct val="0"/>
              </a:spcBef>
            </a:pPr>
            <a:endParaRPr lang="tr-TR" altLang="tr-T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19050"/>
            <a:ext cx="12206817" cy="6867525"/>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B409B065-B2AF-429C-BF08-92853F5BDB8C}"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FBF21AF2-8192-48AB-9886-9FE0B41F8C3B}"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b="1"/>
            </a:lvl1p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409B065-B2AF-429C-BF08-92853F5BDB8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409B065-B2AF-429C-BF08-92853F5BDB8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B409B065-B2AF-429C-BF08-92853F5BDB8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B409B065-B2AF-429C-BF08-92853F5BDB8C}"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409B065-B2AF-429C-BF08-92853F5BDB8C}"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09B065-B2AF-429C-BF08-92853F5BDB8C}"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409B065-B2AF-429C-BF08-92853F5BDB8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409B065-B2AF-429C-BF08-92853F5BDB8C}" type="datetimeFigureOut">
              <a:rPr lang="en-US" smtClean="0"/>
            </a:fld>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409B065-B2AF-429C-BF08-92853F5BDB8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409B065-B2AF-429C-BF08-92853F5BDB8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409B065-B2AF-429C-BF08-92853F5BDB8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F21AF2-8192-48AB-9886-9FE0B41F8C3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p:cNvPicPr>
            <a:picLocks noChangeAspect="1"/>
          </p:cNvPicPr>
          <p:nvPr/>
        </p:nvPicPr>
        <p:blipFill>
          <a:blip r:embed="rId13"/>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B409B065-B2AF-429C-BF08-92853F5BDB8C}"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FBF21AF2-8192-48AB-9886-9FE0B41F8C3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16.xml"/><Relationship Id="rId10" Type="http://schemas.openxmlformats.org/officeDocument/2006/relationships/slideLayout" Target="../slideLayouts/slideLayout7.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youtube.com/watch?v=NyDDyT1lDh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hyperlink" Target="http://en.wikipedia.org/wiki/Image:Milgram_experiment.png"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2.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b="1" dirty="0" smtClean="0"/>
              <a:t>SOCIAL PSYCHOLOGY</a:t>
            </a:r>
            <a:endParaRPr lang="en-US" b="1" dirty="0"/>
          </a:p>
        </p:txBody>
      </p:sp>
      <p:sp>
        <p:nvSpPr>
          <p:cNvPr id="3" name="Subtitle 2"/>
          <p:cNvSpPr>
            <a:spLocks noGrp="1"/>
          </p:cNvSpPr>
          <p:nvPr>
            <p:ph type="subTitle" idx="1"/>
          </p:nvPr>
        </p:nvSpPr>
        <p:spPr>
          <a:xfrm>
            <a:off x="1992631" y="956310"/>
            <a:ext cx="9218083" cy="1752600"/>
          </a:xfrm>
        </p:spPr>
        <p:txBody>
          <a:bodyPr>
            <a:noAutofit/>
          </a:bodyPr>
          <a:lstStyle/>
          <a:p>
            <a:pPr algn="ctr"/>
            <a:r>
              <a:rPr lang="en-US" sz="4000" b="1" dirty="0" smtClean="0"/>
              <a:t>PSYC100 GENERAL PSYCHOLOGY</a:t>
            </a:r>
            <a:endParaRPr 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altLang="en-US" sz="3200" dirty="0" smtClean="0"/>
              <a:t>Learning Outcomes</a:t>
            </a:r>
            <a:endParaRPr lang="en-GB" altLang="en-US" sz="3200" dirty="0" smtClean="0"/>
          </a:p>
        </p:txBody>
      </p:sp>
      <p:sp>
        <p:nvSpPr>
          <p:cNvPr id="3" name="Content Placeholder 2"/>
          <p:cNvSpPr>
            <a:spLocks noGrp="1"/>
          </p:cNvSpPr>
          <p:nvPr>
            <p:ph idx="1"/>
          </p:nvPr>
        </p:nvSpPr>
        <p:spPr/>
        <p:txBody>
          <a:bodyPr>
            <a:normAutofit fontScale="77500" lnSpcReduction="20000"/>
          </a:bodyPr>
          <a:lstStyle/>
          <a:p>
            <a:pPr marL="514350" indent="-514350">
              <a:buFont typeface="+mj-lt"/>
              <a:buAutoNum type="romanUcPeriod"/>
            </a:pPr>
            <a:r>
              <a:rPr lang="en-US" b="1" dirty="0" smtClean="0"/>
              <a:t>Attributions</a:t>
            </a:r>
            <a:endParaRPr lang="en-US" b="1" dirty="0" smtClean="0"/>
          </a:p>
          <a:p>
            <a:pPr marL="788670" lvl="1" indent="-514350">
              <a:buFont typeface="+mj-lt"/>
              <a:buAutoNum type="romanUcPeriod"/>
            </a:pPr>
            <a:r>
              <a:rPr lang="en-US" dirty="0" smtClean="0"/>
              <a:t>Naïve scientist theory</a:t>
            </a:r>
            <a:endParaRPr lang="en-US" dirty="0" smtClean="0"/>
          </a:p>
          <a:p>
            <a:pPr marL="788670" lvl="1" indent="-514350">
              <a:buFont typeface="+mj-lt"/>
              <a:buAutoNum type="romanUcPeriod"/>
            </a:pPr>
            <a:r>
              <a:rPr lang="en-US" dirty="0" smtClean="0"/>
              <a:t>Correspondence inference theory</a:t>
            </a:r>
            <a:endParaRPr lang="en-US" dirty="0" smtClean="0"/>
          </a:p>
          <a:p>
            <a:pPr marL="788670" lvl="1" indent="-514350">
              <a:buFont typeface="+mj-lt"/>
              <a:buAutoNum type="romanUcPeriod"/>
            </a:pPr>
            <a:r>
              <a:rPr lang="en-US" dirty="0" smtClean="0"/>
              <a:t>Covariation theory</a:t>
            </a:r>
            <a:endParaRPr lang="en-US" dirty="0" smtClean="0"/>
          </a:p>
          <a:p>
            <a:pPr marL="788670" lvl="1" indent="-514350">
              <a:buFont typeface="+mj-lt"/>
              <a:buAutoNum type="romanUcPeriod"/>
            </a:pPr>
            <a:r>
              <a:rPr lang="en-US" dirty="0" smtClean="0"/>
              <a:t>Errors and biases</a:t>
            </a:r>
            <a:endParaRPr lang="en-US" dirty="0" smtClean="0"/>
          </a:p>
          <a:p>
            <a:pPr marL="514350" indent="-514350">
              <a:buFont typeface="+mj-lt"/>
              <a:buAutoNum type="romanUcPeriod"/>
            </a:pPr>
            <a:r>
              <a:rPr lang="en-US" b="1" dirty="0" smtClean="0"/>
              <a:t>Conformity and Group Influence</a:t>
            </a:r>
            <a:endParaRPr lang="en-US" b="1" dirty="0" smtClean="0"/>
          </a:p>
          <a:p>
            <a:pPr marL="788670" lvl="1" indent="-514350">
              <a:buFont typeface="+mj-lt"/>
              <a:buAutoNum type="romanUcPeriod"/>
            </a:pPr>
            <a:r>
              <a:rPr lang="en-US" dirty="0" smtClean="0"/>
              <a:t>Internalization vs Compliance</a:t>
            </a:r>
            <a:endParaRPr lang="en-US" dirty="0" smtClean="0"/>
          </a:p>
          <a:p>
            <a:pPr marL="788670" lvl="1" indent="-514350">
              <a:buFont typeface="+mj-lt"/>
              <a:buAutoNum type="romanUcPeriod"/>
            </a:pPr>
            <a:r>
              <a:rPr lang="en-US" dirty="0" smtClean="0"/>
              <a:t>Sheriff’s Study</a:t>
            </a:r>
            <a:endParaRPr lang="en-US" dirty="0" smtClean="0"/>
          </a:p>
          <a:p>
            <a:pPr marL="788670" lvl="1" indent="-514350">
              <a:buFont typeface="+mj-lt"/>
              <a:buAutoNum type="romanUcPeriod"/>
            </a:pPr>
            <a:r>
              <a:rPr lang="en-US" dirty="0" smtClean="0"/>
              <a:t>Asch’s Study</a:t>
            </a:r>
            <a:endParaRPr lang="en-US" dirty="0" smtClean="0"/>
          </a:p>
          <a:p>
            <a:pPr marL="788670" lvl="1" indent="-514350">
              <a:buFont typeface="+mj-lt"/>
              <a:buAutoNum type="romanUcPeriod"/>
            </a:pPr>
            <a:r>
              <a:rPr lang="en-US" dirty="0" smtClean="0"/>
              <a:t>Informational vs Normative social influence</a:t>
            </a:r>
            <a:endParaRPr lang="en-US" dirty="0" smtClean="0"/>
          </a:p>
          <a:p>
            <a:pPr marL="514350" indent="-514350">
              <a:buFont typeface="+mj-lt"/>
              <a:buAutoNum type="romanUcPeriod"/>
            </a:pPr>
            <a:r>
              <a:rPr lang="en-US" b="1" dirty="0" smtClean="0"/>
              <a:t>Obedience</a:t>
            </a:r>
            <a:endParaRPr lang="en-US" b="1" dirty="0" smtClean="0"/>
          </a:p>
          <a:p>
            <a:pPr marL="788670" lvl="1" indent="-514350">
              <a:buFont typeface="+mj-lt"/>
              <a:buAutoNum type="romanUcPeriod"/>
            </a:pPr>
            <a:r>
              <a:rPr lang="en-US" dirty="0" smtClean="0"/>
              <a:t>Milgram’s experiment</a:t>
            </a:r>
            <a:endParaRPr lang="en-US" dirty="0" smtClean="0"/>
          </a:p>
          <a:p>
            <a:pPr marL="788670" lvl="1" indent="-514350">
              <a:buFont typeface="+mj-lt"/>
              <a:buAutoNum type="romanUcPeriod"/>
            </a:pPr>
            <a:r>
              <a:rPr lang="en-US" dirty="0" smtClean="0"/>
              <a:t>Puppy and nurse studies</a:t>
            </a:r>
            <a:endParaRPr lang="en-US" dirty="0" smtClean="0"/>
          </a:p>
          <a:p>
            <a:pPr marL="788670" lvl="1" indent="-514350">
              <a:buFont typeface="+mj-lt"/>
              <a:buAutoNum type="romanUcPeriod"/>
            </a:pPr>
            <a:r>
              <a:rPr lang="en-US" dirty="0" smtClean="0"/>
              <a:t>Zimbardo’s experiment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2133600" y="342900"/>
            <a:ext cx="8229600" cy="1143000"/>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GB" altLang="tr-TR" sz="3200" b="1" i="0" u="none" strike="noStrike" kern="1200" cap="all" spc="150" normalizeH="0" baseline="0" noProof="0" dirty="0">
                <a:ln>
                  <a:noFill/>
                </a:ln>
                <a:solidFill>
                  <a:schemeClr val="tx2"/>
                </a:solidFill>
                <a:effectLst/>
                <a:uLnTx/>
                <a:uFillTx/>
                <a:latin typeface="+mn-lt"/>
                <a:ea typeface="+mj-ea"/>
                <a:cs typeface="+mj-cs"/>
              </a:rPr>
              <a:t>What is an attribution? </a:t>
            </a:r>
            <a:endParaRPr kumimoji="0" lang="en-GB" altLang="tr-TR" sz="3200" b="1" i="0" u="none" strike="noStrike" kern="1200" cap="all" spc="150" normalizeH="0" baseline="0" noProof="0" dirty="0">
              <a:ln>
                <a:noFill/>
              </a:ln>
              <a:solidFill>
                <a:schemeClr val="tx2"/>
              </a:solidFill>
              <a:effectLst/>
              <a:uLnTx/>
              <a:uFillTx/>
              <a:latin typeface="+mn-lt"/>
              <a:ea typeface="+mj-ea"/>
              <a:cs typeface="+mj-cs"/>
            </a:endParaRPr>
          </a:p>
        </p:txBody>
      </p:sp>
      <p:sp>
        <p:nvSpPr>
          <p:cNvPr id="7171" name="Rectangle 3"/>
          <p:cNvSpPr>
            <a:spLocks noGrp="1" noChangeArrowheads="1"/>
          </p:cNvSpPr>
          <p:nvPr>
            <p:ph type="body" sz="half" idx="1"/>
          </p:nvPr>
        </p:nvSpPr>
        <p:spPr>
          <a:xfrm>
            <a:off x="468630" y="1828800"/>
            <a:ext cx="11101070" cy="4114800"/>
          </a:xfrm>
        </p:spPr>
        <p:txBody>
          <a:bodyPr vert="horz" wrap="square" lIns="91440" tIns="45720" rIns="91440" bIns="45720" numCol="1" rtlCol="0" anchor="t" anchorCtr="0" compatLnSpc="1">
            <a:normAutofit/>
          </a:bodyPr>
          <a:lstStyle/>
          <a:p>
            <a:pPr marL="0" marR="0" lvl="0" indent="0" algn="just" defTabSz="685800" rtl="0" eaLnBrk="1" fontAlgn="auto" latinLnBrk="0" hangingPunct="1">
              <a:lnSpc>
                <a:spcPct val="110000"/>
              </a:lnSpc>
              <a:spcBef>
                <a:spcPts val="700"/>
              </a:spcBef>
              <a:spcAft>
                <a:spcPts val="0"/>
              </a:spcAft>
              <a:buClr>
                <a:schemeClr val="tx2"/>
              </a:buClr>
              <a:buSzPct val="115000"/>
              <a:buFontTx/>
              <a:buNone/>
              <a:defRPr/>
            </a:pPr>
            <a:r>
              <a:rPr kumimoji="0" lang="en-GB" altLang="tr-TR" sz="3600" b="0" i="0" u="none" strike="noStrike" kern="1200" cap="none" spc="0" normalizeH="0" baseline="0" noProof="0" dirty="0">
                <a:ln>
                  <a:noFill/>
                </a:ln>
                <a:solidFill>
                  <a:schemeClr val="tx1"/>
                </a:solidFill>
                <a:effectLst/>
                <a:uLnTx/>
                <a:uFillTx/>
                <a:latin typeface="+mn-lt"/>
                <a:ea typeface="+mn-ea"/>
                <a:cs typeface="+mn-cs"/>
              </a:rPr>
              <a:t>How people explain the causes of behaviour (of others and own)</a:t>
            </a: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Pct val="115000"/>
              <a:buFontTx/>
              <a:buChar char="o"/>
              <a:defRPr/>
            </a:pP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Pct val="115000"/>
              <a:buFontTx/>
              <a:buNone/>
              <a:defRPr/>
            </a:pPr>
            <a:r>
              <a:rPr kumimoji="0" lang="en-GB" altLang="tr-TR" sz="3600" b="1" i="0" u="none" strike="noStrike" kern="1200" cap="none" spc="0" normalizeH="0" baseline="0" noProof="0" dirty="0">
                <a:ln>
                  <a:noFill/>
                </a:ln>
                <a:solidFill>
                  <a:schemeClr val="tx1"/>
                </a:solidFill>
                <a:effectLst/>
                <a:uLnTx/>
                <a:uFillTx/>
                <a:latin typeface="+mn-lt"/>
                <a:ea typeface="+mn-ea"/>
                <a:cs typeface="+mn-cs"/>
              </a:rPr>
              <a:t>Two main types:</a:t>
            </a:r>
            <a:endParaRPr kumimoji="0" lang="en-GB" altLang="tr-TR" sz="3600" b="1"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Pct val="115000"/>
              <a:buFontTx/>
              <a:buChar char="o"/>
              <a:defRPr/>
            </a:pPr>
            <a:r>
              <a:rPr kumimoji="0" lang="en-GB" altLang="tr-TR" sz="3600" b="1" i="0" u="none" strike="noStrike" kern="1200" cap="none" spc="0" normalizeH="0" baseline="0" noProof="0" dirty="0">
                <a:ln>
                  <a:noFill/>
                </a:ln>
                <a:solidFill>
                  <a:schemeClr val="tx1"/>
                </a:solidFill>
                <a:effectLst/>
                <a:uLnTx/>
                <a:uFillTx/>
                <a:latin typeface="+mn-lt"/>
                <a:ea typeface="+mn-ea"/>
                <a:cs typeface="+mn-cs"/>
              </a:rPr>
              <a:t> </a:t>
            </a:r>
            <a:r>
              <a:rPr kumimoji="0" lang="en-GB" altLang="tr-TR" sz="3600" b="0" i="0" u="none" strike="noStrike" kern="1200" cap="none" spc="0" normalizeH="0" baseline="0" noProof="0" dirty="0">
                <a:ln>
                  <a:noFill/>
                </a:ln>
                <a:solidFill>
                  <a:schemeClr val="tx1"/>
                </a:solidFill>
                <a:effectLst/>
                <a:uLnTx/>
                <a:uFillTx/>
                <a:latin typeface="+mn-lt"/>
                <a:ea typeface="+mn-ea"/>
                <a:cs typeface="+mn-cs"/>
              </a:rPr>
              <a:t>Internal (dispositional)</a:t>
            </a: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Pct val="115000"/>
              <a:buFontTx/>
              <a:buChar char="o"/>
              <a:defRPr/>
            </a:pPr>
            <a:r>
              <a:rPr kumimoji="0" lang="en-GB" altLang="tr-TR" sz="3600" b="0" i="0" u="none" strike="noStrike" kern="1200" cap="none" spc="0" normalizeH="0" baseline="0" noProof="0" dirty="0">
                <a:ln>
                  <a:noFill/>
                </a:ln>
                <a:solidFill>
                  <a:schemeClr val="tx1"/>
                </a:solidFill>
                <a:effectLst/>
                <a:uLnTx/>
                <a:uFillTx/>
                <a:latin typeface="+mn-lt"/>
                <a:ea typeface="+mn-ea"/>
                <a:cs typeface="+mn-cs"/>
              </a:rPr>
              <a:t> External (situational)</a:t>
            </a: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rgbClr val="0000FF"/>
              </a:buClr>
              <a:buSzPct val="115000"/>
              <a:buFont typeface="Marlett" pitchFamily="2" charset="2"/>
              <a:buNone/>
              <a:defRPr/>
            </a:pP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2438400" y="152400"/>
            <a:ext cx="8229600" cy="1143000"/>
          </a:xfrm>
        </p:spPr>
        <p:txBody>
          <a:bodyPr lIns="91440" tIns="45720" rIns="91440" bIns="45720" rtlCol="0" anchor="t">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GB" altLang="tr-TR" sz="3200" b="1" i="0" u="none" strike="noStrike" kern="1200" cap="all" spc="150" normalizeH="0" baseline="0" noProof="0" dirty="0">
                <a:ln>
                  <a:noFill/>
                </a:ln>
                <a:solidFill>
                  <a:schemeClr val="tx2"/>
                </a:solidFill>
                <a:effectLst/>
                <a:uLnTx/>
                <a:uFillTx/>
                <a:latin typeface="+mn-lt"/>
                <a:ea typeface="+mj-ea"/>
                <a:cs typeface="+mj-cs"/>
              </a:rPr>
              <a:t>Internal vs. External</a:t>
            </a:r>
            <a:endParaRPr kumimoji="0" lang="en-GB" altLang="tr-TR" sz="3200" b="1" i="0" u="none" strike="noStrike" kern="1200" cap="all" spc="150" normalizeH="0" baseline="0" noProof="0" dirty="0">
              <a:ln>
                <a:noFill/>
              </a:ln>
              <a:solidFill>
                <a:schemeClr val="tx2"/>
              </a:solidFill>
              <a:effectLst/>
              <a:uLnTx/>
              <a:uFillTx/>
              <a:latin typeface="+mn-lt"/>
              <a:ea typeface="+mj-ea"/>
              <a:cs typeface="+mj-cs"/>
            </a:endParaRPr>
          </a:p>
        </p:txBody>
      </p:sp>
      <p:sp>
        <p:nvSpPr>
          <p:cNvPr id="13315" name="Rectangle 3"/>
          <p:cNvSpPr>
            <a:spLocks noGrp="1"/>
          </p:cNvSpPr>
          <p:nvPr>
            <p:ph type="body" idx="4294967295"/>
          </p:nvPr>
        </p:nvSpPr>
        <p:spPr>
          <a:xfrm>
            <a:off x="784860" y="1447800"/>
            <a:ext cx="10679430" cy="4543425"/>
          </a:xfrm>
        </p:spPr>
        <p:txBody>
          <a:bodyPr vert="horz" wrap="square" lIns="91440" tIns="45720" rIns="91440" bIns="45720" anchor="t" anchorCtr="0">
            <a:normAutofit/>
          </a:bodyPr>
          <a:lstStyle/>
          <a:p>
            <a:pPr algn="just" eaLnBrk="1" hangingPunct="1">
              <a:lnSpc>
                <a:spcPct val="80000"/>
              </a:lnSpc>
            </a:pPr>
            <a:r>
              <a:rPr lang="en-GB" altLang="tr-TR" sz="3600" b="1" dirty="0"/>
              <a:t>Internal attribution</a:t>
            </a:r>
            <a:r>
              <a:rPr lang="en-GB" altLang="tr-TR" sz="3600" dirty="0"/>
              <a:t> – where behaviour is explained as due to something </a:t>
            </a:r>
            <a:r>
              <a:rPr lang="en-GB" altLang="tr-TR" sz="3600" b="1" dirty="0"/>
              <a:t>inside</a:t>
            </a:r>
            <a:r>
              <a:rPr lang="en-GB" altLang="tr-TR" sz="3600" dirty="0"/>
              <a:t> the person</a:t>
            </a:r>
            <a:endParaRPr lang="en-GB" altLang="tr-TR" sz="3600" dirty="0"/>
          </a:p>
          <a:p>
            <a:pPr algn="just" eaLnBrk="1" hangingPunct="1">
              <a:lnSpc>
                <a:spcPct val="80000"/>
              </a:lnSpc>
              <a:buFontTx/>
              <a:buNone/>
            </a:pPr>
            <a:r>
              <a:rPr lang="en-GB" altLang="tr-TR" sz="3600" dirty="0"/>
              <a:t>	</a:t>
            </a:r>
            <a:r>
              <a:rPr lang="en-GB" altLang="tr-TR" sz="3600" i="1" dirty="0"/>
              <a:t>e.g. intelligence, personality</a:t>
            </a:r>
            <a:endParaRPr lang="en-GB" altLang="tr-TR" sz="3600" i="1" dirty="0"/>
          </a:p>
          <a:p>
            <a:pPr algn="just" eaLnBrk="1" hangingPunct="1">
              <a:lnSpc>
                <a:spcPct val="80000"/>
              </a:lnSpc>
              <a:buFontTx/>
              <a:buNone/>
            </a:pPr>
            <a:endParaRPr lang="en-GB" altLang="tr-TR" sz="3600" i="1" dirty="0"/>
          </a:p>
          <a:p>
            <a:pPr algn="just" eaLnBrk="1" hangingPunct="1">
              <a:lnSpc>
                <a:spcPct val="80000"/>
              </a:lnSpc>
            </a:pPr>
            <a:r>
              <a:rPr lang="en-GB" altLang="tr-TR" sz="3600" b="1" dirty="0"/>
              <a:t>External attribution</a:t>
            </a:r>
            <a:r>
              <a:rPr lang="en-GB" altLang="tr-TR" sz="3600" dirty="0"/>
              <a:t> – where behaviour is explained as due to something </a:t>
            </a:r>
            <a:r>
              <a:rPr lang="en-GB" altLang="tr-TR" sz="3600" b="1" dirty="0"/>
              <a:t>outside</a:t>
            </a:r>
            <a:r>
              <a:rPr lang="en-GB" altLang="tr-TR" sz="3600" dirty="0"/>
              <a:t> the person</a:t>
            </a:r>
            <a:endParaRPr lang="en-GB" altLang="tr-TR" sz="3600" dirty="0"/>
          </a:p>
          <a:p>
            <a:pPr algn="just" eaLnBrk="1" hangingPunct="1">
              <a:lnSpc>
                <a:spcPct val="80000"/>
              </a:lnSpc>
              <a:buFontTx/>
              <a:buNone/>
            </a:pPr>
            <a:r>
              <a:rPr lang="en-GB" altLang="tr-TR" sz="3600" dirty="0"/>
              <a:t>	</a:t>
            </a:r>
            <a:r>
              <a:rPr lang="en-GB" altLang="tr-TR" sz="3600" i="1" dirty="0"/>
              <a:t>e.g. Luck, task difficulty</a:t>
            </a:r>
            <a:endParaRPr lang="en-GB" altLang="tr-TR" sz="3600" i="1" dirty="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1524000" y="274638"/>
            <a:ext cx="8229600" cy="1143000"/>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GB" altLang="tr-TR" sz="3200" b="1" i="0" u="none" strike="noStrike" kern="1200" cap="all" spc="150" normalizeH="0" baseline="0" noProof="0" dirty="0">
                <a:ln>
                  <a:noFill/>
                </a:ln>
                <a:solidFill>
                  <a:schemeClr val="tx2"/>
                </a:solidFill>
                <a:effectLst/>
                <a:uLnTx/>
                <a:uFillTx/>
                <a:latin typeface="+mn-lt"/>
                <a:ea typeface="+mj-ea"/>
                <a:cs typeface="+mj-cs"/>
              </a:rPr>
              <a:t>Three classic theories</a:t>
            </a:r>
            <a:endParaRPr kumimoji="0" lang="en-GB" altLang="tr-TR" sz="3200" b="1" i="0" u="none" strike="noStrike" kern="1200" cap="all" spc="150" normalizeH="0" baseline="0" noProof="0" dirty="0">
              <a:ln>
                <a:noFill/>
              </a:ln>
              <a:solidFill>
                <a:schemeClr val="tx2"/>
              </a:solidFill>
              <a:effectLst/>
              <a:uLnTx/>
              <a:uFillTx/>
              <a:latin typeface="+mn-lt"/>
              <a:ea typeface="+mj-ea"/>
              <a:cs typeface="+mj-cs"/>
            </a:endParaRPr>
          </a:p>
        </p:txBody>
      </p:sp>
      <p:sp>
        <p:nvSpPr>
          <p:cNvPr id="13315" name="Rectangle 3"/>
          <p:cNvSpPr>
            <a:spLocks noGrp="1" noChangeArrowheads="1"/>
          </p:cNvSpPr>
          <p:nvPr>
            <p:ph type="body" idx="1"/>
          </p:nvPr>
        </p:nvSpPr>
        <p:spPr>
          <a:xfrm>
            <a:off x="627380" y="1628775"/>
            <a:ext cx="10979785" cy="5040630"/>
          </a:xfrm>
        </p:spPr>
        <p:txBody>
          <a:bodyPr vert="horz" wrap="square" lIns="91440" tIns="45720" rIns="91440" bIns="45720" numCol="1" rtlCol="0" anchor="t" anchorCtr="0" compatLnSpc="1">
            <a:normAutofit/>
          </a:bodyPr>
          <a:lstStyle/>
          <a:p>
            <a:pPr marL="857250" marR="0" lvl="0" indent="-857250" algn="l" defTabSz="685800" rtl="0" eaLnBrk="1" fontAlgn="auto" latinLnBrk="0" hangingPunct="1">
              <a:lnSpc>
                <a:spcPct val="110000"/>
              </a:lnSpc>
              <a:spcBef>
                <a:spcPts val="700"/>
              </a:spcBef>
              <a:spcAft>
                <a:spcPts val="0"/>
              </a:spcAft>
              <a:buClr>
                <a:schemeClr val="tx2"/>
              </a:buClr>
              <a:buSzTx/>
              <a:buFont typeface="+mj-lt"/>
              <a:buAutoNum type="romanUcPeriod"/>
              <a:defRPr/>
            </a:pPr>
            <a:r>
              <a:rPr kumimoji="0" lang="en-GB" altLang="tr-TR" sz="3600" b="0" i="0" u="none" strike="noStrike" kern="1200" cap="none" spc="0" normalizeH="0" baseline="0" noProof="0" dirty="0">
                <a:ln>
                  <a:noFill/>
                </a:ln>
                <a:solidFill>
                  <a:schemeClr val="tx1"/>
                </a:solidFill>
                <a:effectLst/>
                <a:uLnTx/>
                <a:uFillTx/>
                <a:latin typeface="+mn-lt"/>
                <a:ea typeface="+mn-ea"/>
                <a:cs typeface="+mn-cs"/>
              </a:rPr>
              <a:t>Heider (1958) – The Naïve Scientist</a:t>
            </a: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857250" marR="0" lvl="0" indent="-857250" algn="l" defTabSz="685800" rtl="0" eaLnBrk="1" fontAlgn="auto" latinLnBrk="0" hangingPunct="1">
              <a:lnSpc>
                <a:spcPct val="110000"/>
              </a:lnSpc>
              <a:spcBef>
                <a:spcPts val="700"/>
              </a:spcBef>
              <a:spcAft>
                <a:spcPts val="0"/>
              </a:spcAft>
              <a:buClr>
                <a:schemeClr val="tx2"/>
              </a:buClr>
              <a:buSzTx/>
              <a:buFont typeface="+mj-lt"/>
              <a:buAutoNum type="romanUcPeriod"/>
              <a:defRPr/>
            </a:pP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857250" marR="0" lvl="0" indent="-857250" algn="l" defTabSz="685800" rtl="0" eaLnBrk="1" fontAlgn="auto" latinLnBrk="0" hangingPunct="1">
              <a:lnSpc>
                <a:spcPct val="110000"/>
              </a:lnSpc>
              <a:spcBef>
                <a:spcPts val="700"/>
              </a:spcBef>
              <a:spcAft>
                <a:spcPts val="0"/>
              </a:spcAft>
              <a:buClr>
                <a:schemeClr val="tx2"/>
              </a:buClr>
              <a:buSzTx/>
              <a:buFont typeface="+mj-lt"/>
              <a:buAutoNum type="romanUcPeriod"/>
              <a:defRPr/>
            </a:pPr>
            <a:r>
              <a:rPr kumimoji="0" lang="en-GB" altLang="tr-TR" sz="3600" b="0" i="0" u="none" strike="noStrike" kern="1200" cap="none" spc="0" normalizeH="0" baseline="0" noProof="0" dirty="0">
                <a:ln>
                  <a:noFill/>
                </a:ln>
                <a:solidFill>
                  <a:schemeClr val="tx1"/>
                </a:solidFill>
                <a:effectLst/>
                <a:uLnTx/>
                <a:uFillTx/>
                <a:latin typeface="+mn-lt"/>
                <a:ea typeface="+mn-ea"/>
                <a:cs typeface="+mn-cs"/>
              </a:rPr>
              <a:t>Jones &amp; Davis (1965) – Correspondence Inference Theory </a:t>
            </a: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857250" marR="0" lvl="0" indent="-857250" algn="l" defTabSz="685800" rtl="0" eaLnBrk="1" fontAlgn="auto" latinLnBrk="0" hangingPunct="1">
              <a:lnSpc>
                <a:spcPct val="110000"/>
              </a:lnSpc>
              <a:spcBef>
                <a:spcPts val="700"/>
              </a:spcBef>
              <a:spcAft>
                <a:spcPts val="0"/>
              </a:spcAft>
              <a:buClr>
                <a:schemeClr val="tx2"/>
              </a:buClr>
              <a:buSzTx/>
              <a:buFont typeface="+mj-lt"/>
              <a:buAutoNum type="romanUcPeriod"/>
              <a:defRPr/>
            </a:pP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857250" marR="0" lvl="0" indent="-857250" algn="l" defTabSz="685800" rtl="0" eaLnBrk="1" fontAlgn="auto" latinLnBrk="0" hangingPunct="1">
              <a:lnSpc>
                <a:spcPct val="110000"/>
              </a:lnSpc>
              <a:spcBef>
                <a:spcPts val="700"/>
              </a:spcBef>
              <a:spcAft>
                <a:spcPts val="0"/>
              </a:spcAft>
              <a:buClr>
                <a:schemeClr val="tx2"/>
              </a:buClr>
              <a:buSzTx/>
              <a:buFont typeface="+mj-lt"/>
              <a:buAutoNum type="romanUcPeriod"/>
              <a:defRPr/>
            </a:pPr>
            <a:r>
              <a:rPr kumimoji="0" lang="en-GB" altLang="tr-TR" sz="3600" b="0" i="0" u="none" strike="noStrike" kern="1200" cap="none" spc="0" normalizeH="0" baseline="0" noProof="0" dirty="0">
                <a:ln>
                  <a:noFill/>
                </a:ln>
                <a:solidFill>
                  <a:schemeClr val="tx1"/>
                </a:solidFill>
                <a:effectLst/>
                <a:uLnTx/>
                <a:uFillTx/>
                <a:latin typeface="+mn-lt"/>
                <a:ea typeface="+mn-ea"/>
                <a:cs typeface="+mn-cs"/>
              </a:rPr>
              <a:t>Kelley (1967, 1973) – Covariation Theory</a:t>
            </a: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110000"/>
              </a:lnSpc>
              <a:spcBef>
                <a:spcPts val="700"/>
              </a:spcBef>
              <a:spcAft>
                <a:spcPts val="0"/>
              </a:spcAft>
              <a:buClr>
                <a:schemeClr val="tx2"/>
              </a:buClr>
              <a:buSzTx/>
              <a:buFontTx/>
              <a:buNone/>
              <a:defRPr/>
            </a:pPr>
            <a:r>
              <a:rPr kumimoji="0" lang="en-GB" altLang="tr-TR" sz="2000" b="0" i="0" u="none" strike="noStrike" kern="1200" cap="none" spc="0" normalizeH="0" baseline="0" noProof="0" dirty="0">
                <a:ln>
                  <a:noFill/>
                </a:ln>
                <a:solidFill>
                  <a:schemeClr val="tx1"/>
                </a:solidFill>
                <a:effectLst/>
                <a:uLnTx/>
                <a:uFillTx/>
                <a:latin typeface="+mn-lt"/>
                <a:ea typeface="+mn-ea"/>
                <a:cs typeface="+mn-cs"/>
              </a:rPr>
              <a:t>	</a:t>
            </a:r>
            <a:endParaRPr kumimoji="0" lang="en-GB" altLang="tr-TR"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2002155" y="161925"/>
            <a:ext cx="9118600" cy="855980"/>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GB" altLang="tr-TR" sz="3555" b="1" i="0" u="none" strike="noStrike" kern="1200" cap="all" spc="150" normalizeH="0" baseline="0" noProof="0" dirty="0" err="1">
                <a:ln>
                  <a:noFill/>
                </a:ln>
                <a:solidFill>
                  <a:schemeClr val="tx2"/>
                </a:solidFill>
                <a:effectLst/>
                <a:uLnTx/>
                <a:uFillTx/>
                <a:latin typeface="+mn-lt"/>
                <a:ea typeface="+mj-ea"/>
                <a:cs typeface="+mj-cs"/>
              </a:rPr>
              <a:t>I - Heider</a:t>
            </a:r>
            <a:r>
              <a:rPr kumimoji="0" lang="en-GB" altLang="tr-TR" sz="3555" b="1" i="0" u="none" strike="noStrike" kern="1200" cap="all" spc="150" normalizeH="0" baseline="0" noProof="0" dirty="0">
                <a:ln>
                  <a:noFill/>
                </a:ln>
                <a:solidFill>
                  <a:schemeClr val="tx2"/>
                </a:solidFill>
                <a:effectLst/>
                <a:uLnTx/>
                <a:uFillTx/>
                <a:latin typeface="+mn-lt"/>
                <a:ea typeface="+mj-ea"/>
                <a:cs typeface="+mj-cs"/>
              </a:rPr>
              <a:t> NAIVE SCIENTIST Theory</a:t>
            </a:r>
            <a:endParaRPr kumimoji="0" lang="en-GB" altLang="tr-TR" sz="3555" b="1" i="0" u="none" strike="noStrike" kern="1200" cap="all" spc="150" normalizeH="0" baseline="0" noProof="0" dirty="0">
              <a:ln>
                <a:noFill/>
              </a:ln>
              <a:solidFill>
                <a:schemeClr val="tx2"/>
              </a:solidFill>
              <a:effectLst/>
              <a:uLnTx/>
              <a:uFillTx/>
              <a:latin typeface="+mn-lt"/>
              <a:ea typeface="+mj-ea"/>
              <a:cs typeface="+mj-cs"/>
            </a:endParaRPr>
          </a:p>
        </p:txBody>
      </p:sp>
      <p:sp>
        <p:nvSpPr>
          <p:cNvPr id="15363" name="Rectangle 3"/>
          <p:cNvSpPr>
            <a:spLocks noGrp="1" noChangeArrowheads="1"/>
          </p:cNvSpPr>
          <p:nvPr>
            <p:ph type="body" sz="half" idx="1"/>
          </p:nvPr>
        </p:nvSpPr>
        <p:spPr>
          <a:xfrm>
            <a:off x="749300" y="1676400"/>
            <a:ext cx="10764520" cy="4648200"/>
          </a:xfrm>
        </p:spPr>
        <p:txBody>
          <a:bodyPr vert="horz" wrap="square" lIns="91440" tIns="45720" rIns="91440" bIns="45720" numCol="1" rtlCol="0" anchor="t" anchorCtr="0" compatLnSpc="1">
            <a:normAutofit fontScale="92500"/>
          </a:bodyPr>
          <a:lstStyle/>
          <a:p>
            <a:pPr marL="0" marR="0" lvl="0" indent="0" algn="l" defTabSz="685800" rtl="0" eaLnBrk="1" fontAlgn="auto" latinLnBrk="0" hangingPunct="1">
              <a:lnSpc>
                <a:spcPct val="110000"/>
              </a:lnSpc>
              <a:spcBef>
                <a:spcPts val="700"/>
              </a:spcBef>
              <a:spcAft>
                <a:spcPts val="0"/>
              </a:spcAft>
              <a:buClr>
                <a:schemeClr val="tx2"/>
              </a:buClr>
              <a:buSzTx/>
              <a:buFontTx/>
              <a:buNone/>
              <a:defRPr/>
            </a:pPr>
            <a:r>
              <a:rPr kumimoji="0" lang="en-GB" altLang="en-US" sz="3600" b="0" i="0" u="none" strike="noStrike" kern="1200" cap="none" spc="0" normalizeH="0" baseline="0" noProof="0" dirty="0">
                <a:ln>
                  <a:noFill/>
                </a:ln>
                <a:solidFill>
                  <a:schemeClr val="tx1"/>
                </a:solidFill>
                <a:effectLst/>
                <a:uLnTx/>
                <a:uFillTx/>
                <a:latin typeface="+mn-lt"/>
                <a:ea typeface="+mn-ea"/>
                <a:cs typeface="+mn-cs"/>
              </a:rPr>
              <a:t>Heider &amp; Simmel (1944) hypothesised that:</a:t>
            </a:r>
            <a:endParaRPr kumimoji="0" lang="en-GB" altLang="en-US"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685800" rtl="0" eaLnBrk="1" fontAlgn="auto" latinLnBrk="0" hangingPunct="1">
              <a:lnSpc>
                <a:spcPct val="110000"/>
              </a:lnSpc>
              <a:spcBef>
                <a:spcPts val="700"/>
              </a:spcBef>
              <a:spcAft>
                <a:spcPts val="0"/>
              </a:spcAft>
              <a:buClr>
                <a:schemeClr val="tx2"/>
              </a:buClr>
              <a:buSzTx/>
              <a:buFont typeface="Wingdings" panose="05000000000000000000" pitchFamily="2" charset="2"/>
              <a:buChar char=""/>
              <a:defRPr/>
            </a:pPr>
            <a:endParaRPr kumimoji="0" lang="en-GB" altLang="en-US"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Arial" panose="020B0604020202020204" pitchFamily="34" charset="0"/>
              <a:buChar char="•"/>
              <a:defRPr/>
            </a:pPr>
            <a:r>
              <a:rPr kumimoji="0" lang="en-GB" altLang="en-US" sz="3600" b="0" i="0" u="none" strike="noStrike" kern="1200" cap="none" spc="0" normalizeH="0" baseline="0" noProof="0" dirty="0">
                <a:ln>
                  <a:noFill/>
                </a:ln>
                <a:solidFill>
                  <a:schemeClr val="tx1"/>
                </a:solidFill>
                <a:effectLst/>
                <a:uLnTx/>
                <a:uFillTx/>
                <a:latin typeface="+mn-lt"/>
                <a:ea typeface="+mn-ea"/>
                <a:cs typeface="+mn-cs"/>
              </a:rPr>
              <a:t>People perceive behaviour as being caused</a:t>
            </a:r>
            <a:endParaRPr kumimoji="0" lang="en-GB" altLang="en-US"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Arial" panose="020B0604020202020204" pitchFamily="34" charset="0"/>
              <a:buChar char="•"/>
              <a:defRPr/>
            </a:pPr>
            <a:r>
              <a:rPr kumimoji="0" lang="en-GB" altLang="en-US" sz="3600" b="0" i="0" u="none" strike="noStrike" kern="1200" cap="none" spc="0" normalizeH="0" baseline="0" noProof="0" dirty="0">
                <a:ln>
                  <a:noFill/>
                </a:ln>
                <a:solidFill>
                  <a:schemeClr val="tx1"/>
                </a:solidFill>
                <a:effectLst/>
                <a:uLnTx/>
                <a:uFillTx/>
                <a:latin typeface="+mn-lt"/>
                <a:ea typeface="+mn-ea"/>
                <a:cs typeface="+mn-cs"/>
              </a:rPr>
              <a:t>People give causal attributions even to inanimate objects.</a:t>
            </a:r>
            <a:endParaRPr kumimoji="0" lang="en-GB" altLang="en-US"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Arial" panose="020B0604020202020204" pitchFamily="34" charset="0"/>
              <a:buChar char="•"/>
              <a:defRPr/>
            </a:pPr>
            <a:r>
              <a:rPr kumimoji="0" lang="en-GB" altLang="en-US" sz="3600" b="0" i="0" u="none" strike="noStrike" kern="1200" cap="none" spc="0" normalizeH="0" baseline="0" noProof="0" dirty="0">
                <a:ln>
                  <a:noFill/>
                </a:ln>
                <a:solidFill>
                  <a:schemeClr val="tx1"/>
                </a:solidFill>
                <a:effectLst/>
                <a:uLnTx/>
                <a:uFillTx/>
                <a:latin typeface="+mn-lt"/>
                <a:ea typeface="+mn-ea"/>
                <a:cs typeface="+mn-cs"/>
              </a:rPr>
              <a:t>Heider (1958) asserted people were naïve/lay scientists who used rational processes to explain events.</a:t>
            </a:r>
            <a:endParaRPr kumimoji="0" lang="en-GB" altLang="en-US" sz="3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2830513" y="130175"/>
            <a:ext cx="7051675" cy="1143000"/>
          </a:xfrm>
        </p:spPr>
        <p:txBody>
          <a:bodyPr lIns="91440" tIns="45720" rIns="91440" bIns="45720" rtlCol="0" anchor="t">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GB" altLang="tr-TR" sz="3555" b="1" i="0" u="none" strike="noStrike" kern="1200" cap="all" spc="150" normalizeH="0" baseline="0" noProof="0" dirty="0" err="1">
                <a:ln>
                  <a:noFill/>
                </a:ln>
                <a:solidFill>
                  <a:schemeClr val="tx2"/>
                </a:solidFill>
                <a:effectLst/>
                <a:uLnTx/>
                <a:uFillTx/>
                <a:latin typeface="+mn-lt"/>
                <a:ea typeface="+mj-ea"/>
                <a:cs typeface="+mj-cs"/>
              </a:rPr>
              <a:t>Heider</a:t>
            </a:r>
            <a:r>
              <a:rPr kumimoji="0" lang="en-GB" altLang="tr-TR" sz="3555" b="1" i="0" u="none" strike="noStrike" kern="1200" cap="all" spc="150" normalizeH="0" baseline="0" noProof="0" dirty="0">
                <a:ln>
                  <a:noFill/>
                </a:ln>
                <a:solidFill>
                  <a:schemeClr val="tx2"/>
                </a:solidFill>
                <a:effectLst/>
                <a:uLnTx/>
                <a:uFillTx/>
                <a:latin typeface="+mn-lt"/>
                <a:ea typeface="+mj-ea"/>
                <a:cs typeface="+mj-cs"/>
              </a:rPr>
              <a:t> and </a:t>
            </a:r>
            <a:r>
              <a:rPr kumimoji="0" lang="en-GB" altLang="tr-TR" sz="3555" b="1" i="0" u="none" strike="noStrike" kern="1200" cap="all" spc="150" normalizeH="0" baseline="0" noProof="0" dirty="0" err="1">
                <a:ln>
                  <a:noFill/>
                </a:ln>
                <a:solidFill>
                  <a:schemeClr val="tx2"/>
                </a:solidFill>
                <a:effectLst/>
                <a:uLnTx/>
                <a:uFillTx/>
                <a:latin typeface="+mn-lt"/>
                <a:ea typeface="+mj-ea"/>
                <a:cs typeface="+mj-cs"/>
              </a:rPr>
              <a:t>Simmel</a:t>
            </a:r>
            <a:r>
              <a:rPr kumimoji="0" lang="en-GB" altLang="tr-TR" sz="3555" b="1" i="0" u="none" strike="noStrike" kern="1200" cap="all" spc="150" normalizeH="0" baseline="0" noProof="0" dirty="0">
                <a:ln>
                  <a:noFill/>
                </a:ln>
                <a:solidFill>
                  <a:schemeClr val="tx2"/>
                </a:solidFill>
                <a:effectLst/>
                <a:uLnTx/>
                <a:uFillTx/>
                <a:latin typeface="+mn-lt"/>
                <a:ea typeface="+mj-ea"/>
                <a:cs typeface="+mj-cs"/>
              </a:rPr>
              <a:t> (1944)</a:t>
            </a:r>
            <a:endParaRPr kumimoji="0" lang="en-GB" altLang="tr-TR" sz="3555" b="1" i="0" u="none" strike="noStrike" kern="1200" cap="all" spc="150" normalizeH="0" baseline="0" noProof="0" dirty="0">
              <a:ln>
                <a:noFill/>
              </a:ln>
              <a:solidFill>
                <a:schemeClr val="tx2"/>
              </a:solidFill>
              <a:effectLst/>
              <a:uLnTx/>
              <a:uFillTx/>
              <a:latin typeface="+mn-lt"/>
              <a:ea typeface="+mj-ea"/>
              <a:cs typeface="+mj-cs"/>
            </a:endParaRPr>
          </a:p>
        </p:txBody>
      </p:sp>
      <p:sp>
        <p:nvSpPr>
          <p:cNvPr id="21507" name="Rectangle 3"/>
          <p:cNvSpPr>
            <a:spLocks noGrp="1"/>
          </p:cNvSpPr>
          <p:nvPr>
            <p:ph type="body" idx="4294967295"/>
          </p:nvPr>
        </p:nvSpPr>
        <p:spPr>
          <a:xfrm>
            <a:off x="515620" y="1371600"/>
            <a:ext cx="10798810" cy="5297805"/>
          </a:xfrm>
        </p:spPr>
        <p:txBody>
          <a:bodyPr vert="horz" wrap="square" lIns="91440" tIns="45720" rIns="91440" bIns="45720" anchor="t" anchorCtr="0">
            <a:noAutofit/>
          </a:bodyPr>
          <a:lstStyle/>
          <a:p>
            <a:pPr marL="0" indent="0" algn="just" eaLnBrk="1" hangingPunct="1">
              <a:lnSpc>
                <a:spcPct val="150000"/>
              </a:lnSpc>
              <a:buFontTx/>
              <a:buNone/>
            </a:pPr>
            <a:r>
              <a:rPr lang="en-GB" altLang="tr-TR" sz="2000" dirty="0"/>
              <a:t>College students were asked to describe and interpret the motion of three geometrical figures </a:t>
            </a:r>
            <a:r>
              <a:rPr lang="en-GB" altLang="tr-TR" sz="2000" b="1" i="1" dirty="0"/>
              <a:t>(abstract)</a:t>
            </a:r>
            <a:r>
              <a:rPr lang="en-GB" altLang="tr-TR" sz="2000" dirty="0"/>
              <a:t> moving in and out of a rectangle, a section of which opened and closed like a door. https://vimeo.com/36847727</a:t>
            </a:r>
            <a:endParaRPr lang="en-GB" altLang="tr-TR" sz="2000" dirty="0"/>
          </a:p>
          <a:p>
            <a:pPr marL="0" indent="0" algn="just" eaLnBrk="1" hangingPunct="1">
              <a:lnSpc>
                <a:spcPct val="150000"/>
              </a:lnSpc>
              <a:buFontTx/>
              <a:buNone/>
            </a:pPr>
            <a:endParaRPr lang="en-GB" altLang="tr-TR" sz="3600" dirty="0"/>
          </a:p>
          <a:p>
            <a:pPr marL="0" indent="0" algn="just" eaLnBrk="1" hangingPunct="1">
              <a:lnSpc>
                <a:spcPct val="150000"/>
              </a:lnSpc>
              <a:buFontTx/>
              <a:buNone/>
            </a:pPr>
            <a:endParaRPr lang="en-GB" altLang="tr-TR" sz="1700" dirty="0"/>
          </a:p>
          <a:p>
            <a:pPr marL="0" indent="0" algn="just" eaLnBrk="1" hangingPunct="1">
              <a:lnSpc>
                <a:spcPct val="150000"/>
              </a:lnSpc>
              <a:buFontTx/>
              <a:buNone/>
            </a:pPr>
            <a:endParaRPr lang="en-GB" altLang="tr-TR" sz="1700" dirty="0"/>
          </a:p>
          <a:p>
            <a:pPr marL="0" indent="0" algn="just" eaLnBrk="1" hangingPunct="1">
              <a:lnSpc>
                <a:spcPct val="150000"/>
              </a:lnSpc>
              <a:buFontTx/>
              <a:buNone/>
            </a:pPr>
            <a:endParaRPr lang="en-GB" altLang="tr-TR" sz="1700" dirty="0"/>
          </a:p>
          <a:p>
            <a:pPr marL="0" indent="0" algn="just" eaLnBrk="1" hangingPunct="1">
              <a:lnSpc>
                <a:spcPct val="150000"/>
              </a:lnSpc>
              <a:buFontTx/>
              <a:buNone/>
            </a:pPr>
            <a:r>
              <a:rPr lang="en-GB" altLang="tr-TR" sz="2000" dirty="0"/>
              <a:t>Figures were perceived and systematically interpreted by the participants as persons with particular personality traits and expressing particular needs and dispositions </a:t>
            </a:r>
            <a:r>
              <a:rPr lang="en-GB" altLang="tr-TR" sz="2000" i="1" dirty="0"/>
              <a:t>(e.g. aggression, escape to safety, or rescue).</a:t>
            </a:r>
            <a:endParaRPr lang="en-GB" altLang="tr-TR" sz="2000" i="1" dirty="0"/>
          </a:p>
        </p:txBody>
      </p:sp>
      <p:pic>
        <p:nvPicPr>
          <p:cNvPr id="21508" name="Picture 4" descr="fig56"/>
          <p:cNvPicPr>
            <a:picLocks noChangeAspect="1"/>
          </p:cNvPicPr>
          <p:nvPr/>
        </p:nvPicPr>
        <p:blipFill>
          <a:blip r:embed="rId1"/>
          <a:stretch>
            <a:fillRect/>
          </a:stretch>
        </p:blipFill>
        <p:spPr>
          <a:xfrm>
            <a:off x="3935413" y="3141663"/>
            <a:ext cx="3714750" cy="1685925"/>
          </a:xfrm>
          <a:prstGeom prst="rect">
            <a:avLst/>
          </a:prstGeom>
          <a:noFill/>
          <a:ln w="9525">
            <a:noFill/>
          </a:ln>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1706245" y="0"/>
            <a:ext cx="10123805" cy="1527175"/>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GB" altLang="en-US" sz="3200" b="1" i="0" u="none" strike="noStrike" kern="1200" cap="all" spc="150" normalizeH="0" baseline="0" noProof="0" dirty="0">
                <a:ln>
                  <a:noFill/>
                </a:ln>
                <a:solidFill>
                  <a:schemeClr val="tx2"/>
                </a:solidFill>
                <a:effectLst/>
                <a:uLnTx/>
                <a:uFillTx/>
                <a:latin typeface="+mn-lt"/>
                <a:ea typeface="+mj-ea"/>
                <a:cs typeface="+mj-cs"/>
              </a:rPr>
              <a:t>II - </a:t>
            </a:r>
            <a:r>
              <a:rPr kumimoji="0" lang="en-US" altLang="tr-TR" sz="3200" b="1" i="0" u="none" strike="noStrike" kern="1200" cap="all" spc="150" normalizeH="0" baseline="0" noProof="0" dirty="0">
                <a:ln>
                  <a:noFill/>
                </a:ln>
                <a:solidFill>
                  <a:schemeClr val="tx2"/>
                </a:solidFill>
                <a:effectLst/>
                <a:uLnTx/>
                <a:uFillTx/>
                <a:latin typeface="+mn-lt"/>
                <a:ea typeface="+mj-ea"/>
                <a:cs typeface="+mj-cs"/>
              </a:rPr>
              <a:t>Correspondence Inference Theory </a:t>
            </a:r>
            <a:br>
              <a:rPr kumimoji="0" lang="en-US" altLang="tr-TR" sz="3200" b="1" i="0" u="none" strike="noStrike" kern="1200" cap="all" spc="150" normalizeH="0" baseline="0" noProof="0" dirty="0">
                <a:ln>
                  <a:noFill/>
                </a:ln>
                <a:solidFill>
                  <a:schemeClr val="tx2"/>
                </a:solidFill>
                <a:effectLst/>
                <a:uLnTx/>
                <a:uFillTx/>
                <a:latin typeface="+mn-lt"/>
                <a:ea typeface="+mj-ea"/>
                <a:cs typeface="+mj-cs"/>
              </a:rPr>
            </a:br>
            <a:r>
              <a:rPr kumimoji="0" lang="en-US" altLang="tr-TR" sz="3200" b="1" i="0" u="none" strike="noStrike" kern="1200" cap="all" spc="150" normalizeH="0" baseline="0" noProof="0" dirty="0">
                <a:ln>
                  <a:noFill/>
                </a:ln>
                <a:solidFill>
                  <a:schemeClr val="tx2"/>
                </a:solidFill>
                <a:effectLst/>
                <a:uLnTx/>
                <a:uFillTx/>
                <a:latin typeface="+mn-lt"/>
                <a:ea typeface="+mj-ea"/>
                <a:cs typeface="+mj-cs"/>
              </a:rPr>
              <a:t>(Jones &amp; Davis, 1965)</a:t>
            </a:r>
            <a:endParaRPr kumimoji="0" lang="en-GB" altLang="tr-TR" sz="3200" b="1" i="0" u="none" strike="noStrike" kern="1200" cap="all" spc="150" normalizeH="0" baseline="0" noProof="0" dirty="0">
              <a:ln>
                <a:noFill/>
              </a:ln>
              <a:solidFill>
                <a:schemeClr val="tx2"/>
              </a:solidFill>
              <a:effectLst/>
              <a:uLnTx/>
              <a:uFillTx/>
              <a:latin typeface="+mn-lt"/>
              <a:ea typeface="+mj-ea"/>
              <a:cs typeface="+mj-cs"/>
            </a:endParaRPr>
          </a:p>
        </p:txBody>
      </p:sp>
      <p:sp>
        <p:nvSpPr>
          <p:cNvPr id="23555" name="Rectangle 3"/>
          <p:cNvSpPr>
            <a:spLocks noGrp="1" noChangeArrowheads="1"/>
          </p:cNvSpPr>
          <p:nvPr>
            <p:ph type="body" idx="1"/>
          </p:nvPr>
        </p:nvSpPr>
        <p:spPr>
          <a:xfrm>
            <a:off x="673735" y="1981200"/>
            <a:ext cx="10855325" cy="4543425"/>
          </a:xfrm>
        </p:spPr>
        <p:txBody>
          <a:bodyPr vert="horz" wrap="square" lIns="91440" tIns="45720" rIns="91440" bIns="45720" numCol="1" rtlCol="0" anchor="t" anchorCtr="0" compatLnSpc="1">
            <a:normAutofit/>
          </a:bodyPr>
          <a:lstStyle/>
          <a:p>
            <a:pPr marL="0" marR="0" lvl="0" indent="0" algn="l" defTabSz="685800" rtl="0" eaLnBrk="1" fontAlgn="auto" latinLnBrk="0" hangingPunct="1">
              <a:lnSpc>
                <a:spcPct val="110000"/>
              </a:lnSpc>
              <a:spcBef>
                <a:spcPts val="700"/>
              </a:spcBef>
              <a:spcAft>
                <a:spcPts val="0"/>
              </a:spcAft>
              <a:buClr>
                <a:schemeClr val="tx2"/>
              </a:buClr>
              <a:buSzTx/>
              <a:buFontTx/>
              <a:buNone/>
              <a:defRPr/>
            </a:pPr>
            <a:r>
              <a:rPr kumimoji="0" lang="en-GB" altLang="tr-TR" sz="3600" b="0" i="0" u="none" strike="noStrike" kern="1200" cap="none" spc="0" normalizeH="0" baseline="0" noProof="0" dirty="0">
                <a:ln>
                  <a:noFill/>
                </a:ln>
                <a:solidFill>
                  <a:schemeClr val="tx1"/>
                </a:solidFill>
                <a:effectLst/>
                <a:uLnTx/>
                <a:uFillTx/>
                <a:latin typeface="+mn-lt"/>
                <a:ea typeface="+mn-ea"/>
                <a:cs typeface="+mn-cs"/>
              </a:rPr>
              <a:t>We use information about another person’s behaviour and its effects to draw a </a:t>
            </a:r>
            <a:r>
              <a:rPr kumimoji="0" lang="en-GB" altLang="tr-TR" sz="3600" b="1" i="0" u="none" strike="noStrike" kern="1200" cap="none" spc="0" normalizeH="0" baseline="0" noProof="0" dirty="0">
                <a:ln>
                  <a:noFill/>
                </a:ln>
                <a:solidFill>
                  <a:schemeClr val="tx1"/>
                </a:solidFill>
                <a:effectLst/>
                <a:uLnTx/>
                <a:uFillTx/>
                <a:latin typeface="+mn-lt"/>
                <a:ea typeface="+mn-ea"/>
                <a:cs typeface="+mn-cs"/>
              </a:rPr>
              <a:t>correspondent inference</a:t>
            </a:r>
            <a:r>
              <a:rPr kumimoji="0" lang="en-GB" altLang="tr-TR" sz="3600" b="0" i="0" u="none" strike="noStrike" kern="1200" cap="none" spc="0" normalizeH="0" baseline="0" noProof="0" dirty="0">
                <a:ln>
                  <a:noFill/>
                </a:ln>
                <a:solidFill>
                  <a:schemeClr val="tx1"/>
                </a:solidFill>
                <a:effectLst/>
                <a:uLnTx/>
                <a:uFillTx/>
                <a:latin typeface="+mn-lt"/>
                <a:ea typeface="+mn-ea"/>
                <a:cs typeface="+mn-cs"/>
              </a:rPr>
              <a:t>, in which the behaviour is attributed to a disposition or personality characteristic.</a:t>
            </a: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Tx/>
              <a:buNone/>
              <a:defRPr/>
            </a:pP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Tx/>
              <a:buNone/>
              <a:defRPr/>
            </a:pPr>
            <a:r>
              <a:rPr kumimoji="0" lang="en-GB" altLang="tr-TR" sz="3600" b="0" i="0" u="none" strike="noStrike" kern="1200" cap="none" spc="0" normalizeH="0" baseline="0" noProof="0" dirty="0">
                <a:ln>
                  <a:noFill/>
                </a:ln>
                <a:solidFill>
                  <a:schemeClr val="tx1"/>
                </a:solidFill>
                <a:effectLst/>
                <a:uLnTx/>
                <a:uFillTx/>
                <a:latin typeface="+mn-lt"/>
                <a:ea typeface="+mn-ea"/>
                <a:cs typeface="+mn-cs"/>
              </a:rPr>
              <a:t>How do we do this?</a:t>
            </a:r>
            <a:endParaRPr kumimoji="0" lang="en-GB" altLang="tr-TR" sz="3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2133600" y="173355"/>
            <a:ext cx="9836785" cy="1449705"/>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US" altLang="tr-TR" sz="3200" b="1" i="0" u="none" strike="noStrike" kern="1200" cap="all" spc="150" normalizeH="0" baseline="0" noProof="0" dirty="0">
                <a:ln>
                  <a:noFill/>
                </a:ln>
                <a:solidFill>
                  <a:schemeClr val="tx2"/>
                </a:solidFill>
                <a:effectLst/>
                <a:uLnTx/>
                <a:uFillTx/>
                <a:latin typeface="+mn-lt"/>
                <a:ea typeface="+mj-ea"/>
                <a:cs typeface="+mj-cs"/>
              </a:rPr>
              <a:t>Correspondence Inference Theory</a:t>
            </a:r>
            <a:endParaRPr kumimoji="0" lang="en-GB" altLang="tr-TR" sz="3200" b="1" i="0" u="none" strike="noStrike" kern="1200" cap="all" spc="150" normalizeH="0" baseline="0" noProof="0" dirty="0">
              <a:ln>
                <a:noFill/>
              </a:ln>
              <a:solidFill>
                <a:schemeClr val="tx2"/>
              </a:solidFill>
              <a:effectLst/>
              <a:uLnTx/>
              <a:uFillTx/>
              <a:latin typeface="+mn-lt"/>
              <a:ea typeface="+mj-ea"/>
              <a:cs typeface="+mj-cs"/>
            </a:endParaRPr>
          </a:p>
        </p:txBody>
      </p:sp>
      <p:sp>
        <p:nvSpPr>
          <p:cNvPr id="25603" name="Rectangle 3"/>
          <p:cNvSpPr>
            <a:spLocks noGrp="1" noChangeArrowheads="1"/>
          </p:cNvSpPr>
          <p:nvPr>
            <p:ph type="body" idx="1"/>
          </p:nvPr>
        </p:nvSpPr>
        <p:spPr>
          <a:xfrm>
            <a:off x="525780" y="1676400"/>
            <a:ext cx="10962005" cy="5008880"/>
          </a:xfrm>
        </p:spPr>
        <p:txBody>
          <a:bodyPr vert="horz" wrap="square" lIns="91440" tIns="45720" rIns="91440" bIns="45720" numCol="1" rtlCol="0" anchor="t" anchorCtr="0" compatLnSpc="1">
            <a:normAutofit/>
          </a:bodyPr>
          <a:lstStyle/>
          <a:p>
            <a:pPr marL="0" marR="0" lvl="0" indent="0" algn="just" defTabSz="685800" rtl="0" eaLnBrk="1" fontAlgn="auto" latinLnBrk="0" hangingPunct="1">
              <a:lnSpc>
                <a:spcPct val="80000"/>
              </a:lnSpc>
              <a:spcBef>
                <a:spcPts val="700"/>
              </a:spcBef>
              <a:spcAft>
                <a:spcPts val="0"/>
              </a:spcAft>
              <a:buClr>
                <a:schemeClr val="tx2"/>
              </a:buClr>
              <a:buSzTx/>
              <a:buFontTx/>
              <a:buNone/>
              <a:defRPr/>
            </a:pPr>
            <a:r>
              <a:rPr kumimoji="0" lang="en-GB" altLang="tr-TR" sz="2600" b="1" i="0" u="none" strike="noStrike" kern="1200" cap="none" spc="0" normalizeH="0" baseline="0" noProof="0" dirty="0">
                <a:ln>
                  <a:noFill/>
                </a:ln>
                <a:solidFill>
                  <a:schemeClr val="tx1"/>
                </a:solidFill>
                <a:effectLst/>
                <a:uLnTx/>
                <a:uFillTx/>
                <a:latin typeface="+mn-lt"/>
                <a:ea typeface="+mn-ea"/>
                <a:cs typeface="+mn-cs"/>
              </a:rPr>
              <a:t>Were the effects of someone’s behaviour intended?</a:t>
            </a:r>
            <a:r>
              <a:rPr kumimoji="0" lang="en-GB" altLang="tr-TR" sz="2600" b="0" i="0" u="none" strike="noStrike" kern="1200" cap="none" spc="0" normalizeH="0" baseline="0" noProof="0" dirty="0">
                <a:ln>
                  <a:noFill/>
                </a:ln>
                <a:solidFill>
                  <a:schemeClr val="tx1"/>
                </a:solidFill>
                <a:effectLst/>
                <a:uLnTx/>
                <a:uFillTx/>
                <a:latin typeface="+mn-lt"/>
                <a:ea typeface="+mn-ea"/>
                <a:cs typeface="+mn-cs"/>
              </a:rPr>
              <a:t> We are more likely to draw a correspondent inference if the behaviour appears </a:t>
            </a:r>
            <a:r>
              <a:rPr kumimoji="0" lang="en-GB" altLang="tr-TR" sz="2600" b="1" i="0" u="none" strike="noStrike" kern="1200" cap="none" spc="0" normalizeH="0" baseline="0" noProof="0" dirty="0">
                <a:ln>
                  <a:noFill/>
                </a:ln>
                <a:solidFill>
                  <a:schemeClr val="tx1"/>
                </a:solidFill>
                <a:effectLst/>
                <a:uLnTx/>
                <a:uFillTx/>
                <a:latin typeface="+mn-lt"/>
                <a:ea typeface="+mn-ea"/>
                <a:cs typeface="+mn-cs"/>
              </a:rPr>
              <a:t>intentional</a:t>
            </a:r>
            <a:r>
              <a:rPr kumimoji="0" lang="en-GB" altLang="tr-TR" sz="2600" b="0" i="0" u="none" strike="noStrike" kern="1200" cap="none" spc="0" normalizeH="0" baseline="0" noProof="0" dirty="0">
                <a:ln>
                  <a:noFill/>
                </a:ln>
                <a:solidFill>
                  <a:schemeClr val="tx1"/>
                </a:solidFill>
                <a:effectLst/>
                <a:uLnTx/>
                <a:uFillTx/>
                <a:latin typeface="+mn-lt"/>
                <a:ea typeface="+mn-ea"/>
                <a:cs typeface="+mn-cs"/>
              </a:rPr>
              <a:t> than when it is unintentional.</a:t>
            </a:r>
            <a:endParaRPr kumimoji="0" lang="en-GB" altLang="tr-TR" sz="2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Tx/>
              <a:buNone/>
              <a:defRPr/>
            </a:pPr>
            <a:endParaRPr kumimoji="0" lang="en-GB" altLang="tr-TR" sz="2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ct val="60000"/>
              </a:spcAft>
              <a:buClr>
                <a:schemeClr val="tx2"/>
              </a:buClr>
              <a:buSzTx/>
              <a:buFont typeface="Wingdings" panose="05000000000000000000" pitchFamily="2" charset="2"/>
              <a:buNone/>
              <a:defRPr/>
            </a:pPr>
            <a:r>
              <a:rPr kumimoji="0" lang="en-US" altLang="tr-TR" sz="2600" b="0" i="1" u="none" strike="noStrike" kern="1200" cap="none" spc="0" normalizeH="0" baseline="0" noProof="0" dirty="0">
                <a:ln>
                  <a:noFill/>
                </a:ln>
                <a:solidFill>
                  <a:schemeClr val="tx1"/>
                </a:solidFill>
                <a:effectLst/>
                <a:uLnTx/>
                <a:uFillTx/>
                <a:latin typeface="+mn-lt"/>
                <a:ea typeface="+mn-ea"/>
                <a:cs typeface="+mn-cs"/>
              </a:rPr>
              <a:t>Intention is important: Individual must know the consequences of their action and have the ability to carry out the action</a:t>
            </a:r>
            <a:endParaRPr kumimoji="0" lang="en-US" altLang="tr-TR" sz="2600" b="0" i="1"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Tx/>
              <a:buNone/>
              <a:defRPr/>
            </a:pPr>
            <a:r>
              <a:rPr kumimoji="0" lang="en-GB" altLang="tr-TR" sz="2600" b="1" i="0" u="none" strike="noStrike" kern="1200" cap="none" spc="0" normalizeH="0" baseline="0" noProof="0" dirty="0">
                <a:ln>
                  <a:noFill/>
                </a:ln>
                <a:solidFill>
                  <a:schemeClr val="tx1"/>
                </a:solidFill>
                <a:effectLst/>
                <a:uLnTx/>
                <a:uFillTx/>
                <a:latin typeface="+mn-lt"/>
                <a:ea typeface="+mn-ea"/>
                <a:cs typeface="+mn-cs"/>
              </a:rPr>
              <a:t>Were the effects of the behaviour socially desirable? </a:t>
            </a:r>
            <a:r>
              <a:rPr kumimoji="0" lang="en-GB" altLang="tr-TR" sz="2600" b="0" i="0" u="none" strike="noStrike" kern="1200" cap="none" spc="0" normalizeH="0" baseline="0" noProof="0" dirty="0">
                <a:ln>
                  <a:noFill/>
                </a:ln>
                <a:solidFill>
                  <a:schemeClr val="tx1"/>
                </a:solidFill>
                <a:effectLst/>
                <a:uLnTx/>
                <a:uFillTx/>
                <a:latin typeface="+mn-lt"/>
                <a:ea typeface="+mn-ea"/>
                <a:cs typeface="+mn-cs"/>
              </a:rPr>
              <a:t>We are more likely to decide there is a correspondence when the effects of the behaviour are </a:t>
            </a:r>
            <a:r>
              <a:rPr kumimoji="0" lang="en-GB" altLang="tr-TR" sz="2600" b="1" i="0" u="none" strike="noStrike" kern="1200" cap="none" spc="0" normalizeH="0" baseline="0" noProof="0" dirty="0">
                <a:ln>
                  <a:noFill/>
                </a:ln>
                <a:solidFill>
                  <a:schemeClr val="tx1"/>
                </a:solidFill>
                <a:effectLst/>
                <a:uLnTx/>
                <a:uFillTx/>
                <a:latin typeface="+mn-lt"/>
                <a:ea typeface="+mn-ea"/>
                <a:cs typeface="+mn-cs"/>
              </a:rPr>
              <a:t>socially undesirable</a:t>
            </a:r>
            <a:r>
              <a:rPr kumimoji="0" lang="en-GB" altLang="tr-TR" sz="2600" b="0" i="0" u="none" strike="noStrike" kern="1200" cap="none" spc="0" normalizeH="0" baseline="0" noProof="0" dirty="0">
                <a:ln>
                  <a:noFill/>
                </a:ln>
                <a:solidFill>
                  <a:schemeClr val="tx1"/>
                </a:solidFill>
                <a:effectLst/>
                <a:uLnTx/>
                <a:uFillTx/>
                <a:latin typeface="+mn-lt"/>
                <a:ea typeface="+mn-ea"/>
                <a:cs typeface="+mn-cs"/>
              </a:rPr>
              <a:t>. </a:t>
            </a:r>
            <a:endParaRPr kumimoji="0" lang="en-GB" altLang="tr-TR" sz="2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Tx/>
              <a:buNone/>
              <a:defRPr/>
            </a:pPr>
            <a:endParaRPr kumimoji="0" lang="en-GB" altLang="tr-TR" sz="2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Tx/>
              <a:buNone/>
              <a:defRPr/>
            </a:pPr>
            <a:r>
              <a:rPr kumimoji="0" lang="en-GB" altLang="tr-TR" sz="2600" b="0" i="1" u="none" strike="noStrike" kern="1200" cap="none" spc="0" normalizeH="0" baseline="0" noProof="0" dirty="0">
                <a:ln>
                  <a:noFill/>
                </a:ln>
                <a:solidFill>
                  <a:schemeClr val="tx1"/>
                </a:solidFill>
                <a:effectLst/>
                <a:uLnTx/>
                <a:uFillTx/>
                <a:latin typeface="+mn-lt"/>
                <a:ea typeface="+mn-ea"/>
                <a:cs typeface="+mn-cs"/>
              </a:rPr>
              <a:t>For example, if someone is very rude in a social situation, we conclude that he/she is an unpleasant person.</a:t>
            </a:r>
            <a:endParaRPr kumimoji="0" lang="en-GB" altLang="tr-TR" sz="26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1826260" y="86995"/>
            <a:ext cx="10165080" cy="855980"/>
          </a:xfrm>
        </p:spPr>
        <p:txBody>
          <a:bodyPr lIns="91440" tIns="45720" rIns="91440" bIns="45720" rtlCol="0" anchor="t">
            <a:normAutofit fontScale="90000"/>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GB" altLang="en-US" sz="3200" b="1" i="0" u="none" strike="noStrike" kern="1200" cap="all" spc="150" normalizeH="0" baseline="0" noProof="0" dirty="0" err="1">
                <a:ln>
                  <a:noFill/>
                </a:ln>
                <a:solidFill>
                  <a:schemeClr val="tx2"/>
                </a:solidFill>
                <a:effectLst/>
                <a:uLnTx/>
                <a:uFillTx/>
                <a:latin typeface="+mn-lt"/>
                <a:ea typeface="+mj-ea"/>
                <a:cs typeface="+mj-cs"/>
              </a:rPr>
              <a:t>III - </a:t>
            </a:r>
            <a:r>
              <a:rPr kumimoji="0" lang="en-US" altLang="tr-TR" sz="3200" b="1" i="0" u="none" strike="noStrike" kern="1200" cap="all" spc="150" normalizeH="0" baseline="0" noProof="0" dirty="0" err="1">
                <a:ln>
                  <a:noFill/>
                </a:ln>
                <a:solidFill>
                  <a:schemeClr val="tx2"/>
                </a:solidFill>
                <a:effectLst/>
                <a:uLnTx/>
                <a:uFillTx/>
                <a:latin typeface="+mn-lt"/>
                <a:ea typeface="+mj-ea"/>
                <a:cs typeface="+mj-cs"/>
              </a:rPr>
              <a:t>Covariation</a:t>
            </a:r>
            <a:r>
              <a:rPr kumimoji="0" lang="en-US" altLang="tr-TR" sz="3200" b="1" i="0" u="none" strike="noStrike" kern="1200" cap="all" spc="150" normalizeH="0" baseline="0" noProof="0" dirty="0">
                <a:ln>
                  <a:noFill/>
                </a:ln>
                <a:solidFill>
                  <a:schemeClr val="tx2"/>
                </a:solidFill>
                <a:effectLst/>
                <a:uLnTx/>
                <a:uFillTx/>
                <a:latin typeface="+mn-lt"/>
                <a:ea typeface="+mj-ea"/>
                <a:cs typeface="+mj-cs"/>
              </a:rPr>
              <a:t> Theory (Kelley, 1967; 1973)</a:t>
            </a:r>
            <a:endParaRPr kumimoji="0" lang="en-US" altLang="tr-TR" sz="3200" b="1" i="0" u="none" strike="noStrike" kern="1200" cap="all" spc="150" normalizeH="0" baseline="0" noProof="0" dirty="0">
              <a:ln>
                <a:noFill/>
              </a:ln>
              <a:solidFill>
                <a:schemeClr val="tx2"/>
              </a:solidFill>
              <a:effectLst/>
              <a:uLnTx/>
              <a:uFillTx/>
              <a:latin typeface="+mn-lt"/>
              <a:ea typeface="+mj-ea"/>
              <a:cs typeface="+mj-cs"/>
            </a:endParaRPr>
          </a:p>
        </p:txBody>
      </p:sp>
      <p:sp>
        <p:nvSpPr>
          <p:cNvPr id="31747" name="Rectangle 3"/>
          <p:cNvSpPr>
            <a:spLocks noGrp="1"/>
          </p:cNvSpPr>
          <p:nvPr>
            <p:ph type="body" idx="4294967295"/>
          </p:nvPr>
        </p:nvSpPr>
        <p:spPr>
          <a:xfrm>
            <a:off x="668655" y="1600200"/>
            <a:ext cx="10829925" cy="5257800"/>
          </a:xfrm>
        </p:spPr>
        <p:txBody>
          <a:bodyPr vert="horz" wrap="square" lIns="91440" tIns="45720" rIns="91440" bIns="45720" anchor="t" anchorCtr="0">
            <a:normAutofit/>
          </a:bodyPr>
          <a:lstStyle/>
          <a:p>
            <a:pPr marL="0" indent="0" algn="just" eaLnBrk="1" hangingPunct="1">
              <a:lnSpc>
                <a:spcPct val="80000"/>
              </a:lnSpc>
              <a:spcAft>
                <a:spcPct val="40000"/>
              </a:spcAft>
              <a:buFontTx/>
              <a:buNone/>
            </a:pPr>
            <a:r>
              <a:rPr lang="en-US" altLang="tr-TR" sz="2800" dirty="0"/>
              <a:t>Where we have a number of examples of a person’s behaviour, we make judgments of covariation to decide how to attribute cause.</a:t>
            </a:r>
            <a:endParaRPr lang="en-US" altLang="tr-TR" sz="2800" dirty="0"/>
          </a:p>
          <a:p>
            <a:pPr marL="0" indent="0" algn="just" eaLnBrk="1" hangingPunct="1">
              <a:lnSpc>
                <a:spcPct val="80000"/>
              </a:lnSpc>
              <a:spcAft>
                <a:spcPct val="40000"/>
              </a:spcAft>
              <a:buFontTx/>
              <a:buNone/>
            </a:pPr>
            <a:r>
              <a:rPr lang="en-US" altLang="tr-TR" sz="2800" b="1" u="sng" dirty="0"/>
              <a:t>Consensus</a:t>
            </a:r>
            <a:r>
              <a:rPr lang="en-US" altLang="tr-TR" sz="2800" dirty="0"/>
              <a:t> in respect of other people behaving in the same way in response to the stimulus – </a:t>
            </a:r>
            <a:r>
              <a:rPr lang="en-US" altLang="tr-TR" sz="2800" i="1" dirty="0"/>
              <a:t>how do other people respond to this stimulus?</a:t>
            </a:r>
            <a:endParaRPr lang="en-US" altLang="tr-TR" sz="2800" i="1" dirty="0"/>
          </a:p>
          <a:p>
            <a:pPr marL="0" indent="0" algn="just" eaLnBrk="1" hangingPunct="1">
              <a:lnSpc>
                <a:spcPct val="80000"/>
              </a:lnSpc>
              <a:spcAft>
                <a:spcPct val="40000"/>
              </a:spcAft>
              <a:buFontTx/>
              <a:buNone/>
            </a:pPr>
            <a:r>
              <a:rPr lang="en-US" altLang="tr-TR" sz="2800" b="1" u="sng" dirty="0"/>
              <a:t>Distinctiveness</a:t>
            </a:r>
            <a:r>
              <a:rPr lang="en-US" altLang="tr-TR" sz="2800" dirty="0"/>
              <a:t> of the stimulus in evoking the behaviour – </a:t>
            </a:r>
            <a:r>
              <a:rPr lang="en-US" altLang="tr-TR" sz="2800" i="1" dirty="0"/>
              <a:t>does the behaviour generalize to other situations?</a:t>
            </a:r>
            <a:endParaRPr lang="en-US" altLang="tr-TR" sz="2800" dirty="0"/>
          </a:p>
          <a:p>
            <a:pPr marL="0" indent="0" algn="just" eaLnBrk="1" hangingPunct="1">
              <a:lnSpc>
                <a:spcPct val="80000"/>
              </a:lnSpc>
              <a:spcAft>
                <a:spcPct val="40000"/>
              </a:spcAft>
              <a:buFontTx/>
              <a:buNone/>
            </a:pPr>
            <a:r>
              <a:rPr lang="en-US" altLang="tr-TR" sz="2800" b="1" u="sng" dirty="0"/>
              <a:t>Consistency </a:t>
            </a:r>
            <a:r>
              <a:rPr lang="en-US" altLang="tr-TR" sz="2800" dirty="0"/>
              <a:t>of the behaviour in the presence of this stimulus – </a:t>
            </a:r>
            <a:r>
              <a:rPr lang="en-US" altLang="tr-TR" sz="2800" i="1" dirty="0"/>
              <a:t>Is the person’s response consistent across time?</a:t>
            </a:r>
            <a:endParaRPr lang="en-US" altLang="tr-TR" sz="2800" i="1" dirty="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1524000" y="304800"/>
            <a:ext cx="8032750" cy="855663"/>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US" altLang="tr-TR" sz="4200" b="1" i="0" u="none" strike="noStrike" kern="1200" cap="all" spc="150" normalizeH="0" baseline="0" noProof="0" dirty="0">
                <a:ln>
                  <a:noFill/>
                </a:ln>
                <a:solidFill>
                  <a:schemeClr val="tx2"/>
                </a:solidFill>
                <a:effectLst/>
                <a:uLnTx/>
                <a:uFillTx/>
                <a:latin typeface="+mn-lt"/>
                <a:ea typeface="+mj-ea"/>
                <a:cs typeface="+mj-cs"/>
              </a:rPr>
              <a:t>Consensus</a:t>
            </a:r>
            <a:endParaRPr kumimoji="0" lang="en-US" altLang="tr-TR" sz="4200" b="1" i="0" u="none" strike="noStrike" kern="1200" cap="all" spc="150" normalizeH="0" baseline="0" noProof="0" dirty="0">
              <a:ln>
                <a:noFill/>
              </a:ln>
              <a:solidFill>
                <a:schemeClr val="tx2"/>
              </a:solidFill>
              <a:effectLst/>
              <a:uLnTx/>
              <a:uFillTx/>
              <a:latin typeface="+mn-lt"/>
              <a:ea typeface="+mj-ea"/>
              <a:cs typeface="+mj-cs"/>
            </a:endParaRPr>
          </a:p>
        </p:txBody>
      </p:sp>
      <p:sp>
        <p:nvSpPr>
          <p:cNvPr id="35843" name="Rectangle 3"/>
          <p:cNvSpPr>
            <a:spLocks noGrp="1" noChangeArrowheads="1"/>
          </p:cNvSpPr>
          <p:nvPr>
            <p:ph type="body" idx="1"/>
          </p:nvPr>
        </p:nvSpPr>
        <p:spPr>
          <a:xfrm>
            <a:off x="767080" y="1447800"/>
            <a:ext cx="10830560" cy="4876800"/>
          </a:xfrm>
        </p:spPr>
        <p:txBody>
          <a:bodyPr vert="horz" wrap="square" lIns="91440" tIns="45720" rIns="91440" bIns="45720" numCol="1" rtlCol="0" anchor="t" anchorCtr="0" compatLnSpc="1">
            <a:normAutofit fontScale="90000" lnSpcReduction="10000"/>
          </a:bodyPr>
          <a:lstStyle/>
          <a:p>
            <a:pPr marL="228600" marR="0" lvl="0" indent="-228600" algn="just" defTabSz="685800" rtl="0" eaLnBrk="1" fontAlgn="auto" latinLnBrk="0" hangingPunct="1">
              <a:lnSpc>
                <a:spcPct val="110000"/>
              </a:lnSpc>
              <a:spcBef>
                <a:spcPts val="700"/>
              </a:spcBef>
              <a:spcAft>
                <a:spcPct val="40000"/>
              </a:spcAft>
              <a:buClr>
                <a:schemeClr val="tx2"/>
              </a:buClr>
              <a:buSzTx/>
              <a:buFont typeface="Arial" panose="020B0604020202020204" pitchFamily="34" charset="0"/>
              <a:buChar char="•"/>
              <a:defRPr/>
            </a:pPr>
            <a:r>
              <a:rPr kumimoji="0" lang="en-US" altLang="tr-TR" sz="3300" b="0" i="0" u="none" strike="noStrike" kern="1200" cap="none" spc="0" normalizeH="0" baseline="0" noProof="0" dirty="0">
                <a:ln>
                  <a:noFill/>
                </a:ln>
                <a:solidFill>
                  <a:schemeClr val="tx1"/>
                </a:solidFill>
                <a:effectLst/>
                <a:uLnTx/>
                <a:uFillTx/>
                <a:latin typeface="+mn-lt"/>
                <a:ea typeface="+mn-ea"/>
                <a:cs typeface="+mn-cs"/>
              </a:rPr>
              <a:t>The generality of behaviours across others </a:t>
            </a:r>
            <a:endParaRPr kumimoji="0" lang="en-US" altLang="tr-TR" sz="33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just" defTabSz="685800" rtl="0" eaLnBrk="1" fontAlgn="auto" latinLnBrk="0" hangingPunct="1">
              <a:lnSpc>
                <a:spcPct val="110000"/>
              </a:lnSpc>
              <a:spcBef>
                <a:spcPts val="700"/>
              </a:spcBef>
              <a:spcAft>
                <a:spcPct val="40000"/>
              </a:spcAft>
              <a:buClr>
                <a:schemeClr val="tx2"/>
              </a:buClr>
              <a:buSzTx/>
              <a:buFont typeface="Arial" panose="020B0604020202020204" pitchFamily="34" charset="0"/>
              <a:buChar char="•"/>
              <a:defRPr/>
            </a:pPr>
            <a:r>
              <a:rPr kumimoji="0" lang="en-US" altLang="tr-TR" sz="3300" b="0" i="1" u="none" strike="noStrike" kern="1200" cap="none" spc="0" normalizeH="0" baseline="0" noProof="0" dirty="0">
                <a:ln>
                  <a:noFill/>
                </a:ln>
                <a:solidFill>
                  <a:schemeClr val="tx1"/>
                </a:solidFill>
                <a:effectLst/>
                <a:uLnTx/>
                <a:uFillTx/>
                <a:latin typeface="+mn-lt"/>
                <a:ea typeface="+mn-ea"/>
                <a:cs typeface="+mn-cs"/>
              </a:rPr>
              <a:t>Do other people behave in the same way (i.e. like this person) in response to the stimulus (i.e. in similar situations) ?</a:t>
            </a:r>
            <a:r>
              <a:rPr kumimoji="0" lang="en-US" altLang="tr-TR" sz="3300" b="0" i="0" u="none" strike="noStrike" kern="1200" cap="none" spc="0" normalizeH="0" baseline="0" noProof="0" dirty="0">
                <a:ln>
                  <a:noFill/>
                </a:ln>
                <a:solidFill>
                  <a:schemeClr val="tx1"/>
                </a:solidFill>
                <a:effectLst/>
                <a:uLnTx/>
                <a:uFillTx/>
                <a:latin typeface="+mn-lt"/>
                <a:ea typeface="+mn-ea"/>
                <a:cs typeface="+mn-cs"/>
              </a:rPr>
              <a:t> </a:t>
            </a:r>
            <a:endParaRPr kumimoji="0" lang="en-US" altLang="tr-TR" sz="33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just" defTabSz="685800" rtl="0" eaLnBrk="1" fontAlgn="auto" latinLnBrk="0" hangingPunct="1">
              <a:lnSpc>
                <a:spcPct val="110000"/>
              </a:lnSpc>
              <a:spcBef>
                <a:spcPts val="700"/>
              </a:spcBef>
              <a:spcAft>
                <a:spcPct val="40000"/>
              </a:spcAft>
              <a:buClr>
                <a:schemeClr val="tx1"/>
              </a:buClr>
              <a:buSzTx/>
              <a:buFont typeface="Wingdings" panose="05000000000000000000" pitchFamily="2" charset="2"/>
              <a:buChar char="§"/>
              <a:defRPr/>
            </a:pPr>
            <a:r>
              <a:rPr kumimoji="0" lang="en-US" altLang="tr-TR" sz="3300" b="0" i="0" u="sng" strike="noStrike" kern="1200" cap="none" spc="0" normalizeH="0" baseline="0" noProof="0" dirty="0">
                <a:ln>
                  <a:noFill/>
                </a:ln>
                <a:solidFill>
                  <a:schemeClr val="tx1"/>
                </a:solidFill>
                <a:effectLst/>
                <a:uLnTx/>
                <a:uFillTx/>
                <a:latin typeface="+mn-lt"/>
                <a:ea typeface="+mn-ea"/>
                <a:cs typeface="+mn-cs"/>
              </a:rPr>
              <a:t>High consensus</a:t>
            </a:r>
            <a:r>
              <a:rPr kumimoji="0" lang="en-US" altLang="tr-TR" sz="3300" b="0" i="0" u="none" strike="noStrike" kern="1200" cap="none" spc="0" normalizeH="0" baseline="0" noProof="0" dirty="0">
                <a:ln>
                  <a:noFill/>
                </a:ln>
                <a:solidFill>
                  <a:schemeClr val="tx1"/>
                </a:solidFill>
                <a:effectLst/>
                <a:uLnTx/>
                <a:uFillTx/>
                <a:latin typeface="+mn-lt"/>
                <a:ea typeface="+mn-ea"/>
                <a:cs typeface="+mn-cs"/>
              </a:rPr>
              <a:t> is when other people act like the person in question</a:t>
            </a:r>
            <a:endParaRPr kumimoji="0" lang="en-US" altLang="tr-TR" sz="33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just" defTabSz="685800" rtl="0" eaLnBrk="1" fontAlgn="auto" latinLnBrk="0" hangingPunct="1">
              <a:lnSpc>
                <a:spcPct val="110000"/>
              </a:lnSpc>
              <a:spcBef>
                <a:spcPts val="700"/>
              </a:spcBef>
              <a:spcAft>
                <a:spcPct val="40000"/>
              </a:spcAft>
              <a:buClr>
                <a:schemeClr val="tx1"/>
              </a:buClr>
              <a:buSzTx/>
              <a:buFont typeface="Wingdings" panose="05000000000000000000" pitchFamily="2" charset="2"/>
              <a:buChar char="§"/>
              <a:defRPr/>
            </a:pPr>
            <a:r>
              <a:rPr kumimoji="0" lang="en-US" altLang="tr-TR" sz="3300" b="0" i="0" u="sng" strike="noStrike" kern="1200" cap="none" spc="0" normalizeH="0" baseline="0" noProof="0" dirty="0">
                <a:ln>
                  <a:noFill/>
                </a:ln>
                <a:solidFill>
                  <a:schemeClr val="tx1"/>
                </a:solidFill>
                <a:effectLst/>
                <a:uLnTx/>
                <a:uFillTx/>
                <a:latin typeface="+mn-lt"/>
                <a:ea typeface="+mn-ea"/>
                <a:cs typeface="+mn-cs"/>
              </a:rPr>
              <a:t>Low consensus</a:t>
            </a:r>
            <a:r>
              <a:rPr kumimoji="0" lang="en-US" altLang="tr-TR" sz="3300" b="0" i="0" u="none" strike="noStrike" kern="1200" cap="none" spc="0" normalizeH="0" baseline="0" noProof="0" dirty="0">
                <a:ln>
                  <a:noFill/>
                </a:ln>
                <a:solidFill>
                  <a:schemeClr val="tx1"/>
                </a:solidFill>
                <a:effectLst/>
                <a:uLnTx/>
                <a:uFillTx/>
                <a:latin typeface="+mn-lt"/>
                <a:ea typeface="+mn-ea"/>
                <a:cs typeface="+mn-cs"/>
              </a:rPr>
              <a:t> is when people act differently than the person in question</a:t>
            </a:r>
            <a:endParaRPr kumimoji="0" lang="en-US" altLang="tr-TR" sz="33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1524000" y="304800"/>
            <a:ext cx="7689850" cy="855663"/>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US" altLang="tr-TR" sz="4200" b="1" i="0" u="none" strike="noStrike" kern="1200" cap="all" spc="150" normalizeH="0" baseline="0" noProof="0" dirty="0">
                <a:ln>
                  <a:noFill/>
                </a:ln>
                <a:solidFill>
                  <a:schemeClr val="tx2"/>
                </a:solidFill>
                <a:effectLst/>
                <a:uLnTx/>
                <a:uFillTx/>
                <a:latin typeface="+mn-lt"/>
                <a:ea typeface="+mj-ea"/>
                <a:cs typeface="+mj-cs"/>
              </a:rPr>
              <a:t>Distinctiveness</a:t>
            </a:r>
            <a:endParaRPr kumimoji="0" lang="en-US" altLang="tr-TR" sz="4200" b="1" i="0" u="none" strike="noStrike" kern="1200" cap="all" spc="150" normalizeH="0" baseline="0" noProof="0" dirty="0">
              <a:ln>
                <a:noFill/>
              </a:ln>
              <a:solidFill>
                <a:schemeClr val="tx2"/>
              </a:solidFill>
              <a:effectLst/>
              <a:uLnTx/>
              <a:uFillTx/>
              <a:latin typeface="+mn-lt"/>
              <a:ea typeface="+mj-ea"/>
              <a:cs typeface="+mj-cs"/>
            </a:endParaRPr>
          </a:p>
        </p:txBody>
      </p:sp>
      <p:sp>
        <p:nvSpPr>
          <p:cNvPr id="35843" name="Rectangle 3"/>
          <p:cNvSpPr>
            <a:spLocks noGrp="1"/>
          </p:cNvSpPr>
          <p:nvPr>
            <p:ph type="body" idx="4294967295"/>
          </p:nvPr>
        </p:nvSpPr>
        <p:spPr>
          <a:xfrm>
            <a:off x="660400" y="1371600"/>
            <a:ext cx="10622280" cy="5149850"/>
          </a:xfrm>
        </p:spPr>
        <p:txBody>
          <a:bodyPr vert="horz" wrap="square" lIns="91440" tIns="45720" rIns="91440" bIns="45720" anchor="t" anchorCtr="0">
            <a:normAutofit/>
          </a:bodyPr>
          <a:lstStyle/>
          <a:p>
            <a:pPr algn="just" eaLnBrk="1" hangingPunct="1">
              <a:spcAft>
                <a:spcPct val="40000"/>
              </a:spcAft>
            </a:pPr>
            <a:r>
              <a:rPr lang="en-US" altLang="tr-TR" sz="2800" dirty="0"/>
              <a:t>The generality of behaviour across other situations (entities or tasks)</a:t>
            </a:r>
            <a:endParaRPr lang="en-US" altLang="tr-TR" sz="2800" dirty="0"/>
          </a:p>
          <a:p>
            <a:pPr algn="just" eaLnBrk="1" hangingPunct="1">
              <a:spcAft>
                <a:spcPct val="40000"/>
              </a:spcAft>
            </a:pPr>
            <a:r>
              <a:rPr lang="en-US" altLang="tr-TR" sz="2800" i="1" dirty="0"/>
              <a:t>How does the person act in similar situations ?</a:t>
            </a:r>
            <a:r>
              <a:rPr lang="en-US" altLang="tr-TR" sz="2800" dirty="0"/>
              <a:t> </a:t>
            </a:r>
            <a:endParaRPr lang="en-US" altLang="tr-TR" sz="2800" dirty="0"/>
          </a:p>
          <a:p>
            <a:pPr lvl="1" algn="just" eaLnBrk="1" hangingPunct="1">
              <a:spcAft>
                <a:spcPct val="40000"/>
              </a:spcAft>
              <a:buClr>
                <a:schemeClr val="tx1"/>
              </a:buClr>
              <a:buFont typeface="Wingdings" panose="05000000000000000000" pitchFamily="2" charset="2"/>
              <a:buChar char="§"/>
            </a:pPr>
            <a:r>
              <a:rPr lang="en-US" altLang="tr-TR" sz="2800" u="sng" dirty="0"/>
              <a:t>High distinctiveness</a:t>
            </a:r>
            <a:r>
              <a:rPr lang="en-US" altLang="tr-TR" sz="2800" dirty="0"/>
              <a:t> is when the behaviour is ‘unique’ to this situation – the individual never behaves this way in other situations</a:t>
            </a:r>
            <a:endParaRPr lang="en-US" altLang="tr-TR" sz="2800" dirty="0"/>
          </a:p>
          <a:p>
            <a:pPr lvl="1" algn="just" eaLnBrk="1" hangingPunct="1">
              <a:spcAft>
                <a:spcPct val="40000"/>
              </a:spcAft>
              <a:buClr>
                <a:schemeClr val="tx1"/>
              </a:buClr>
              <a:buFont typeface="Wingdings" panose="05000000000000000000" pitchFamily="2" charset="2"/>
              <a:buChar char="§"/>
            </a:pPr>
            <a:r>
              <a:rPr lang="en-US" altLang="tr-TR" sz="2800" u="sng" dirty="0"/>
              <a:t>Low distinctiveness</a:t>
            </a:r>
            <a:r>
              <a:rPr lang="en-US" altLang="tr-TR" sz="2800" dirty="0"/>
              <a:t> is when the behaviour is ‘typical’ of these situations – the individual behaves this way in most other situations.</a:t>
            </a:r>
            <a:endParaRPr lang="en-US" altLang="tr-TR" sz="2800" i="1"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1524000" y="304800"/>
            <a:ext cx="7859713" cy="855663"/>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US" altLang="tr-TR" sz="4200" b="1" i="0" u="none" strike="noStrike" kern="1200" cap="all" spc="150" normalizeH="0" baseline="0" noProof="0" dirty="0">
                <a:ln>
                  <a:noFill/>
                </a:ln>
                <a:solidFill>
                  <a:schemeClr val="tx2"/>
                </a:solidFill>
                <a:effectLst/>
                <a:uLnTx/>
                <a:uFillTx/>
                <a:latin typeface="+mn-lt"/>
                <a:ea typeface="+mj-ea"/>
                <a:cs typeface="+mj-cs"/>
              </a:rPr>
              <a:t>Consistency </a:t>
            </a:r>
            <a:endParaRPr kumimoji="0" lang="en-US" altLang="tr-TR" sz="4200" b="1" i="0" u="none" strike="noStrike" kern="1200" cap="all" spc="150" normalizeH="0" baseline="0" noProof="0" dirty="0">
              <a:ln>
                <a:noFill/>
              </a:ln>
              <a:solidFill>
                <a:schemeClr val="tx2"/>
              </a:solidFill>
              <a:effectLst/>
              <a:uLnTx/>
              <a:uFillTx/>
              <a:latin typeface="+mn-lt"/>
              <a:ea typeface="+mj-ea"/>
              <a:cs typeface="+mj-cs"/>
            </a:endParaRPr>
          </a:p>
        </p:txBody>
      </p:sp>
      <p:sp>
        <p:nvSpPr>
          <p:cNvPr id="37891" name="Rectangle 3"/>
          <p:cNvSpPr>
            <a:spLocks noGrp="1"/>
          </p:cNvSpPr>
          <p:nvPr>
            <p:ph type="body" idx="4294967295"/>
          </p:nvPr>
        </p:nvSpPr>
        <p:spPr>
          <a:xfrm>
            <a:off x="695960" y="1447800"/>
            <a:ext cx="10871200" cy="4876800"/>
          </a:xfrm>
        </p:spPr>
        <p:txBody>
          <a:bodyPr vert="horz" wrap="square" lIns="91440" tIns="45720" rIns="91440" bIns="45720" anchor="t" anchorCtr="0">
            <a:normAutofit/>
          </a:bodyPr>
          <a:lstStyle/>
          <a:p>
            <a:pPr algn="just" eaLnBrk="1" hangingPunct="1">
              <a:lnSpc>
                <a:spcPct val="80000"/>
              </a:lnSpc>
              <a:spcAft>
                <a:spcPct val="40000"/>
              </a:spcAft>
            </a:pPr>
            <a:r>
              <a:rPr lang="en-US" altLang="tr-TR" sz="3000" dirty="0"/>
              <a:t>The generality of behaviour across time</a:t>
            </a:r>
            <a:endParaRPr lang="en-US" altLang="tr-TR" sz="3000" dirty="0"/>
          </a:p>
          <a:p>
            <a:pPr algn="just" eaLnBrk="1" hangingPunct="1">
              <a:lnSpc>
                <a:spcPct val="80000"/>
              </a:lnSpc>
              <a:spcAft>
                <a:spcPct val="40000"/>
              </a:spcAft>
            </a:pPr>
            <a:r>
              <a:rPr lang="en-US" altLang="tr-TR" sz="3000" i="1" dirty="0"/>
              <a:t>How has the person responded previously to the situation? - </a:t>
            </a:r>
            <a:r>
              <a:rPr lang="en-US" altLang="tr-TR" sz="3000" dirty="0"/>
              <a:t> </a:t>
            </a:r>
            <a:r>
              <a:rPr lang="en-US" altLang="tr-TR" sz="3000" i="1" dirty="0"/>
              <a:t>Is the person’s response consistent across time?</a:t>
            </a:r>
            <a:endParaRPr lang="en-US" altLang="tr-TR" sz="3000" dirty="0"/>
          </a:p>
          <a:p>
            <a:pPr lvl="1" algn="just" eaLnBrk="1" hangingPunct="1">
              <a:lnSpc>
                <a:spcPct val="80000"/>
              </a:lnSpc>
              <a:spcAft>
                <a:spcPct val="40000"/>
              </a:spcAft>
              <a:buClr>
                <a:schemeClr val="tx1"/>
              </a:buClr>
              <a:buFont typeface="Wingdings" panose="05000000000000000000" pitchFamily="2" charset="2"/>
              <a:buChar char="§"/>
            </a:pPr>
            <a:r>
              <a:rPr lang="en-US" altLang="tr-TR" sz="3000" u="sng" dirty="0"/>
              <a:t>High consistency</a:t>
            </a:r>
            <a:r>
              <a:rPr lang="en-US" altLang="tr-TR" sz="3000" dirty="0"/>
              <a:t> when the individual always behaves this way in this situation – when the behaviour has been seen before</a:t>
            </a:r>
            <a:endParaRPr lang="en-US" altLang="tr-TR" sz="3000" dirty="0"/>
          </a:p>
          <a:p>
            <a:pPr lvl="1" algn="just" eaLnBrk="1" hangingPunct="1">
              <a:lnSpc>
                <a:spcPct val="80000"/>
              </a:lnSpc>
              <a:spcAft>
                <a:spcPct val="40000"/>
              </a:spcAft>
              <a:buClr>
                <a:schemeClr val="tx1"/>
              </a:buClr>
              <a:buFont typeface="Wingdings" panose="05000000000000000000" pitchFamily="2" charset="2"/>
              <a:buChar char="§"/>
            </a:pPr>
            <a:r>
              <a:rPr lang="en-US" altLang="tr-TR" sz="3000" u="sng" dirty="0"/>
              <a:t>Low consistency</a:t>
            </a:r>
            <a:r>
              <a:rPr lang="en-US" altLang="tr-TR" sz="3000" dirty="0"/>
              <a:t> is when this is a new behaviour – the individual never behaves this way in this situation</a:t>
            </a:r>
            <a:endParaRPr lang="en-US" altLang="tr-TR" sz="3000" i="1"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p:cNvPicPr>
          <p:nvPr/>
        </p:nvPicPr>
        <p:blipFill>
          <a:blip r:embed="rId1"/>
          <a:stretch>
            <a:fillRect/>
          </a:stretch>
        </p:blipFill>
        <p:spPr>
          <a:xfrm>
            <a:off x="2590800" y="914400"/>
            <a:ext cx="7467600" cy="5029200"/>
          </a:xfrm>
          <a:prstGeom prst="rect">
            <a:avLst/>
          </a:prstGeom>
          <a:noFill/>
          <a:ln w="9525">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1524000" y="274638"/>
            <a:ext cx="8229600" cy="1143000"/>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US" altLang="tr-TR" sz="2665" b="1" i="0" u="none" strike="noStrike" kern="1200" cap="all" spc="150" normalizeH="0" baseline="0" noProof="0" dirty="0">
                <a:ln>
                  <a:noFill/>
                </a:ln>
                <a:solidFill>
                  <a:schemeClr val="tx2"/>
                </a:solidFill>
                <a:effectLst/>
                <a:uLnTx/>
                <a:uFillTx/>
                <a:latin typeface="+mn-lt"/>
                <a:ea typeface="+mj-ea"/>
                <a:cs typeface="+mj-cs"/>
              </a:rPr>
              <a:t>Example of </a:t>
            </a:r>
            <a:r>
              <a:rPr kumimoji="0" lang="en-US" altLang="tr-TR" sz="2665" b="1" i="0" u="none" strike="noStrike" kern="1200" cap="all" spc="150" normalizeH="0" baseline="0" noProof="0" dirty="0" err="1">
                <a:ln>
                  <a:noFill/>
                </a:ln>
                <a:solidFill>
                  <a:schemeClr val="tx2"/>
                </a:solidFill>
                <a:effectLst/>
                <a:uLnTx/>
                <a:uFillTx/>
                <a:latin typeface="+mn-lt"/>
                <a:ea typeface="+mj-ea"/>
                <a:cs typeface="+mj-cs"/>
              </a:rPr>
              <a:t>covariation</a:t>
            </a:r>
            <a:r>
              <a:rPr kumimoji="0" lang="en-US" altLang="tr-TR" sz="2665" b="1" i="0" u="none" strike="noStrike" kern="1200" cap="all" spc="150" normalizeH="0" baseline="0" noProof="0" dirty="0">
                <a:ln>
                  <a:noFill/>
                </a:ln>
                <a:solidFill>
                  <a:schemeClr val="tx2"/>
                </a:solidFill>
                <a:effectLst/>
                <a:uLnTx/>
                <a:uFillTx/>
                <a:latin typeface="+mn-lt"/>
                <a:ea typeface="+mj-ea"/>
                <a:cs typeface="+mj-cs"/>
              </a:rPr>
              <a:t> </a:t>
            </a:r>
            <a:r>
              <a:rPr kumimoji="0" lang="en-US" altLang="tr-TR" sz="2665" b="1" i="0" u="none" strike="noStrike" kern="1200" cap="all" spc="150" normalizeH="0" baseline="0" noProof="0" dirty="0" err="1">
                <a:ln>
                  <a:noFill/>
                </a:ln>
                <a:solidFill>
                  <a:schemeClr val="tx2"/>
                </a:solidFill>
                <a:effectLst/>
                <a:uLnTx/>
                <a:uFillTx/>
                <a:latin typeface="+mn-lt"/>
                <a:ea typeface="+mj-ea"/>
                <a:cs typeface="+mj-cs"/>
              </a:rPr>
              <a:t>judgement</a:t>
            </a:r>
            <a:endParaRPr kumimoji="0" lang="en-US" altLang="tr-TR" sz="2665" b="1" i="0" u="none" strike="noStrike" kern="1200" cap="all" spc="150" normalizeH="0" baseline="0" noProof="0" dirty="0">
              <a:ln>
                <a:noFill/>
              </a:ln>
              <a:solidFill>
                <a:schemeClr val="tx2"/>
              </a:solidFill>
              <a:effectLst/>
              <a:uLnTx/>
              <a:uFillTx/>
              <a:latin typeface="+mn-lt"/>
              <a:ea typeface="+mj-ea"/>
              <a:cs typeface="+mj-cs"/>
            </a:endParaRPr>
          </a:p>
        </p:txBody>
      </p:sp>
      <p:sp>
        <p:nvSpPr>
          <p:cNvPr id="41987" name="Rectangle 3"/>
          <p:cNvSpPr>
            <a:spLocks noGrp="1" noChangeArrowheads="1"/>
          </p:cNvSpPr>
          <p:nvPr>
            <p:ph type="body" idx="1"/>
          </p:nvPr>
        </p:nvSpPr>
        <p:spPr>
          <a:xfrm>
            <a:off x="599440" y="1700530"/>
            <a:ext cx="10936605" cy="4114800"/>
          </a:xfrm>
        </p:spPr>
        <p:txBody>
          <a:bodyPr vert="horz" wrap="square" lIns="91440" tIns="45720" rIns="91440" bIns="45720" numCol="1" rtlCol="0" anchor="t" anchorCtr="0" compatLnSpc="1">
            <a:normAutofit fontScale="92500" lnSpcReduction="10000"/>
          </a:bodyPr>
          <a:lstStyle/>
          <a:p>
            <a:pPr marL="228600" marR="0" lvl="0" indent="-228600" algn="ctr" defTabSz="685800" rtl="0" eaLnBrk="1" fontAlgn="auto" latinLnBrk="0" hangingPunct="1">
              <a:lnSpc>
                <a:spcPct val="80000"/>
              </a:lnSpc>
              <a:spcBef>
                <a:spcPts val="700"/>
              </a:spcBef>
              <a:spcAft>
                <a:spcPts val="0"/>
              </a:spcAft>
              <a:buClr>
                <a:schemeClr val="tx2"/>
              </a:buClr>
              <a:buSzTx/>
              <a:buFontTx/>
              <a:buNone/>
              <a:defRPr/>
            </a:pPr>
            <a:r>
              <a:rPr kumimoji="0" lang="en-US" altLang="tr-TR" sz="2800" b="0" i="1" u="none" strike="noStrike" kern="1200" cap="none" spc="0" normalizeH="0" baseline="0" noProof="0" dirty="0">
                <a:ln>
                  <a:noFill/>
                </a:ln>
                <a:solidFill>
                  <a:schemeClr val="tx1"/>
                </a:solidFill>
                <a:effectLst/>
                <a:uLnTx/>
                <a:uFillTx/>
                <a:latin typeface="+mn-lt"/>
                <a:ea typeface="+mn-ea"/>
                <a:cs typeface="+mn-cs"/>
              </a:rPr>
              <a:t>‘Sarah fails her </a:t>
            </a:r>
            <a:r>
              <a:rPr kumimoji="0" lang="en-GB" altLang="en-US" sz="2800" b="0" i="1" u="none" strike="noStrike" kern="1200" cap="none" spc="0" normalizeH="0" baseline="0" noProof="0" dirty="0">
                <a:ln>
                  <a:noFill/>
                </a:ln>
                <a:solidFill>
                  <a:schemeClr val="tx1"/>
                </a:solidFill>
                <a:effectLst/>
                <a:uLnTx/>
                <a:uFillTx/>
                <a:latin typeface="+mn-lt"/>
                <a:ea typeface="+mn-ea"/>
                <a:cs typeface="+mn-cs"/>
              </a:rPr>
              <a:t>PSYC100</a:t>
            </a:r>
            <a:r>
              <a:rPr kumimoji="0" lang="en-US" altLang="tr-TR" sz="2800" b="0" i="1" u="none" strike="noStrike" kern="1200" cap="none" spc="0" normalizeH="0" baseline="0" noProof="0" dirty="0">
                <a:ln>
                  <a:noFill/>
                </a:ln>
                <a:solidFill>
                  <a:schemeClr val="tx1"/>
                </a:solidFill>
                <a:effectLst/>
                <a:uLnTx/>
                <a:uFillTx/>
                <a:latin typeface="+mn-lt"/>
                <a:ea typeface="+mn-ea"/>
                <a:cs typeface="+mn-cs"/>
              </a:rPr>
              <a:t> exam’</a:t>
            </a:r>
            <a:endParaRPr kumimoji="0" lang="en-US" altLang="tr-TR" sz="2800" b="0" i="1"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80000"/>
              </a:lnSpc>
              <a:spcBef>
                <a:spcPts val="700"/>
              </a:spcBef>
              <a:spcAft>
                <a:spcPts val="0"/>
              </a:spcAft>
              <a:buClr>
                <a:schemeClr val="tx2"/>
              </a:buClr>
              <a:buSzTx/>
              <a:buFontTx/>
              <a:buNone/>
              <a:defRPr/>
            </a:pPr>
            <a:endParaRPr kumimoji="0" lang="en-US" altLang="tr-TR"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80000"/>
              </a:lnSpc>
              <a:spcBef>
                <a:spcPts val="700"/>
              </a:spcBef>
              <a:spcAft>
                <a:spcPts val="0"/>
              </a:spcAft>
              <a:buClr>
                <a:schemeClr val="tx2"/>
              </a:buClr>
              <a:buSzPct val="120000"/>
              <a:buFont typeface="Arial" panose="020B0604020202020204" pitchFamily="34" charset="0"/>
              <a:buChar char="•"/>
              <a:defRPr/>
            </a:pPr>
            <a:r>
              <a:rPr kumimoji="0" lang="en-US" altLang="tr-TR" sz="2800" b="1" i="0" u="none" strike="noStrike" kern="1200" cap="none" spc="0" normalizeH="0" baseline="0" noProof="0" dirty="0">
                <a:ln>
                  <a:noFill/>
                </a:ln>
                <a:solidFill>
                  <a:schemeClr val="tx1"/>
                </a:solidFill>
                <a:effectLst/>
                <a:uLnTx/>
                <a:uFillTx/>
                <a:latin typeface="+mn-lt"/>
                <a:ea typeface="+mn-ea"/>
                <a:cs typeface="+mn-cs"/>
              </a:rPr>
              <a:t>Distinctiveness: </a:t>
            </a:r>
            <a:endParaRPr kumimoji="0" lang="en-US" altLang="tr-TR" sz="2800" b="1"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80000"/>
              </a:lnSpc>
              <a:spcBef>
                <a:spcPts val="700"/>
              </a:spcBef>
              <a:spcAft>
                <a:spcPts val="0"/>
              </a:spcAft>
              <a:buClr>
                <a:schemeClr val="tx2"/>
              </a:buClr>
              <a:buSzPct val="120000"/>
              <a:buFontTx/>
              <a:buNone/>
              <a:defRPr/>
            </a:pPr>
            <a:r>
              <a:rPr kumimoji="0" lang="en-US" altLang="tr-TR" sz="2800" b="0" i="0" u="none" strike="noStrike" kern="1200" cap="none" spc="0" normalizeH="0" baseline="0" noProof="0" dirty="0">
                <a:ln>
                  <a:noFill/>
                </a:ln>
                <a:solidFill>
                  <a:schemeClr val="tx1"/>
                </a:solidFill>
                <a:effectLst/>
                <a:uLnTx/>
                <a:uFillTx/>
                <a:latin typeface="+mn-lt"/>
                <a:ea typeface="+mn-ea"/>
                <a:cs typeface="+mn-cs"/>
              </a:rPr>
              <a:t>	hi = failed only this exam; low = failed other exams.</a:t>
            </a:r>
            <a:endParaRPr kumimoji="0" lang="en-US" altLang="tr-TR"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80000"/>
              </a:lnSpc>
              <a:spcBef>
                <a:spcPts val="700"/>
              </a:spcBef>
              <a:spcAft>
                <a:spcPts val="0"/>
              </a:spcAft>
              <a:buClr>
                <a:schemeClr val="tx2"/>
              </a:buClr>
              <a:buSzPct val="120000"/>
              <a:buFont typeface="Arial" panose="020B0604020202020204" pitchFamily="34" charset="0"/>
              <a:buChar char="•"/>
              <a:defRPr/>
            </a:pPr>
            <a:endParaRPr kumimoji="0" lang="en-US" altLang="tr-TR"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80000"/>
              </a:lnSpc>
              <a:spcBef>
                <a:spcPts val="700"/>
              </a:spcBef>
              <a:spcAft>
                <a:spcPts val="0"/>
              </a:spcAft>
              <a:buClr>
                <a:schemeClr val="tx2"/>
              </a:buClr>
              <a:buSzPct val="120000"/>
              <a:buFont typeface="Arial" panose="020B0604020202020204" pitchFamily="34" charset="0"/>
              <a:buChar char="•"/>
              <a:defRPr/>
            </a:pPr>
            <a:r>
              <a:rPr kumimoji="0" lang="en-US" altLang="tr-TR" sz="2800" b="1" i="0" u="none" strike="noStrike" kern="1200" cap="none" spc="0" normalizeH="0" baseline="0" noProof="0" dirty="0">
                <a:ln>
                  <a:noFill/>
                </a:ln>
                <a:solidFill>
                  <a:schemeClr val="tx1"/>
                </a:solidFill>
                <a:effectLst/>
                <a:uLnTx/>
                <a:uFillTx/>
                <a:latin typeface="+mn-lt"/>
                <a:ea typeface="+mn-ea"/>
                <a:cs typeface="+mn-cs"/>
              </a:rPr>
              <a:t>Consistency: </a:t>
            </a:r>
            <a:endParaRPr kumimoji="0" lang="en-US" altLang="tr-TR" sz="2800" b="1"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80000"/>
              </a:lnSpc>
              <a:spcBef>
                <a:spcPts val="700"/>
              </a:spcBef>
              <a:spcAft>
                <a:spcPts val="0"/>
              </a:spcAft>
              <a:buClr>
                <a:schemeClr val="tx2"/>
              </a:buClr>
              <a:buSzPct val="120000"/>
              <a:buFontTx/>
              <a:buNone/>
              <a:defRPr/>
            </a:pPr>
            <a:r>
              <a:rPr kumimoji="0" lang="en-US" altLang="tr-TR" sz="2800" b="0" i="0" u="none" strike="noStrike" kern="1200" cap="none" spc="0" normalizeH="0" baseline="0" noProof="0" dirty="0">
                <a:ln>
                  <a:noFill/>
                </a:ln>
                <a:solidFill>
                  <a:schemeClr val="tx1"/>
                </a:solidFill>
                <a:effectLst/>
                <a:uLnTx/>
                <a:uFillTx/>
                <a:latin typeface="+mn-lt"/>
                <a:ea typeface="+mn-ea"/>
                <a:cs typeface="+mn-cs"/>
              </a:rPr>
              <a:t>	hi = failed exams before; low = rarely failed exams before.</a:t>
            </a:r>
            <a:endParaRPr kumimoji="0" lang="en-US" altLang="tr-TR"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80000"/>
              </a:lnSpc>
              <a:spcBef>
                <a:spcPts val="700"/>
              </a:spcBef>
              <a:spcAft>
                <a:spcPts val="0"/>
              </a:spcAft>
              <a:buClr>
                <a:schemeClr val="tx2"/>
              </a:buClr>
              <a:buSzPct val="120000"/>
              <a:buFont typeface="Arial" panose="020B0604020202020204" pitchFamily="34" charset="0"/>
              <a:buChar char="•"/>
              <a:defRPr/>
            </a:pPr>
            <a:endParaRPr kumimoji="0" lang="en-US" altLang="tr-TR"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80000"/>
              </a:lnSpc>
              <a:spcBef>
                <a:spcPts val="700"/>
              </a:spcBef>
              <a:spcAft>
                <a:spcPts val="0"/>
              </a:spcAft>
              <a:buClr>
                <a:schemeClr val="tx2"/>
              </a:buClr>
              <a:buSzPct val="120000"/>
              <a:buFont typeface="Arial" panose="020B0604020202020204" pitchFamily="34" charset="0"/>
              <a:buChar char="•"/>
              <a:defRPr/>
            </a:pPr>
            <a:r>
              <a:rPr kumimoji="0" lang="en-US" altLang="tr-TR" sz="2800" b="1" i="0" u="none" strike="noStrike" kern="1200" cap="none" spc="0" normalizeH="0" baseline="0" noProof="0" dirty="0">
                <a:ln>
                  <a:noFill/>
                </a:ln>
                <a:solidFill>
                  <a:schemeClr val="tx1"/>
                </a:solidFill>
                <a:effectLst/>
                <a:uLnTx/>
                <a:uFillTx/>
                <a:latin typeface="+mn-lt"/>
                <a:ea typeface="+mn-ea"/>
                <a:cs typeface="+mn-cs"/>
              </a:rPr>
              <a:t>Consensus:</a:t>
            </a:r>
            <a:r>
              <a:rPr kumimoji="0" lang="en-US" altLang="tr-TR" sz="2800" b="0" i="0" u="none" strike="noStrike" kern="1200" cap="none" spc="0" normalizeH="0" baseline="0" noProof="0" dirty="0">
                <a:ln>
                  <a:noFill/>
                </a:ln>
                <a:solidFill>
                  <a:schemeClr val="tx1"/>
                </a:solidFill>
                <a:effectLst/>
                <a:uLnTx/>
                <a:uFillTx/>
                <a:latin typeface="+mn-lt"/>
                <a:ea typeface="+mn-ea"/>
                <a:cs typeface="+mn-cs"/>
              </a:rPr>
              <a:t> </a:t>
            </a:r>
            <a:endParaRPr kumimoji="0" lang="en-US" altLang="tr-TR"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685800" rtl="0" eaLnBrk="1" fontAlgn="auto" latinLnBrk="0" hangingPunct="1">
              <a:lnSpc>
                <a:spcPct val="80000"/>
              </a:lnSpc>
              <a:spcBef>
                <a:spcPts val="700"/>
              </a:spcBef>
              <a:spcAft>
                <a:spcPts val="0"/>
              </a:spcAft>
              <a:buClr>
                <a:schemeClr val="tx2"/>
              </a:buClr>
              <a:buSzTx/>
              <a:buFontTx/>
              <a:buNone/>
              <a:defRPr/>
            </a:pPr>
            <a:r>
              <a:rPr kumimoji="0" lang="en-US" altLang="tr-TR" sz="2800" b="0" i="0" u="none" strike="noStrike" kern="1200" cap="none" spc="0" normalizeH="0" baseline="0" noProof="0" dirty="0">
                <a:ln>
                  <a:noFill/>
                </a:ln>
                <a:solidFill>
                  <a:schemeClr val="tx1"/>
                </a:solidFill>
                <a:effectLst/>
                <a:uLnTx/>
                <a:uFillTx/>
                <a:latin typeface="+mn-lt"/>
                <a:ea typeface="+mn-ea"/>
                <a:cs typeface="+mn-cs"/>
              </a:rPr>
              <a:t>	hi = other students failed this exam; low = few other students failed this exam.</a:t>
            </a:r>
            <a:endParaRPr kumimoji="0" lang="en-US" altLang="tr-TR"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2362200" y="314325"/>
            <a:ext cx="7772400" cy="1143000"/>
          </a:xfrm>
        </p:spPr>
        <p:txBody>
          <a:bodyPr lIns="91440" tIns="45720" rIns="91440" bIns="45720" rtlCol="0" anchor="t">
            <a:normAutofit/>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US" altLang="tr-TR" sz="3110" b="1" i="0" u="none" strike="noStrike" kern="1200" cap="all" spc="150" normalizeH="0" baseline="0" noProof="0" dirty="0">
                <a:ln>
                  <a:noFill/>
                </a:ln>
                <a:solidFill>
                  <a:srgbClr val="000000"/>
                </a:solidFill>
                <a:effectLst/>
                <a:uLnTx/>
                <a:uFillTx/>
                <a:latin typeface="+mn-lt"/>
                <a:ea typeface="+mj-ea"/>
                <a:cs typeface="+mj-cs"/>
              </a:rPr>
              <a:t>Attribution bias and errors</a:t>
            </a:r>
            <a:endParaRPr kumimoji="0" lang="en-US" altLang="tr-TR" sz="3110" b="1" i="0" u="none" strike="noStrike" kern="1200" cap="all" spc="150" normalizeH="0" baseline="0" noProof="0" dirty="0">
              <a:ln>
                <a:noFill/>
              </a:ln>
              <a:solidFill>
                <a:srgbClr val="000000"/>
              </a:solidFill>
              <a:effectLst/>
              <a:uLnTx/>
              <a:uFillTx/>
              <a:latin typeface="+mn-lt"/>
              <a:ea typeface="+mj-ea"/>
              <a:cs typeface="+mj-cs"/>
            </a:endParaRPr>
          </a:p>
        </p:txBody>
      </p:sp>
      <p:sp>
        <p:nvSpPr>
          <p:cNvPr id="48131" name="Rectangle 3"/>
          <p:cNvSpPr>
            <a:spLocks noGrp="1"/>
          </p:cNvSpPr>
          <p:nvPr>
            <p:ph type="body" idx="4294967295"/>
          </p:nvPr>
        </p:nvSpPr>
        <p:spPr>
          <a:xfrm>
            <a:off x="840740" y="1447800"/>
            <a:ext cx="10621645" cy="5410200"/>
          </a:xfrm>
        </p:spPr>
        <p:txBody>
          <a:bodyPr vert="horz" wrap="square" lIns="91440" tIns="45720" rIns="91440" bIns="45720" anchor="t" anchorCtr="0"/>
          <a:lstStyle/>
          <a:p>
            <a:pPr marL="0" indent="0" eaLnBrk="1" hangingPunct="1">
              <a:spcBef>
                <a:spcPct val="0"/>
              </a:spcBef>
              <a:spcAft>
                <a:spcPct val="65000"/>
              </a:spcAft>
              <a:buFont typeface="Wingdings" panose="05000000000000000000" pitchFamily="2" charset="2"/>
              <a:buChar char="§"/>
            </a:pPr>
            <a:r>
              <a:rPr lang="en-US" altLang="tr-TR" sz="3200" dirty="0">
                <a:solidFill>
                  <a:srgbClr val="000000"/>
                </a:solidFill>
              </a:rPr>
              <a:t>Fundamental Attribution Error </a:t>
            </a:r>
            <a:endParaRPr lang="en-US" altLang="tr-TR" sz="3200" dirty="0" smtClean="0">
              <a:solidFill>
                <a:srgbClr val="000000"/>
              </a:solidFill>
            </a:endParaRPr>
          </a:p>
          <a:p>
            <a:pPr marL="0" indent="0" eaLnBrk="1" hangingPunct="1">
              <a:spcBef>
                <a:spcPct val="0"/>
              </a:spcBef>
              <a:spcAft>
                <a:spcPct val="65000"/>
              </a:spcAft>
              <a:buFont typeface="Wingdings" panose="05000000000000000000" pitchFamily="2" charset="2"/>
              <a:buChar char="§"/>
            </a:pPr>
            <a:r>
              <a:rPr lang="en-US" altLang="tr-TR" sz="3200" dirty="0" smtClean="0">
                <a:solidFill>
                  <a:srgbClr val="000000"/>
                </a:solidFill>
              </a:rPr>
              <a:t>False </a:t>
            </a:r>
            <a:r>
              <a:rPr lang="en-US" altLang="tr-TR" sz="3200" dirty="0">
                <a:solidFill>
                  <a:srgbClr val="000000"/>
                </a:solidFill>
              </a:rPr>
              <a:t>Consensus Effect</a:t>
            </a:r>
            <a:endParaRPr lang="en-US" altLang="tr-TR" sz="3200" dirty="0">
              <a:solidFill>
                <a:srgbClr val="000000"/>
              </a:solidFill>
            </a:endParaRPr>
          </a:p>
          <a:p>
            <a:pPr marL="0" indent="0" eaLnBrk="1" hangingPunct="1">
              <a:spcBef>
                <a:spcPct val="0"/>
              </a:spcBef>
              <a:spcAft>
                <a:spcPct val="65000"/>
              </a:spcAft>
              <a:buFont typeface="Wingdings" panose="05000000000000000000" pitchFamily="2" charset="2"/>
              <a:buChar char="§"/>
            </a:pPr>
            <a:r>
              <a:rPr lang="en-US" altLang="tr-TR" sz="3200" dirty="0">
                <a:solidFill>
                  <a:srgbClr val="000000"/>
                </a:solidFill>
              </a:rPr>
              <a:t>Self-Serving Bias</a:t>
            </a:r>
            <a:endParaRPr lang="en-US" altLang="tr-TR" sz="3200" dirty="0">
              <a:solidFill>
                <a:srgbClr val="000000"/>
              </a:solidFill>
            </a:endParaRPr>
          </a:p>
          <a:p>
            <a:pPr marL="0" indent="0" eaLnBrk="1" hangingPunct="1">
              <a:spcBef>
                <a:spcPct val="0"/>
              </a:spcBef>
              <a:spcAft>
                <a:spcPct val="65000"/>
              </a:spcAft>
              <a:buFont typeface="Wingdings" panose="05000000000000000000" pitchFamily="2" charset="2"/>
              <a:buChar char="§"/>
            </a:pPr>
            <a:r>
              <a:rPr lang="en-US" altLang="tr-TR" sz="3200" dirty="0">
                <a:solidFill>
                  <a:srgbClr val="000000"/>
                </a:solidFill>
              </a:rPr>
              <a:t>Actor-Observer Effect</a:t>
            </a:r>
            <a:endParaRPr lang="en-US" altLang="tr-TR" sz="3200" dirty="0">
              <a:solidFill>
                <a:srgbClr val="000000"/>
              </a:solidFill>
            </a:endParaRPr>
          </a:p>
          <a:p>
            <a:pPr marL="0" indent="0" eaLnBrk="1" hangingPunct="1">
              <a:spcBef>
                <a:spcPct val="0"/>
              </a:spcBef>
              <a:spcAft>
                <a:spcPct val="65000"/>
              </a:spcAft>
              <a:buFont typeface="Wingdings" panose="05000000000000000000" pitchFamily="2" charset="2"/>
              <a:buChar char="§"/>
            </a:pPr>
            <a:endParaRPr lang="en-US" altLang="tr-TR" sz="3200" dirty="0">
              <a:solidFill>
                <a:srgbClr val="000000"/>
              </a:solidFill>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2179320" y="0"/>
            <a:ext cx="8351838" cy="1143000"/>
          </a:xfrm>
        </p:spPr>
        <p:txBody>
          <a:bodyPr lIns="90488" tIns="44450" rIns="90488" bIns="44450" rtlCol="0" anchor="t">
            <a:normAutofit fontScale="90000"/>
          </a:bodyPr>
          <a:lstStyle/>
          <a:p>
            <a:pPr marL="0" marR="0" lvl="0" indent="0" algn="ctr" defTabSz="685800" rtl="0" eaLnBrk="1" fontAlgn="auto" latinLnBrk="0" hangingPunct="1">
              <a:lnSpc>
                <a:spcPct val="90000"/>
              </a:lnSpc>
              <a:spcBef>
                <a:spcPct val="0"/>
              </a:spcBef>
              <a:spcAft>
                <a:spcPts val="0"/>
              </a:spcAft>
              <a:buClrTx/>
              <a:buSzTx/>
              <a:buFontTx/>
              <a:buNone/>
              <a:defRPr/>
            </a:pPr>
            <a:r>
              <a:rPr kumimoji="0" lang="en-US" altLang="tr-TR" sz="3110" b="1" i="0" u="none" strike="noStrike" kern="1200" cap="all" spc="150" normalizeH="0" baseline="0" noProof="0" dirty="0">
                <a:ln>
                  <a:noFill/>
                </a:ln>
                <a:solidFill>
                  <a:schemeClr val="tx2"/>
                </a:solidFill>
                <a:effectLst/>
                <a:uLnTx/>
                <a:uFillTx/>
                <a:latin typeface="+mn-lt"/>
                <a:ea typeface="+mj-ea"/>
                <a:cs typeface="+mj-cs"/>
              </a:rPr>
              <a:t>The Fundamental Attribution Error </a:t>
            </a:r>
            <a:br>
              <a:rPr kumimoji="0" lang="en-US" altLang="tr-TR" sz="3110" b="1" i="0" u="none" strike="noStrike" kern="1200" cap="all" spc="150" normalizeH="0" baseline="0" noProof="0" dirty="0">
                <a:ln>
                  <a:noFill/>
                </a:ln>
                <a:solidFill>
                  <a:schemeClr val="tx2"/>
                </a:solidFill>
                <a:effectLst/>
                <a:uLnTx/>
                <a:uFillTx/>
                <a:latin typeface="+mn-lt"/>
                <a:ea typeface="+mj-ea"/>
                <a:cs typeface="+mj-cs"/>
              </a:rPr>
            </a:br>
            <a:r>
              <a:rPr kumimoji="0" lang="en-US" altLang="tr-TR" sz="3110" b="1" i="0" u="none" strike="noStrike" kern="1200" cap="all" spc="150" normalizeH="0" baseline="0" noProof="0" dirty="0">
                <a:ln>
                  <a:noFill/>
                </a:ln>
                <a:solidFill>
                  <a:schemeClr val="tx2"/>
                </a:solidFill>
                <a:effectLst/>
                <a:uLnTx/>
                <a:uFillTx/>
                <a:latin typeface="+mn-lt"/>
                <a:ea typeface="+mj-ea"/>
                <a:cs typeface="+mj-cs"/>
              </a:rPr>
              <a:t>(Ross, 1977)</a:t>
            </a:r>
            <a:endParaRPr kumimoji="0" lang="en-US" altLang="tr-TR" sz="3110" b="1" i="0" u="none" strike="noStrike" kern="1200" cap="all" spc="150" normalizeH="0" baseline="0" noProof="0" dirty="0">
              <a:ln>
                <a:noFill/>
              </a:ln>
              <a:solidFill>
                <a:schemeClr val="tx2"/>
              </a:solidFill>
              <a:effectLst/>
              <a:uLnTx/>
              <a:uFillTx/>
              <a:latin typeface="+mn-lt"/>
              <a:ea typeface="+mj-ea"/>
              <a:cs typeface="+mj-cs"/>
            </a:endParaRPr>
          </a:p>
        </p:txBody>
      </p:sp>
      <p:sp>
        <p:nvSpPr>
          <p:cNvPr id="50179" name="Rectangle 3"/>
          <p:cNvSpPr>
            <a:spLocks noGrp="1" noChangeArrowheads="1"/>
          </p:cNvSpPr>
          <p:nvPr>
            <p:ph type="body" idx="1"/>
          </p:nvPr>
        </p:nvSpPr>
        <p:spPr>
          <a:xfrm>
            <a:off x="561975" y="1360170"/>
            <a:ext cx="11017250" cy="4724400"/>
          </a:xfrm>
        </p:spPr>
        <p:txBody>
          <a:bodyPr vert="horz" wrap="square" lIns="90488" tIns="44450" rIns="90488" bIns="44450" numCol="1" rtlCol="0" anchor="t" anchorCtr="0" compatLnSpc="1">
            <a:normAutofit/>
          </a:bodyPr>
          <a:lstStyle/>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tabLst>
                <a:tab pos="742950" algn="l"/>
                <a:tab pos="1146175" algn="l"/>
              </a:tabLst>
              <a:defRPr/>
            </a:pPr>
            <a:r>
              <a:rPr kumimoji="0" lang="en-GB" altLang="tr-TR" sz="2800" b="0" i="0" u="none" strike="noStrike" kern="1200" cap="none" spc="0" normalizeH="0" baseline="0" noProof="0" dirty="0">
                <a:ln>
                  <a:noFill/>
                </a:ln>
                <a:solidFill>
                  <a:srgbClr val="000000"/>
                </a:solidFill>
                <a:effectLst/>
                <a:uLnTx/>
                <a:uFillTx/>
                <a:latin typeface="+mn-lt"/>
                <a:ea typeface="+mn-ea"/>
                <a:cs typeface="+mn-cs"/>
              </a:rPr>
              <a:t>The tendency for people to over-emphasize dispositional, or personality-based, explanations for behaviours observed in others while under-emphasizing the role and power of situational influences on the same behaviour. </a:t>
            </a:r>
            <a:endParaRPr kumimoji="0" lang="en-GB" altLang="tr-TR" sz="2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tabLst>
                <a:tab pos="742950" algn="l"/>
                <a:tab pos="1146175" algn="l"/>
              </a:tabLst>
              <a:defRPr/>
            </a:pPr>
            <a:endParaRPr kumimoji="0" lang="en-GB" altLang="tr-TR" sz="2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tabLst>
                <a:tab pos="742950" algn="l"/>
                <a:tab pos="1146175" algn="l"/>
              </a:tabLst>
              <a:defRPr/>
            </a:pPr>
            <a:r>
              <a:rPr kumimoji="0" lang="en-GB" altLang="tr-TR" sz="2800" b="0" i="0" u="none" strike="noStrike" kern="1200" cap="none" spc="0" normalizeH="0" baseline="0" noProof="0" dirty="0">
                <a:ln>
                  <a:noFill/>
                </a:ln>
                <a:solidFill>
                  <a:srgbClr val="000000"/>
                </a:solidFill>
                <a:effectLst/>
                <a:uLnTx/>
                <a:uFillTx/>
                <a:latin typeface="+mn-lt"/>
                <a:ea typeface="+mn-ea"/>
                <a:cs typeface="+mn-cs"/>
              </a:rPr>
              <a:t>In other words, people tend to have a default assumption that what a person does is based more on </a:t>
            </a:r>
            <a:r>
              <a:rPr kumimoji="0" lang="en-GB" altLang="tr-TR" sz="2800" b="0" i="1" u="none" strike="noStrike" kern="1200" cap="none" spc="0" normalizeH="0" baseline="0" noProof="0" dirty="0">
                <a:ln>
                  <a:noFill/>
                </a:ln>
                <a:solidFill>
                  <a:srgbClr val="000000"/>
                </a:solidFill>
                <a:effectLst/>
                <a:uLnTx/>
                <a:uFillTx/>
                <a:latin typeface="+mn-lt"/>
                <a:ea typeface="+mn-ea"/>
                <a:cs typeface="+mn-cs"/>
              </a:rPr>
              <a:t>what "kind" of person he is, rather than the social and environmental forces at work on that person.</a:t>
            </a:r>
            <a:endParaRPr kumimoji="0" lang="en-US" altLang="tr-TR" sz="2800" b="0" i="1"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tabLst>
                <a:tab pos="742950" algn="l"/>
                <a:tab pos="1146175" algn="l"/>
              </a:tabLst>
              <a:defRPr/>
            </a:pPr>
            <a:endParaRPr kumimoji="0" lang="en-US" altLang="tr-TR" sz="2800" b="0" i="1" u="none" strike="noStrike" kern="1200" cap="none" spc="0" normalizeH="0" baseline="0" noProof="0" dirty="0">
              <a:ln>
                <a:noFill/>
              </a:ln>
              <a:solidFill>
                <a:srgbClr val="000000"/>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body" idx="4294967295"/>
          </p:nvPr>
        </p:nvSpPr>
        <p:spPr>
          <a:xfrm>
            <a:off x="1524000" y="111760"/>
            <a:ext cx="8737600" cy="1600200"/>
          </a:xfrm>
        </p:spPr>
        <p:txBody>
          <a:bodyPr vert="horz" wrap="square" lIns="91440" tIns="45720" rIns="91440" bIns="45720" anchor="t" anchorCtr="0"/>
          <a:lstStyle/>
          <a:p>
            <a:pPr algn="ctr" eaLnBrk="1" hangingPunct="1">
              <a:lnSpc>
                <a:spcPct val="50000"/>
              </a:lnSpc>
              <a:buClr>
                <a:srgbClr val="FF6600"/>
              </a:buClr>
              <a:buFont typeface="Monotype Sorts"/>
              <a:buNone/>
            </a:pPr>
            <a:r>
              <a:rPr lang="en-US" altLang="tr-TR" sz="2800" b="1" dirty="0">
                <a:solidFill>
                  <a:srgbClr val="000000"/>
                </a:solidFill>
              </a:rPr>
              <a:t>The Quiz Game Study</a:t>
            </a:r>
            <a:endParaRPr lang="en-US" altLang="tr-TR" sz="2800" b="1" dirty="0">
              <a:solidFill>
                <a:srgbClr val="000000"/>
              </a:solidFill>
            </a:endParaRPr>
          </a:p>
          <a:p>
            <a:pPr algn="ctr" eaLnBrk="1" hangingPunct="1">
              <a:lnSpc>
                <a:spcPct val="50000"/>
              </a:lnSpc>
              <a:buClr>
                <a:srgbClr val="FF6600"/>
              </a:buClr>
              <a:buFont typeface="Monotype Sorts"/>
              <a:buNone/>
            </a:pPr>
            <a:r>
              <a:rPr lang="en-US" altLang="tr-TR" sz="2800" b="1" dirty="0">
                <a:solidFill>
                  <a:srgbClr val="000000"/>
                </a:solidFill>
              </a:rPr>
              <a:t>Ross, Amabile &amp; Steinmetz</a:t>
            </a:r>
            <a:endParaRPr lang="en-US" altLang="tr-TR" sz="2800" b="1" dirty="0">
              <a:solidFill>
                <a:srgbClr val="000000"/>
              </a:solidFill>
            </a:endParaRPr>
          </a:p>
          <a:p>
            <a:pPr algn="ctr" eaLnBrk="1" hangingPunct="1">
              <a:lnSpc>
                <a:spcPct val="50000"/>
              </a:lnSpc>
              <a:buClr>
                <a:srgbClr val="FF6600"/>
              </a:buClr>
              <a:buFont typeface="Monotype Sorts"/>
              <a:buNone/>
            </a:pPr>
            <a:r>
              <a:rPr lang="en-US" altLang="tr-TR" sz="2800" b="1" dirty="0">
                <a:solidFill>
                  <a:srgbClr val="000000"/>
                </a:solidFill>
              </a:rPr>
              <a:t> (1977)</a:t>
            </a:r>
            <a:endParaRPr lang="en-US" altLang="tr-TR" sz="2800" b="1" dirty="0">
              <a:solidFill>
                <a:srgbClr val="000000"/>
              </a:solidFill>
            </a:endParaRPr>
          </a:p>
          <a:p>
            <a:pPr eaLnBrk="1" hangingPunct="1">
              <a:buClr>
                <a:srgbClr val="FF6600"/>
              </a:buClr>
              <a:buFont typeface="Monotype Sorts"/>
              <a:buNone/>
            </a:pPr>
            <a:endParaRPr lang="en-US" altLang="tr-TR" sz="2800" b="1" dirty="0">
              <a:solidFill>
                <a:srgbClr val="000000"/>
              </a:solidFill>
            </a:endParaRPr>
          </a:p>
        </p:txBody>
      </p:sp>
      <p:sp>
        <p:nvSpPr>
          <p:cNvPr id="52227" name="Text Box 3"/>
          <p:cNvSpPr txBox="1"/>
          <p:nvPr/>
        </p:nvSpPr>
        <p:spPr>
          <a:xfrm>
            <a:off x="2478088" y="2057400"/>
            <a:ext cx="7783512" cy="3879850"/>
          </a:xfrm>
          <a:prstGeom prst="rect">
            <a:avLst/>
          </a:prstGeom>
          <a:noFill/>
          <a:ln w="9525">
            <a:noFill/>
          </a:ln>
        </p:spPr>
        <p:txBody>
          <a:bodyPr>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20000"/>
              </a:spcBef>
              <a:buClrTx/>
              <a:buFontTx/>
              <a:buNone/>
            </a:pPr>
            <a:r>
              <a:rPr lang="en-US" altLang="tr-TR" sz="3200" dirty="0">
                <a:solidFill>
                  <a:srgbClr val="000000"/>
                </a:solidFill>
                <a:latin typeface="Calibri" panose="020F0502020204030204" charset="0"/>
                <a:cs typeface="Calibri" panose="020F0502020204030204" charset="0"/>
              </a:rPr>
              <a:t>Three groups of participants:</a:t>
            </a:r>
            <a:endParaRPr lang="en-US" altLang="tr-TR" sz="3200" dirty="0">
              <a:solidFill>
                <a:srgbClr val="000000"/>
              </a:solidFill>
              <a:latin typeface="Calibri" panose="020F0502020204030204" charset="0"/>
              <a:cs typeface="Calibri" panose="020F0502020204030204" charset="0"/>
            </a:endParaRPr>
          </a:p>
          <a:p>
            <a:pPr marL="0" lvl="0" indent="0" defTabSz="457200" eaLnBrk="1" hangingPunct="1">
              <a:lnSpc>
                <a:spcPct val="100000"/>
              </a:lnSpc>
              <a:spcBef>
                <a:spcPct val="20000"/>
              </a:spcBef>
              <a:buClrTx/>
              <a:buFontTx/>
              <a:buNone/>
            </a:pPr>
            <a:endParaRPr lang="en-US" altLang="tr-TR" sz="3200" dirty="0">
              <a:solidFill>
                <a:srgbClr val="000000"/>
              </a:solidFill>
              <a:latin typeface="Calibri" panose="020F0502020204030204" charset="0"/>
              <a:cs typeface="Calibri" panose="020F0502020204030204" charset="0"/>
            </a:endParaRPr>
          </a:p>
          <a:p>
            <a:pPr marL="457200" lvl="1" indent="0" defTabSz="457200" eaLnBrk="1" hangingPunct="1">
              <a:lnSpc>
                <a:spcPct val="90000"/>
              </a:lnSpc>
              <a:spcBef>
                <a:spcPct val="20000"/>
              </a:spcBef>
              <a:buClr>
                <a:schemeClr val="accent1"/>
              </a:buClr>
              <a:buFont typeface="Wingdings" panose="05000000000000000000" pitchFamily="2" charset="2"/>
              <a:buChar char="§"/>
            </a:pPr>
            <a:r>
              <a:rPr lang="en-US" altLang="tr-TR" sz="3200" dirty="0">
                <a:solidFill>
                  <a:srgbClr val="000000"/>
                </a:solidFill>
                <a:latin typeface="Calibri" panose="020F0502020204030204" charset="0"/>
                <a:cs typeface="Calibri" panose="020F0502020204030204" charset="0"/>
              </a:rPr>
              <a:t>Questioners</a:t>
            </a:r>
            <a:endParaRPr lang="en-US" altLang="tr-TR" sz="3200" dirty="0">
              <a:solidFill>
                <a:srgbClr val="000000"/>
              </a:solidFill>
              <a:latin typeface="Calibri" panose="020F0502020204030204" charset="0"/>
              <a:cs typeface="Calibri" panose="020F0502020204030204" charset="0"/>
            </a:endParaRPr>
          </a:p>
          <a:p>
            <a:pPr marL="457200" lvl="1" indent="0" defTabSz="457200" eaLnBrk="1" hangingPunct="1">
              <a:lnSpc>
                <a:spcPct val="90000"/>
              </a:lnSpc>
              <a:spcBef>
                <a:spcPct val="20000"/>
              </a:spcBef>
              <a:buClr>
                <a:schemeClr val="accent1"/>
              </a:buClr>
              <a:buFont typeface="Wingdings" panose="05000000000000000000" pitchFamily="2" charset="2"/>
              <a:buChar char="§"/>
            </a:pPr>
            <a:endParaRPr lang="en-US" altLang="tr-TR" sz="3200" dirty="0">
              <a:solidFill>
                <a:srgbClr val="000000"/>
              </a:solidFill>
              <a:latin typeface="Calibri" panose="020F0502020204030204" charset="0"/>
              <a:cs typeface="Calibri" panose="020F0502020204030204" charset="0"/>
            </a:endParaRPr>
          </a:p>
          <a:p>
            <a:pPr marL="457200" lvl="1" indent="0" defTabSz="457200" eaLnBrk="1" hangingPunct="1">
              <a:lnSpc>
                <a:spcPct val="90000"/>
              </a:lnSpc>
              <a:spcBef>
                <a:spcPct val="20000"/>
              </a:spcBef>
              <a:buClr>
                <a:schemeClr val="accent1"/>
              </a:buClr>
              <a:buFont typeface="Wingdings" panose="05000000000000000000" pitchFamily="2" charset="2"/>
              <a:buChar char="§"/>
            </a:pPr>
            <a:r>
              <a:rPr lang="en-US" altLang="tr-TR" sz="3200" dirty="0">
                <a:solidFill>
                  <a:srgbClr val="000000"/>
                </a:solidFill>
                <a:latin typeface="Calibri" panose="020F0502020204030204" charset="0"/>
                <a:cs typeface="Calibri" panose="020F0502020204030204" charset="0"/>
              </a:rPr>
              <a:t>Contestants</a:t>
            </a:r>
            <a:endParaRPr lang="en-US" altLang="tr-TR" sz="3200" dirty="0">
              <a:solidFill>
                <a:srgbClr val="000000"/>
              </a:solidFill>
              <a:latin typeface="Calibri" panose="020F0502020204030204" charset="0"/>
              <a:cs typeface="Calibri" panose="020F0502020204030204" charset="0"/>
            </a:endParaRPr>
          </a:p>
          <a:p>
            <a:pPr marL="457200" lvl="1" indent="0" defTabSz="457200" eaLnBrk="1" hangingPunct="1">
              <a:lnSpc>
                <a:spcPct val="90000"/>
              </a:lnSpc>
              <a:spcBef>
                <a:spcPct val="20000"/>
              </a:spcBef>
              <a:buClr>
                <a:schemeClr val="accent1"/>
              </a:buClr>
              <a:buFont typeface="Wingdings" panose="05000000000000000000" pitchFamily="2" charset="2"/>
              <a:buChar char="§"/>
            </a:pPr>
            <a:endParaRPr lang="en-US" altLang="tr-TR" sz="3200" dirty="0">
              <a:solidFill>
                <a:srgbClr val="000000"/>
              </a:solidFill>
              <a:latin typeface="Calibri" panose="020F0502020204030204" charset="0"/>
              <a:cs typeface="Calibri" panose="020F0502020204030204" charset="0"/>
            </a:endParaRPr>
          </a:p>
          <a:p>
            <a:pPr marL="457200" lvl="1" indent="0" defTabSz="457200" eaLnBrk="1" hangingPunct="1">
              <a:lnSpc>
                <a:spcPct val="90000"/>
              </a:lnSpc>
              <a:spcBef>
                <a:spcPct val="20000"/>
              </a:spcBef>
              <a:buClr>
                <a:schemeClr val="accent1"/>
              </a:buClr>
              <a:buFont typeface="Wingdings" panose="05000000000000000000" pitchFamily="2" charset="2"/>
              <a:buChar char="§"/>
            </a:pPr>
            <a:r>
              <a:rPr lang="en-US" altLang="tr-TR" sz="3200" dirty="0">
                <a:solidFill>
                  <a:srgbClr val="000000"/>
                </a:solidFill>
                <a:latin typeface="Calibri" panose="020F0502020204030204" charset="0"/>
                <a:cs typeface="Calibri" panose="020F0502020204030204" charset="0"/>
              </a:rPr>
              <a:t>Observers </a:t>
            </a:r>
            <a:endParaRPr lang="en-US" altLang="tr-TR" sz="3200" dirty="0">
              <a:solidFill>
                <a:srgbClr val="000000"/>
              </a:solidFill>
              <a:latin typeface="Calibri" panose="020F0502020204030204" charset="0"/>
              <a:ea typeface="Calibri" panose="020F050202020403020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Oval 2"/>
          <p:cNvSpPr/>
          <p:nvPr>
            <p:custDataLst>
              <p:tags r:id="rId1"/>
            </p:custDataLst>
          </p:nvPr>
        </p:nvSpPr>
        <p:spPr>
          <a:xfrm>
            <a:off x="342900" y="4600439"/>
            <a:ext cx="2454716" cy="1263763"/>
          </a:xfrm>
          <a:prstGeom prst="ellipse">
            <a:avLst/>
          </a:prstGeom>
          <a:noFill/>
          <a:ln w="28575" cap="flat" cmpd="sng">
            <a:solidFill>
              <a:schemeClr val="tx1"/>
            </a:solidFill>
            <a:prstDash val="solid"/>
            <a:headEnd type="none" w="med" len="med"/>
            <a:tailEnd type="none" w="med" len="med"/>
          </a:ln>
        </p:spPr>
        <p:txBody>
          <a:bodyPr wrap="none" anchor="ctr" anchorCtr="0"/>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457200" eaLnBrk="1" hangingPunct="1">
              <a:lnSpc>
                <a:spcPct val="100000"/>
              </a:lnSpc>
              <a:spcBef>
                <a:spcPct val="0"/>
              </a:spcBef>
              <a:buClrTx/>
              <a:buFontTx/>
              <a:buNone/>
            </a:pPr>
            <a:r>
              <a:rPr lang="en-US" altLang="tr-TR" sz="3200" dirty="0">
                <a:solidFill>
                  <a:srgbClr val="000000"/>
                </a:solidFill>
                <a:latin typeface="Calibri" panose="020F0502020204030204" charset="0"/>
                <a:cs typeface="Calibri" panose="020F0502020204030204" charset="0"/>
              </a:rPr>
              <a:t>Observers</a:t>
            </a:r>
            <a:endParaRPr lang="en-US" altLang="tr-TR" sz="3200" dirty="0">
              <a:solidFill>
                <a:srgbClr val="000000"/>
              </a:solidFill>
              <a:latin typeface="Calibri" panose="020F0502020204030204" charset="0"/>
              <a:ea typeface="Calibri" panose="020F0502020204030204" charset="0"/>
            </a:endParaRPr>
          </a:p>
        </p:txBody>
      </p:sp>
      <p:sp>
        <p:nvSpPr>
          <p:cNvPr id="54275" name="Text Box 3"/>
          <p:cNvSpPr txBox="1"/>
          <p:nvPr>
            <p:custDataLst>
              <p:tags r:id="rId2"/>
            </p:custDataLst>
          </p:nvPr>
        </p:nvSpPr>
        <p:spPr>
          <a:xfrm>
            <a:off x="3094054" y="1838883"/>
            <a:ext cx="3717179" cy="1272540"/>
          </a:xfrm>
          <a:prstGeom prst="rect">
            <a:avLst/>
          </a:prstGeom>
          <a:noFill/>
          <a:ln w="9525">
            <a:noFill/>
          </a:ln>
        </p:spPr>
        <p:txBody>
          <a:bodyPr>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457200" lvl="1" indent="0" algn="ctr" defTabSz="457200" eaLnBrk="1" hangingPunct="1">
              <a:lnSpc>
                <a:spcPct val="80000"/>
              </a:lnSpc>
              <a:spcBef>
                <a:spcPct val="20000"/>
              </a:spcBef>
              <a:buClr>
                <a:srgbClr val="FF6600"/>
              </a:buClr>
              <a:buFont typeface="Monotype Sorts"/>
              <a:buNone/>
            </a:pPr>
            <a:r>
              <a:rPr lang="en-US" altLang="tr-TR" sz="3200" dirty="0">
                <a:solidFill>
                  <a:srgbClr val="000000"/>
                </a:solidFill>
                <a:latin typeface="Calibri" panose="020F0502020204030204" charset="0"/>
                <a:cs typeface="Calibri" panose="020F0502020204030204" charset="0"/>
              </a:rPr>
              <a:t>Composed 10 difficult questions to ask contestants</a:t>
            </a:r>
            <a:endParaRPr lang="en-US" altLang="tr-TR" sz="3200" dirty="0">
              <a:solidFill>
                <a:srgbClr val="000000"/>
              </a:solidFill>
              <a:latin typeface="Calibri" panose="020F0502020204030204" charset="0"/>
              <a:ea typeface="Calibri" panose="020F0502020204030204" charset="0"/>
            </a:endParaRPr>
          </a:p>
        </p:txBody>
      </p:sp>
      <p:sp>
        <p:nvSpPr>
          <p:cNvPr id="54276" name="Oval 4"/>
          <p:cNvSpPr/>
          <p:nvPr>
            <p:custDataLst>
              <p:tags r:id="rId3"/>
            </p:custDataLst>
          </p:nvPr>
        </p:nvSpPr>
        <p:spPr>
          <a:xfrm>
            <a:off x="342900" y="3126049"/>
            <a:ext cx="2454716" cy="1263763"/>
          </a:xfrm>
          <a:prstGeom prst="ellipse">
            <a:avLst/>
          </a:prstGeom>
          <a:noFill/>
          <a:ln w="28575" cap="flat" cmpd="sng">
            <a:solidFill>
              <a:schemeClr val="tx1"/>
            </a:solidFill>
            <a:prstDash val="solid"/>
            <a:headEnd type="none" w="med" len="med"/>
            <a:tailEnd type="none" w="med" len="med"/>
          </a:ln>
        </p:spPr>
        <p:txBody>
          <a:bodyPr wrap="none" anchor="ctr" anchorCtr="0"/>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457200" eaLnBrk="1" hangingPunct="1">
              <a:lnSpc>
                <a:spcPct val="100000"/>
              </a:lnSpc>
              <a:spcBef>
                <a:spcPct val="0"/>
              </a:spcBef>
              <a:buClrTx/>
              <a:buFontTx/>
              <a:buNone/>
            </a:pPr>
            <a:r>
              <a:rPr lang="en-US" altLang="tr-TR" sz="3200" dirty="0">
                <a:solidFill>
                  <a:srgbClr val="000000"/>
                </a:solidFill>
                <a:latin typeface="Calibri" panose="020F0502020204030204" charset="0"/>
                <a:cs typeface="Calibri" panose="020F0502020204030204" charset="0"/>
              </a:rPr>
              <a:t>Contestants</a:t>
            </a:r>
            <a:endParaRPr lang="en-US" altLang="tr-TR" sz="3200" dirty="0">
              <a:solidFill>
                <a:srgbClr val="000000"/>
              </a:solidFill>
              <a:latin typeface="Calibri" panose="020F0502020204030204" charset="0"/>
              <a:ea typeface="Calibri" panose="020F0502020204030204" charset="0"/>
            </a:endParaRPr>
          </a:p>
        </p:txBody>
      </p:sp>
      <p:sp>
        <p:nvSpPr>
          <p:cNvPr id="54277" name="Oval 5"/>
          <p:cNvSpPr/>
          <p:nvPr>
            <p:custDataLst>
              <p:tags r:id="rId4"/>
            </p:custDataLst>
          </p:nvPr>
        </p:nvSpPr>
        <p:spPr>
          <a:xfrm>
            <a:off x="342900" y="1651659"/>
            <a:ext cx="2454716" cy="1263763"/>
          </a:xfrm>
          <a:prstGeom prst="ellipse">
            <a:avLst/>
          </a:prstGeom>
          <a:noFill/>
          <a:ln w="28575" cap="flat" cmpd="sng">
            <a:solidFill>
              <a:schemeClr val="tx1"/>
            </a:solidFill>
            <a:prstDash val="solid"/>
            <a:headEnd type="none" w="med" len="med"/>
            <a:tailEnd type="none" w="med" len="med"/>
          </a:ln>
        </p:spPr>
        <p:txBody>
          <a:bodyPr wrap="none" anchor="ctr" anchorCtr="0"/>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457200" eaLnBrk="1" hangingPunct="1">
              <a:lnSpc>
                <a:spcPct val="100000"/>
              </a:lnSpc>
              <a:spcBef>
                <a:spcPct val="0"/>
              </a:spcBef>
              <a:buClrTx/>
              <a:buFontTx/>
              <a:buNone/>
            </a:pPr>
            <a:r>
              <a:rPr lang="en-US" altLang="tr-TR" sz="3200" dirty="0">
                <a:solidFill>
                  <a:srgbClr val="000000"/>
                </a:solidFill>
                <a:latin typeface="Calibri" panose="020F0502020204030204" charset="0"/>
                <a:cs typeface="Calibri" panose="020F0502020204030204" charset="0"/>
              </a:rPr>
              <a:t>Questioners</a:t>
            </a:r>
            <a:endParaRPr lang="en-US" altLang="tr-TR" sz="3200" dirty="0">
              <a:solidFill>
                <a:srgbClr val="000000"/>
              </a:solidFill>
              <a:latin typeface="Calibri" panose="020F0502020204030204" charset="0"/>
              <a:ea typeface="Calibri" panose="020F0502020204030204" charset="0"/>
            </a:endParaRPr>
          </a:p>
        </p:txBody>
      </p:sp>
      <p:sp>
        <p:nvSpPr>
          <p:cNvPr id="54278" name="Line 6"/>
          <p:cNvSpPr/>
          <p:nvPr>
            <p:custDataLst>
              <p:tags r:id="rId5"/>
            </p:custDataLst>
          </p:nvPr>
        </p:nvSpPr>
        <p:spPr>
          <a:xfrm>
            <a:off x="2797616" y="2309543"/>
            <a:ext cx="915318" cy="0"/>
          </a:xfrm>
          <a:prstGeom prst="line">
            <a:avLst/>
          </a:prstGeom>
          <a:ln w="28575" cap="flat" cmpd="sng">
            <a:solidFill>
              <a:srgbClr val="000000"/>
            </a:solidFill>
            <a:prstDash val="solid"/>
            <a:headEnd type="none" w="med" len="med"/>
            <a:tailEnd type="triangle" w="med" len="med"/>
          </a:ln>
        </p:spPr>
      </p:sp>
      <p:sp>
        <p:nvSpPr>
          <p:cNvPr id="54279" name="Line 7"/>
          <p:cNvSpPr/>
          <p:nvPr>
            <p:custDataLst>
              <p:tags r:id="rId6"/>
            </p:custDataLst>
          </p:nvPr>
        </p:nvSpPr>
        <p:spPr>
          <a:xfrm>
            <a:off x="2797616" y="5258323"/>
            <a:ext cx="665686" cy="2600"/>
          </a:xfrm>
          <a:prstGeom prst="line">
            <a:avLst/>
          </a:prstGeom>
          <a:ln w="28575" cap="flat" cmpd="sng">
            <a:solidFill>
              <a:srgbClr val="000000"/>
            </a:solidFill>
            <a:prstDash val="solid"/>
            <a:headEnd type="none" w="med" len="med"/>
            <a:tailEnd type="triangle" w="med" len="med"/>
          </a:ln>
        </p:spPr>
      </p:sp>
      <p:sp>
        <p:nvSpPr>
          <p:cNvPr id="54280" name="Line 8"/>
          <p:cNvSpPr/>
          <p:nvPr>
            <p:custDataLst>
              <p:tags r:id="rId7"/>
            </p:custDataLst>
          </p:nvPr>
        </p:nvSpPr>
        <p:spPr>
          <a:xfrm>
            <a:off x="2758611" y="3783933"/>
            <a:ext cx="767099" cy="0"/>
          </a:xfrm>
          <a:prstGeom prst="line">
            <a:avLst/>
          </a:prstGeom>
          <a:ln w="28575" cap="flat" cmpd="sng">
            <a:solidFill>
              <a:srgbClr val="000000"/>
            </a:solidFill>
            <a:prstDash val="solid"/>
            <a:headEnd type="none" w="med" len="med"/>
            <a:tailEnd type="triangle" w="med" len="med"/>
          </a:ln>
        </p:spPr>
      </p:sp>
      <p:sp>
        <p:nvSpPr>
          <p:cNvPr id="54281" name="Text Box 9"/>
          <p:cNvSpPr txBox="1"/>
          <p:nvPr>
            <p:custDataLst>
              <p:tags r:id="rId8"/>
            </p:custDataLst>
          </p:nvPr>
        </p:nvSpPr>
        <p:spPr>
          <a:xfrm>
            <a:off x="3303382" y="3417286"/>
            <a:ext cx="3717178" cy="1076325"/>
          </a:xfrm>
          <a:prstGeom prst="rect">
            <a:avLst/>
          </a:prstGeom>
          <a:noFill/>
          <a:ln w="9525">
            <a:noFill/>
          </a:ln>
        </p:spPr>
        <p:txBody>
          <a:bodyPr>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457200" eaLnBrk="1" hangingPunct="1">
              <a:lnSpc>
                <a:spcPct val="100000"/>
              </a:lnSpc>
              <a:spcBef>
                <a:spcPct val="0"/>
              </a:spcBef>
              <a:buClrTx/>
              <a:buFontTx/>
              <a:buNone/>
            </a:pPr>
            <a:r>
              <a:rPr lang="en-US" altLang="tr-TR" sz="3200" dirty="0">
                <a:solidFill>
                  <a:srgbClr val="000000"/>
                </a:solidFill>
                <a:latin typeface="Calibri" panose="020F0502020204030204" charset="0"/>
                <a:cs typeface="Calibri" panose="020F0502020204030204" charset="0"/>
              </a:rPr>
              <a:t>Answered the questions</a:t>
            </a:r>
            <a:endParaRPr lang="en-US" altLang="tr-TR" sz="3200" dirty="0">
              <a:solidFill>
                <a:srgbClr val="000000"/>
              </a:solidFill>
              <a:latin typeface="Calibri" panose="020F0502020204030204" charset="0"/>
              <a:ea typeface="Calibri" panose="020F0502020204030204" charset="0"/>
            </a:endParaRPr>
          </a:p>
        </p:txBody>
      </p:sp>
      <p:sp>
        <p:nvSpPr>
          <p:cNvPr id="54282" name="Text Box 10"/>
          <p:cNvSpPr txBox="1"/>
          <p:nvPr>
            <p:custDataLst>
              <p:tags r:id="rId9"/>
            </p:custDataLst>
          </p:nvPr>
        </p:nvSpPr>
        <p:spPr>
          <a:xfrm>
            <a:off x="3286479" y="4904678"/>
            <a:ext cx="3717179" cy="1076325"/>
          </a:xfrm>
          <a:prstGeom prst="rect">
            <a:avLst/>
          </a:prstGeom>
          <a:noFill/>
          <a:ln w="9525">
            <a:noFill/>
          </a:ln>
        </p:spPr>
        <p:txBody>
          <a:bodyPr>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457200" eaLnBrk="1" hangingPunct="1">
              <a:lnSpc>
                <a:spcPct val="100000"/>
              </a:lnSpc>
              <a:spcBef>
                <a:spcPct val="0"/>
              </a:spcBef>
              <a:buClrTx/>
              <a:buFontTx/>
              <a:buNone/>
            </a:pPr>
            <a:r>
              <a:rPr lang="en-US" altLang="tr-TR" sz="3200" dirty="0">
                <a:solidFill>
                  <a:srgbClr val="000000"/>
                </a:solidFill>
                <a:latin typeface="Calibri" panose="020F0502020204030204" charset="0"/>
                <a:cs typeface="Calibri" panose="020F0502020204030204" charset="0"/>
              </a:rPr>
              <a:t>Watched the interaction</a:t>
            </a:r>
            <a:endParaRPr lang="en-US" altLang="tr-TR" sz="3200" dirty="0">
              <a:solidFill>
                <a:srgbClr val="000000"/>
              </a:solidFill>
              <a:latin typeface="Calibri" panose="020F0502020204030204" charset="0"/>
              <a:ea typeface="Calibri" panose="020F0502020204030204" charset="0"/>
            </a:endParaRPr>
          </a:p>
        </p:txBody>
      </p:sp>
      <p:sp>
        <p:nvSpPr>
          <p:cNvPr id="3" name="Text Box 2"/>
          <p:cNvSpPr txBox="1"/>
          <p:nvPr/>
        </p:nvSpPr>
        <p:spPr>
          <a:xfrm>
            <a:off x="7004050" y="1838960"/>
            <a:ext cx="5019040" cy="4247515"/>
          </a:xfrm>
          <a:prstGeom prst="rect">
            <a:avLst/>
          </a:prstGeom>
          <a:noFill/>
        </p:spPr>
        <p:txBody>
          <a:bodyPr wrap="square" rtlCol="0" anchor="t">
            <a:spAutoFit/>
          </a:bodyPr>
          <a:p>
            <a:pPr algn="l" defTabSz="685800">
              <a:lnSpc>
                <a:spcPct val="0"/>
              </a:lnSpc>
              <a:spcBef>
                <a:spcPts val="700"/>
              </a:spcBef>
              <a:spcAft>
                <a:spcPts val="0"/>
              </a:spcAft>
              <a:buClr>
                <a:schemeClr val="accent2"/>
              </a:buClr>
              <a:buSzTx/>
              <a:buFontTx/>
              <a:buChar char="o"/>
              <a:defRPr/>
            </a:pPr>
            <a:endParaRPr kumimoji="0" lang="en-US" altLang="tr-TR" sz="2800" b="1" i="0" u="none" strike="noStrike" kern="1200" cap="none" spc="0" normalizeH="0" baseline="0" noProof="0" dirty="0">
              <a:ln>
                <a:noFill/>
              </a:ln>
              <a:solidFill>
                <a:srgbClr val="000000"/>
              </a:solidFill>
              <a:effectLst/>
              <a:uLnTx/>
              <a:uFillTx/>
              <a:latin typeface="+mn-lt"/>
              <a:ea typeface="+mn-ea"/>
              <a:cs typeface="+mn-cs"/>
            </a:endParaRPr>
          </a:p>
          <a:p>
            <a:pPr algn="l" defTabSz="685800">
              <a:lnSpc>
                <a:spcPct val="110000"/>
              </a:lnSpc>
              <a:spcBef>
                <a:spcPts val="700"/>
              </a:spcBef>
              <a:spcAft>
                <a:spcPts val="0"/>
              </a:spcAft>
              <a:buClr>
                <a:schemeClr val="accent2"/>
              </a:buClr>
              <a:buSzTx/>
              <a:buFontTx/>
              <a:buNone/>
              <a:defRPr/>
            </a:pPr>
            <a:r>
              <a:rPr lang="en-US" altLang="tr-TR" sz="2800" noProof="0" dirty="0">
                <a:ln>
                  <a:noFill/>
                </a:ln>
                <a:solidFill>
                  <a:srgbClr val="000000"/>
                </a:solidFill>
                <a:effectLst/>
                <a:uLnTx/>
                <a:uFillTx/>
                <a:sym typeface="+mn-ea"/>
              </a:rPr>
              <a:t>Participants played their role</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1144905" lvl="2" indent="-228600" algn="l" defTabSz="685800">
              <a:lnSpc>
                <a:spcPct val="80000"/>
              </a:lnSpc>
              <a:spcBef>
                <a:spcPts val="700"/>
              </a:spcBef>
              <a:spcAft>
                <a:spcPts val="0"/>
              </a:spcAft>
              <a:buClr>
                <a:schemeClr val="accent1"/>
              </a:buClr>
              <a:buSzTx/>
              <a:buFont typeface="Wingdings" panose="05000000000000000000" pitchFamily="2" charset="2"/>
              <a:buChar char="§"/>
              <a:defRPr/>
            </a:pPr>
            <a:r>
              <a:rPr lang="en-US" altLang="tr-TR" sz="2800" noProof="0" dirty="0">
                <a:ln>
                  <a:noFill/>
                </a:ln>
                <a:solidFill>
                  <a:srgbClr val="000000"/>
                </a:solidFill>
                <a:effectLst/>
                <a:uLnTx/>
                <a:uFillTx/>
                <a:sym typeface="+mn-ea"/>
              </a:rPr>
              <a:t>asking questions</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1144905" lvl="2" indent="-228600" algn="l" defTabSz="685800">
              <a:lnSpc>
                <a:spcPct val="80000"/>
              </a:lnSpc>
              <a:spcBef>
                <a:spcPts val="700"/>
              </a:spcBef>
              <a:spcAft>
                <a:spcPts val="0"/>
              </a:spcAft>
              <a:buClr>
                <a:schemeClr val="accent1"/>
              </a:buClr>
              <a:buSzTx/>
              <a:buFont typeface="Wingdings" panose="05000000000000000000" pitchFamily="2" charset="2"/>
              <a:buChar char="§"/>
              <a:defRPr/>
            </a:pPr>
            <a:r>
              <a:rPr lang="en-US" altLang="tr-TR" sz="2800" noProof="0" dirty="0">
                <a:ln>
                  <a:noFill/>
                </a:ln>
                <a:solidFill>
                  <a:srgbClr val="000000"/>
                </a:solidFill>
                <a:effectLst/>
                <a:uLnTx/>
                <a:uFillTx/>
                <a:sym typeface="+mn-ea"/>
              </a:rPr>
              <a:t>answering questions</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1144905" lvl="2" indent="-228600" algn="l" defTabSz="685800">
              <a:lnSpc>
                <a:spcPct val="80000"/>
              </a:lnSpc>
              <a:spcBef>
                <a:spcPts val="700"/>
              </a:spcBef>
              <a:spcAft>
                <a:spcPts val="0"/>
              </a:spcAft>
              <a:buClr>
                <a:schemeClr val="accent1"/>
              </a:buClr>
              <a:buSzTx/>
              <a:buFont typeface="Wingdings" panose="05000000000000000000" pitchFamily="2" charset="2"/>
              <a:buChar char="§"/>
              <a:defRPr/>
            </a:pPr>
            <a:r>
              <a:rPr lang="en-US" altLang="tr-TR" sz="2800" noProof="0" dirty="0">
                <a:ln>
                  <a:noFill/>
                </a:ln>
                <a:solidFill>
                  <a:srgbClr val="000000"/>
                </a:solidFill>
                <a:effectLst/>
                <a:uLnTx/>
                <a:uFillTx/>
                <a:sym typeface="+mn-ea"/>
              </a:rPr>
              <a:t>observing interaction</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algn="l" defTabSz="685800">
              <a:lnSpc>
                <a:spcPct val="50000"/>
              </a:lnSpc>
              <a:spcBef>
                <a:spcPts val="700"/>
              </a:spcBef>
              <a:spcAft>
                <a:spcPts val="0"/>
              </a:spcAft>
              <a:buClr>
                <a:schemeClr val="accent2"/>
              </a:buClr>
              <a:buSzTx/>
              <a:buFontTx/>
              <a:buChar char="o"/>
              <a:defRPr/>
            </a:pP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algn="l" defTabSz="685800">
              <a:lnSpc>
                <a:spcPct val="110000"/>
              </a:lnSpc>
              <a:spcBef>
                <a:spcPts val="700"/>
              </a:spcBef>
              <a:spcAft>
                <a:spcPts val="0"/>
              </a:spcAft>
              <a:buClr>
                <a:schemeClr val="accent2"/>
              </a:buClr>
              <a:buSzTx/>
              <a:buFontTx/>
              <a:buNone/>
              <a:defRPr/>
            </a:pPr>
            <a:r>
              <a:rPr lang="en-US" altLang="tr-TR" sz="2800" noProof="0" dirty="0">
                <a:ln>
                  <a:noFill/>
                </a:ln>
                <a:solidFill>
                  <a:srgbClr val="000000"/>
                </a:solidFill>
                <a:effectLst/>
                <a:uLnTx/>
                <a:uFillTx/>
                <a:sym typeface="+mn-ea"/>
              </a:rPr>
              <a:t>Participants then rated the general knowledge of questioner and contestant (0-100).</a:t>
            </a:r>
            <a:endParaRPr lang="en-US" altLang="tr-TR" sz="2800" noProof="0" dirty="0">
              <a:ln>
                <a:noFill/>
              </a:ln>
              <a:solidFill>
                <a:srgbClr val="000000"/>
              </a:solidFill>
              <a:effectLst/>
              <a:uLnTx/>
              <a:uFillTx/>
              <a:sym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body" idx="4294967295"/>
          </p:nvPr>
        </p:nvSpPr>
        <p:spPr>
          <a:xfrm>
            <a:off x="0" y="929005"/>
            <a:ext cx="11926570" cy="5000625"/>
          </a:xfrm>
        </p:spPr>
        <p:txBody>
          <a:bodyPr vert="horz" wrap="square" lIns="91440" tIns="45720" rIns="91440" bIns="45720" anchor="t" anchorCtr="0"/>
          <a:lstStyle/>
          <a:p>
            <a:pPr marL="0" indent="0" eaLnBrk="1" hangingPunct="1">
              <a:buFont typeface="Wingdings" panose="05000000000000000000" pitchFamily="2" charset="2"/>
              <a:buNone/>
            </a:pPr>
            <a:r>
              <a:rPr lang="en-US" altLang="tr-TR" sz="2800" b="1" dirty="0">
                <a:solidFill>
                  <a:srgbClr val="000000"/>
                </a:solidFill>
              </a:rPr>
              <a:t>Results:</a:t>
            </a:r>
            <a:endParaRPr lang="en-US" altLang="tr-TR" sz="2800" b="1" dirty="0">
              <a:solidFill>
                <a:srgbClr val="000000"/>
              </a:solidFill>
            </a:endParaRPr>
          </a:p>
          <a:p>
            <a:pPr marL="0" indent="0" eaLnBrk="1" hangingPunct="1">
              <a:lnSpc>
                <a:spcPct val="10000"/>
              </a:lnSpc>
              <a:buFont typeface="Wingdings" panose="05000000000000000000" pitchFamily="2" charset="2"/>
              <a:buNone/>
            </a:pPr>
            <a:endParaRPr lang="en-US" altLang="tr-TR" sz="2800" b="1" dirty="0">
              <a:solidFill>
                <a:srgbClr val="000000"/>
              </a:solidFill>
            </a:endParaRPr>
          </a:p>
          <a:p>
            <a:pPr eaLnBrk="1" hangingPunct="1">
              <a:buClr>
                <a:srgbClr val="FF6600"/>
              </a:buClr>
              <a:buFont typeface="Arial" panose="020B0604020202020204" pitchFamily="34" charset="0"/>
              <a:buChar char="•"/>
            </a:pPr>
            <a:r>
              <a:rPr lang="en-US" altLang="tr-TR" sz="2800" dirty="0">
                <a:solidFill>
                  <a:srgbClr val="000000"/>
                </a:solidFill>
              </a:rPr>
              <a:t>Contestants and observers rated questioner significantly more knowledgeable than contestants.</a:t>
            </a:r>
            <a:endParaRPr lang="en-US" altLang="tr-TR" sz="2800" dirty="0">
              <a:solidFill>
                <a:srgbClr val="000000"/>
              </a:solidFill>
            </a:endParaRPr>
          </a:p>
          <a:p>
            <a:pPr eaLnBrk="1" hangingPunct="1">
              <a:buClr>
                <a:srgbClr val="FF6600"/>
              </a:buClr>
              <a:buFont typeface="Arial" panose="020B0604020202020204" pitchFamily="34" charset="0"/>
              <a:buChar char="•"/>
            </a:pPr>
            <a:r>
              <a:rPr lang="en-US" altLang="tr-TR" sz="2800" dirty="0">
                <a:solidFill>
                  <a:srgbClr val="000000"/>
                </a:solidFill>
                <a:sym typeface="+mn-ea"/>
              </a:rPr>
              <a:t>Behavior attributed to dispositional qualities, NOT to participants’ role in study</a:t>
            </a:r>
            <a:r>
              <a:rPr lang="en-GB" altLang="en-US" sz="2800" dirty="0">
                <a:solidFill>
                  <a:srgbClr val="000000"/>
                </a:solidFill>
                <a:sym typeface="+mn-ea"/>
              </a:rPr>
              <a:t>; </a:t>
            </a:r>
            <a:r>
              <a:rPr lang="en-US" altLang="tr-TR" sz="2800" dirty="0">
                <a:solidFill>
                  <a:srgbClr val="000000"/>
                </a:solidFill>
                <a:sym typeface="+mn-ea"/>
              </a:rPr>
              <a:t>Overestimating dispositional factors</a:t>
            </a:r>
            <a:r>
              <a:rPr lang="en-GB" altLang="en-US" sz="2800" dirty="0">
                <a:solidFill>
                  <a:srgbClr val="000000"/>
                </a:solidFill>
                <a:sym typeface="+mn-ea"/>
              </a:rPr>
              <a:t> and </a:t>
            </a:r>
            <a:r>
              <a:rPr lang="en-US" altLang="tr-TR" sz="2800" dirty="0">
                <a:solidFill>
                  <a:srgbClr val="000000"/>
                </a:solidFill>
                <a:sym typeface="+mn-ea"/>
              </a:rPr>
              <a:t>Underestimating situational factors</a:t>
            </a:r>
            <a:endParaRPr lang="en-US" altLang="tr-TR" sz="2800" dirty="0">
              <a:solidFill>
                <a:srgbClr val="000000"/>
              </a:solidFill>
            </a:endParaRPr>
          </a:p>
          <a:p>
            <a:pPr indent="0" eaLnBrk="1" hangingPunct="1">
              <a:buClr>
                <a:srgbClr val="FF6600"/>
              </a:buClr>
              <a:buFont typeface="Monotype Sorts"/>
              <a:buNone/>
            </a:pPr>
            <a:endParaRPr lang="en-US" altLang="tr-TR" sz="2800" dirty="0">
              <a:solidFill>
                <a:srgbClr val="000000"/>
              </a:solidFill>
            </a:endParaRPr>
          </a:p>
        </p:txBody>
      </p:sp>
      <p:sp>
        <p:nvSpPr>
          <p:cNvPr id="58372" name="Line 4"/>
          <p:cNvSpPr/>
          <p:nvPr/>
        </p:nvSpPr>
        <p:spPr>
          <a:xfrm>
            <a:off x="6477000" y="4267200"/>
            <a:ext cx="0" cy="0"/>
          </a:xfrm>
          <a:prstGeom prst="line">
            <a:avLst/>
          </a:prstGeom>
          <a:ln w="9525">
            <a:noFill/>
          </a:ln>
        </p:spPr>
      </p:sp>
      <p:sp>
        <p:nvSpPr>
          <p:cNvPr id="58373" name="Line 5"/>
          <p:cNvSpPr/>
          <p:nvPr/>
        </p:nvSpPr>
        <p:spPr>
          <a:xfrm flipH="1">
            <a:off x="4727575" y="4149725"/>
            <a:ext cx="0" cy="2016125"/>
          </a:xfrm>
          <a:prstGeom prst="line">
            <a:avLst/>
          </a:prstGeom>
          <a:ln w="9525" cap="flat" cmpd="sng">
            <a:solidFill>
              <a:srgbClr val="000000"/>
            </a:solidFill>
            <a:prstDash val="solid"/>
            <a:headEnd type="none" w="med" len="med"/>
            <a:tailEnd type="none" w="med" len="med"/>
          </a:ln>
        </p:spPr>
      </p:sp>
      <p:sp>
        <p:nvSpPr>
          <p:cNvPr id="58374" name="Line 6"/>
          <p:cNvSpPr/>
          <p:nvPr/>
        </p:nvSpPr>
        <p:spPr>
          <a:xfrm>
            <a:off x="7535863" y="4149725"/>
            <a:ext cx="0" cy="2016125"/>
          </a:xfrm>
          <a:prstGeom prst="line">
            <a:avLst/>
          </a:prstGeom>
          <a:ln w="9525" cap="flat" cmpd="sng">
            <a:solidFill>
              <a:srgbClr val="000000"/>
            </a:solidFill>
            <a:prstDash val="solid"/>
            <a:headEnd type="none" w="med" len="med"/>
            <a:tailEnd type="none" w="med" len="med"/>
          </a:ln>
        </p:spPr>
      </p:sp>
      <p:sp>
        <p:nvSpPr>
          <p:cNvPr id="58375" name="Line 7"/>
          <p:cNvSpPr/>
          <p:nvPr/>
        </p:nvSpPr>
        <p:spPr>
          <a:xfrm>
            <a:off x="2565400" y="4876800"/>
            <a:ext cx="7315200" cy="0"/>
          </a:xfrm>
          <a:prstGeom prst="line">
            <a:avLst/>
          </a:prstGeom>
          <a:ln w="9525" cap="flat" cmpd="sng">
            <a:solidFill>
              <a:srgbClr val="000000"/>
            </a:solidFill>
            <a:prstDash val="solid"/>
            <a:headEnd type="none" w="med" len="med"/>
            <a:tailEnd type="none" w="med" len="med"/>
          </a:ln>
        </p:spPr>
      </p:sp>
      <p:sp>
        <p:nvSpPr>
          <p:cNvPr id="58376" name="Line 8"/>
          <p:cNvSpPr/>
          <p:nvPr/>
        </p:nvSpPr>
        <p:spPr>
          <a:xfrm>
            <a:off x="2540000" y="5257800"/>
            <a:ext cx="7315200" cy="0"/>
          </a:xfrm>
          <a:prstGeom prst="line">
            <a:avLst/>
          </a:prstGeom>
          <a:ln w="9525" cap="flat" cmpd="sng">
            <a:solidFill>
              <a:srgbClr val="000000"/>
            </a:solidFill>
            <a:prstDash val="solid"/>
            <a:headEnd type="none" w="med" len="med"/>
            <a:tailEnd type="none" w="med" len="med"/>
          </a:ln>
        </p:spPr>
      </p:sp>
      <p:sp>
        <p:nvSpPr>
          <p:cNvPr id="58377" name="Text Box 9"/>
          <p:cNvSpPr txBox="1"/>
          <p:nvPr/>
        </p:nvSpPr>
        <p:spPr>
          <a:xfrm>
            <a:off x="2566988" y="4221163"/>
            <a:ext cx="1978025" cy="398780"/>
          </a:xfrm>
          <a:prstGeom prst="rect">
            <a:avLst/>
          </a:prstGeom>
          <a:noFill/>
          <a:ln w="9525">
            <a:noFill/>
          </a:ln>
        </p:spPr>
        <p:txBody>
          <a:bodyPr>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457200" eaLnBrk="1" hangingPunct="1">
              <a:lnSpc>
                <a:spcPct val="100000"/>
              </a:lnSpc>
              <a:spcBef>
                <a:spcPct val="0"/>
              </a:spcBef>
              <a:buClrTx/>
              <a:buFontTx/>
              <a:buNone/>
            </a:pPr>
            <a:r>
              <a:rPr lang="en-US" altLang="tr-TR" dirty="0">
                <a:solidFill>
                  <a:srgbClr val="000000"/>
                </a:solidFill>
                <a:latin typeface="Calibri" panose="020F0502020204030204" charset="0"/>
                <a:cs typeface="Calibri" panose="020F0502020204030204" charset="0"/>
              </a:rPr>
              <a:t>Role of Rater</a:t>
            </a:r>
            <a:endParaRPr lang="en-US" altLang="tr-TR" dirty="0">
              <a:solidFill>
                <a:srgbClr val="000000"/>
              </a:solidFill>
              <a:latin typeface="Calibri" panose="020F0502020204030204" charset="0"/>
              <a:ea typeface="Calibri" panose="020F0502020204030204" charset="0"/>
            </a:endParaRPr>
          </a:p>
        </p:txBody>
      </p:sp>
      <p:sp>
        <p:nvSpPr>
          <p:cNvPr id="58378" name="Text Box 10"/>
          <p:cNvSpPr txBox="1"/>
          <p:nvPr/>
        </p:nvSpPr>
        <p:spPr>
          <a:xfrm>
            <a:off x="4851400" y="4178300"/>
            <a:ext cx="2514600" cy="398780"/>
          </a:xfrm>
          <a:prstGeom prst="rect">
            <a:avLst/>
          </a:prstGeom>
          <a:noFill/>
          <a:ln w="9525">
            <a:noFill/>
          </a:ln>
        </p:spPr>
        <p:txBody>
          <a:bodyPr>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457200" eaLnBrk="1" hangingPunct="1">
              <a:lnSpc>
                <a:spcPct val="100000"/>
              </a:lnSpc>
              <a:spcBef>
                <a:spcPct val="0"/>
              </a:spcBef>
              <a:buClrTx/>
              <a:buFontTx/>
              <a:buNone/>
            </a:pPr>
            <a:r>
              <a:rPr lang="en-US" altLang="tr-TR" dirty="0">
                <a:solidFill>
                  <a:srgbClr val="000000"/>
                </a:solidFill>
                <a:latin typeface="Calibri" panose="020F0502020204030204" charset="0"/>
                <a:cs typeface="Calibri" panose="020F0502020204030204" charset="0"/>
              </a:rPr>
              <a:t>Rating of Questioner</a:t>
            </a:r>
            <a:endParaRPr lang="en-US" altLang="tr-TR" sz="2400" dirty="0">
              <a:solidFill>
                <a:srgbClr val="000000"/>
              </a:solidFill>
              <a:latin typeface="Calibri" panose="020F0502020204030204" charset="0"/>
              <a:ea typeface="Calibri" panose="020F0502020204030204" charset="0"/>
            </a:endParaRPr>
          </a:p>
        </p:txBody>
      </p:sp>
      <p:sp>
        <p:nvSpPr>
          <p:cNvPr id="58379" name="Text Box 11"/>
          <p:cNvSpPr txBox="1"/>
          <p:nvPr/>
        </p:nvSpPr>
        <p:spPr>
          <a:xfrm>
            <a:off x="7464425" y="4149725"/>
            <a:ext cx="2514600" cy="398780"/>
          </a:xfrm>
          <a:prstGeom prst="rect">
            <a:avLst/>
          </a:prstGeom>
          <a:noFill/>
          <a:ln w="9525">
            <a:noFill/>
          </a:ln>
        </p:spPr>
        <p:txBody>
          <a:bodyPr>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457200" eaLnBrk="1" hangingPunct="1">
              <a:lnSpc>
                <a:spcPct val="100000"/>
              </a:lnSpc>
              <a:spcBef>
                <a:spcPct val="0"/>
              </a:spcBef>
              <a:buClrTx/>
              <a:buFontTx/>
              <a:buNone/>
            </a:pPr>
            <a:r>
              <a:rPr lang="en-US" altLang="tr-TR" dirty="0">
                <a:solidFill>
                  <a:srgbClr val="000000"/>
                </a:solidFill>
                <a:latin typeface="Calibri" panose="020F0502020204030204" charset="0"/>
                <a:cs typeface="Calibri" panose="020F0502020204030204" charset="0"/>
              </a:rPr>
              <a:t>Rating of Contestant</a:t>
            </a:r>
            <a:endParaRPr lang="en-US" altLang="tr-TR" sz="2400" dirty="0">
              <a:solidFill>
                <a:srgbClr val="000000"/>
              </a:solidFill>
              <a:latin typeface="Calibri" panose="020F0502020204030204" charset="0"/>
              <a:ea typeface="Calibri" panose="020F0502020204030204" charset="0"/>
            </a:endParaRPr>
          </a:p>
        </p:txBody>
      </p:sp>
      <p:sp>
        <p:nvSpPr>
          <p:cNvPr id="58380" name="Text Box 12"/>
          <p:cNvSpPr txBox="1"/>
          <p:nvPr/>
        </p:nvSpPr>
        <p:spPr>
          <a:xfrm>
            <a:off x="2540000" y="4875213"/>
            <a:ext cx="1532255" cy="460375"/>
          </a:xfrm>
          <a:prstGeom prst="rect">
            <a:avLst/>
          </a:prstGeom>
          <a:noFill/>
          <a:ln w="9525">
            <a:noFill/>
          </a:ln>
        </p:spPr>
        <p:txBody>
          <a:bodyPr wrap="none">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0"/>
              </a:spcBef>
              <a:buClrTx/>
              <a:buFontTx/>
              <a:buNone/>
            </a:pPr>
            <a:r>
              <a:rPr lang="en-US" altLang="tr-TR" sz="2400" dirty="0">
                <a:solidFill>
                  <a:srgbClr val="000000"/>
                </a:solidFill>
                <a:latin typeface="Calibri" panose="020F0502020204030204" charset="0"/>
                <a:cs typeface="Calibri" panose="020F0502020204030204" charset="0"/>
              </a:rPr>
              <a:t>Contestant</a:t>
            </a:r>
            <a:endParaRPr lang="en-US" altLang="tr-TR" sz="2400" dirty="0">
              <a:solidFill>
                <a:srgbClr val="000000"/>
              </a:solidFill>
              <a:latin typeface="Calibri" panose="020F0502020204030204" charset="0"/>
              <a:ea typeface="Calibri" panose="020F0502020204030204" charset="0"/>
            </a:endParaRPr>
          </a:p>
        </p:txBody>
      </p:sp>
      <p:sp>
        <p:nvSpPr>
          <p:cNvPr id="58381" name="Text Box 13"/>
          <p:cNvSpPr txBox="1"/>
          <p:nvPr/>
        </p:nvSpPr>
        <p:spPr>
          <a:xfrm>
            <a:off x="5791200" y="4865688"/>
            <a:ext cx="491490" cy="460375"/>
          </a:xfrm>
          <a:prstGeom prst="rect">
            <a:avLst/>
          </a:prstGeom>
          <a:noFill/>
          <a:ln w="9525">
            <a:noFill/>
          </a:ln>
        </p:spPr>
        <p:txBody>
          <a:bodyPr wrap="none">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0"/>
              </a:spcBef>
              <a:buClrTx/>
              <a:buFontTx/>
              <a:buNone/>
            </a:pPr>
            <a:r>
              <a:rPr lang="en-US" altLang="tr-TR" sz="2400" dirty="0">
                <a:solidFill>
                  <a:srgbClr val="000000"/>
                </a:solidFill>
                <a:latin typeface="Calibri" panose="020F0502020204030204" charset="0"/>
                <a:cs typeface="Calibri" panose="020F0502020204030204" charset="0"/>
              </a:rPr>
              <a:t>67</a:t>
            </a:r>
            <a:endParaRPr lang="en-US" altLang="tr-TR" sz="2400" dirty="0">
              <a:solidFill>
                <a:srgbClr val="000000"/>
              </a:solidFill>
              <a:latin typeface="Calibri" panose="020F0502020204030204" charset="0"/>
              <a:ea typeface="Calibri" panose="020F0502020204030204" charset="0"/>
            </a:endParaRPr>
          </a:p>
        </p:txBody>
      </p:sp>
      <p:sp>
        <p:nvSpPr>
          <p:cNvPr id="58382" name="Text Box 14"/>
          <p:cNvSpPr txBox="1"/>
          <p:nvPr/>
        </p:nvSpPr>
        <p:spPr>
          <a:xfrm>
            <a:off x="8472488" y="4868863"/>
            <a:ext cx="491490" cy="460375"/>
          </a:xfrm>
          <a:prstGeom prst="rect">
            <a:avLst/>
          </a:prstGeom>
          <a:noFill/>
          <a:ln w="9525">
            <a:noFill/>
          </a:ln>
        </p:spPr>
        <p:txBody>
          <a:bodyPr wrap="none">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0"/>
              </a:spcBef>
              <a:buClrTx/>
              <a:buFontTx/>
              <a:buNone/>
            </a:pPr>
            <a:r>
              <a:rPr lang="en-US" altLang="tr-TR" sz="2400" dirty="0">
                <a:solidFill>
                  <a:srgbClr val="000000"/>
                </a:solidFill>
                <a:latin typeface="Calibri" panose="020F0502020204030204" charset="0"/>
                <a:cs typeface="Calibri" panose="020F0502020204030204" charset="0"/>
              </a:rPr>
              <a:t>41</a:t>
            </a:r>
            <a:endParaRPr lang="en-US" altLang="tr-TR" sz="2400" dirty="0">
              <a:solidFill>
                <a:srgbClr val="000000"/>
              </a:solidFill>
              <a:latin typeface="Calibri" panose="020F0502020204030204" charset="0"/>
              <a:ea typeface="Calibri" panose="020F0502020204030204" charset="0"/>
            </a:endParaRPr>
          </a:p>
        </p:txBody>
      </p:sp>
      <p:sp>
        <p:nvSpPr>
          <p:cNvPr id="58383" name="Rectangle 15"/>
          <p:cNvSpPr/>
          <p:nvPr/>
        </p:nvSpPr>
        <p:spPr>
          <a:xfrm>
            <a:off x="2495550" y="4114800"/>
            <a:ext cx="7488238" cy="2051050"/>
          </a:xfrm>
          <a:prstGeom prst="rect">
            <a:avLst/>
          </a:prstGeom>
          <a:noFill/>
          <a:ln w="9525" cap="flat" cmpd="sng">
            <a:solidFill>
              <a:srgbClr val="000000"/>
            </a:solidFill>
            <a:prstDash val="solid"/>
            <a:miter/>
            <a:headEnd type="none" w="med" len="med"/>
            <a:tailEnd type="none" w="med" len="med"/>
          </a:ln>
        </p:spPr>
        <p:txBody>
          <a:bodyPr wrap="none" anchor="ctr" anchorCtr="0"/>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457200" eaLnBrk="1" hangingPunct="1">
              <a:lnSpc>
                <a:spcPct val="100000"/>
              </a:lnSpc>
              <a:spcBef>
                <a:spcPct val="0"/>
              </a:spcBef>
              <a:buClrTx/>
              <a:buFontTx/>
              <a:buNone/>
            </a:pPr>
            <a:endParaRPr lang="tr-TR" altLang="tr-TR" sz="2400" dirty="0">
              <a:solidFill>
                <a:schemeClr val="tx1"/>
              </a:solidFill>
              <a:latin typeface="Comic Sans MS" panose="030F0702030302020204" pitchFamily="66" charset="0"/>
              <a:ea typeface="Calibri" panose="020F0502020204030204" charset="0"/>
            </a:endParaRPr>
          </a:p>
        </p:txBody>
      </p:sp>
      <p:sp>
        <p:nvSpPr>
          <p:cNvPr id="58384" name="Text Box 16"/>
          <p:cNvSpPr txBox="1"/>
          <p:nvPr/>
        </p:nvSpPr>
        <p:spPr>
          <a:xfrm>
            <a:off x="2540000" y="5275263"/>
            <a:ext cx="1315085" cy="460375"/>
          </a:xfrm>
          <a:prstGeom prst="rect">
            <a:avLst/>
          </a:prstGeom>
          <a:noFill/>
          <a:ln w="9525">
            <a:noFill/>
          </a:ln>
        </p:spPr>
        <p:txBody>
          <a:bodyPr wrap="none">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0"/>
              </a:spcBef>
              <a:buClrTx/>
              <a:buFontTx/>
              <a:buNone/>
            </a:pPr>
            <a:r>
              <a:rPr lang="en-US" altLang="tr-TR" sz="2400" dirty="0">
                <a:solidFill>
                  <a:srgbClr val="000000"/>
                </a:solidFill>
                <a:latin typeface="Calibri" panose="020F0502020204030204" charset="0"/>
                <a:cs typeface="Calibri" panose="020F0502020204030204" charset="0"/>
              </a:rPr>
              <a:t>Observer</a:t>
            </a:r>
            <a:endParaRPr lang="en-US" altLang="tr-TR" sz="2400" dirty="0">
              <a:solidFill>
                <a:srgbClr val="000000"/>
              </a:solidFill>
              <a:latin typeface="Calibri" panose="020F0502020204030204" charset="0"/>
              <a:ea typeface="Calibri" panose="020F0502020204030204" charset="0"/>
            </a:endParaRPr>
          </a:p>
        </p:txBody>
      </p:sp>
      <p:sp>
        <p:nvSpPr>
          <p:cNvPr id="58385" name="Text Box 17"/>
          <p:cNvSpPr txBox="1"/>
          <p:nvPr/>
        </p:nvSpPr>
        <p:spPr>
          <a:xfrm>
            <a:off x="5791200" y="5267325"/>
            <a:ext cx="491490" cy="460375"/>
          </a:xfrm>
          <a:prstGeom prst="rect">
            <a:avLst/>
          </a:prstGeom>
          <a:noFill/>
          <a:ln w="9525">
            <a:noFill/>
          </a:ln>
        </p:spPr>
        <p:txBody>
          <a:bodyPr wrap="none">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0"/>
              </a:spcBef>
              <a:buClrTx/>
              <a:buFontTx/>
              <a:buNone/>
            </a:pPr>
            <a:r>
              <a:rPr lang="en-US" altLang="tr-TR" sz="2400" dirty="0">
                <a:solidFill>
                  <a:srgbClr val="000000"/>
                </a:solidFill>
                <a:latin typeface="Calibri" panose="020F0502020204030204" charset="0"/>
                <a:cs typeface="Calibri" panose="020F0502020204030204" charset="0"/>
              </a:rPr>
              <a:t>83</a:t>
            </a:r>
            <a:endParaRPr lang="en-US" altLang="tr-TR" sz="2400" dirty="0">
              <a:solidFill>
                <a:srgbClr val="000000"/>
              </a:solidFill>
              <a:latin typeface="Calibri" panose="020F0502020204030204" charset="0"/>
              <a:ea typeface="Calibri" panose="020F0502020204030204" charset="0"/>
            </a:endParaRPr>
          </a:p>
        </p:txBody>
      </p:sp>
      <p:sp>
        <p:nvSpPr>
          <p:cNvPr id="58386" name="Text Box 18"/>
          <p:cNvSpPr txBox="1"/>
          <p:nvPr/>
        </p:nvSpPr>
        <p:spPr>
          <a:xfrm>
            <a:off x="8432800" y="5267325"/>
            <a:ext cx="491490" cy="460375"/>
          </a:xfrm>
          <a:prstGeom prst="rect">
            <a:avLst/>
          </a:prstGeom>
          <a:noFill/>
          <a:ln w="9525">
            <a:noFill/>
          </a:ln>
        </p:spPr>
        <p:txBody>
          <a:bodyPr wrap="none">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0"/>
              </a:spcBef>
              <a:buClrTx/>
              <a:buFontTx/>
              <a:buNone/>
            </a:pPr>
            <a:r>
              <a:rPr lang="en-US" altLang="tr-TR" sz="2400" dirty="0">
                <a:solidFill>
                  <a:srgbClr val="000000"/>
                </a:solidFill>
                <a:latin typeface="Calibri" panose="020F0502020204030204" charset="0"/>
                <a:cs typeface="Calibri" panose="020F0502020204030204" charset="0"/>
              </a:rPr>
              <a:t>49</a:t>
            </a:r>
            <a:endParaRPr lang="en-US" altLang="tr-TR" sz="2400" dirty="0">
              <a:solidFill>
                <a:srgbClr val="000000"/>
              </a:solidFill>
              <a:latin typeface="Calibri" panose="020F0502020204030204" charset="0"/>
              <a:ea typeface="Calibri" panose="020F0502020204030204" charset="0"/>
            </a:endParaRPr>
          </a:p>
        </p:txBody>
      </p:sp>
      <p:sp>
        <p:nvSpPr>
          <p:cNvPr id="58387" name="Rectangle 19"/>
          <p:cNvSpPr/>
          <p:nvPr/>
        </p:nvSpPr>
        <p:spPr>
          <a:xfrm>
            <a:off x="2566988" y="5659438"/>
            <a:ext cx="1565910" cy="460375"/>
          </a:xfrm>
          <a:prstGeom prst="rect">
            <a:avLst/>
          </a:prstGeom>
          <a:noFill/>
          <a:ln w="9525">
            <a:noFill/>
          </a:ln>
        </p:spPr>
        <p:txBody>
          <a:bodyPr wrap="none">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0"/>
              </a:spcBef>
              <a:buClrTx/>
              <a:buFontTx/>
              <a:buNone/>
            </a:pPr>
            <a:r>
              <a:rPr lang="en-US" altLang="tr-TR" sz="2400" dirty="0">
                <a:solidFill>
                  <a:srgbClr val="000000"/>
                </a:solidFill>
                <a:latin typeface="Calibri" panose="020F0502020204030204" charset="0"/>
                <a:cs typeface="Calibri" panose="020F0502020204030204" charset="0"/>
              </a:rPr>
              <a:t>Questioner</a:t>
            </a:r>
            <a:endParaRPr lang="en-US" altLang="tr-TR" sz="2400" dirty="0">
              <a:solidFill>
                <a:srgbClr val="000000"/>
              </a:solidFill>
              <a:latin typeface="Calibri" panose="020F0502020204030204" charset="0"/>
              <a:ea typeface="Calibri" panose="020F0502020204030204" charset="0"/>
            </a:endParaRPr>
          </a:p>
        </p:txBody>
      </p:sp>
      <p:sp>
        <p:nvSpPr>
          <p:cNvPr id="58388" name="Line 20"/>
          <p:cNvSpPr/>
          <p:nvPr/>
        </p:nvSpPr>
        <p:spPr>
          <a:xfrm>
            <a:off x="2640013" y="5734050"/>
            <a:ext cx="7315200" cy="0"/>
          </a:xfrm>
          <a:prstGeom prst="line">
            <a:avLst/>
          </a:prstGeom>
          <a:ln w="9525" cap="flat" cmpd="sng">
            <a:solidFill>
              <a:srgbClr val="000000"/>
            </a:solidFill>
            <a:prstDash val="solid"/>
            <a:headEnd type="none" w="med" len="med"/>
            <a:tailEnd type="none" w="med" len="med"/>
          </a:ln>
        </p:spPr>
      </p:sp>
      <p:sp>
        <p:nvSpPr>
          <p:cNvPr id="58389" name="Rectangle 21"/>
          <p:cNvSpPr/>
          <p:nvPr/>
        </p:nvSpPr>
        <p:spPr>
          <a:xfrm>
            <a:off x="5867400" y="5638800"/>
            <a:ext cx="491490" cy="460375"/>
          </a:xfrm>
          <a:prstGeom prst="rect">
            <a:avLst/>
          </a:prstGeom>
          <a:noFill/>
          <a:ln w="9525">
            <a:noFill/>
          </a:ln>
        </p:spPr>
        <p:txBody>
          <a:bodyPr wrap="none">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0"/>
              </a:spcBef>
              <a:buClrTx/>
              <a:buFontTx/>
              <a:buNone/>
            </a:pPr>
            <a:r>
              <a:rPr lang="en-US" altLang="tr-TR" sz="2400" dirty="0">
                <a:solidFill>
                  <a:srgbClr val="000000"/>
                </a:solidFill>
                <a:latin typeface="Calibri" panose="020F0502020204030204" charset="0"/>
                <a:cs typeface="Calibri" panose="020F0502020204030204" charset="0"/>
              </a:rPr>
              <a:t>54</a:t>
            </a:r>
            <a:endParaRPr lang="en-US" altLang="tr-TR" sz="2400" dirty="0">
              <a:solidFill>
                <a:srgbClr val="000000"/>
              </a:solidFill>
              <a:latin typeface="Calibri" panose="020F0502020204030204" charset="0"/>
              <a:ea typeface="Calibri" panose="020F0502020204030204" charset="0"/>
            </a:endParaRPr>
          </a:p>
        </p:txBody>
      </p:sp>
      <p:sp>
        <p:nvSpPr>
          <p:cNvPr id="58390" name="Rectangle 22"/>
          <p:cNvSpPr/>
          <p:nvPr/>
        </p:nvSpPr>
        <p:spPr>
          <a:xfrm>
            <a:off x="8472488" y="5734050"/>
            <a:ext cx="491490" cy="460375"/>
          </a:xfrm>
          <a:prstGeom prst="rect">
            <a:avLst/>
          </a:prstGeom>
          <a:noFill/>
          <a:ln w="9525">
            <a:noFill/>
          </a:ln>
        </p:spPr>
        <p:txBody>
          <a:bodyPr wrap="none">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defTabSz="457200" eaLnBrk="1" hangingPunct="1">
              <a:lnSpc>
                <a:spcPct val="100000"/>
              </a:lnSpc>
              <a:spcBef>
                <a:spcPct val="0"/>
              </a:spcBef>
              <a:buClrTx/>
              <a:buFontTx/>
              <a:buNone/>
            </a:pPr>
            <a:r>
              <a:rPr lang="en-US" altLang="tr-TR" sz="2400" dirty="0">
                <a:solidFill>
                  <a:srgbClr val="000000"/>
                </a:solidFill>
                <a:latin typeface="Calibri" panose="020F0502020204030204" charset="0"/>
                <a:cs typeface="Calibri" panose="020F0502020204030204" charset="0"/>
              </a:rPr>
              <a:t>51</a:t>
            </a:r>
            <a:endParaRPr lang="en-US" altLang="tr-TR" sz="2400" dirty="0">
              <a:solidFill>
                <a:srgbClr val="000000"/>
              </a:solidFill>
              <a:latin typeface="Calibri" panose="020F0502020204030204" charset="0"/>
              <a:ea typeface="Calibri" panose="020F050202020403020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1829435" y="193040"/>
            <a:ext cx="10362565" cy="1143000"/>
          </a:xfrm>
        </p:spPr>
        <p:txBody>
          <a:bodyPr lIns="91440" tIns="45720" rIns="91440" bIns="45720" rtlCol="0" anchor="t">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tr-TR" sz="2800" b="1" i="0" u="none" strike="noStrike" kern="1200" cap="all" spc="150" normalizeH="0" baseline="0" noProof="0" dirty="0">
                <a:ln>
                  <a:noFill/>
                </a:ln>
                <a:solidFill>
                  <a:srgbClr val="000000"/>
                </a:solidFill>
                <a:effectLst/>
                <a:uLnTx/>
                <a:uFillTx/>
                <a:latin typeface="+mn-lt"/>
                <a:ea typeface="+mj-ea"/>
                <a:cs typeface="+mj-cs"/>
              </a:rPr>
              <a:t>Jones &amp; Harris (1967) ‘Castro study’</a:t>
            </a:r>
            <a:endParaRPr kumimoji="0" lang="en-GB" altLang="tr-TR" sz="2800" b="1" i="0" u="none" strike="noStrike" kern="1200" cap="all" spc="150" normalizeH="0" baseline="0" noProof="0" dirty="0">
              <a:ln>
                <a:noFill/>
              </a:ln>
              <a:solidFill>
                <a:srgbClr val="000000"/>
              </a:solidFill>
              <a:effectLst/>
              <a:uLnTx/>
              <a:uFillTx/>
              <a:latin typeface="+mn-lt"/>
              <a:ea typeface="+mj-ea"/>
              <a:cs typeface="+mj-cs"/>
            </a:endParaRPr>
          </a:p>
        </p:txBody>
      </p:sp>
      <p:sp>
        <p:nvSpPr>
          <p:cNvPr id="62467" name="Rectangle 3"/>
          <p:cNvSpPr>
            <a:spLocks noGrp="1" noChangeArrowheads="1"/>
          </p:cNvSpPr>
          <p:nvPr>
            <p:ph type="body" idx="1"/>
          </p:nvPr>
        </p:nvSpPr>
        <p:spPr>
          <a:xfrm>
            <a:off x="396240" y="1676400"/>
            <a:ext cx="11253470" cy="4993005"/>
          </a:xfrm>
        </p:spPr>
        <p:txBody>
          <a:bodyPr vert="horz" wrap="square" lIns="91440" tIns="45720" rIns="91440" bIns="45720" numCol="1" rtlCol="0" anchor="t" anchorCtr="0" compatLnSpc="1">
            <a:normAutofit/>
          </a:bodyPr>
          <a:lstStyle/>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r>
              <a:rPr kumimoji="0" lang="en-GB" altLang="tr-TR" sz="2400" b="0" i="0" u="none" strike="noStrike" kern="1200" cap="none" spc="0" normalizeH="0" baseline="0" noProof="0" dirty="0">
                <a:ln>
                  <a:noFill/>
                </a:ln>
                <a:solidFill>
                  <a:schemeClr val="tx1"/>
                </a:solidFill>
                <a:effectLst/>
                <a:uLnTx/>
                <a:uFillTx/>
                <a:latin typeface="+mn-lt"/>
                <a:ea typeface="+mn-ea"/>
                <a:cs typeface="+mn-cs"/>
              </a:rPr>
              <a:t>Subjects listened to pro- and anti-Fidel Castro speeches and asked to rate the pro-Castro attitudes of both. </a:t>
            </a:r>
            <a:endParaRPr kumimoji="0" lang="en-GB" altLang="tr-TR"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endParaRPr kumimoji="0" lang="en-GB" altLang="tr-TR"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r>
              <a:rPr kumimoji="0" lang="en-GB" altLang="tr-TR" sz="2400" b="0" i="0" u="none" strike="noStrike" kern="1200" cap="none" spc="0" normalizeH="0" baseline="0" noProof="0" dirty="0">
                <a:ln>
                  <a:noFill/>
                </a:ln>
                <a:solidFill>
                  <a:schemeClr val="tx1"/>
                </a:solidFill>
                <a:effectLst/>
                <a:uLnTx/>
                <a:uFillTx/>
                <a:latin typeface="+mn-lt"/>
                <a:ea typeface="+mn-ea"/>
                <a:cs typeface="+mn-cs"/>
              </a:rPr>
              <a:t>When the subjects believed that the speech makers freely chose which position to take (for or against Castro), they naturally rated the people who gave the pro-Castro speeches as having a more positive attitude toward Castro. </a:t>
            </a:r>
            <a:endParaRPr kumimoji="0" lang="en-GB" altLang="tr-TR"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endParaRPr kumimoji="0" lang="en-GB" altLang="tr-TR"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r>
              <a:rPr kumimoji="0" lang="en-GB" altLang="tr-TR" sz="2400" b="0" i="0" u="none" strike="noStrike" kern="1200" cap="none" spc="0" normalizeH="0" baseline="0" noProof="0" dirty="0">
                <a:ln>
                  <a:noFill/>
                </a:ln>
                <a:solidFill>
                  <a:schemeClr val="tx1"/>
                </a:solidFill>
                <a:effectLst/>
                <a:uLnTx/>
                <a:uFillTx/>
                <a:latin typeface="+mn-lt"/>
                <a:ea typeface="+mn-ea"/>
                <a:cs typeface="+mn-cs"/>
              </a:rPr>
              <a:t>When the subjects were specifically told that the speech makers gave either a pro- or an anti-Castro speech solely as the </a:t>
            </a:r>
            <a:r>
              <a:rPr kumimoji="0" lang="en-GB" altLang="tr-TR" sz="2400" b="1" i="0" u="none" strike="noStrike" kern="1200" cap="none" spc="0" normalizeH="0" baseline="0" noProof="0" dirty="0">
                <a:ln>
                  <a:noFill/>
                </a:ln>
                <a:solidFill>
                  <a:schemeClr val="tx1"/>
                </a:solidFill>
                <a:effectLst/>
                <a:uLnTx/>
                <a:uFillTx/>
                <a:latin typeface="+mn-lt"/>
                <a:ea typeface="+mn-ea"/>
                <a:cs typeface="+mn-cs"/>
              </a:rPr>
              <a:t>result of a coin flip</a:t>
            </a:r>
            <a:r>
              <a:rPr kumimoji="0" lang="en-GB" altLang="tr-TR" sz="2400" b="0" i="0" u="none" strike="noStrike" kern="1200" cap="none" spc="0" normalizeH="0" baseline="0" noProof="0" dirty="0">
                <a:ln>
                  <a:noFill/>
                </a:ln>
                <a:solidFill>
                  <a:schemeClr val="tx1"/>
                </a:solidFill>
                <a:effectLst/>
                <a:uLnTx/>
                <a:uFillTx/>
                <a:latin typeface="+mn-lt"/>
                <a:ea typeface="+mn-ea"/>
                <a:cs typeface="+mn-cs"/>
              </a:rPr>
              <a:t>, the subjects </a:t>
            </a:r>
            <a:r>
              <a:rPr kumimoji="0" lang="en-GB" altLang="tr-TR" sz="2400" b="1" i="0" u="none" strike="noStrike" kern="1200" cap="none" spc="0" normalizeH="0" baseline="0" noProof="0" dirty="0">
                <a:ln>
                  <a:noFill/>
                </a:ln>
                <a:solidFill>
                  <a:schemeClr val="tx1"/>
                </a:solidFill>
                <a:effectLst/>
                <a:uLnTx/>
                <a:uFillTx/>
                <a:latin typeface="+mn-lt"/>
                <a:ea typeface="+mn-ea"/>
                <a:cs typeface="+mn-cs"/>
              </a:rPr>
              <a:t>still </a:t>
            </a:r>
            <a:r>
              <a:rPr kumimoji="0" lang="en-GB" altLang="tr-TR" sz="2400" b="0" i="0" u="none" strike="noStrike" kern="1200" cap="none" spc="0" normalizeH="0" baseline="0" noProof="0" dirty="0">
                <a:ln>
                  <a:noFill/>
                </a:ln>
                <a:solidFill>
                  <a:schemeClr val="tx1"/>
                </a:solidFill>
                <a:effectLst/>
                <a:uLnTx/>
                <a:uFillTx/>
                <a:latin typeface="+mn-lt"/>
                <a:ea typeface="+mn-ea"/>
                <a:cs typeface="+mn-cs"/>
              </a:rPr>
              <a:t>rated the people who gave the pro-Castro speeches as having, on average, a more positive attitude towards Castro than those giving anti-Castro speeches. </a:t>
            </a:r>
            <a:endParaRPr kumimoji="0" lang="en-GB" altLang="tr-TR"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p:cNvSpPr>
          <p:nvPr>
            <p:ph type="body" idx="4294967295"/>
          </p:nvPr>
        </p:nvSpPr>
        <p:spPr>
          <a:xfrm>
            <a:off x="518795" y="1752600"/>
            <a:ext cx="10910570" cy="4485005"/>
          </a:xfrm>
        </p:spPr>
        <p:txBody>
          <a:bodyPr vert="horz" wrap="square" lIns="91440" tIns="45720" rIns="91440" bIns="45720" anchor="t" anchorCtr="0"/>
          <a:lstStyle/>
          <a:p>
            <a:pPr marL="0" indent="0" algn="just" eaLnBrk="1" hangingPunct="1">
              <a:buFont typeface="Wingdings" panose="05000000000000000000" pitchFamily="2" charset="2"/>
              <a:buNone/>
            </a:pPr>
            <a:r>
              <a:rPr lang="en-GB" altLang="tr-TR" sz="3200" dirty="0">
                <a:solidFill>
                  <a:srgbClr val="000000"/>
                </a:solidFill>
              </a:rPr>
              <a:t>Thus, even when subjects were aware that the speeches made were solely because of the flip of a coin, they committed the </a:t>
            </a:r>
            <a:r>
              <a:rPr lang="en-GB" altLang="tr-TR" sz="3200" b="1" dirty="0">
                <a:solidFill>
                  <a:srgbClr val="000000"/>
                </a:solidFill>
              </a:rPr>
              <a:t>fundamental attribution error</a:t>
            </a:r>
            <a:r>
              <a:rPr lang="en-GB" altLang="tr-TR" sz="3200" dirty="0">
                <a:solidFill>
                  <a:srgbClr val="000000"/>
                </a:solidFill>
              </a:rPr>
              <a:t> when it came to judging the motivation behind pro or anti-Castro attitudes of the speech makers.</a:t>
            </a:r>
            <a:r>
              <a:rPr lang="en-GB" altLang="tr-TR" sz="3200" dirty="0"/>
              <a:t> </a:t>
            </a:r>
            <a:endParaRPr lang="en-GB" altLang="tr-TR" sz="3200" dirty="0"/>
          </a:p>
          <a:p>
            <a:pPr marL="0" indent="0" algn="just" eaLnBrk="1" hangingPunct="1">
              <a:buFont typeface="Wingdings" panose="05000000000000000000" pitchFamily="2" charset="2"/>
              <a:buNone/>
            </a:pPr>
            <a:endParaRPr lang="en-GB" altLang="tr-TR" sz="3200" dirty="0"/>
          </a:p>
          <a:p>
            <a:pPr marL="0" indent="0" algn="just" eaLnBrk="1" hangingPunct="1">
              <a:buFont typeface="Wingdings" panose="05000000000000000000" pitchFamily="2" charset="2"/>
              <a:buNone/>
            </a:pPr>
            <a:endParaRPr lang="en-GB" altLang="tr-TR" sz="3200" dirty="0"/>
          </a:p>
        </p:txBody>
      </p:sp>
      <p:sp>
        <p:nvSpPr>
          <p:cNvPr id="64514" name="Rectangle 2"/>
          <p:cNvSpPr>
            <a:spLocks noGrp="1" noChangeArrowheads="1"/>
          </p:cNvSpPr>
          <p:nvPr/>
        </p:nvSpPr>
        <p:spPr>
          <a:xfrm>
            <a:off x="1829435" y="193040"/>
            <a:ext cx="10362565" cy="1143000"/>
          </a:xfrm>
          <a:prstGeom prst="rect">
            <a:avLst/>
          </a:prstGeom>
          <a:noFill/>
          <a:ln w="9525">
            <a:noFill/>
          </a:ln>
        </p:spPr>
        <p:txBody>
          <a:bodyPr lIns="91440" tIns="45720" rIns="91440" bIns="45720" rtlCol="0" anchor="t" anchorCtr="0">
            <a:normAutofit/>
          </a:bodyPr>
          <a:lst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tr-TR" sz="2800" b="1" i="0" u="none" strike="noStrike" kern="1200" cap="all" spc="150" normalizeH="0" baseline="0" noProof="0" dirty="0">
                <a:ln>
                  <a:noFill/>
                </a:ln>
                <a:solidFill>
                  <a:srgbClr val="000000"/>
                </a:solidFill>
                <a:effectLst/>
                <a:uLnTx/>
                <a:uFillTx/>
                <a:latin typeface="+mn-lt"/>
                <a:ea typeface="+mj-ea"/>
                <a:cs typeface="+mj-cs"/>
              </a:rPr>
              <a:t>Jones &amp; Harris (1967) ‘Castro study’</a:t>
            </a:r>
            <a:endParaRPr kumimoji="0" lang="en-GB" altLang="tr-TR" sz="2800" b="1" i="0" u="none" strike="noStrike" kern="1200" cap="all" spc="150" normalizeH="0" baseline="0" noProof="0" dirty="0">
              <a:ln>
                <a:noFill/>
              </a:ln>
              <a:solidFill>
                <a:srgbClr val="000000"/>
              </a:solidFill>
              <a:effectLst/>
              <a:uLnTx/>
              <a:uFillTx/>
              <a:latin typeface="+mn-lt"/>
              <a:ea typeface="+mj-ea"/>
              <a:cs typeface="+mj-cs"/>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562" name="Object 2"/>
          <p:cNvGraphicFramePr>
            <a:graphicFrameLocks noChangeAspect="1"/>
          </p:cNvGraphicFramePr>
          <p:nvPr/>
        </p:nvGraphicFramePr>
        <p:xfrm>
          <a:off x="2438400" y="381000"/>
          <a:ext cx="7924800" cy="6172200"/>
        </p:xfrm>
        <a:graphic>
          <a:graphicData uri="http://schemas.openxmlformats.org/presentationml/2006/ole">
            <mc:AlternateContent xmlns:mc="http://schemas.openxmlformats.org/markup-compatibility/2006">
              <mc:Choice xmlns:v="urn:schemas-microsoft-com:vml" Requires="v">
                <p:oleObj spid="_x0000_s3079" name="" r:id="rId1" imgW="5019675" imgH="4981575" progId="MSPhotoEd.3">
                  <p:embed/>
                </p:oleObj>
              </mc:Choice>
              <mc:Fallback>
                <p:oleObj name="" r:id="rId1" imgW="5019675" imgH="4981575" progId="MSPhotoEd.3">
                  <p:embed/>
                  <p:pic>
                    <p:nvPicPr>
                      <p:cNvPr id="0" name="Picture 3075"/>
                      <p:cNvPicPr/>
                      <p:nvPr/>
                    </p:nvPicPr>
                    <p:blipFill>
                      <a:blip r:embed="rId2"/>
                      <a:stretch>
                        <a:fillRect/>
                      </a:stretch>
                    </p:blipFill>
                    <p:spPr>
                      <a:xfrm>
                        <a:off x="2438400" y="381000"/>
                        <a:ext cx="7924800" cy="61722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1778000" y="228600"/>
            <a:ext cx="9702800" cy="1143000"/>
          </a:xfrm>
        </p:spPr>
        <p:txBody>
          <a:bodyPr lIns="91440" tIns="45720" rIns="91440" bIns="45720" rtlCol="0" anchor="t">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GB" altLang="tr-TR" sz="2800" b="1" i="0" u="none" strike="noStrike" kern="1200" cap="all" spc="150" normalizeH="0" baseline="0" noProof="0" dirty="0">
                <a:ln>
                  <a:noFill/>
                </a:ln>
                <a:solidFill>
                  <a:schemeClr val="tx2"/>
                </a:solidFill>
                <a:effectLst/>
                <a:uLnTx/>
                <a:uFillTx/>
                <a:latin typeface="+mn-lt"/>
                <a:ea typeface="+mj-ea"/>
                <a:cs typeface="+mj-cs"/>
              </a:rPr>
              <a:t>False consensus effect (Ross et al. 1977)</a:t>
            </a:r>
            <a:endParaRPr kumimoji="0" lang="en-GB" altLang="tr-TR" sz="2800" b="1" i="0" u="none" strike="noStrike" kern="1200" cap="all" spc="150" normalizeH="0" baseline="0" noProof="0" dirty="0">
              <a:ln>
                <a:noFill/>
              </a:ln>
              <a:solidFill>
                <a:schemeClr val="tx2"/>
              </a:solidFill>
              <a:effectLst/>
              <a:uLnTx/>
              <a:uFillTx/>
              <a:latin typeface="+mn-lt"/>
              <a:ea typeface="+mj-ea"/>
              <a:cs typeface="+mj-cs"/>
            </a:endParaRPr>
          </a:p>
        </p:txBody>
      </p:sp>
      <p:sp>
        <p:nvSpPr>
          <p:cNvPr id="68611" name="Rectangle 3"/>
          <p:cNvSpPr>
            <a:spLocks noGrp="1"/>
          </p:cNvSpPr>
          <p:nvPr>
            <p:ph type="body" idx="4294967295"/>
          </p:nvPr>
        </p:nvSpPr>
        <p:spPr>
          <a:xfrm>
            <a:off x="721360" y="1219200"/>
            <a:ext cx="10689590" cy="4907280"/>
          </a:xfrm>
        </p:spPr>
        <p:txBody>
          <a:bodyPr vert="horz" wrap="square" lIns="91440" tIns="45720" rIns="91440" bIns="45720" anchor="t" anchorCtr="0"/>
          <a:lstStyle/>
          <a:p>
            <a:pPr algn="just" eaLnBrk="1" hangingPunct="1">
              <a:spcAft>
                <a:spcPct val="70000"/>
              </a:spcAft>
              <a:buClr>
                <a:schemeClr val="tx1"/>
              </a:buClr>
              <a:buFont typeface="Wingdings" panose="05000000000000000000" pitchFamily="2" charset="2"/>
              <a:buChar char="§"/>
            </a:pPr>
            <a:endParaRPr lang="en-US" altLang="tr-TR" sz="2800" dirty="0"/>
          </a:p>
          <a:p>
            <a:pPr algn="just" eaLnBrk="1" hangingPunct="1">
              <a:spcAft>
                <a:spcPct val="70000"/>
              </a:spcAft>
              <a:buFont typeface="Wingdings" panose="05000000000000000000" pitchFamily="2" charset="2"/>
              <a:buChar char="§"/>
            </a:pPr>
            <a:r>
              <a:rPr lang="en-US" altLang="tr-TR" sz="2800" dirty="0">
                <a:solidFill>
                  <a:srgbClr val="000000"/>
                </a:solidFill>
              </a:rPr>
              <a:t>Tendency to see own behaviour as more typical than it actually is (</a:t>
            </a:r>
            <a:r>
              <a:rPr lang="en-GB" altLang="tr-TR" sz="2800" dirty="0">
                <a:solidFill>
                  <a:srgbClr val="000000"/>
                </a:solidFill>
                <a:cs typeface="Calibri" panose="020F0502020204030204" charset="0"/>
              </a:rPr>
              <a:t>tendency to </a:t>
            </a:r>
            <a:r>
              <a:rPr lang="en-GB" altLang="tr-TR" sz="2800" dirty="0">
                <a:solidFill>
                  <a:srgbClr val="000000"/>
                </a:solidFill>
              </a:rPr>
              <a:t>overestimate the degree to which others agree with them).</a:t>
            </a:r>
            <a:endParaRPr lang="en-GB" altLang="tr-TR" sz="2800" dirty="0">
              <a:solidFill>
                <a:srgbClr val="000000"/>
              </a:solidFill>
            </a:endParaRPr>
          </a:p>
          <a:p>
            <a:pPr algn="just" eaLnBrk="1" hangingPunct="1">
              <a:spcAft>
                <a:spcPct val="70000"/>
              </a:spcAft>
              <a:buFont typeface="Wingdings" panose="05000000000000000000" pitchFamily="2" charset="2"/>
              <a:buChar char="§"/>
            </a:pPr>
            <a:r>
              <a:rPr lang="en-GB" altLang="tr-TR" sz="2800" dirty="0">
                <a:solidFill>
                  <a:srgbClr val="000000"/>
                </a:solidFill>
              </a:rPr>
              <a:t>Commonly present in a group setting where one thinks the collective opinion of their own group matches that of the larger population. </a:t>
            </a:r>
            <a:endParaRPr lang="en-GB" altLang="tr-TR" sz="2800" dirty="0">
              <a:solidFill>
                <a:srgbClr val="000000"/>
              </a:solidFill>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2438400" y="228600"/>
            <a:ext cx="8229600" cy="1143000"/>
          </a:xfrm>
        </p:spPr>
        <p:txBody>
          <a:bodyPr lIns="91440" tIns="45720" rIns="91440" bIns="45720" rtlCol="0" anchor="t">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GB" altLang="tr-TR" sz="2800" b="1" i="0" u="none" strike="noStrike" kern="1200" cap="all" spc="150" normalizeH="0" baseline="0" noProof="0" dirty="0">
                <a:ln>
                  <a:noFill/>
                </a:ln>
                <a:solidFill>
                  <a:srgbClr val="000000"/>
                </a:solidFill>
                <a:effectLst/>
                <a:uLnTx/>
                <a:uFillTx/>
                <a:latin typeface="+mn-lt"/>
                <a:ea typeface="+mj-ea"/>
                <a:cs typeface="+mj-cs"/>
              </a:rPr>
              <a:t>Ross, Greene &amp; House (1977)</a:t>
            </a:r>
            <a:endParaRPr kumimoji="0" lang="en-GB" altLang="tr-TR" sz="2800" b="1" i="0" u="none" strike="noStrike" kern="1200" cap="all" spc="150" normalizeH="0" baseline="0" noProof="0" dirty="0">
              <a:ln>
                <a:noFill/>
              </a:ln>
              <a:solidFill>
                <a:srgbClr val="000000"/>
              </a:solidFill>
              <a:effectLst/>
              <a:uLnTx/>
              <a:uFillTx/>
              <a:latin typeface="+mn-lt"/>
              <a:ea typeface="+mj-ea"/>
              <a:cs typeface="+mj-cs"/>
            </a:endParaRPr>
          </a:p>
        </p:txBody>
      </p:sp>
      <p:sp>
        <p:nvSpPr>
          <p:cNvPr id="70659" name="Rectangle 3"/>
          <p:cNvSpPr>
            <a:spLocks noGrp="1"/>
          </p:cNvSpPr>
          <p:nvPr>
            <p:ph type="body" idx="4294967295"/>
          </p:nvPr>
        </p:nvSpPr>
        <p:spPr>
          <a:xfrm>
            <a:off x="660400" y="1600200"/>
            <a:ext cx="10911205" cy="4997450"/>
          </a:xfrm>
        </p:spPr>
        <p:txBody>
          <a:bodyPr vert="horz" wrap="square" lIns="91440" tIns="45720" rIns="91440" bIns="45720" anchor="t" anchorCtr="0"/>
          <a:lstStyle/>
          <a:p>
            <a:pPr eaLnBrk="1" hangingPunct="1">
              <a:buFont typeface="Wingdings" panose="05000000000000000000" pitchFamily="2" charset="2"/>
              <a:buChar char="§"/>
            </a:pPr>
            <a:r>
              <a:rPr lang="en-US" altLang="tr-TR" sz="2800" dirty="0">
                <a:solidFill>
                  <a:srgbClr val="000000"/>
                </a:solidFill>
              </a:rPr>
              <a:t>Participants asked if they would wear a sign around campus and watch reactions of others</a:t>
            </a:r>
            <a:endParaRPr lang="en-US" altLang="tr-TR" sz="2800" dirty="0">
              <a:solidFill>
                <a:srgbClr val="000000"/>
              </a:solidFill>
            </a:endParaRPr>
          </a:p>
          <a:p>
            <a:pPr eaLnBrk="1" hangingPunct="1">
              <a:buFont typeface="Wingdings" panose="05000000000000000000" pitchFamily="2" charset="2"/>
              <a:buChar char="§"/>
            </a:pPr>
            <a:endParaRPr lang="en-US" altLang="tr-TR" sz="2800" dirty="0">
              <a:solidFill>
                <a:srgbClr val="000000"/>
              </a:solidFill>
            </a:endParaRPr>
          </a:p>
          <a:p>
            <a:pPr eaLnBrk="1" hangingPunct="1">
              <a:buFont typeface="Wingdings" panose="05000000000000000000" pitchFamily="2" charset="2"/>
              <a:buChar char="§"/>
            </a:pPr>
            <a:r>
              <a:rPr lang="en-US" altLang="tr-TR" sz="2800" dirty="0">
                <a:solidFill>
                  <a:srgbClr val="000000"/>
                </a:solidFill>
              </a:rPr>
              <a:t>Told did not have to do it</a:t>
            </a:r>
            <a:endParaRPr lang="en-US" altLang="tr-TR" sz="2800" dirty="0">
              <a:solidFill>
                <a:srgbClr val="000000"/>
              </a:solidFill>
            </a:endParaRPr>
          </a:p>
          <a:p>
            <a:pPr eaLnBrk="1" hangingPunct="1">
              <a:buFont typeface="Wingdings" panose="05000000000000000000" pitchFamily="2" charset="2"/>
              <a:buChar char="§"/>
            </a:pPr>
            <a:endParaRPr lang="en-US" altLang="tr-TR" sz="2800" dirty="0">
              <a:solidFill>
                <a:srgbClr val="000000"/>
              </a:solidFill>
            </a:endParaRPr>
          </a:p>
          <a:p>
            <a:pPr eaLnBrk="1" hangingPunct="1">
              <a:buFont typeface="Wingdings" panose="05000000000000000000" pitchFamily="2" charset="2"/>
              <a:buChar char="§"/>
            </a:pPr>
            <a:r>
              <a:rPr lang="en-US" altLang="tr-TR" sz="2800" dirty="0">
                <a:solidFill>
                  <a:srgbClr val="000000"/>
                </a:solidFill>
              </a:rPr>
              <a:t>After participants made choice, they rated how many other students made the same choice as them.</a:t>
            </a:r>
            <a:endParaRPr lang="en-US" altLang="tr-TR" sz="2800" dirty="0">
              <a:solidFill>
                <a:srgbClr val="000000"/>
              </a:solidFill>
            </a:endParaRPr>
          </a:p>
          <a:p>
            <a:pPr eaLnBrk="1" hangingPunct="1">
              <a:buFontTx/>
              <a:buChar char="o"/>
            </a:pPr>
            <a:endParaRPr lang="en-GB" altLang="tr-TR" sz="2800" dirty="0">
              <a:solidFill>
                <a:srgbClr val="000000"/>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p:cNvSpPr>
          <p:nvPr>
            <p:ph type="body" idx="4294967295"/>
          </p:nvPr>
        </p:nvSpPr>
        <p:spPr>
          <a:xfrm>
            <a:off x="427355" y="1600200"/>
            <a:ext cx="11276965" cy="4997450"/>
          </a:xfrm>
        </p:spPr>
        <p:txBody>
          <a:bodyPr vert="horz" wrap="square" lIns="91440" tIns="45720" rIns="91440" bIns="45720" anchor="t" anchorCtr="0">
            <a:normAutofit/>
          </a:bodyPr>
          <a:lstStyle/>
          <a:p>
            <a:pPr marL="0" indent="0" eaLnBrk="1" hangingPunct="1">
              <a:buFont typeface="Wingdings" panose="05000000000000000000" pitchFamily="2" charset="2"/>
              <a:buNone/>
            </a:pPr>
            <a:r>
              <a:rPr lang="en-US" altLang="tr-TR" sz="2800" b="1" dirty="0">
                <a:solidFill>
                  <a:srgbClr val="000000"/>
                </a:solidFill>
              </a:rPr>
              <a:t>Results:</a:t>
            </a:r>
            <a:endParaRPr lang="en-US" altLang="tr-TR" sz="2800" b="1" dirty="0">
              <a:solidFill>
                <a:srgbClr val="000000"/>
              </a:solidFill>
            </a:endParaRPr>
          </a:p>
          <a:p>
            <a:pPr marL="0" indent="0" eaLnBrk="1" hangingPunct="1">
              <a:buFont typeface="Wingdings" panose="05000000000000000000" pitchFamily="2" charset="2"/>
              <a:buNone/>
            </a:pPr>
            <a:r>
              <a:rPr lang="en-US" altLang="tr-TR" sz="2800" dirty="0">
                <a:solidFill>
                  <a:srgbClr val="000000"/>
                </a:solidFill>
              </a:rPr>
              <a:t>50% said they would wear a sign</a:t>
            </a:r>
            <a:endParaRPr lang="en-US" altLang="tr-TR" sz="2800" dirty="0">
              <a:solidFill>
                <a:srgbClr val="000000"/>
              </a:solidFill>
            </a:endParaRPr>
          </a:p>
          <a:p>
            <a:pPr marL="0" indent="0" eaLnBrk="1" hangingPunct="1">
              <a:buFont typeface="Wingdings" panose="05000000000000000000" pitchFamily="2" charset="2"/>
              <a:buNone/>
            </a:pPr>
            <a:r>
              <a:rPr lang="en-US" altLang="tr-TR" sz="2800" dirty="0">
                <a:solidFill>
                  <a:srgbClr val="000000"/>
                </a:solidFill>
              </a:rPr>
              <a:t>50% said they would not</a:t>
            </a:r>
            <a:endParaRPr lang="en-US" altLang="tr-TR" sz="2800" dirty="0">
              <a:solidFill>
                <a:srgbClr val="000000"/>
              </a:solidFill>
            </a:endParaRPr>
          </a:p>
          <a:p>
            <a:pPr marL="0" indent="0" eaLnBrk="1" hangingPunct="1">
              <a:buFont typeface="Wingdings" panose="05000000000000000000" pitchFamily="2" charset="2"/>
              <a:buNone/>
            </a:pPr>
            <a:r>
              <a:rPr lang="en-US" altLang="tr-TR" sz="2800" dirty="0">
                <a:solidFill>
                  <a:srgbClr val="000000"/>
                </a:solidFill>
              </a:rPr>
              <a:t>				       Estimate</a:t>
            </a:r>
            <a:endParaRPr lang="en-US" altLang="tr-TR" sz="2800" dirty="0">
              <a:solidFill>
                <a:srgbClr val="000000"/>
              </a:solidFill>
            </a:endParaRPr>
          </a:p>
          <a:p>
            <a:pPr marL="0" indent="0" eaLnBrk="1" hangingPunct="1">
              <a:buFont typeface="Wingdings" panose="05000000000000000000" pitchFamily="2" charset="2"/>
              <a:buNone/>
            </a:pPr>
            <a:r>
              <a:rPr lang="en-US" altLang="tr-TR" sz="2800" dirty="0">
                <a:solidFill>
                  <a:srgbClr val="000000"/>
                </a:solidFill>
              </a:rPr>
              <a:t>Wear sign		63% would		37% wouldn’t </a:t>
            </a:r>
            <a:endParaRPr lang="en-US" altLang="tr-TR" sz="2800" dirty="0">
              <a:solidFill>
                <a:srgbClr val="000000"/>
              </a:solidFill>
            </a:endParaRPr>
          </a:p>
          <a:p>
            <a:pPr marL="0" indent="0" eaLnBrk="1" hangingPunct="1">
              <a:buFont typeface="Wingdings" panose="05000000000000000000" pitchFamily="2" charset="2"/>
              <a:buNone/>
            </a:pPr>
            <a:r>
              <a:rPr lang="en-US" altLang="tr-TR" sz="2800" dirty="0">
                <a:solidFill>
                  <a:srgbClr val="000000"/>
                </a:solidFill>
              </a:rPr>
              <a:t>Not wear sign	23% would		77% wouldn’t</a:t>
            </a:r>
            <a:endParaRPr lang="en-US" altLang="tr-TR" sz="2800" dirty="0">
              <a:solidFill>
                <a:srgbClr val="000000"/>
              </a:solidFill>
            </a:endParaRPr>
          </a:p>
          <a:p>
            <a:pPr marL="0" indent="0" eaLnBrk="1" hangingPunct="1">
              <a:buFont typeface="Wingdings" panose="05000000000000000000" pitchFamily="2" charset="2"/>
              <a:buNone/>
            </a:pPr>
            <a:endParaRPr lang="en-US" altLang="tr-TR" sz="2800" dirty="0">
              <a:solidFill>
                <a:srgbClr val="000000"/>
              </a:solidFill>
            </a:endParaRPr>
          </a:p>
          <a:p>
            <a:pPr marL="0" indent="0" eaLnBrk="1" hangingPunct="1">
              <a:buFont typeface="Wingdings" panose="05000000000000000000" pitchFamily="2" charset="2"/>
              <a:buNone/>
            </a:pPr>
            <a:r>
              <a:rPr lang="en-US" altLang="tr-TR" sz="2800" dirty="0">
                <a:solidFill>
                  <a:srgbClr val="000000"/>
                </a:solidFill>
              </a:rPr>
              <a:t>Overestimated how many others would behave as they did!</a:t>
            </a:r>
            <a:endParaRPr lang="en-GB" altLang="tr-TR" sz="2800" dirty="0">
              <a:solidFill>
                <a:srgbClr val="00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1737360" y="0"/>
            <a:ext cx="10109200" cy="1143000"/>
          </a:xfrm>
        </p:spPr>
        <p:txBody>
          <a:bodyPr lIns="91440" tIns="45720" rIns="91440" bIns="45720" rtlCol="0" anchor="t">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GB" altLang="tr-TR" sz="3110" b="1" i="0" u="none" strike="noStrike" kern="1200" cap="all" spc="150" normalizeH="0" baseline="0" noProof="0" dirty="0">
                <a:ln>
                  <a:noFill/>
                </a:ln>
                <a:solidFill>
                  <a:schemeClr val="tx2"/>
                </a:solidFill>
                <a:effectLst/>
                <a:uLnTx/>
                <a:uFillTx/>
                <a:latin typeface="+mn-lt"/>
                <a:ea typeface="+mj-ea"/>
                <a:cs typeface="+mj-cs"/>
              </a:rPr>
              <a:t>Self-serving bias (Miller &amp; Ross, 1975)</a:t>
            </a:r>
            <a:endParaRPr kumimoji="0" lang="en-GB" altLang="tr-TR" sz="3110" b="1" i="0" u="none" strike="noStrike" kern="1200" cap="all" spc="150" normalizeH="0" baseline="0" noProof="0" dirty="0">
              <a:ln>
                <a:noFill/>
              </a:ln>
              <a:solidFill>
                <a:schemeClr val="tx2"/>
              </a:solidFill>
              <a:effectLst/>
              <a:uLnTx/>
              <a:uFillTx/>
              <a:latin typeface="+mn-lt"/>
              <a:ea typeface="+mj-ea"/>
              <a:cs typeface="+mj-cs"/>
            </a:endParaRPr>
          </a:p>
        </p:txBody>
      </p:sp>
      <p:sp>
        <p:nvSpPr>
          <p:cNvPr id="74755" name="Rectangle 3"/>
          <p:cNvSpPr>
            <a:spLocks noGrp="1" noChangeArrowheads="1"/>
          </p:cNvSpPr>
          <p:nvPr>
            <p:ph type="body" idx="1"/>
          </p:nvPr>
        </p:nvSpPr>
        <p:spPr>
          <a:xfrm>
            <a:off x="807085" y="1981200"/>
            <a:ext cx="10536555" cy="4648200"/>
          </a:xfrm>
        </p:spPr>
        <p:txBody>
          <a:bodyPr vert="horz" wrap="square" lIns="91440" tIns="45720" rIns="91440" bIns="45720" numCol="1" rtlCol="0" anchor="t" anchorCtr="0" compatLnSpc="1">
            <a:normAutofit/>
          </a:bodyPr>
          <a:lstStyle/>
          <a:p>
            <a:pPr marL="0" marR="0" lvl="0" indent="0" algn="just" defTabSz="685800" rtl="0" eaLnBrk="1" fontAlgn="auto" latinLnBrk="0" hangingPunct="1">
              <a:lnSpc>
                <a:spcPct val="80000"/>
              </a:lnSpc>
              <a:spcBef>
                <a:spcPts val="700"/>
              </a:spcBef>
              <a:spcAft>
                <a:spcPts val="0"/>
              </a:spcAft>
              <a:buClr>
                <a:schemeClr val="tx2"/>
              </a:buClr>
              <a:buSzTx/>
              <a:buFont typeface="Wingdings" panose="05000000000000000000" pitchFamily="2" charset="2"/>
              <a:buChar char="§"/>
              <a:defRPr/>
            </a:pPr>
            <a:r>
              <a:rPr kumimoji="0" lang="en-GB" altLang="tr-TR" sz="2800" b="0" u="none" strike="noStrike" kern="1200" cap="none" spc="0" normalizeH="0" baseline="0" noProof="0" dirty="0">
                <a:ln>
                  <a:noFill/>
                </a:ln>
                <a:solidFill>
                  <a:srgbClr val="000000"/>
                </a:solidFill>
                <a:effectLst/>
                <a:uLnTx/>
                <a:uFillTx/>
                <a:latin typeface="+mn-lt"/>
                <a:ea typeface="+mn-ea"/>
                <a:cs typeface="+mn-cs"/>
              </a:rPr>
              <a:t> This is our tendency to take credit for success (</a:t>
            </a:r>
            <a:r>
              <a:rPr kumimoji="0" lang="en-GB" altLang="tr-TR" sz="2800" b="1" u="none" strike="noStrike" kern="1200" cap="none" spc="0" normalizeH="0" baseline="0" noProof="0" dirty="0">
                <a:ln>
                  <a:noFill/>
                </a:ln>
                <a:solidFill>
                  <a:srgbClr val="000000"/>
                </a:solidFill>
                <a:effectLst/>
                <a:uLnTx/>
                <a:uFillTx/>
                <a:latin typeface="+mn-lt"/>
                <a:ea typeface="+mn-ea"/>
                <a:cs typeface="+mn-cs"/>
              </a:rPr>
              <a:t>self-enhancing bias</a:t>
            </a:r>
            <a:r>
              <a:rPr kumimoji="0" lang="en-GB" altLang="tr-TR" sz="2800" b="0" u="none" strike="noStrike" kern="1200" cap="none" spc="0" normalizeH="0" baseline="0" noProof="0" dirty="0">
                <a:ln>
                  <a:noFill/>
                </a:ln>
                <a:solidFill>
                  <a:srgbClr val="000000"/>
                </a:solidFill>
                <a:effectLst/>
                <a:uLnTx/>
                <a:uFillTx/>
                <a:latin typeface="+mn-lt"/>
                <a:ea typeface="+mn-ea"/>
                <a:cs typeface="+mn-cs"/>
              </a:rPr>
              <a:t>) and deny any responsibility for failure (</a:t>
            </a:r>
            <a:r>
              <a:rPr kumimoji="0" lang="en-GB" altLang="tr-TR" sz="2800" b="1" u="none" strike="noStrike" kern="1200" cap="none" spc="0" normalizeH="0" baseline="0" noProof="0" dirty="0">
                <a:ln>
                  <a:noFill/>
                </a:ln>
                <a:solidFill>
                  <a:srgbClr val="000000"/>
                </a:solidFill>
                <a:effectLst/>
                <a:uLnTx/>
                <a:uFillTx/>
                <a:latin typeface="+mn-lt"/>
                <a:ea typeface="+mn-ea"/>
                <a:cs typeface="+mn-cs"/>
              </a:rPr>
              <a:t>self-protective bias</a:t>
            </a:r>
            <a:r>
              <a:rPr kumimoji="0" lang="en-GB" altLang="tr-TR" sz="2800" b="0" u="none" strike="noStrike" kern="1200" cap="none" spc="0" normalizeH="0" baseline="0" noProof="0" dirty="0">
                <a:ln>
                  <a:noFill/>
                </a:ln>
                <a:solidFill>
                  <a:srgbClr val="000000"/>
                </a:solidFill>
                <a:effectLst/>
                <a:uLnTx/>
                <a:uFillTx/>
                <a:latin typeface="+mn-lt"/>
                <a:ea typeface="+mn-ea"/>
                <a:cs typeface="+mn-cs"/>
              </a:rPr>
              <a:t>).</a:t>
            </a:r>
            <a:endParaRPr kumimoji="0" lang="en-GB" altLang="tr-TR" sz="2800" b="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 typeface="Wingdings" panose="05000000000000000000" pitchFamily="2" charset="2"/>
              <a:buChar char="§"/>
              <a:defRPr/>
            </a:pPr>
            <a:endParaRPr kumimoji="0" lang="en-GB" altLang="tr-TR" sz="2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1"/>
              </a:buClr>
              <a:buSzTx/>
              <a:buFont typeface="Wingdings" panose="05000000000000000000" pitchFamily="2" charset="2"/>
              <a:buNone/>
              <a:defRPr/>
            </a:pPr>
            <a:r>
              <a:rPr kumimoji="0" lang="en-GB" altLang="tr-TR" sz="2800" b="0" i="0" u="none" strike="noStrike" kern="1200" cap="none" spc="0" normalizeH="0" baseline="0" noProof="0" dirty="0">
                <a:ln>
                  <a:noFill/>
                </a:ln>
                <a:solidFill>
                  <a:srgbClr val="000000"/>
                </a:solidFill>
                <a:effectLst/>
                <a:uLnTx/>
                <a:uFillTx/>
                <a:latin typeface="+mn-lt"/>
                <a:ea typeface="+mn-ea"/>
                <a:cs typeface="+mn-cs"/>
              </a:rPr>
              <a:t>e.g. “I got 90 for my essay!” vs. “The </a:t>
            </a:r>
            <a:r>
              <a:rPr kumimoji="0" lang="tr-TR" altLang="tr-TR" sz="2800" b="0" i="0" u="none" strike="noStrike" kern="1200" cap="none" spc="0" normalizeH="0" baseline="0" noProof="0" dirty="0" err="1">
                <a:ln>
                  <a:noFill/>
                </a:ln>
                <a:solidFill>
                  <a:srgbClr val="000000"/>
                </a:solidFill>
                <a:effectLst/>
                <a:uLnTx/>
                <a:uFillTx/>
                <a:latin typeface="+mn-lt"/>
                <a:ea typeface="+mn-ea"/>
                <a:cs typeface="+mn-cs"/>
              </a:rPr>
              <a:t>lecturer</a:t>
            </a:r>
            <a:r>
              <a:rPr kumimoji="0" lang="en-GB" altLang="tr-TR" sz="2800" b="0" i="0" u="none" strike="noStrike" kern="1200" cap="none" spc="0" normalizeH="0" baseline="0" noProof="0" dirty="0">
                <a:ln>
                  <a:noFill/>
                </a:ln>
                <a:solidFill>
                  <a:srgbClr val="000000"/>
                </a:solidFill>
                <a:effectLst/>
                <a:uLnTx/>
                <a:uFillTx/>
                <a:latin typeface="+mn-lt"/>
                <a:ea typeface="+mn-ea"/>
                <a:cs typeface="+mn-cs"/>
              </a:rPr>
              <a:t> gave me 40!”</a:t>
            </a:r>
            <a:endParaRPr kumimoji="0" lang="en-GB" altLang="tr-TR" sz="2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1"/>
              </a:buClr>
              <a:buSzTx/>
              <a:buFont typeface="Wingdings" panose="05000000000000000000" pitchFamily="2" charset="2"/>
              <a:buNone/>
              <a:defRPr/>
            </a:pPr>
            <a:endParaRPr kumimoji="0" lang="en-GB" altLang="tr-TR" sz="2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 typeface="Wingdings" panose="05000000000000000000" pitchFamily="2" charset="2"/>
              <a:buChar char="§"/>
              <a:defRPr/>
            </a:pP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 We want to protect / enhance self-esteem </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 typeface="Wingdings" panose="05000000000000000000" pitchFamily="2" charset="2"/>
              <a:buChar char="§"/>
              <a:defRPr/>
            </a:pP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 typeface="Wingdings" panose="05000000000000000000" pitchFamily="2" charset="2"/>
              <a:buChar char="§"/>
              <a:defRPr/>
            </a:pP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We make dispositional (internal) attributions for our successes and situational (external) attribution for our failures.</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p:cNvPicPr>
          <p:nvPr/>
        </p:nvPicPr>
        <p:blipFill>
          <a:blip r:embed="rId1"/>
          <a:stretch>
            <a:fillRect/>
          </a:stretch>
        </p:blipFill>
        <p:spPr>
          <a:xfrm>
            <a:off x="2286000" y="1471613"/>
            <a:ext cx="7620000" cy="3914775"/>
          </a:xfrm>
          <a:prstGeom prst="rect">
            <a:avLst/>
          </a:prstGeom>
          <a:noFill/>
          <a:ln w="9525">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a:xfrm>
            <a:off x="1767840" y="0"/>
            <a:ext cx="10108565" cy="1143000"/>
          </a:xfrm>
        </p:spPr>
        <p:txBody>
          <a:bodyPr lIns="90488" tIns="44450" rIns="90488" bIns="44450" rtlCol="0" anchor="t">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tr-TR" sz="2800" b="1" i="0" u="none" strike="noStrike" kern="1200" cap="all" spc="150" normalizeH="0" baseline="0" noProof="0" dirty="0">
                <a:ln>
                  <a:noFill/>
                </a:ln>
                <a:solidFill>
                  <a:schemeClr val="tx2"/>
                </a:solidFill>
                <a:effectLst/>
                <a:uLnTx/>
                <a:uFillTx/>
                <a:latin typeface="+mn-lt"/>
                <a:ea typeface="+mj-ea"/>
                <a:cs typeface="+mj-cs"/>
              </a:rPr>
              <a:t>The actor-observer effect (Jones &amp; </a:t>
            </a:r>
            <a:r>
              <a:rPr kumimoji="0" lang="en-US" altLang="tr-TR" sz="2800" b="1" i="0" u="none" strike="noStrike" kern="1200" cap="all" spc="150" normalizeH="0" baseline="0" noProof="0" dirty="0" err="1">
                <a:ln>
                  <a:noFill/>
                </a:ln>
                <a:solidFill>
                  <a:schemeClr val="tx2"/>
                </a:solidFill>
                <a:effectLst/>
                <a:uLnTx/>
                <a:uFillTx/>
                <a:latin typeface="+mn-lt"/>
                <a:ea typeface="+mj-ea"/>
                <a:cs typeface="+mj-cs"/>
              </a:rPr>
              <a:t>Nisbett</a:t>
            </a:r>
            <a:r>
              <a:rPr kumimoji="0" lang="en-US" altLang="tr-TR" sz="2800" b="1" i="0" u="none" strike="noStrike" kern="1200" cap="all" spc="150" normalizeH="0" baseline="0" noProof="0" dirty="0">
                <a:ln>
                  <a:noFill/>
                </a:ln>
                <a:solidFill>
                  <a:schemeClr val="tx2"/>
                </a:solidFill>
                <a:effectLst/>
                <a:uLnTx/>
                <a:uFillTx/>
                <a:latin typeface="+mn-lt"/>
                <a:ea typeface="+mj-ea"/>
                <a:cs typeface="+mj-cs"/>
              </a:rPr>
              <a:t>, 1972)</a:t>
            </a:r>
            <a:endParaRPr kumimoji="0" lang="en-US" altLang="tr-TR" sz="2800" b="1" i="0" u="none" strike="noStrike" kern="1200" cap="all" spc="150" normalizeH="0" baseline="0" noProof="0" dirty="0">
              <a:ln>
                <a:noFill/>
              </a:ln>
              <a:solidFill>
                <a:schemeClr val="tx2"/>
              </a:solidFill>
              <a:effectLst/>
              <a:uLnTx/>
              <a:uFillTx/>
              <a:latin typeface="+mn-lt"/>
              <a:ea typeface="+mj-ea"/>
              <a:cs typeface="+mj-cs"/>
            </a:endParaRPr>
          </a:p>
        </p:txBody>
      </p:sp>
      <p:sp>
        <p:nvSpPr>
          <p:cNvPr id="76803" name="Rectangle 3"/>
          <p:cNvSpPr>
            <a:spLocks noGrp="1" noChangeArrowheads="1"/>
          </p:cNvSpPr>
          <p:nvPr>
            <p:ph type="body" idx="1"/>
          </p:nvPr>
        </p:nvSpPr>
        <p:spPr>
          <a:xfrm>
            <a:off x="726440" y="1795780"/>
            <a:ext cx="10845165" cy="4800600"/>
          </a:xfrm>
        </p:spPr>
        <p:txBody>
          <a:bodyPr vert="horz" wrap="square" lIns="90488" tIns="44450" rIns="90488" bIns="44450" numCol="1" rtlCol="0" anchor="t" anchorCtr="0" compatLnSpc="1">
            <a:normAutofit/>
          </a:bodyPr>
          <a:lstStyle/>
          <a:p>
            <a:pPr marL="0" marR="0" lvl="0" indent="0" algn="just" defTabSz="685800" rtl="0" eaLnBrk="1" fontAlgn="auto" latinLnBrk="0" hangingPunct="1">
              <a:lnSpc>
                <a:spcPct val="80000"/>
              </a:lnSpc>
              <a:spcBef>
                <a:spcPts val="700"/>
              </a:spcBef>
              <a:spcAft>
                <a:spcPts val="0"/>
              </a:spcAft>
              <a:buClr>
                <a:schemeClr val="tx2"/>
              </a:buClr>
              <a:buSzTx/>
              <a:buFont typeface="Arial" panose="020B0604020202020204" pitchFamily="34" charset="0"/>
              <a:buNone/>
              <a:defRPr/>
            </a:pPr>
            <a:r>
              <a:rPr kumimoji="0" lang="en-GB" altLang="en-US" sz="2800" b="0" i="0" u="none" strike="noStrike" kern="1200" cap="none" spc="0" normalizeH="0" baseline="0" noProof="0" dirty="0">
                <a:ln>
                  <a:noFill/>
                </a:ln>
                <a:solidFill>
                  <a:srgbClr val="000000"/>
                </a:solidFill>
                <a:effectLst/>
                <a:uLnTx/>
                <a:uFillTx/>
                <a:latin typeface="+mn-lt"/>
                <a:ea typeface="+mn-ea"/>
                <a:cs typeface="+mn-cs"/>
              </a:rPr>
              <a:t>Although we tend to attribute others' behaviour to personal or dispositional factors, we typically attribute our own behaviour to situational factors.</a:t>
            </a:r>
            <a:endParaRPr kumimoji="0" lang="en-GB" altLang="en-US" sz="2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 typeface="Arial" panose="020B0604020202020204" pitchFamily="34" charset="0"/>
              <a:buNone/>
              <a:defRPr/>
            </a:pPr>
            <a:endParaRPr kumimoji="0" lang="en-US" altLang="en-US" sz="2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 typeface="Arial" panose="020B0604020202020204" pitchFamily="34" charset="0"/>
              <a:buNone/>
              <a:defRPr/>
            </a:pPr>
            <a:r>
              <a:rPr kumimoji="0" lang="en-GB" altLang="en-US" sz="2800" b="0" i="1" u="none" strike="noStrike" kern="1200" cap="none" spc="0" normalizeH="0" baseline="0" noProof="0" dirty="0">
                <a:ln>
                  <a:noFill/>
                </a:ln>
                <a:solidFill>
                  <a:srgbClr val="000000"/>
                </a:solidFill>
                <a:effectLst/>
                <a:uLnTx/>
                <a:uFillTx/>
                <a:latin typeface="+mn-lt"/>
                <a:ea typeface="+mn-ea"/>
                <a:cs typeface="+mn-cs"/>
              </a:rPr>
              <a:t>E.g. you didn't do well on your presentation = you "know" it was because you had three other projects due in the same week, your computer crashed on you twice etc.</a:t>
            </a:r>
            <a:endParaRPr kumimoji="0" lang="en-GB" altLang="en-US" sz="2800" b="0" i="1"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 typeface="Arial" panose="020B0604020202020204" pitchFamily="34" charset="0"/>
              <a:buNone/>
              <a:defRPr/>
            </a:pPr>
            <a:endParaRPr kumimoji="0" lang="en-GB" altLang="en-US" sz="2800" b="0" i="1" u="none" strike="noStrike" kern="1200" cap="none" spc="0" normalizeH="0" baseline="0" noProof="0" dirty="0">
              <a:ln>
                <a:noFill/>
              </a:ln>
              <a:solidFill>
                <a:srgbClr val="000000"/>
              </a:solidFill>
              <a:effectLst/>
              <a:uLnTx/>
              <a:uFillTx/>
              <a:latin typeface="+mn-lt"/>
              <a:ea typeface="+mn-ea"/>
              <a:cs typeface="+mn-cs"/>
            </a:endParaRPr>
          </a:p>
          <a:p>
            <a:pPr marL="0" marR="0" lvl="0" indent="0" algn="just" defTabSz="685800" rtl="0" eaLnBrk="1" fontAlgn="auto" latinLnBrk="0" hangingPunct="1">
              <a:lnSpc>
                <a:spcPct val="80000"/>
              </a:lnSpc>
              <a:spcBef>
                <a:spcPts val="700"/>
              </a:spcBef>
              <a:spcAft>
                <a:spcPts val="0"/>
              </a:spcAft>
              <a:buClr>
                <a:schemeClr val="tx2"/>
              </a:buClr>
              <a:buSzTx/>
              <a:buFont typeface="Arial" panose="020B0604020202020204" pitchFamily="34" charset="0"/>
              <a:buNone/>
              <a:defRPr/>
            </a:pPr>
            <a:r>
              <a:rPr kumimoji="0" lang="en-GB" altLang="en-US" sz="2800" b="0" i="1" u="none" strike="noStrike" kern="1200" cap="none" spc="0" normalizeH="0" baseline="0" noProof="0" dirty="0">
                <a:ln>
                  <a:noFill/>
                </a:ln>
                <a:solidFill>
                  <a:srgbClr val="000000"/>
                </a:solidFill>
                <a:effectLst/>
                <a:uLnTx/>
                <a:uFillTx/>
                <a:latin typeface="+mn-lt"/>
                <a:ea typeface="+mn-ea"/>
                <a:cs typeface="+mn-cs"/>
              </a:rPr>
              <a:t>Someone else give</a:t>
            </a:r>
            <a:r>
              <a:rPr kumimoji="0" lang="tr-TR" altLang="en-US" sz="2800" b="0" i="1" u="none" strike="noStrike" kern="1200" cap="none" spc="0" normalizeH="0" baseline="0" noProof="0" dirty="0">
                <a:ln>
                  <a:noFill/>
                </a:ln>
                <a:solidFill>
                  <a:srgbClr val="000000"/>
                </a:solidFill>
                <a:effectLst/>
                <a:uLnTx/>
                <a:uFillTx/>
                <a:latin typeface="+mn-lt"/>
                <a:ea typeface="+mn-ea"/>
                <a:cs typeface="+mn-cs"/>
              </a:rPr>
              <a:t>s</a:t>
            </a:r>
            <a:r>
              <a:rPr kumimoji="0" lang="en-GB" altLang="en-US" sz="2800" b="0" i="1" u="none" strike="noStrike" kern="1200" cap="none" spc="0" normalizeH="0" baseline="0" noProof="0" dirty="0">
                <a:ln>
                  <a:noFill/>
                </a:ln>
                <a:solidFill>
                  <a:srgbClr val="000000"/>
                </a:solidFill>
                <a:effectLst/>
                <a:uLnTx/>
                <a:uFillTx/>
                <a:latin typeface="+mn-lt"/>
                <a:ea typeface="+mn-ea"/>
                <a:cs typeface="+mn-cs"/>
              </a:rPr>
              <a:t> a bad presentation =  that person does not know his subject well, perhaps lacks intelligence or is terrible at public speaking.</a:t>
            </a:r>
            <a:r>
              <a:rPr kumimoji="0" lang="en-GB" altLang="en-US" sz="2800" b="0" i="1" u="none" strike="noStrike" kern="1200" cap="none" spc="0" normalizeH="0" baseline="0" noProof="0" dirty="0">
                <a:ln>
                  <a:noFill/>
                </a:ln>
                <a:solidFill>
                  <a:schemeClr val="tx1">
                    <a:lumMod val="65000"/>
                    <a:lumOff val="35000"/>
                  </a:schemeClr>
                </a:solidFill>
                <a:effectLst/>
                <a:uLnTx/>
                <a:uFillTx/>
                <a:latin typeface="Garamond" panose="02020404030301010803" pitchFamily="18" charset="0"/>
                <a:ea typeface="+mn-ea"/>
                <a:cs typeface="+mn-cs"/>
              </a:rPr>
              <a:t> </a:t>
            </a:r>
            <a:endParaRPr kumimoji="0" lang="en-US" altLang="en-US" sz="2800" b="0" i="1" u="none" strike="noStrike" kern="1200" cap="none" spc="0" normalizeH="0" baseline="0" noProof="0" dirty="0">
              <a:ln>
                <a:noFill/>
              </a:ln>
              <a:solidFill>
                <a:schemeClr val="tx1">
                  <a:lumMod val="65000"/>
                  <a:lumOff val="35000"/>
                </a:schemeClr>
              </a:solidFill>
              <a:effectLst/>
              <a:uLnTx/>
              <a:uFillTx/>
              <a:latin typeface="Garamond" panose="02020404030301010803" pitchFamily="18" charset="0"/>
              <a:ea typeface="+mn-ea"/>
              <a:cs typeface="+mn-cs"/>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2438400" y="304800"/>
            <a:ext cx="8229600" cy="1143000"/>
          </a:xfrm>
        </p:spPr>
        <p:txBody>
          <a:bodyPr lIns="91440" tIns="45720" rIns="91440" bIns="45720" rtlCol="0" anchor="t">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tr-TR" sz="3110" b="1" i="0" u="none" strike="noStrike" kern="1200" cap="all" spc="150" normalizeH="0" baseline="0" noProof="0" dirty="0">
                <a:ln>
                  <a:noFill/>
                </a:ln>
                <a:solidFill>
                  <a:srgbClr val="000000"/>
                </a:solidFill>
                <a:effectLst/>
                <a:uLnTx/>
                <a:uFillTx/>
                <a:latin typeface="+mn-lt"/>
                <a:ea typeface="+mj-ea"/>
                <a:cs typeface="+mj-cs"/>
              </a:rPr>
              <a:t>The actor-observer effect</a:t>
            </a:r>
            <a:endParaRPr kumimoji="0" lang="en-GB" altLang="tr-TR" sz="3110" b="1" i="0" u="none" strike="noStrike" kern="1200" cap="all" spc="150" normalizeH="0" baseline="0" noProof="0" dirty="0">
              <a:ln>
                <a:noFill/>
              </a:ln>
              <a:solidFill>
                <a:srgbClr val="000000"/>
              </a:solidFill>
              <a:effectLst/>
              <a:uLnTx/>
              <a:uFillTx/>
              <a:latin typeface="+mn-lt"/>
              <a:ea typeface="+mj-ea"/>
              <a:cs typeface="+mj-cs"/>
            </a:endParaRPr>
          </a:p>
        </p:txBody>
      </p:sp>
      <p:sp>
        <p:nvSpPr>
          <p:cNvPr id="78851" name="Rectangle 3"/>
          <p:cNvSpPr>
            <a:spLocks noGrp="1" noChangeArrowheads="1"/>
          </p:cNvSpPr>
          <p:nvPr>
            <p:ph type="body" idx="1"/>
          </p:nvPr>
        </p:nvSpPr>
        <p:spPr>
          <a:xfrm>
            <a:off x="807085" y="1524000"/>
            <a:ext cx="10612120" cy="5145405"/>
          </a:xfrm>
        </p:spPr>
        <p:txBody>
          <a:bodyPr vert="horz" wrap="square" lIns="91440" tIns="45720" rIns="91440" bIns="45720" numCol="1" rtlCol="0" anchor="t" anchorCtr="0" compatLnSpc="1">
            <a:normAutofit lnSpcReduction="10000"/>
          </a:bodyPr>
          <a:lstStyle/>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r>
              <a:rPr kumimoji="0" lang="en-GB" altLang="tr-TR" sz="2800" b="0" i="0" u="none" strike="noStrike" kern="1200" cap="none" spc="0" normalizeH="0" baseline="0" noProof="0" dirty="0">
                <a:ln>
                  <a:noFill/>
                </a:ln>
                <a:solidFill>
                  <a:schemeClr val="tx1"/>
                </a:solidFill>
                <a:effectLst/>
                <a:uLnTx/>
                <a:uFillTx/>
                <a:latin typeface="+mn-lt"/>
                <a:ea typeface="+mn-ea"/>
                <a:cs typeface="+mn-cs"/>
              </a:rPr>
              <a:t>The term specifically refers to a difference in the way people explain their own behaviour (when they are in the "actor" role) in contrast to the way they explain other people's behaviour (when they are in the "observer" role).</a:t>
            </a:r>
            <a:endParaRPr kumimoji="0" lang="en-GB" altLang="tr-TR"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endParaRPr kumimoji="0" lang="en-GB" altLang="tr-TR"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r>
              <a:rPr kumimoji="0" lang="en-GB" altLang="tr-TR" sz="2800" b="0" i="0" u="none" strike="noStrike" kern="1200" cap="none" spc="0" normalizeH="0" baseline="0" noProof="0" dirty="0">
                <a:ln>
                  <a:noFill/>
                </a:ln>
                <a:solidFill>
                  <a:schemeClr val="tx1"/>
                </a:solidFill>
                <a:effectLst/>
                <a:uLnTx/>
                <a:uFillTx/>
                <a:latin typeface="+mn-lt"/>
                <a:ea typeface="+mn-ea"/>
                <a:cs typeface="+mn-cs"/>
              </a:rPr>
              <a:t>Actors attribute their actions to the demands of the situation. </a:t>
            </a:r>
            <a:r>
              <a:rPr kumimoji="0" lang="en-GB" altLang="tr-TR" sz="2800" b="0" i="1" u="none" strike="noStrike" kern="1200" cap="none" spc="0" normalizeH="0" baseline="0" noProof="0" dirty="0">
                <a:ln>
                  <a:noFill/>
                </a:ln>
                <a:solidFill>
                  <a:schemeClr val="tx1"/>
                </a:solidFill>
                <a:effectLst/>
                <a:uLnTx/>
                <a:uFillTx/>
                <a:latin typeface="+mn-lt"/>
                <a:ea typeface="+mn-ea"/>
                <a:cs typeface="+mn-cs"/>
              </a:rPr>
              <a:t>'I couldn't help it; I was forced by events</a:t>
            </a:r>
            <a:r>
              <a:rPr kumimoji="0" lang="en-GB" altLang="tr-TR" sz="2800" b="0" i="0" u="none" strike="noStrike" kern="1200" cap="none" spc="0" normalizeH="0" baseline="0" noProof="0" dirty="0">
                <a:ln>
                  <a:noFill/>
                </a:ln>
                <a:solidFill>
                  <a:schemeClr val="tx1"/>
                </a:solidFill>
                <a:effectLst/>
                <a:uLnTx/>
                <a:uFillTx/>
                <a:latin typeface="+mn-lt"/>
                <a:ea typeface="+mn-ea"/>
                <a:cs typeface="+mn-cs"/>
              </a:rPr>
              <a:t>‘ etc.</a:t>
            </a:r>
            <a:endParaRPr kumimoji="0" lang="en-GB" altLang="tr-TR"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endParaRPr kumimoji="0" lang="en-GB" altLang="tr-TR"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r>
              <a:rPr kumimoji="0" lang="en-GB" altLang="tr-TR" sz="2800" b="0" i="0" u="none" strike="noStrike" kern="1200" cap="none" spc="0" normalizeH="0" baseline="0" noProof="0" dirty="0">
                <a:ln>
                  <a:noFill/>
                </a:ln>
                <a:solidFill>
                  <a:schemeClr val="tx1"/>
                </a:solidFill>
                <a:effectLst/>
                <a:uLnTx/>
                <a:uFillTx/>
                <a:latin typeface="+mn-lt"/>
                <a:ea typeface="+mn-ea"/>
                <a:cs typeface="+mn-cs"/>
              </a:rPr>
              <a:t>Observers tend to attribute the actions of the actor to internal, stable, personal dispositions. ‘</a:t>
            </a:r>
            <a:r>
              <a:rPr kumimoji="0" lang="en-GB" altLang="tr-TR" sz="2800" b="0" i="1" u="none" strike="noStrike" kern="1200" cap="none" spc="0" normalizeH="0" baseline="0" noProof="0" dirty="0">
                <a:ln>
                  <a:noFill/>
                </a:ln>
                <a:solidFill>
                  <a:schemeClr val="tx1"/>
                </a:solidFill>
                <a:effectLst/>
                <a:uLnTx/>
                <a:uFillTx/>
                <a:latin typeface="+mn-lt"/>
                <a:ea typeface="+mn-ea"/>
                <a:cs typeface="+mn-cs"/>
              </a:rPr>
              <a:t>He or she is bad tempered, careless, lazy</a:t>
            </a:r>
            <a:r>
              <a:rPr kumimoji="0" lang="en-GB" altLang="tr-TR" sz="2800" b="0" i="0" u="none" strike="noStrike" kern="1200" cap="none" spc="0" normalizeH="0" baseline="0" noProof="0" dirty="0">
                <a:ln>
                  <a:noFill/>
                </a:ln>
                <a:solidFill>
                  <a:schemeClr val="tx1"/>
                </a:solidFill>
                <a:effectLst/>
                <a:uLnTx/>
                <a:uFillTx/>
                <a:latin typeface="+mn-lt"/>
                <a:ea typeface="+mn-ea"/>
                <a:cs typeface="+mn-cs"/>
              </a:rPr>
              <a:t>’ etc.</a:t>
            </a:r>
            <a:endParaRPr kumimoji="0" lang="en-GB" altLang="tr-TR"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endParaRPr kumimoji="0" lang="en-GB" altLang="tr-TR"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defRPr/>
            </a:pPr>
            <a:endParaRPr kumimoji="0" lang="en-GB" altLang="tr-TR"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p:cNvPicPr>
          <p:nvPr/>
        </p:nvPicPr>
        <p:blipFill>
          <a:blip r:embed="rId1"/>
          <a:stretch>
            <a:fillRect/>
          </a:stretch>
        </p:blipFill>
        <p:spPr>
          <a:xfrm>
            <a:off x="2743200" y="1178560"/>
            <a:ext cx="7467600" cy="5334000"/>
          </a:xfrm>
          <a:prstGeom prst="rect">
            <a:avLst/>
          </a:prstGeom>
          <a:noFill/>
          <a:ln w="9525">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body" idx="1"/>
          </p:nvPr>
        </p:nvSpPr>
        <p:spPr>
          <a:xfrm>
            <a:off x="792480" y="1600200"/>
            <a:ext cx="10566400" cy="5069205"/>
          </a:xfrm>
        </p:spPr>
        <p:txBody>
          <a:bodyPr vert="horz" wrap="square" lIns="91440" tIns="45720" rIns="91440" bIns="45720" numCol="1" rtlCol="0" anchor="t" anchorCtr="0" compatLnSpc="1">
            <a:normAutofit/>
          </a:bodyPr>
          <a:lstStyle/>
          <a:p>
            <a:pPr marL="2540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tabLst>
                <a:tab pos="838200" algn="l"/>
              </a:tabLst>
              <a:defRPr/>
            </a:pP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Nisbett, Caputo, </a:t>
            </a:r>
            <a:r>
              <a:rPr kumimoji="0" lang="en-US" altLang="tr-TR" sz="2800" b="0" i="0" u="none" strike="noStrike" kern="1200" cap="none" spc="0" normalizeH="0" baseline="0" noProof="0" dirty="0" err="1">
                <a:ln>
                  <a:noFill/>
                </a:ln>
                <a:solidFill>
                  <a:srgbClr val="000000"/>
                </a:solidFill>
                <a:effectLst/>
                <a:uLnTx/>
                <a:uFillTx/>
                <a:latin typeface="+mn-lt"/>
                <a:ea typeface="+mn-ea"/>
                <a:cs typeface="+mn-cs"/>
              </a:rPr>
              <a:t>Legant</a:t>
            </a: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 &amp; </a:t>
            </a:r>
            <a:r>
              <a:rPr kumimoji="0" lang="en-US" altLang="tr-TR" sz="2800" b="0" i="0" u="none" strike="noStrike" kern="1200" cap="none" spc="0" normalizeH="0" baseline="0" noProof="0" dirty="0" err="1">
                <a:ln>
                  <a:noFill/>
                </a:ln>
                <a:solidFill>
                  <a:srgbClr val="000000"/>
                </a:solidFill>
                <a:effectLst/>
                <a:uLnTx/>
                <a:uFillTx/>
                <a:latin typeface="+mn-lt"/>
                <a:ea typeface="+mn-ea"/>
                <a:cs typeface="+mn-cs"/>
              </a:rPr>
              <a:t>Marecek</a:t>
            </a: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 (1973): Male participants asked:</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25400" marR="0" lvl="0"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tabLst>
                <a:tab pos="838200" algn="l"/>
              </a:tabLst>
              <a:defRPr/>
            </a:pP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50800" marR="0" lvl="1" indent="0" algn="just" defTabSz="685800" rtl="0" eaLnBrk="1" fontAlgn="auto" latinLnBrk="0" hangingPunct="1">
              <a:lnSpc>
                <a:spcPct val="110000"/>
              </a:lnSpc>
              <a:spcBef>
                <a:spcPts val="700"/>
              </a:spcBef>
              <a:spcAft>
                <a:spcPts val="0"/>
              </a:spcAft>
              <a:buClr>
                <a:schemeClr val="tx2"/>
              </a:buClr>
              <a:buSzTx/>
              <a:buFont typeface="Gill Sans MT" panose="020B0502020104020203" pitchFamily="34" charset="0"/>
              <a:buChar char="–"/>
              <a:tabLst>
                <a:tab pos="838200" algn="l"/>
              </a:tabLst>
              <a:defRPr/>
            </a:pP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“Why did you choose your major?”</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50800" marR="0" lvl="1" indent="0" algn="just" defTabSz="685800" rtl="0" eaLnBrk="1" fontAlgn="auto" latinLnBrk="0" hangingPunct="1">
              <a:lnSpc>
                <a:spcPct val="110000"/>
              </a:lnSpc>
              <a:spcBef>
                <a:spcPts val="700"/>
              </a:spcBef>
              <a:spcAft>
                <a:spcPts val="0"/>
              </a:spcAft>
              <a:buClr>
                <a:schemeClr val="tx2"/>
              </a:buClr>
              <a:buSzTx/>
              <a:buFont typeface="Gill Sans MT" panose="020B0502020104020203" pitchFamily="34" charset="0"/>
              <a:buChar char="–"/>
              <a:tabLst>
                <a:tab pos="838200" algn="l"/>
              </a:tabLst>
              <a:defRPr/>
            </a:pP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“Why did your friend choose his major?”</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50800" marR="0" lvl="1"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tabLst>
                <a:tab pos="838200" algn="l"/>
              </a:tabLst>
              <a:defRPr/>
            </a:pP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50800" marR="0" lvl="1"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tabLst>
                <a:tab pos="838200" algn="l"/>
              </a:tabLst>
              <a:defRPr/>
            </a:pP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Actors: “Why did I choose </a:t>
            </a:r>
            <a:r>
              <a:rPr kumimoji="0" lang="en-US" altLang="tr-TR" sz="2800" b="1" i="0" u="none" strike="noStrike" kern="1200" cap="none" spc="0" normalizeH="0" baseline="0" noProof="0" dirty="0">
                <a:ln>
                  <a:noFill/>
                </a:ln>
                <a:solidFill>
                  <a:srgbClr val="000000"/>
                </a:solidFill>
                <a:effectLst/>
                <a:uLnTx/>
                <a:uFillTx/>
                <a:latin typeface="+mn-lt"/>
                <a:ea typeface="+mn-ea"/>
                <a:cs typeface="+mn-cs"/>
              </a:rPr>
              <a:t>engineering in particular </a:t>
            </a: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50800" marR="0" lvl="1" indent="0" algn="just" defTabSz="685800" rtl="0" eaLnBrk="1" fontAlgn="auto" latinLnBrk="0" hangingPunct="1">
              <a:lnSpc>
                <a:spcPct val="110000"/>
              </a:lnSpc>
              <a:spcBef>
                <a:spcPts val="700"/>
              </a:spcBef>
              <a:spcAft>
                <a:spcPts val="0"/>
              </a:spcAft>
              <a:buClr>
                <a:schemeClr val="tx2"/>
              </a:buClr>
              <a:buSzTx/>
              <a:buFont typeface="Wingdings" panose="05000000000000000000" pitchFamily="2" charset="2"/>
              <a:buNone/>
              <a:tabLst>
                <a:tab pos="838200" algn="l"/>
              </a:tabLst>
              <a:defRPr/>
            </a:pP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Observers: “Why did </a:t>
            </a:r>
            <a:r>
              <a:rPr kumimoji="0" lang="en-US" altLang="tr-TR" sz="2800" b="1" i="0" u="none" strike="noStrike" kern="1200" cap="none" spc="0" normalizeH="0" baseline="0" noProof="0" dirty="0">
                <a:ln>
                  <a:noFill/>
                </a:ln>
                <a:solidFill>
                  <a:srgbClr val="000000"/>
                </a:solidFill>
                <a:effectLst/>
                <a:uLnTx/>
                <a:uFillTx/>
                <a:latin typeface="+mn-lt"/>
                <a:ea typeface="+mn-ea"/>
                <a:cs typeface="+mn-cs"/>
              </a:rPr>
              <a:t>my friend </a:t>
            </a:r>
            <a:r>
              <a:rPr kumimoji="0" lang="en-US" altLang="tr-TR" sz="2800" b="0" i="0" u="none" strike="noStrike" kern="1200" cap="none" spc="0" normalizeH="0" baseline="0" noProof="0" dirty="0">
                <a:ln>
                  <a:noFill/>
                </a:ln>
                <a:solidFill>
                  <a:srgbClr val="000000"/>
                </a:solidFill>
                <a:effectLst/>
                <a:uLnTx/>
                <a:uFillTx/>
                <a:latin typeface="+mn-lt"/>
                <a:ea typeface="+mn-ea"/>
                <a:cs typeface="+mn-cs"/>
              </a:rPr>
              <a:t>choose this major?”</a:t>
            </a: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a:p>
            <a:pPr marL="50800" marR="0" lvl="1" indent="0" algn="just" defTabSz="685800" rtl="0" eaLnBrk="1" fontAlgn="auto" latinLnBrk="0" hangingPunct="1">
              <a:lnSpc>
                <a:spcPct val="110000"/>
              </a:lnSpc>
              <a:spcBef>
                <a:spcPts val="700"/>
              </a:spcBef>
              <a:spcAft>
                <a:spcPts val="0"/>
              </a:spcAft>
              <a:buClr>
                <a:schemeClr val="tx2"/>
              </a:buClr>
              <a:buSzTx/>
              <a:buFont typeface="Gill Sans MT" panose="020B0502020104020203" pitchFamily="34" charset="0"/>
              <a:buChar char="–"/>
              <a:tabLst>
                <a:tab pos="838200" algn="l"/>
              </a:tabLst>
              <a:defRPr/>
            </a:pPr>
            <a:endParaRPr kumimoji="0" lang="en-US" altLang="tr-TR" sz="2800" b="0" i="0" u="none" strike="noStrike" kern="1200" cap="none" spc="0" normalizeH="0" baseline="0" noProof="0" dirty="0">
              <a:ln>
                <a:noFill/>
              </a:ln>
              <a:solidFill>
                <a:srgbClr val="000000"/>
              </a:solidFill>
              <a:effectLst/>
              <a:uLnTx/>
              <a:uFillTx/>
              <a:latin typeface="+mn-lt"/>
              <a:ea typeface="+mn-ea"/>
              <a:cs typeface="+mn-cs"/>
            </a:endParaRPr>
          </a:p>
        </p:txBody>
      </p:sp>
      <p:sp>
        <p:nvSpPr>
          <p:cNvPr id="82947" name="Rectangle 3"/>
          <p:cNvSpPr>
            <a:spLocks noGrp="1" noChangeArrowheads="1"/>
          </p:cNvSpPr>
          <p:nvPr>
            <p:ph type="title" idx="4294967295"/>
          </p:nvPr>
        </p:nvSpPr>
        <p:spPr>
          <a:xfrm>
            <a:off x="1524000" y="91440"/>
            <a:ext cx="7772400" cy="1143000"/>
          </a:xfrm>
        </p:spPr>
        <p:txBody>
          <a:bodyPr lIns="91440" tIns="45720" rIns="91440" bIns="45720" rtlCol="0" anchor="t">
            <a:normAutofit/>
          </a:bodyPr>
          <a:lstStyle/>
          <a:p>
            <a:pPr marL="25400" marR="0" lvl="0" indent="0" algn="ctr" defTabSz="685800" rtl="0" eaLnBrk="1" fontAlgn="auto" latinLnBrk="0" hangingPunct="1">
              <a:lnSpc>
                <a:spcPct val="90000"/>
              </a:lnSpc>
              <a:spcBef>
                <a:spcPct val="0"/>
              </a:spcBef>
              <a:spcAft>
                <a:spcPts val="0"/>
              </a:spcAft>
              <a:buClrTx/>
              <a:buSzTx/>
              <a:buFontTx/>
              <a:buNone/>
              <a:tabLst>
                <a:tab pos="1270000" algn="l"/>
              </a:tabLst>
              <a:defRPr/>
            </a:pPr>
            <a:r>
              <a:rPr kumimoji="0" lang="en-US" altLang="tr-TR" sz="2800" b="1" i="0" u="none" strike="noStrike" kern="1200" cap="all" spc="150" normalizeH="0" baseline="0" noProof="0" dirty="0">
                <a:ln>
                  <a:noFill/>
                </a:ln>
                <a:solidFill>
                  <a:srgbClr val="000000"/>
                </a:solidFill>
                <a:effectLst/>
                <a:uLnTx/>
                <a:uFillTx/>
                <a:latin typeface="+mn-lt"/>
                <a:ea typeface="+mj-ea"/>
                <a:cs typeface="+mj-cs"/>
              </a:rPr>
              <a:t>Actors vs. observers</a:t>
            </a:r>
            <a:endParaRPr kumimoji="0" lang="en-US" altLang="tr-TR" sz="2800" b="1" i="0" u="none" strike="noStrike" kern="1200" cap="all" spc="150" normalizeH="0" baseline="0" noProof="0" dirty="0">
              <a:ln>
                <a:noFill/>
              </a:ln>
              <a:solidFill>
                <a:srgbClr val="000000"/>
              </a:solidFill>
              <a:effectLst/>
              <a:uLnTx/>
              <a:uFillTx/>
              <a:latin typeface="+mn-lt"/>
              <a:ea typeface="+mj-ea"/>
              <a:cs typeface="+mj-cs"/>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p:cNvPicPr>
          <p:nvPr/>
        </p:nvPicPr>
        <p:blipFill>
          <a:blip r:embed="rId1"/>
          <a:stretch>
            <a:fillRect/>
          </a:stretch>
        </p:blipFill>
        <p:spPr>
          <a:xfrm>
            <a:off x="3810000" y="1295400"/>
            <a:ext cx="4876800" cy="1727200"/>
          </a:xfrm>
          <a:prstGeom prst="rect">
            <a:avLst/>
          </a:prstGeom>
          <a:noFill/>
          <a:ln w="9525">
            <a:noFill/>
          </a:ln>
        </p:spPr>
      </p:pic>
      <p:sp>
        <p:nvSpPr>
          <p:cNvPr id="84995" name="Text Box 3"/>
          <p:cNvSpPr txBox="1"/>
          <p:nvPr/>
        </p:nvSpPr>
        <p:spPr>
          <a:xfrm>
            <a:off x="4879340" y="5235575"/>
            <a:ext cx="2709545" cy="338455"/>
          </a:xfrm>
          <a:prstGeom prst="rect">
            <a:avLst/>
          </a:prstGeom>
          <a:noFill/>
          <a:ln w="9525">
            <a:noFill/>
          </a:ln>
        </p:spPr>
        <p:txBody>
          <a:bodyPr wrap="none" lIns="0" tIns="0" rIns="0" bIns="0">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822325" eaLnBrk="1" hangingPunct="1">
              <a:lnSpc>
                <a:spcPct val="100000"/>
              </a:lnSpc>
              <a:spcBef>
                <a:spcPct val="0"/>
              </a:spcBef>
              <a:buClrTx/>
              <a:buFontTx/>
              <a:buNone/>
              <a:tabLst>
                <a:tab pos="754380" algn="l"/>
              </a:tabLst>
            </a:pPr>
            <a:r>
              <a:rPr lang="en-US" altLang="tr-TR" sz="2200" dirty="0">
                <a:solidFill>
                  <a:srgbClr val="000000"/>
                </a:solidFill>
                <a:latin typeface="Bradley Hand ITC TT-Bold"/>
                <a:cs typeface="Calibri" panose="020F0502020204030204" charset="0"/>
              </a:rPr>
              <a:t>reasons associated with</a:t>
            </a:r>
            <a:endParaRPr lang="en-US" altLang="tr-TR" sz="2200" dirty="0">
              <a:solidFill>
                <a:srgbClr val="000000"/>
              </a:solidFill>
              <a:latin typeface="Bradley Hand ITC TT-Bold"/>
              <a:ea typeface="Calibri" panose="020F0502020204030204" charset="0"/>
            </a:endParaRPr>
          </a:p>
        </p:txBody>
      </p:sp>
      <p:sp>
        <p:nvSpPr>
          <p:cNvPr id="84996" name="Text Box 4"/>
          <p:cNvSpPr txBox="1"/>
          <p:nvPr/>
        </p:nvSpPr>
        <p:spPr>
          <a:xfrm rot="-5400000">
            <a:off x="2079625" y="3054350"/>
            <a:ext cx="2800350" cy="245745"/>
          </a:xfrm>
          <a:prstGeom prst="rect">
            <a:avLst/>
          </a:prstGeom>
          <a:noFill/>
          <a:ln w="9525">
            <a:noFill/>
          </a:ln>
        </p:spPr>
        <p:txBody>
          <a:bodyPr lIns="0" tIns="0" rIns="0" bIns="0">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822325" eaLnBrk="1" hangingPunct="1">
              <a:lnSpc>
                <a:spcPct val="100000"/>
              </a:lnSpc>
              <a:spcBef>
                <a:spcPct val="0"/>
              </a:spcBef>
              <a:buClrTx/>
              <a:buFontTx/>
              <a:buNone/>
              <a:tabLst>
                <a:tab pos="754380" algn="l"/>
              </a:tabLst>
            </a:pPr>
            <a:r>
              <a:rPr lang="en-US" altLang="tr-TR" sz="1600" dirty="0">
                <a:solidFill>
                  <a:srgbClr val="000000"/>
                </a:solidFill>
                <a:latin typeface="Bradley Hand ITC TT-Bold"/>
                <a:cs typeface="Calibri" panose="020F0502020204030204" charset="0"/>
              </a:rPr>
              <a:t>proportion of all reasons</a:t>
            </a:r>
            <a:endParaRPr lang="en-US" altLang="tr-TR" sz="1600" dirty="0">
              <a:solidFill>
                <a:srgbClr val="000000"/>
              </a:solidFill>
              <a:latin typeface="Bradley Hand ITC TT-Bold"/>
              <a:ea typeface="Calibri" panose="020F0502020204030204" charset="0"/>
            </a:endParaRPr>
          </a:p>
        </p:txBody>
      </p:sp>
      <p:sp>
        <p:nvSpPr>
          <p:cNvPr id="84997" name="Text Box 5"/>
          <p:cNvSpPr txBox="1"/>
          <p:nvPr/>
        </p:nvSpPr>
        <p:spPr>
          <a:xfrm>
            <a:off x="2797175" y="222250"/>
            <a:ext cx="6315075" cy="430530"/>
          </a:xfrm>
          <a:prstGeom prst="rect">
            <a:avLst/>
          </a:prstGeom>
          <a:noFill/>
          <a:ln w="9525">
            <a:noFill/>
          </a:ln>
        </p:spPr>
        <p:txBody>
          <a:bodyPr wrap="none" lIns="0" tIns="0" rIns="0" bIns="0">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171450" lvl="0" indent="0" defTabSz="822325" eaLnBrk="1" hangingPunct="1">
              <a:lnSpc>
                <a:spcPct val="100000"/>
              </a:lnSpc>
              <a:spcBef>
                <a:spcPct val="0"/>
              </a:spcBef>
              <a:buClrTx/>
              <a:buFontTx/>
              <a:buNone/>
              <a:tabLst>
                <a:tab pos="468630" algn="l"/>
              </a:tabLst>
            </a:pPr>
            <a:r>
              <a:rPr lang="en-US" altLang="tr-TR" sz="2800" dirty="0">
                <a:solidFill>
                  <a:srgbClr val="000000"/>
                </a:solidFill>
                <a:latin typeface="Calibri" panose="020F0502020204030204" charset="0"/>
                <a:cs typeface="Calibri" panose="020F0502020204030204" charset="0"/>
              </a:rPr>
              <a:t>Nisbett, Caputo, Legant, &amp; Marecek (1973)</a:t>
            </a:r>
            <a:endParaRPr lang="en-US" altLang="tr-TR" sz="2800" dirty="0">
              <a:solidFill>
                <a:srgbClr val="000000"/>
              </a:solidFill>
              <a:latin typeface="Calibri" panose="020F0502020204030204" charset="0"/>
              <a:ea typeface="Calibri" panose="020F0502020204030204" charset="0"/>
            </a:endParaRPr>
          </a:p>
        </p:txBody>
      </p:sp>
      <p:sp>
        <p:nvSpPr>
          <p:cNvPr id="84998" name="Text Box 6"/>
          <p:cNvSpPr txBox="1"/>
          <p:nvPr/>
        </p:nvSpPr>
        <p:spPr>
          <a:xfrm>
            <a:off x="7543800" y="5867400"/>
            <a:ext cx="2897188" cy="676910"/>
          </a:xfrm>
          <a:prstGeom prst="rect">
            <a:avLst/>
          </a:prstGeom>
          <a:solidFill>
            <a:srgbClr val="FFFFFF"/>
          </a:solidFill>
          <a:ln w="9525">
            <a:noFill/>
          </a:ln>
        </p:spPr>
        <p:txBody>
          <a:bodyPr lIns="0" tIns="0" rIns="0" bIns="0">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822325" eaLnBrk="1" hangingPunct="1">
              <a:lnSpc>
                <a:spcPct val="100000"/>
              </a:lnSpc>
              <a:spcBef>
                <a:spcPct val="0"/>
              </a:spcBef>
              <a:buClrTx/>
              <a:buFontTx/>
              <a:buNone/>
            </a:pPr>
            <a:r>
              <a:rPr lang="en-US" altLang="tr-TR" sz="2200" b="1" dirty="0">
                <a:solidFill>
                  <a:srgbClr val="000000"/>
                </a:solidFill>
                <a:latin typeface="Calibri" panose="020F0502020204030204" charset="0"/>
                <a:cs typeface="Calibri" panose="020F0502020204030204" charset="0"/>
              </a:rPr>
              <a:t>e.g., “Engineering is a high-paying field.”</a:t>
            </a:r>
            <a:endParaRPr lang="en-US" altLang="tr-TR" sz="2200" b="1" dirty="0">
              <a:solidFill>
                <a:srgbClr val="000000"/>
              </a:solidFill>
              <a:latin typeface="Calibri" panose="020F0502020204030204" charset="0"/>
              <a:ea typeface="Calibri" panose="020F0502020204030204" charset="0"/>
            </a:endParaRPr>
          </a:p>
        </p:txBody>
      </p:sp>
      <p:sp>
        <p:nvSpPr>
          <p:cNvPr id="84999" name="Text Box 7"/>
          <p:cNvSpPr txBox="1"/>
          <p:nvPr/>
        </p:nvSpPr>
        <p:spPr>
          <a:xfrm>
            <a:off x="1905000" y="5638800"/>
            <a:ext cx="2274888" cy="1015365"/>
          </a:xfrm>
          <a:prstGeom prst="rect">
            <a:avLst/>
          </a:prstGeom>
          <a:solidFill>
            <a:srgbClr val="FFFFFF"/>
          </a:solidFill>
          <a:ln w="9525">
            <a:noFill/>
          </a:ln>
        </p:spPr>
        <p:txBody>
          <a:bodyPr lIns="0" tIns="0" rIns="0" bIns="0">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822325" eaLnBrk="1" hangingPunct="1">
              <a:lnSpc>
                <a:spcPct val="100000"/>
              </a:lnSpc>
              <a:spcBef>
                <a:spcPct val="0"/>
              </a:spcBef>
              <a:buClrTx/>
              <a:buFontTx/>
              <a:buNone/>
            </a:pPr>
            <a:r>
              <a:rPr lang="en-US" altLang="tr-TR" sz="2200" b="1" dirty="0">
                <a:solidFill>
                  <a:srgbClr val="000000"/>
                </a:solidFill>
                <a:latin typeface="Calibri" panose="020F0502020204030204" charset="0"/>
                <a:cs typeface="Calibri" panose="020F0502020204030204" charset="0"/>
              </a:rPr>
              <a:t>e.g., “My friend wants to make lots of money.”</a:t>
            </a:r>
            <a:endParaRPr lang="en-US" altLang="tr-TR" sz="2200" b="1" dirty="0">
              <a:solidFill>
                <a:srgbClr val="000000"/>
              </a:solidFill>
              <a:latin typeface="Calibri" panose="020F0502020204030204" charset="0"/>
              <a:ea typeface="Calibri" panose="020F0502020204030204" charset="0"/>
            </a:endParaRPr>
          </a:p>
        </p:txBody>
      </p:sp>
      <p:sp>
        <p:nvSpPr>
          <p:cNvPr id="85000" name="Freeform 8"/>
          <p:cNvSpPr/>
          <p:nvPr/>
        </p:nvSpPr>
        <p:spPr>
          <a:xfrm rot="-1380005">
            <a:off x="3911600" y="5048250"/>
            <a:ext cx="995363" cy="319088"/>
          </a:xfrm>
          <a:custGeom>
            <a:avLst/>
            <a:gdLst>
              <a:gd name="txL" fmla="*/ 0 w 10000"/>
              <a:gd name="txT" fmla="*/ 0 h 10000"/>
              <a:gd name="txR" fmla="*/ 10000 w 10000"/>
              <a:gd name="txB" fmla="*/ 10000 h 10000"/>
            </a:gdLst>
            <a:ahLst/>
            <a:cxnLst>
              <a:cxn ang="0">
                <a:pos x="0" y="2147483646"/>
              </a:cxn>
              <a:cxn ang="0">
                <a:pos x="0" y="2147483646"/>
              </a:cxn>
              <a:cxn ang="0">
                <a:pos x="2147483646" y="2147483646"/>
              </a:cxn>
              <a:cxn ang="0">
                <a:pos x="2147483646" y="2147483646"/>
              </a:cxn>
              <a:cxn ang="0">
                <a:pos x="2147483646" y="2147483646"/>
              </a:cxn>
              <a:cxn ang="0">
                <a:pos x="2147483646" y="0"/>
              </a:cxn>
              <a:cxn ang="0">
                <a:pos x="2147483646" y="2147483646"/>
              </a:cxn>
              <a:cxn ang="0">
                <a:pos x="0" y="2147483646"/>
              </a:cxn>
            </a:cxnLst>
            <a:rect l="txL" t="txT" r="txR" b="txB"/>
            <a:pathLst>
              <a:path w="10000" h="10000">
                <a:moveTo>
                  <a:pt x="0" y="3330"/>
                </a:moveTo>
                <a:lnTo>
                  <a:pt x="0" y="6670"/>
                </a:lnTo>
                <a:lnTo>
                  <a:pt x="6000" y="6670"/>
                </a:lnTo>
                <a:lnTo>
                  <a:pt x="6000" y="10000"/>
                </a:lnTo>
                <a:lnTo>
                  <a:pt x="10000" y="5000"/>
                </a:lnTo>
                <a:lnTo>
                  <a:pt x="6000" y="0"/>
                </a:lnTo>
                <a:lnTo>
                  <a:pt x="6000" y="3330"/>
                </a:lnTo>
                <a:lnTo>
                  <a:pt x="0" y="3330"/>
                </a:lnTo>
                <a:close/>
                <a:moveTo>
                  <a:pt x="0" y="3330"/>
                </a:moveTo>
              </a:path>
            </a:pathLst>
          </a:custGeom>
          <a:blipFill rotWithShape="0">
            <a:blip r:embed="rId2"/>
          </a:blipFill>
          <a:ln w="25400">
            <a:noFill/>
          </a:ln>
        </p:spPr>
        <p:txBody>
          <a:bodyPr/>
          <a:lstStyle/>
          <a:p>
            <a:endParaRPr lang="en-GB" altLang="en-US"/>
          </a:p>
        </p:txBody>
      </p:sp>
      <p:sp>
        <p:nvSpPr>
          <p:cNvPr id="85001" name="Freeform 9"/>
          <p:cNvSpPr/>
          <p:nvPr/>
        </p:nvSpPr>
        <p:spPr>
          <a:xfrm rot="-8580003">
            <a:off x="7637463" y="5219700"/>
            <a:ext cx="995362" cy="319088"/>
          </a:xfrm>
          <a:custGeom>
            <a:avLst/>
            <a:gdLst>
              <a:gd name="txL" fmla="*/ 0 w 10000"/>
              <a:gd name="txT" fmla="*/ 0 h 10000"/>
              <a:gd name="txR" fmla="*/ 10000 w 10000"/>
              <a:gd name="txB" fmla="*/ 10000 h 10000"/>
            </a:gdLst>
            <a:ahLst/>
            <a:cxnLst>
              <a:cxn ang="0">
                <a:pos x="0" y="2147483646"/>
              </a:cxn>
              <a:cxn ang="0">
                <a:pos x="0" y="2147483646"/>
              </a:cxn>
              <a:cxn ang="0">
                <a:pos x="2147483646" y="2147483646"/>
              </a:cxn>
              <a:cxn ang="0">
                <a:pos x="2147483646" y="2147483646"/>
              </a:cxn>
              <a:cxn ang="0">
                <a:pos x="2147483646" y="2147483646"/>
              </a:cxn>
              <a:cxn ang="0">
                <a:pos x="2147483646" y="0"/>
              </a:cxn>
              <a:cxn ang="0">
                <a:pos x="2147483646" y="2147483646"/>
              </a:cxn>
              <a:cxn ang="0">
                <a:pos x="0" y="2147483646"/>
              </a:cxn>
            </a:cxnLst>
            <a:rect l="txL" t="txT" r="txR" b="txB"/>
            <a:pathLst>
              <a:path w="10000" h="10000">
                <a:moveTo>
                  <a:pt x="0" y="3330"/>
                </a:moveTo>
                <a:lnTo>
                  <a:pt x="0" y="6670"/>
                </a:lnTo>
                <a:lnTo>
                  <a:pt x="6000" y="6670"/>
                </a:lnTo>
                <a:lnTo>
                  <a:pt x="6000" y="10000"/>
                </a:lnTo>
                <a:lnTo>
                  <a:pt x="10000" y="5000"/>
                </a:lnTo>
                <a:lnTo>
                  <a:pt x="6000" y="0"/>
                </a:lnTo>
                <a:lnTo>
                  <a:pt x="6000" y="3330"/>
                </a:lnTo>
                <a:lnTo>
                  <a:pt x="0" y="3330"/>
                </a:lnTo>
                <a:close/>
                <a:moveTo>
                  <a:pt x="0" y="3330"/>
                </a:moveTo>
              </a:path>
            </a:pathLst>
          </a:custGeom>
          <a:blipFill rotWithShape="0">
            <a:blip r:embed="rId2"/>
          </a:blipFill>
          <a:ln w="25400">
            <a:noFill/>
          </a:ln>
        </p:spPr>
        <p:txBody>
          <a:bodyPr/>
          <a:lstStyle/>
          <a:p>
            <a:endParaRPr lang="en-GB" altLang="en-US"/>
          </a:p>
        </p:txBody>
      </p:sp>
      <p:pic>
        <p:nvPicPr>
          <p:cNvPr id="85002" name="Picture 10"/>
          <p:cNvPicPr>
            <a:picLocks noChangeAspect="1"/>
          </p:cNvPicPr>
          <p:nvPr/>
        </p:nvPicPr>
        <p:blipFill>
          <a:blip r:embed="rId3"/>
          <a:stretch>
            <a:fillRect/>
          </a:stretch>
        </p:blipFill>
        <p:spPr>
          <a:xfrm>
            <a:off x="2514600" y="1052513"/>
            <a:ext cx="7253288" cy="4640262"/>
          </a:xfrm>
          <a:prstGeom prst="rect">
            <a:avLst/>
          </a:prstGeom>
          <a:solidFill>
            <a:srgbClr val="FFFFFF"/>
          </a:solidFill>
          <a:ln w="9525">
            <a:noFill/>
          </a:ln>
        </p:spPr>
      </p:pic>
      <p:pic>
        <p:nvPicPr>
          <p:cNvPr id="85003" name="Picture 11"/>
          <p:cNvPicPr>
            <a:picLocks noChangeAspect="1"/>
          </p:cNvPicPr>
          <p:nvPr/>
        </p:nvPicPr>
        <p:blipFill>
          <a:blip r:embed="rId1"/>
          <a:stretch>
            <a:fillRect/>
          </a:stretch>
        </p:blipFill>
        <p:spPr>
          <a:xfrm>
            <a:off x="3810000" y="1279525"/>
            <a:ext cx="4876800" cy="1727200"/>
          </a:xfrm>
          <a:prstGeom prst="rect">
            <a:avLst/>
          </a:prstGeom>
          <a:noFill/>
          <a:ln w="9525">
            <a:noFill/>
          </a:ln>
        </p:spPr>
      </p:pic>
      <p:sp>
        <p:nvSpPr>
          <p:cNvPr id="85004" name="Text Box 12"/>
          <p:cNvSpPr txBox="1"/>
          <p:nvPr/>
        </p:nvSpPr>
        <p:spPr>
          <a:xfrm>
            <a:off x="4821873" y="5180013"/>
            <a:ext cx="2697480" cy="338455"/>
          </a:xfrm>
          <a:prstGeom prst="rect">
            <a:avLst/>
          </a:prstGeom>
          <a:noFill/>
          <a:ln w="9525">
            <a:noFill/>
          </a:ln>
        </p:spPr>
        <p:txBody>
          <a:bodyPr wrap="none" lIns="0" tIns="0" rIns="0" bIns="0">
            <a:spAutoFit/>
          </a:bodyPr>
          <a:lstStyle>
            <a:lvl1pPr marL="2286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2000" kern="1200">
                <a:solidFill>
                  <a:srgbClr val="595959"/>
                </a:solidFill>
                <a:latin typeface="+mn-lt"/>
                <a:ea typeface="+mn-ea"/>
                <a:cs typeface="+mn-cs"/>
              </a:defRPr>
            </a:lvl1pPr>
            <a:lvl2pPr marL="6858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kern="1200">
                <a:solidFill>
                  <a:srgbClr val="595959"/>
                </a:solidFill>
                <a:latin typeface="+mn-lt"/>
                <a:ea typeface="+mn-ea"/>
                <a:cs typeface="+mn-cs"/>
              </a:defRPr>
            </a:lvl2pPr>
            <a:lvl3pPr marL="11430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600" kern="1200">
                <a:solidFill>
                  <a:srgbClr val="595959"/>
                </a:solidFill>
                <a:latin typeface="+mn-lt"/>
                <a:ea typeface="+mn-ea"/>
                <a:cs typeface="+mn-cs"/>
              </a:defRPr>
            </a:lvl3pPr>
            <a:lvl4pPr marL="1600200" indent="-228600" algn="l" defTabSz="685800" rtl="0" eaLnBrk="0" fontAlgn="base" hangingPunct="0">
              <a:lnSpc>
                <a:spcPct val="110000"/>
              </a:lnSpc>
              <a:spcBef>
                <a:spcPts val="700"/>
              </a:spcBef>
              <a:spcAft>
                <a:spcPct val="0"/>
              </a:spcAft>
              <a:buClr>
                <a:schemeClr val="tx2"/>
              </a:buClr>
              <a:buFont typeface="Gill Sans MT" panose="020B0502020104020203" pitchFamily="34" charset="0"/>
              <a:buChar char="–"/>
              <a:defRPr sz="1400" kern="1200">
                <a:solidFill>
                  <a:srgbClr val="595959"/>
                </a:solidFill>
                <a:latin typeface="+mn-lt"/>
                <a:ea typeface="+mn-ea"/>
                <a:cs typeface="+mn-cs"/>
              </a:defRPr>
            </a:lvl4pPr>
            <a:lvl5pPr marL="2057400" indent="-228600" algn="l" defTabSz="685800" rtl="0" eaLnBrk="0" fontAlgn="base" hangingPunct="0">
              <a:lnSpc>
                <a:spcPct val="110000"/>
              </a:lnSpc>
              <a:spcBef>
                <a:spcPts val="700"/>
              </a:spcBef>
              <a:spcAft>
                <a:spcPct val="0"/>
              </a:spcAft>
              <a:buClr>
                <a:schemeClr val="tx2"/>
              </a:buClr>
              <a:buFont typeface="Arial" panose="020B0604020202020204" pitchFamily="34" charset="0"/>
              <a:buChar char="•"/>
              <a:defRPr sz="1400" kern="1200">
                <a:solidFill>
                  <a:srgbClr val="595959"/>
                </a:solidFill>
                <a:latin typeface="+mn-lt"/>
                <a:ea typeface="+mn-ea"/>
                <a:cs typeface="+mn-cs"/>
              </a:defRPr>
            </a:lvl5pPr>
          </a:lstStyle>
          <a:p>
            <a:pPr marL="0" lvl="0" indent="0" algn="ctr" defTabSz="822325" eaLnBrk="1" hangingPunct="1">
              <a:lnSpc>
                <a:spcPct val="100000"/>
              </a:lnSpc>
              <a:spcBef>
                <a:spcPct val="0"/>
              </a:spcBef>
              <a:buClrTx/>
              <a:buFontTx/>
              <a:buNone/>
              <a:tabLst>
                <a:tab pos="754380" algn="l"/>
              </a:tabLst>
            </a:pPr>
            <a:r>
              <a:rPr lang="en-US" altLang="tr-TR" sz="2200" dirty="0">
                <a:solidFill>
                  <a:srgbClr val="000000"/>
                </a:solidFill>
                <a:latin typeface="Calibri" panose="020F0502020204030204" charset="0"/>
                <a:cs typeface="Calibri" panose="020F0502020204030204" charset="0"/>
              </a:rPr>
              <a:t>reasons associated with</a:t>
            </a:r>
            <a:endParaRPr lang="en-US" altLang="tr-TR" sz="2200" dirty="0">
              <a:solidFill>
                <a:srgbClr val="000000"/>
              </a:solidFill>
              <a:latin typeface="Calibri" panose="020F0502020204030204" charset="0"/>
              <a:ea typeface="Calibri" panose="020F0502020204030204" charset="0"/>
            </a:endParaRPr>
          </a:p>
        </p:txBody>
      </p:sp>
      <p:sp>
        <p:nvSpPr>
          <p:cNvPr id="85005" name="Line 14"/>
          <p:cNvSpPr/>
          <p:nvPr/>
        </p:nvSpPr>
        <p:spPr>
          <a:xfrm flipH="1" flipV="1">
            <a:off x="7772400" y="5105400"/>
            <a:ext cx="762000" cy="685800"/>
          </a:xfrm>
          <a:prstGeom prst="line">
            <a:avLst/>
          </a:prstGeom>
          <a:ln w="9525" cap="flat" cmpd="sng">
            <a:solidFill>
              <a:srgbClr val="000000"/>
            </a:solidFill>
            <a:prstDash val="solid"/>
            <a:headEnd type="none" w="med" len="med"/>
            <a:tailEnd type="triangle" w="med" len="med"/>
          </a:ln>
        </p:spPr>
      </p:sp>
      <p:sp>
        <p:nvSpPr>
          <p:cNvPr id="85006" name="Line 15"/>
          <p:cNvSpPr/>
          <p:nvPr/>
        </p:nvSpPr>
        <p:spPr>
          <a:xfrm flipV="1">
            <a:off x="3071813" y="5084763"/>
            <a:ext cx="1223962" cy="504825"/>
          </a:xfrm>
          <a:prstGeom prst="line">
            <a:avLst/>
          </a:prstGeom>
          <a:ln w="9525" cap="flat" cmpd="sng">
            <a:solidFill>
              <a:srgbClr val="000000"/>
            </a:solidFill>
            <a:prstDash val="solid"/>
            <a:headEnd type="none" w="med" len="med"/>
            <a:tailEnd type="triangle" w="med" len="med"/>
          </a:ln>
        </p:spPr>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919288" y="-397193"/>
            <a:ext cx="7543800" cy="1295401"/>
          </a:xfrm>
          <a:noFill/>
          <a:ln>
            <a:noFill/>
          </a:ln>
          <a:effectLst/>
          <a:scene3d>
            <a:camera prst="orthographicFront"/>
            <a:lightRig rig="balanced" dir="t"/>
          </a:scene3d>
          <a:sp3d prstMaterial="plastic"/>
        </p:spPr>
        <p:txBody>
          <a:bodyPr vert="horz" lIns="91440" tIns="45720" rIns="91440" bIns="45720" rtlCol="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tab pos="3830320" algn="l"/>
              </a:tabLst>
              <a:defRPr/>
            </a:pPr>
            <a:r>
              <a:rPr kumimoji="0" lang="en-GB" sz="2800" b="1" i="0" u="none" strike="noStrike" kern="1200" cap="none" spc="50" normalizeH="0" baseline="0" noProof="0">
                <a:ln w="13335" cmpd="sng">
                  <a:solidFill>
                    <a:schemeClr val="accent1">
                      <a:lumMod val="50000"/>
                    </a:schemeClr>
                  </a:solidFill>
                  <a:prstDash val="solid"/>
                </a:ln>
                <a:solidFill>
                  <a:schemeClr val="tx1"/>
                </a:solidFill>
                <a:effectLst/>
                <a:uLnTx/>
                <a:uFillTx/>
                <a:latin typeface="+mn-lt"/>
                <a:ea typeface="+mj-ea"/>
                <a:cs typeface="+mn-lt"/>
              </a:rPr>
              <a:t>Social Influence</a:t>
            </a:r>
            <a:endParaRPr kumimoji="0" lang="en-GB" sz="2800" b="1" i="0" u="none" strike="noStrike" kern="1200" cap="none" spc="50" normalizeH="0" baseline="0" noProof="0">
              <a:ln w="13335" cmpd="sng">
                <a:solidFill>
                  <a:schemeClr val="accent1">
                    <a:lumMod val="50000"/>
                  </a:schemeClr>
                </a:solidFill>
                <a:prstDash val="solid"/>
              </a:ln>
              <a:solidFill>
                <a:schemeClr val="tx1"/>
              </a:solidFill>
              <a:effectLst/>
              <a:uLnTx/>
              <a:uFillTx/>
              <a:latin typeface="+mn-lt"/>
              <a:ea typeface="+mj-ea"/>
              <a:cs typeface="+mn-lt"/>
            </a:endParaRPr>
          </a:p>
        </p:txBody>
      </p:sp>
      <p:sp>
        <p:nvSpPr>
          <p:cNvPr id="11267" name="Rectangle 3"/>
          <p:cNvSpPr>
            <a:spLocks noGrp="1" noChangeArrowheads="1"/>
          </p:cNvSpPr>
          <p:nvPr>
            <p:ph idx="1"/>
          </p:nvPr>
        </p:nvSpPr>
        <p:spPr>
          <a:xfrm>
            <a:off x="768985" y="1418590"/>
            <a:ext cx="10506710" cy="5223510"/>
          </a:xfrm>
        </p:spPr>
        <p:txBody>
          <a:bodyPr vert="horz" wrap="square" lIns="91440" tIns="45720" rIns="91440" bIns="45720" numCol="1" anchor="t" anchorCtr="0" compatLnSpc="1">
            <a:noAutofit/>
          </a:bodyPr>
          <a:lstStyle/>
          <a:p>
            <a:pPr marL="0" marR="0" lvl="0" indent="0" algn="l" defTabSz="914400" rtl="0" eaLnBrk="1" fontAlgn="base" latinLnBrk="0" hangingPunct="1">
              <a:lnSpc>
                <a:spcPct val="90000"/>
              </a:lnSpc>
              <a:spcBef>
                <a:spcPct val="20000"/>
              </a:spcBef>
              <a:spcAft>
                <a:spcPct val="0"/>
              </a:spcAft>
              <a:buClr>
                <a:srgbClr val="ACC2C9"/>
              </a:buClr>
              <a:buSzTx/>
              <a:buFontTx/>
              <a:buNone/>
              <a:defRPr/>
            </a:pPr>
            <a:r>
              <a:rPr kumimoji="0" lang="en-GB" sz="2400" b="1" i="0" u="none" strike="noStrike" kern="1200" cap="none" spc="0" normalizeH="0" baseline="0" noProof="0" dirty="0">
                <a:ln>
                  <a:noFill/>
                </a:ln>
                <a:solidFill>
                  <a:schemeClr val="tx2"/>
                </a:solidFill>
                <a:effectLst/>
                <a:uLnTx/>
                <a:uFillTx/>
                <a:latin typeface="+mn-lt"/>
                <a:ea typeface="+mn-ea"/>
                <a:cs typeface="+mn-cs"/>
              </a:rPr>
              <a:t>Conformity</a:t>
            </a:r>
            <a:r>
              <a:rPr kumimoji="0" lang="en-GB" sz="2400" i="0" u="none" strike="noStrike" kern="1200" cap="none" spc="0" normalizeH="0" baseline="0" noProof="0" dirty="0">
                <a:ln>
                  <a:noFill/>
                </a:ln>
                <a:solidFill>
                  <a:schemeClr val="tx2"/>
                </a:solidFill>
                <a:effectLst/>
                <a:uLnTx/>
                <a:uFillTx/>
                <a:latin typeface="+mn-lt"/>
                <a:ea typeface="+mn-ea"/>
                <a:cs typeface="+mn-cs"/>
              </a:rPr>
              <a:t> – </a:t>
            </a:r>
            <a:r>
              <a:rPr kumimoji="0" lang="en-US" sz="2400" i="0" u="none" strike="noStrike" kern="1200" cap="none" spc="0" normalizeH="0" baseline="0" noProof="0" dirty="0">
                <a:ln>
                  <a:noFill/>
                </a:ln>
                <a:solidFill>
                  <a:schemeClr val="tx2"/>
                </a:solidFill>
                <a:effectLst/>
                <a:uLnTx/>
                <a:uFillTx/>
                <a:latin typeface="+mn-lt"/>
                <a:ea typeface="+mn-ea"/>
                <a:cs typeface="+mn-cs"/>
              </a:rPr>
              <a:t>is a type of social influence involving a change in belief or behavior in order to fit in with a group. Two types:</a:t>
            </a:r>
            <a:endParaRPr kumimoji="0" lang="en-GB" sz="2400" i="0" u="none" strike="noStrike" kern="1200" cap="none" spc="0" normalizeH="0" baseline="0" noProof="0" dirty="0">
              <a:ln>
                <a:noFill/>
              </a:ln>
              <a:solidFill>
                <a:schemeClr val="tx2"/>
              </a:solidFill>
              <a:effectLst/>
              <a:uLnTx/>
              <a:uFillTx/>
              <a:latin typeface="+mn-lt"/>
              <a:ea typeface="+mn-ea"/>
              <a:cs typeface="+mn-cs"/>
            </a:endParaRPr>
          </a:p>
          <a:p>
            <a:pPr marL="548005" marR="0" lvl="1" indent="-182880" algn="l" defTabSz="914400" rtl="0" eaLnBrk="1" fontAlgn="base" latinLnBrk="0" hangingPunct="1">
              <a:lnSpc>
                <a:spcPct val="90000"/>
              </a:lnSpc>
              <a:spcBef>
                <a:spcPct val="20000"/>
              </a:spcBef>
              <a:spcAft>
                <a:spcPct val="0"/>
              </a:spcAft>
              <a:buClr>
                <a:srgbClr val="ACC2C9"/>
              </a:buClr>
              <a:buSzTx/>
              <a:buFont typeface="Arial" panose="020B0604020202020204" pitchFamily="34" charset="0"/>
              <a:buChar char="•"/>
              <a:defRPr/>
            </a:pPr>
            <a:r>
              <a:rPr kumimoji="0" lang="en-GB" sz="2400" b="1" i="0" u="none" strike="noStrike" kern="1200" cap="none" spc="0" normalizeH="0" baseline="0" noProof="0" dirty="0">
                <a:ln>
                  <a:noFill/>
                </a:ln>
                <a:solidFill>
                  <a:schemeClr val="tx1"/>
                </a:solidFill>
                <a:effectLst/>
                <a:uLnTx/>
                <a:uFillTx/>
                <a:latin typeface="+mn-lt"/>
                <a:ea typeface="+mn-ea"/>
                <a:cs typeface="+mn-cs"/>
              </a:rPr>
              <a:t>Internalization</a:t>
            </a:r>
            <a:r>
              <a:rPr kumimoji="0" lang="en-GB" sz="2400" i="0" u="none" strike="noStrike" kern="1200" cap="none" spc="0" normalizeH="0" baseline="0" noProof="0" dirty="0">
                <a:ln>
                  <a:noFill/>
                </a:ln>
                <a:solidFill>
                  <a:schemeClr val="tx1"/>
                </a:solidFill>
                <a:effectLst/>
                <a:uLnTx/>
                <a:uFillTx/>
                <a:latin typeface="+mn-lt"/>
                <a:ea typeface="+mn-ea"/>
                <a:cs typeface="+mn-cs"/>
              </a:rPr>
              <a:t> </a:t>
            </a:r>
            <a:r>
              <a:rPr kumimoji="0" lang="en-GB" sz="2400" i="1" u="none" strike="noStrike" kern="1200" cap="none" spc="0" normalizeH="0" baseline="0" noProof="0" dirty="0">
                <a:ln>
                  <a:noFill/>
                </a:ln>
                <a:solidFill>
                  <a:schemeClr val="tx1"/>
                </a:solidFill>
                <a:effectLst/>
                <a:uLnTx/>
                <a:uFillTx/>
                <a:latin typeface="+mn-lt"/>
                <a:ea typeface="+mn-ea"/>
                <a:cs typeface="+mn-cs"/>
              </a:rPr>
              <a:t>- </a:t>
            </a:r>
            <a:r>
              <a:rPr kumimoji="0" lang="en-GB" sz="2400" i="1" u="sng" strike="noStrike" kern="1200" cap="none" spc="0" normalizeH="0" baseline="0" noProof="0" dirty="0">
                <a:ln>
                  <a:noFill/>
                </a:ln>
                <a:solidFill>
                  <a:schemeClr val="tx1"/>
                </a:solidFill>
                <a:effectLst/>
                <a:uLnTx/>
                <a:uFillTx/>
                <a:latin typeface="+mn-lt"/>
                <a:ea typeface="+mn-ea"/>
                <a:cs typeface="+mn-cs"/>
              </a:rPr>
              <a:t>changing your real thoughts and feelings</a:t>
            </a:r>
            <a:r>
              <a:rPr kumimoji="0" lang="en-GB" sz="2400" i="0" u="none" strike="noStrike" kern="1200" cap="none" spc="0" normalizeH="0" baseline="0" noProof="0" dirty="0">
                <a:ln>
                  <a:noFill/>
                </a:ln>
                <a:solidFill>
                  <a:schemeClr val="tx1"/>
                </a:solidFill>
                <a:effectLst/>
                <a:uLnTx/>
                <a:uFillTx/>
                <a:latin typeface="+mn-lt"/>
                <a:ea typeface="+mn-ea"/>
                <a:cs typeface="+mn-cs"/>
              </a:rPr>
              <a:t> as a result of less direct pressure from others </a:t>
            </a:r>
            <a:endParaRPr kumimoji="0" lang="en-GB" sz="2400" i="0" u="none" strike="noStrike" kern="1200" cap="none" spc="0" normalizeH="0" baseline="0" noProof="0" dirty="0">
              <a:ln>
                <a:noFill/>
              </a:ln>
              <a:solidFill>
                <a:schemeClr val="tx1"/>
              </a:solidFill>
              <a:effectLst/>
              <a:uLnTx/>
              <a:uFillTx/>
              <a:latin typeface="+mn-lt"/>
              <a:ea typeface="+mn-ea"/>
              <a:cs typeface="+mn-cs"/>
            </a:endParaRPr>
          </a:p>
          <a:p>
            <a:pPr marL="548005" marR="0" lvl="1" indent="-182880" algn="l" defTabSz="914400" rtl="0" eaLnBrk="1" fontAlgn="base" latinLnBrk="0" hangingPunct="1">
              <a:lnSpc>
                <a:spcPct val="90000"/>
              </a:lnSpc>
              <a:spcBef>
                <a:spcPct val="20000"/>
              </a:spcBef>
              <a:spcAft>
                <a:spcPct val="0"/>
              </a:spcAft>
              <a:buClr>
                <a:srgbClr val="ACC2C9"/>
              </a:buClr>
              <a:buSzTx/>
              <a:buFont typeface="Arial" panose="020B0604020202020204" pitchFamily="34" charset="0"/>
              <a:buChar char="•"/>
              <a:defRPr/>
            </a:pPr>
            <a:r>
              <a:rPr kumimoji="0" lang="en-GB" sz="2400" b="1" i="0" u="none" strike="noStrike" kern="1200" cap="none" spc="0" normalizeH="0" baseline="0" noProof="0" dirty="0">
                <a:ln>
                  <a:noFill/>
                </a:ln>
                <a:solidFill>
                  <a:schemeClr val="tx1"/>
                </a:solidFill>
                <a:effectLst/>
                <a:uLnTx/>
                <a:uFillTx/>
                <a:latin typeface="+mn-lt"/>
                <a:ea typeface="+mn-ea"/>
                <a:cs typeface="+mn-cs"/>
              </a:rPr>
              <a:t>Compliance</a:t>
            </a:r>
            <a:r>
              <a:rPr kumimoji="0" lang="en-GB" sz="2400" i="0" u="none" strike="noStrike" kern="1200" cap="none" spc="0" normalizeH="0" baseline="0" noProof="0" dirty="0">
                <a:ln>
                  <a:noFill/>
                </a:ln>
                <a:solidFill>
                  <a:schemeClr val="tx1"/>
                </a:solidFill>
                <a:effectLst/>
                <a:uLnTx/>
                <a:uFillTx/>
                <a:latin typeface="+mn-lt"/>
                <a:ea typeface="+mn-ea"/>
                <a:cs typeface="+mn-cs"/>
              </a:rPr>
              <a:t> – agreeing with other people’s opinions and complying with their request publicly </a:t>
            </a:r>
            <a:r>
              <a:rPr kumimoji="0" lang="en-GB" sz="2400" i="1" u="sng" strike="noStrike" kern="1200" cap="none" spc="0" normalizeH="0" baseline="0" noProof="0" dirty="0">
                <a:ln>
                  <a:noFill/>
                </a:ln>
                <a:solidFill>
                  <a:schemeClr val="tx1"/>
                </a:solidFill>
                <a:effectLst/>
                <a:uLnTx/>
                <a:uFillTx/>
                <a:latin typeface="+mn-lt"/>
                <a:ea typeface="+mn-ea"/>
                <a:cs typeface="+mn-cs"/>
              </a:rPr>
              <a:t>but not changing your real internal opinions</a:t>
            </a:r>
            <a:r>
              <a:rPr kumimoji="0" lang="en-GB" sz="2400" i="0" u="none" strike="noStrike" kern="1200" cap="none" spc="0" normalizeH="0" baseline="0" noProof="0" dirty="0">
                <a:ln>
                  <a:noFill/>
                </a:ln>
                <a:solidFill>
                  <a:schemeClr val="tx1"/>
                </a:solidFill>
                <a:effectLst/>
                <a:uLnTx/>
                <a:uFillTx/>
                <a:latin typeface="+mn-lt"/>
                <a:ea typeface="+mn-ea"/>
                <a:cs typeface="+mn-cs"/>
              </a:rPr>
              <a:t>.</a:t>
            </a:r>
            <a:endParaRPr kumimoji="0" lang="en-GB" sz="2400"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90000"/>
              </a:lnSpc>
              <a:spcBef>
                <a:spcPct val="20000"/>
              </a:spcBef>
              <a:spcAft>
                <a:spcPct val="0"/>
              </a:spcAft>
              <a:buClr>
                <a:srgbClr val="ACC2C9"/>
              </a:buClr>
              <a:buSzTx/>
              <a:buFont typeface="Arial" panose="020B0604020202020204" pitchFamily="34" charset="0"/>
              <a:buChar char="•"/>
              <a:defRPr/>
            </a:pPr>
            <a:endParaRPr kumimoji="0" lang="en-GB" sz="2400" b="1" i="0" u="none" strike="noStrike" kern="1200" cap="none" spc="0" normalizeH="0" baseline="0" noProof="0" dirty="0">
              <a:ln>
                <a:noFill/>
              </a:ln>
              <a:solidFill>
                <a:schemeClr val="tx2"/>
              </a:solidFill>
              <a:effectLst/>
              <a:uLnTx/>
              <a:uFillTx/>
              <a:latin typeface="+mn-lt"/>
              <a:ea typeface="+mn-ea"/>
              <a:cs typeface="+mn-cs"/>
            </a:endParaRPr>
          </a:p>
          <a:p>
            <a:pPr marL="273050" marR="0" lvl="0" indent="-273050" algn="l" defTabSz="914400" rtl="0" eaLnBrk="1" fontAlgn="base" latinLnBrk="0" hangingPunct="1">
              <a:lnSpc>
                <a:spcPct val="90000"/>
              </a:lnSpc>
              <a:spcBef>
                <a:spcPct val="20000"/>
              </a:spcBef>
              <a:spcAft>
                <a:spcPct val="0"/>
              </a:spcAft>
              <a:buClr>
                <a:srgbClr val="ACC2C9"/>
              </a:buClr>
              <a:buSzTx/>
              <a:buFont typeface="Arial" panose="020B0604020202020204" pitchFamily="34" charset="0"/>
              <a:buChar char="•"/>
              <a:defRPr/>
            </a:pPr>
            <a:endParaRPr kumimoji="0" lang="en-GB" sz="2400" b="0" i="0" u="none" strike="noStrike" kern="1200" cap="none" spc="0" normalizeH="0" baseline="0" noProof="0" dirty="0">
              <a:ln>
                <a:noFill/>
              </a:ln>
              <a:solidFill>
                <a:schemeClr val="tx2"/>
              </a:solidFill>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rgbClr val="ACC2C9"/>
              </a:buClr>
              <a:buSzTx/>
              <a:buFont typeface="Arial" panose="020B0604020202020204" pitchFamily="34" charset="0"/>
              <a:buNone/>
              <a:defRPr/>
            </a:pPr>
            <a:r>
              <a:rPr kumimoji="0" lang="en-GB" sz="2400" b="1" i="0" u="none" strike="noStrike" kern="1200" cap="none" spc="0" normalizeH="0" baseline="0" noProof="0" dirty="0">
                <a:ln>
                  <a:noFill/>
                </a:ln>
                <a:solidFill>
                  <a:schemeClr val="tx2"/>
                </a:solidFill>
                <a:effectLst/>
                <a:uLnTx/>
                <a:uFillTx/>
                <a:latin typeface="+mn-lt"/>
                <a:ea typeface="+mn-ea"/>
                <a:cs typeface="+mn-cs"/>
              </a:rPr>
              <a:t>Obedience</a:t>
            </a:r>
            <a:r>
              <a:rPr kumimoji="0" lang="en-GB" sz="2400" b="0" i="0" u="none" strike="noStrike" kern="1200" cap="none" spc="0" normalizeH="0" baseline="0" noProof="0" dirty="0">
                <a:ln>
                  <a:noFill/>
                </a:ln>
                <a:solidFill>
                  <a:schemeClr val="tx2"/>
                </a:solidFill>
                <a:effectLst/>
                <a:uLnTx/>
                <a:uFillTx/>
                <a:latin typeface="+mn-lt"/>
                <a:ea typeface="+mn-ea"/>
                <a:cs typeface="+mn-cs"/>
              </a:rPr>
              <a:t> - </a:t>
            </a:r>
            <a:r>
              <a:rPr kumimoji="0" lang="en-US" sz="2400" b="0" i="0" u="none" strike="noStrike" kern="1200" cap="none" spc="0" normalizeH="0" baseline="0" noProof="0" dirty="0">
                <a:ln>
                  <a:noFill/>
                </a:ln>
                <a:solidFill>
                  <a:schemeClr val="tx2"/>
                </a:solidFill>
                <a:effectLst/>
                <a:uLnTx/>
                <a:uFillTx/>
                <a:latin typeface="+mn-lt"/>
                <a:ea typeface="+mn-ea"/>
                <a:cs typeface="+mn-cs"/>
              </a:rPr>
              <a:t>a form of social influence where an individual acts in response to a direct order from another individual, who is usually an authority figure. It is assumed that without such an order the person would not have acted in this way. </a:t>
            </a:r>
            <a:endParaRPr kumimoji="0" lang="en-US" sz="2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noFill/>
          <a:ln>
            <a:noFill/>
          </a:ln>
          <a:effectLst/>
          <a:scene3d>
            <a:camera prst="orthographicFront"/>
            <a:lightRig rig="balanced" dir="t"/>
          </a:scene3d>
          <a:sp3d prstMaterial="plastic"/>
        </p:spPr>
        <p:txBody>
          <a:bodyPr vert="horz" lIns="91440" tIns="45720" rIns="91440" bIns="45720" rtlCol="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GB" sz="4800" b="1" i="0" u="none" strike="noStrike" kern="1200" cap="none" spc="4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t>Conformity 1</a:t>
            </a:r>
            <a:endParaRPr kumimoji="0" lang="en-GB" sz="4800" b="1" i="0" u="none" strike="noStrike" kern="1200" cap="none" spc="40" normalizeH="0" baseline="0" noProof="0" dirty="0">
              <a:ln w="13335" cmpd="sng">
                <a:solidFill>
                  <a:schemeClr val="accent1">
                    <a:lumMod val="50000"/>
                  </a:schemeClr>
                </a:solidFill>
                <a:prstDash val="solid"/>
              </a:ln>
              <a:solidFill>
                <a:schemeClr val="tx1"/>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992630" y="260350"/>
            <a:ext cx="7543800" cy="633730"/>
          </a:xfrm>
          <a:noFill/>
          <a:ln>
            <a:noFill/>
          </a:ln>
          <a:effectLst/>
          <a:scene3d>
            <a:camera prst="orthographicFront"/>
            <a:lightRig rig="balanced" dir="t"/>
          </a:scene3d>
          <a:sp3d prstMaterial="plastic"/>
        </p:spPr>
        <p:txBody>
          <a:bodyPr vert="horz" lIns="91440" tIns="45720" rIns="91440" bIns="45720" rtlCol="0" anchor="b">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tabLst>
                <a:tab pos="3830320" algn="l"/>
              </a:tabLst>
              <a:defRPr/>
            </a:pPr>
            <a:r>
              <a:rPr kumimoji="0" lang="en-GB" sz="2800" b="1" i="0" u="none" strike="noStrike" kern="1200" cap="none" spc="50" normalizeH="0" baseline="0" noProof="0" dirty="0" err="1">
                <a:ln w="13335" cmpd="sng">
                  <a:solidFill>
                    <a:schemeClr val="accent1">
                      <a:lumMod val="50000"/>
                    </a:schemeClr>
                  </a:solidFill>
                  <a:prstDash val="solid"/>
                </a:ln>
                <a:solidFill>
                  <a:schemeClr val="tx1"/>
                </a:solidFill>
                <a:effectLst/>
                <a:uLnTx/>
                <a:uFillTx/>
                <a:latin typeface="+mj-lt"/>
                <a:ea typeface="+mj-ea"/>
                <a:cs typeface="+mj-cs"/>
              </a:rPr>
              <a:t>Sherif’s</a:t>
            </a:r>
            <a:r>
              <a:rPr kumimoji="0" lang="en-GB" sz="280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t> (1935) </a:t>
            </a:r>
            <a:br>
              <a:rPr kumimoji="0" lang="en-GB" sz="280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br>
            <a:r>
              <a:rPr kumimoji="0" lang="en-GB" sz="2800" b="1" i="0" u="none" strike="noStrike" kern="1200" cap="none" spc="50" normalizeH="0" baseline="0" noProof="0" dirty="0" err="1">
                <a:ln w="13335" cmpd="sng">
                  <a:solidFill>
                    <a:schemeClr val="accent1">
                      <a:lumMod val="50000"/>
                    </a:schemeClr>
                  </a:solidFill>
                  <a:prstDash val="solid"/>
                </a:ln>
                <a:solidFill>
                  <a:schemeClr val="tx1"/>
                </a:solidFill>
                <a:effectLst/>
                <a:uLnTx/>
                <a:uFillTx/>
                <a:latin typeface="+mj-lt"/>
                <a:ea typeface="+mj-ea"/>
                <a:cs typeface="+mj-cs"/>
              </a:rPr>
              <a:t>Autokinetic</a:t>
            </a:r>
            <a:r>
              <a:rPr kumimoji="0" lang="en-GB" sz="280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t> Effect Experiment</a:t>
            </a:r>
            <a:endParaRPr kumimoji="0" lang="en-GB" sz="280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endParaRPr>
          </a:p>
        </p:txBody>
      </p:sp>
      <p:sp>
        <p:nvSpPr>
          <p:cNvPr id="11267" name="Rectangle 3"/>
          <p:cNvSpPr>
            <a:spLocks noGrp="1"/>
          </p:cNvSpPr>
          <p:nvPr>
            <p:ph idx="1"/>
          </p:nvPr>
        </p:nvSpPr>
        <p:spPr>
          <a:xfrm>
            <a:off x="455295" y="1514475"/>
            <a:ext cx="11188700" cy="5102225"/>
          </a:xfrm>
        </p:spPr>
        <p:txBody>
          <a:bodyPr vert="horz" wrap="square" lIns="91440" tIns="45720" rIns="91440" bIns="45720" anchor="t" anchorCtr="0"/>
          <a:lstStyle/>
          <a:p>
            <a:pPr marL="0" indent="0" eaLnBrk="1" hangingPunct="1">
              <a:buFontTx/>
              <a:buNone/>
            </a:pPr>
            <a:r>
              <a:rPr lang="en-GB" altLang="tr-TR" sz="3400" dirty="0"/>
              <a:t>Autokinetic effect – when in total darkness we perceive a small stationary bright light as moving.  </a:t>
            </a:r>
            <a:endParaRPr lang="en-GB" altLang="tr-TR" sz="3400" dirty="0"/>
          </a:p>
          <a:p>
            <a:pPr marL="0" indent="0" eaLnBrk="1" hangingPunct="1">
              <a:buFontTx/>
              <a:buNone/>
            </a:pPr>
            <a:endParaRPr lang="en-GB" altLang="tr-TR" sz="3400" dirty="0"/>
          </a:p>
          <a:p>
            <a:pPr marL="0" indent="0" eaLnBrk="1" hangingPunct="1">
              <a:buFontTx/>
              <a:buNone/>
            </a:pPr>
            <a:r>
              <a:rPr lang="en-GB" altLang="tr-TR" sz="3400" b="1" dirty="0"/>
              <a:t>How much did the light move when viewed by themselves and then in groups of 2 or 3.</a:t>
            </a:r>
            <a:r>
              <a:rPr lang="en-GB" altLang="tr-TR" sz="3400" b="1" dirty="0">
                <a:solidFill>
                  <a:schemeClr val="bg1"/>
                </a:solidFill>
              </a:rPr>
              <a:t>ambiguous task</a:t>
            </a:r>
            <a:r>
              <a:rPr lang="en-GB" altLang="tr-TR" sz="3400" dirty="0">
                <a:solidFill>
                  <a:schemeClr val="bg1"/>
                </a:solidFill>
              </a:rPr>
              <a:t>.</a:t>
            </a:r>
            <a:endParaRPr lang="en-GB" altLang="tr-TR" sz="3400" dirty="0">
              <a:solidFill>
                <a:schemeClr val="bg1"/>
              </a:solidFill>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sherif_autokinetic"/>
          <p:cNvPicPr>
            <a:picLocks noChangeAspect="1"/>
          </p:cNvPicPr>
          <p:nvPr/>
        </p:nvPicPr>
        <p:blipFill>
          <a:blip r:embed="rId1"/>
          <a:stretch>
            <a:fillRect/>
          </a:stretch>
        </p:blipFill>
        <p:spPr>
          <a:xfrm>
            <a:off x="1847850" y="188913"/>
            <a:ext cx="8496300" cy="6119812"/>
          </a:xfrm>
          <a:prstGeom prst="rect">
            <a:avLst/>
          </a:prstGeom>
          <a:noFill/>
          <a:ln w="9525">
            <a:noFill/>
          </a:ln>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noFill/>
          <a:ln>
            <a:noFill/>
          </a:ln>
          <a:effectLst/>
          <a:scene3d>
            <a:camera prst="orthographicFront"/>
            <a:lightRig rig="balanced" dir="t"/>
          </a:scene3d>
          <a:sp3d prstMaterial="plastic"/>
        </p:spPr>
        <p:txBody>
          <a:bodyPr vert="horz" lIns="91440" tIns="45720" rIns="91440" bIns="45720" rtlCol="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GB" sz="4800" b="1" i="0" u="none" strike="noStrike" kern="1200" cap="none" spc="4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t>Conformity 2</a:t>
            </a:r>
            <a:endParaRPr kumimoji="0" lang="en-GB" sz="4800" b="1" i="0" u="none" strike="noStrike" kern="1200" cap="none" spc="40" normalizeH="0" baseline="0" noProof="0" dirty="0">
              <a:ln w="13335" cmpd="sng">
                <a:solidFill>
                  <a:schemeClr val="accent1">
                    <a:lumMod val="50000"/>
                  </a:schemeClr>
                </a:solidFill>
                <a:prstDash val="solid"/>
              </a:ln>
              <a:solidFill>
                <a:schemeClr val="tx1"/>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a:noFill/>
          </a:ln>
          <a:effectLst/>
          <a:scene3d>
            <a:camera prst="orthographicFront"/>
            <a:lightRig rig="balanced" dir="t"/>
          </a:scene3d>
          <a:sp3d prstMaterial="plastic"/>
        </p:spPr>
        <p:txBody>
          <a:bodyPr vert="horz" lIns="91440" tIns="45720" rIns="91440" bIns="45720" rtlCol="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tab pos="3830320" algn="l"/>
              </a:tabLst>
              <a:defRPr/>
            </a:pPr>
            <a:r>
              <a:rPr kumimoji="0" lang="en-GB" sz="311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t>Asch’s (1950s)Lines Experiments</a:t>
            </a:r>
            <a:endParaRPr kumimoji="0" lang="en-GB" sz="311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endParaRPr>
          </a:p>
        </p:txBody>
      </p:sp>
      <p:sp>
        <p:nvSpPr>
          <p:cNvPr id="14339" name="Rectangle 3"/>
          <p:cNvSpPr>
            <a:spLocks noGrp="1"/>
          </p:cNvSpPr>
          <p:nvPr>
            <p:ph idx="1"/>
          </p:nvPr>
        </p:nvSpPr>
        <p:spPr>
          <a:xfrm>
            <a:off x="1981200" y="1600200"/>
            <a:ext cx="4978400" cy="4525963"/>
          </a:xfrm>
        </p:spPr>
        <p:txBody>
          <a:bodyPr vert="horz" wrap="square" lIns="91440" tIns="45720" rIns="91440" bIns="45720" anchor="t" anchorCtr="0"/>
          <a:lstStyle/>
          <a:p>
            <a:pPr eaLnBrk="1" hangingPunct="1">
              <a:buFontTx/>
              <a:buNone/>
            </a:pPr>
            <a:endParaRPr lang="tr-TR" altLang="tr-TR" dirty="0"/>
          </a:p>
        </p:txBody>
      </p:sp>
      <p:pic>
        <p:nvPicPr>
          <p:cNvPr id="14340" name="Picture 4" descr="Asch_experiment"/>
          <p:cNvPicPr>
            <a:picLocks noChangeAspect="1"/>
          </p:cNvPicPr>
          <p:nvPr/>
        </p:nvPicPr>
        <p:blipFill>
          <a:blip r:embed="rId1"/>
          <a:stretch>
            <a:fillRect/>
          </a:stretch>
        </p:blipFill>
        <p:spPr>
          <a:xfrm>
            <a:off x="1919288" y="1700213"/>
            <a:ext cx="8208962" cy="4686300"/>
          </a:xfrm>
          <a:prstGeom prst="rect">
            <a:avLst/>
          </a:prstGeom>
          <a:noFill/>
          <a:ln w="9525">
            <a:noFill/>
          </a:ln>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625475" y="1719580"/>
            <a:ext cx="11205845" cy="4949825"/>
          </a:xfrm>
        </p:spPr>
        <p:txBody>
          <a:bodyPr vert="horz" wrap="square" lIns="91440" tIns="45720" rIns="91440" bIns="45720" numCol="1" rtlCol="0" anchor="t" anchorCtr="0" compatLnSpc="1">
            <a:normAutofit fontScale="92500" lnSpcReduction="10000"/>
          </a:bodyPr>
          <a:lstStyle/>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 typeface="Arial" panose="020B0604020202020204" pitchFamily="34" charset="0"/>
              <a:buChar char="•"/>
              <a:defRPr/>
            </a:pPr>
            <a:r>
              <a:rPr kumimoji="0" lang="en-GB" sz="2800" b="1" i="0" u="none" strike="noStrike" kern="1200" cap="none" spc="0" normalizeH="0" baseline="0" noProof="0" dirty="0">
                <a:ln>
                  <a:noFill/>
                </a:ln>
                <a:solidFill>
                  <a:schemeClr val="tx2"/>
                </a:solidFill>
                <a:effectLst/>
                <a:uLnTx/>
                <a:uFillTx/>
                <a:latin typeface="+mn-lt"/>
                <a:ea typeface="+mn-ea"/>
                <a:cs typeface="+mn-cs"/>
              </a:rPr>
              <a:t>Control group</a:t>
            </a:r>
            <a:r>
              <a:rPr kumimoji="0" lang="en-GB" sz="2800" b="0" i="0" u="none" strike="noStrike" kern="1200" cap="none" spc="0" normalizeH="0" baseline="0" noProof="0" dirty="0">
                <a:ln>
                  <a:noFill/>
                </a:ln>
                <a:solidFill>
                  <a:schemeClr val="tx2"/>
                </a:solidFill>
                <a:effectLst/>
                <a:uLnTx/>
                <a:uFillTx/>
                <a:latin typeface="+mn-lt"/>
                <a:ea typeface="+mn-ea"/>
                <a:cs typeface="+mn-cs"/>
              </a:rPr>
              <a:t> – 35/37 people judged the correct line – </a:t>
            </a:r>
            <a:r>
              <a:rPr kumimoji="0" lang="en-GB" sz="2800" b="1" i="0" u="none" strike="noStrike" kern="1200" cap="none" spc="0" normalizeH="0" baseline="0" noProof="0" dirty="0">
                <a:ln>
                  <a:noFill/>
                </a:ln>
                <a:solidFill>
                  <a:schemeClr val="bg1"/>
                </a:solidFill>
                <a:effectLst/>
                <a:uLnTx/>
                <a:uFillTx/>
                <a:latin typeface="+mn-lt"/>
                <a:ea typeface="+mn-ea"/>
                <a:cs typeface="+mn-cs"/>
              </a:rPr>
              <a:t>unambiguous task</a:t>
            </a:r>
            <a:endParaRPr kumimoji="0" lang="en-GB" sz="2800" b="1" i="0" u="none" strike="noStrike" kern="1200" cap="none" spc="0" normalizeH="0" baseline="0" noProof="0" dirty="0">
              <a:ln>
                <a:noFill/>
              </a:ln>
              <a:solidFill>
                <a:schemeClr val="bg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 typeface="Arial" panose="020B0604020202020204" pitchFamily="34" charset="0"/>
              <a:buChar char="•"/>
              <a:defRPr/>
            </a:pPr>
            <a:r>
              <a:rPr kumimoji="0" lang="en-GB" sz="2800" b="1" i="0" u="none" strike="noStrike" kern="1200" cap="none" spc="0" normalizeH="0" baseline="0" noProof="0" dirty="0">
                <a:ln>
                  <a:noFill/>
                </a:ln>
                <a:solidFill>
                  <a:schemeClr val="tx2"/>
                </a:solidFill>
                <a:effectLst/>
                <a:uLnTx/>
                <a:uFillTx/>
                <a:latin typeface="+mn-lt"/>
                <a:ea typeface="+mn-ea"/>
                <a:cs typeface="+mn-cs"/>
              </a:rPr>
              <a:t>Experimental group</a:t>
            </a:r>
            <a:r>
              <a:rPr kumimoji="0" lang="en-GB" sz="2800" b="0" i="0" u="none" strike="noStrike" kern="1200" cap="none" spc="0" normalizeH="0" baseline="0" noProof="0" dirty="0">
                <a:ln>
                  <a:noFill/>
                </a:ln>
                <a:solidFill>
                  <a:schemeClr val="tx2"/>
                </a:solidFill>
                <a:effectLst/>
                <a:uLnTx/>
                <a:uFillTx/>
                <a:latin typeface="+mn-lt"/>
                <a:ea typeface="+mn-ea"/>
                <a:cs typeface="+mn-cs"/>
              </a:rPr>
              <a:t> – judgements out loud</a:t>
            </a: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Tx/>
              <a:buNone/>
              <a:defRPr/>
            </a:pPr>
            <a:r>
              <a:rPr kumimoji="0" lang="en-GB" sz="2800" b="0" i="0" u="none" strike="noStrike" kern="1200" cap="none" spc="0" normalizeH="0" baseline="0" noProof="0" dirty="0">
                <a:ln>
                  <a:noFill/>
                </a:ln>
                <a:solidFill>
                  <a:schemeClr val="tx2"/>
                </a:solidFill>
                <a:effectLst/>
                <a:uLnTx/>
                <a:uFillTx/>
                <a:latin typeface="+mn-lt"/>
                <a:ea typeface="+mn-ea"/>
                <a:cs typeface="+mn-cs"/>
              </a:rPr>
              <a:t>	All but one were confederates (1 + 6)</a:t>
            </a: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Tx/>
              <a:buNone/>
              <a:defRPr/>
            </a:pPr>
            <a:r>
              <a:rPr kumimoji="0" lang="en-GB" sz="2800" b="0" i="0" u="none" strike="noStrike" kern="1200" cap="none" spc="0" normalizeH="0" baseline="0" noProof="0" dirty="0">
                <a:ln>
                  <a:noFill/>
                </a:ln>
                <a:solidFill>
                  <a:schemeClr val="tx2"/>
                </a:solidFill>
                <a:effectLst/>
                <a:uLnTx/>
                <a:uFillTx/>
                <a:latin typeface="+mn-lt"/>
                <a:ea typeface="+mn-ea"/>
                <a:cs typeface="+mn-cs"/>
              </a:rPr>
              <a:t>	The confederates had been prearranged to all give an incorrect answer to the tests. </a:t>
            </a: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Tx/>
              <a:buNone/>
              <a:defRPr/>
            </a:pP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 typeface="Arial" panose="020B0604020202020204" pitchFamily="34" charset="0"/>
              <a:buChar char="•"/>
              <a:defRPr/>
            </a:pPr>
            <a:r>
              <a:rPr kumimoji="0" lang="en-GB" sz="2800" b="1" i="0" u="none" strike="noStrike" kern="1200" cap="none" spc="0" normalizeH="0" baseline="0" noProof="0" dirty="0">
                <a:ln>
                  <a:noFill/>
                </a:ln>
                <a:solidFill>
                  <a:schemeClr val="tx2"/>
                </a:solidFill>
                <a:effectLst/>
                <a:uLnTx/>
                <a:uFillTx/>
                <a:latin typeface="+mn-lt"/>
                <a:ea typeface="+mn-ea"/>
                <a:cs typeface="+mn-cs"/>
              </a:rPr>
              <a:t>37%</a:t>
            </a:r>
            <a:r>
              <a:rPr kumimoji="0" lang="en-GB" sz="2800" b="0" i="0" u="none" strike="noStrike" kern="1200" cap="none" spc="0" normalizeH="0" baseline="0" noProof="0" dirty="0">
                <a:ln>
                  <a:noFill/>
                </a:ln>
                <a:solidFill>
                  <a:schemeClr val="tx2"/>
                </a:solidFill>
                <a:effectLst/>
                <a:uLnTx/>
                <a:uFillTx/>
                <a:latin typeface="+mn-lt"/>
                <a:ea typeface="+mn-ea"/>
                <a:cs typeface="+mn-cs"/>
              </a:rPr>
              <a:t> of experimental group gave incorrect response</a:t>
            </a: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 typeface="Arial" panose="020B0604020202020204" pitchFamily="34" charset="0"/>
              <a:buChar char="•"/>
              <a:defRPr/>
            </a:pPr>
            <a:r>
              <a:rPr kumimoji="0" lang="en-GB" sz="2800" b="0" i="0" u="none" strike="noStrike" kern="1200" cap="none" spc="0" normalizeH="0" baseline="0" noProof="0" dirty="0">
                <a:ln>
                  <a:noFill/>
                </a:ln>
                <a:solidFill>
                  <a:schemeClr val="tx2"/>
                </a:solidFill>
                <a:effectLst/>
                <a:uLnTx/>
                <a:uFillTx/>
                <a:latin typeface="+mn-lt"/>
                <a:ea typeface="+mn-ea"/>
                <a:cs typeface="+mn-cs"/>
              </a:rPr>
              <a:t>Subjects showed extreme discomfort</a:t>
            </a: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 typeface="Arial" panose="020B0604020202020204" pitchFamily="34" charset="0"/>
              <a:buChar char="•"/>
              <a:defRPr/>
            </a:pPr>
            <a:r>
              <a:rPr kumimoji="0" lang="en-GB" sz="2800" b="0" i="0" u="none" strike="noStrike" kern="1200" cap="none" spc="0" normalizeH="0" baseline="0" noProof="0" dirty="0">
                <a:ln>
                  <a:noFill/>
                </a:ln>
                <a:solidFill>
                  <a:schemeClr val="tx2"/>
                </a:solidFill>
                <a:effectLst/>
                <a:uLnTx/>
                <a:uFillTx/>
                <a:latin typeface="+mn-lt"/>
                <a:ea typeface="+mn-ea"/>
                <a:cs typeface="+mn-cs"/>
              </a:rPr>
              <a:t>Fear of social disapproval</a:t>
            </a: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 typeface="Arial" panose="020B0604020202020204" pitchFamily="34" charset="0"/>
              <a:buChar char="•"/>
              <a:defRPr/>
            </a:pPr>
            <a:r>
              <a:rPr kumimoji="0" lang="en-GB" sz="2800" b="0" i="0" u="none" strike="noStrike" kern="1200" cap="none" spc="0" normalizeH="0" baseline="0" noProof="0" dirty="0">
                <a:ln>
                  <a:noFill/>
                </a:ln>
                <a:solidFill>
                  <a:schemeClr val="tx2"/>
                </a:solidFill>
                <a:effectLst/>
                <a:uLnTx/>
                <a:uFillTx/>
                <a:latin typeface="+mn-lt"/>
                <a:ea typeface="+mn-ea"/>
                <a:cs typeface="+mn-cs"/>
                <a:hlinkClick r:id="rId1"/>
              </a:rPr>
              <a:t>https://www.youtube.com/watch?v=NyDDyT1lDhA</a:t>
            </a: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lumMod val="60000"/>
                  <a:lumOff val="40000"/>
                </a:schemeClr>
              </a:buClr>
              <a:buSzTx/>
              <a:buFont typeface="Arial" panose="020B0604020202020204" pitchFamily="34" charset="0"/>
              <a:buChar char="•"/>
              <a:defRPr/>
            </a:pPr>
            <a:endParaRPr kumimoji="0" lang="en-GB" sz="28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9110" y="464820"/>
            <a:ext cx="10972800" cy="582613"/>
          </a:xfrm>
          <a:noFill/>
          <a:ln>
            <a:noFill/>
          </a:ln>
          <a:effectLst/>
          <a:scene3d>
            <a:camera prst="orthographicFront"/>
            <a:lightRig rig="balanced" dir="t"/>
          </a:scene3d>
          <a:sp3d prstMaterial="plastic"/>
        </p:spPr>
        <p:txBody>
          <a:bodyPr vert="horz" lIns="91440" tIns="45720" rIns="91440" bIns="45720" rtlCol="0" anchor="b">
            <a:noAutofit/>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US" sz="280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t>Factors that affect conformity</a:t>
            </a:r>
            <a:br>
              <a:rPr kumimoji="0" lang="en-US" sz="280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br>
            <a:endParaRPr kumimoji="0" lang="en-US" sz="280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endParaRPr>
          </a:p>
        </p:txBody>
      </p:sp>
      <p:sp>
        <p:nvSpPr>
          <p:cNvPr id="16387" name="Content Placeholder 2"/>
          <p:cNvSpPr>
            <a:spLocks noGrp="1"/>
          </p:cNvSpPr>
          <p:nvPr>
            <p:ph idx="1"/>
          </p:nvPr>
        </p:nvSpPr>
        <p:spPr/>
        <p:txBody>
          <a:bodyPr vert="horz" wrap="square" lIns="91440" tIns="45720" rIns="91440" bIns="45720" anchor="t" anchorCtr="0"/>
          <a:lstStyle/>
          <a:p>
            <a:pPr lvl="1" eaLnBrk="1" hangingPunct="1"/>
            <a:r>
              <a:rPr lang="en-US" altLang="tr-TR" sz="2800" dirty="0"/>
              <a:t>Group size:</a:t>
            </a:r>
            <a:endParaRPr lang="en-US" altLang="tr-TR" sz="2800" dirty="0"/>
          </a:p>
          <a:p>
            <a:pPr lvl="2" eaLnBrk="1" hangingPunct="1"/>
            <a:r>
              <a:rPr lang="en-US" altLang="tr-TR" sz="2800" dirty="0"/>
              <a:t>Conformity increases as group size increases</a:t>
            </a:r>
            <a:endParaRPr lang="en-US" altLang="tr-TR" sz="2800" dirty="0"/>
          </a:p>
          <a:p>
            <a:pPr lvl="1" eaLnBrk="1" hangingPunct="1"/>
            <a:r>
              <a:rPr lang="en-US" altLang="tr-TR" sz="2800" dirty="0"/>
              <a:t>Presence of a dissenter:</a:t>
            </a:r>
            <a:endParaRPr lang="en-US" altLang="tr-TR" sz="2800" dirty="0"/>
          </a:p>
          <a:p>
            <a:pPr lvl="2" eaLnBrk="1" hangingPunct="1"/>
            <a:r>
              <a:rPr lang="en-US" altLang="tr-TR" sz="2800" dirty="0"/>
              <a:t>One person disagreeing with the others greatly reduces group conformity</a:t>
            </a:r>
            <a:endParaRPr lang="en-US" altLang="tr-TR" sz="2800" dirty="0"/>
          </a:p>
          <a:p>
            <a:pPr lvl="1" eaLnBrk="1" hangingPunct="1"/>
            <a:r>
              <a:rPr lang="en-US" altLang="tr-TR" sz="2800" dirty="0"/>
              <a:t>Culture:</a:t>
            </a:r>
            <a:endParaRPr lang="en-US" altLang="tr-TR" sz="2800" dirty="0"/>
          </a:p>
          <a:p>
            <a:pPr lvl="2" eaLnBrk="1" hangingPunct="1"/>
            <a:r>
              <a:rPr lang="en-US" altLang="tr-TR" sz="2800" dirty="0"/>
              <a:t>Greater in collectivistic cultures</a:t>
            </a:r>
            <a:endParaRPr lang="en-US" altLang="tr-TR" sz="2800" u="sng" dirty="0"/>
          </a:p>
          <a:p>
            <a:pPr eaLnBrk="1" hangingPunct="1"/>
            <a:endParaRPr lang="en-US" altLang="tr-TR" sz="28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828800" y="-152400"/>
            <a:ext cx="7543800" cy="845820"/>
          </a:xfrm>
          <a:noFill/>
          <a:ln>
            <a:noFill/>
          </a:ln>
          <a:effectLst/>
          <a:scene3d>
            <a:camera prst="orthographicFront"/>
            <a:lightRig rig="balanced" dir="t"/>
          </a:scene3d>
          <a:sp3d prstMaterial="plastic"/>
        </p:spPr>
        <p:txBody>
          <a:bodyPr vert="horz" lIns="91440" tIns="45720" rIns="91440" bIns="45720" rtlCol="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GB" sz="2800" b="1" i="0" u="none" strike="noStrike" kern="1200" cap="none" spc="50" normalizeH="0" baseline="0" noProof="0">
                <a:ln w="13335" cmpd="sng">
                  <a:solidFill>
                    <a:schemeClr val="accent1">
                      <a:lumMod val="50000"/>
                    </a:schemeClr>
                  </a:solidFill>
                  <a:prstDash val="solid"/>
                </a:ln>
                <a:solidFill>
                  <a:schemeClr val="tx1"/>
                </a:solidFill>
                <a:effectLst/>
                <a:uLnTx/>
                <a:uFillTx/>
                <a:latin typeface="+mj-lt"/>
                <a:ea typeface="+mj-ea"/>
                <a:cs typeface="+mj-cs"/>
              </a:rPr>
              <a:t>Explanations of Conformity</a:t>
            </a:r>
            <a:endParaRPr kumimoji="0" lang="en-GB" sz="2800" b="1" i="0" u="none" strike="noStrike" kern="1200" cap="none" spc="50" normalizeH="0" baseline="0" noProof="0">
              <a:ln w="13335" cmpd="sng">
                <a:solidFill>
                  <a:schemeClr val="accent1">
                    <a:lumMod val="50000"/>
                  </a:schemeClr>
                </a:solidFill>
                <a:prstDash val="solid"/>
              </a:ln>
              <a:solidFill>
                <a:schemeClr val="tx1"/>
              </a:solidFill>
              <a:effectLst/>
              <a:uLnTx/>
              <a:uFillTx/>
              <a:latin typeface="+mj-lt"/>
              <a:ea typeface="+mj-ea"/>
              <a:cs typeface="+mj-cs"/>
            </a:endParaRPr>
          </a:p>
        </p:txBody>
      </p:sp>
      <p:sp>
        <p:nvSpPr>
          <p:cNvPr id="17411" name="Rectangle 3"/>
          <p:cNvSpPr>
            <a:spLocks noGrp="1"/>
          </p:cNvSpPr>
          <p:nvPr>
            <p:ph idx="1"/>
          </p:nvPr>
        </p:nvSpPr>
        <p:spPr>
          <a:xfrm>
            <a:off x="708660" y="1412875"/>
            <a:ext cx="10815955" cy="4949825"/>
          </a:xfrm>
        </p:spPr>
        <p:txBody>
          <a:bodyPr vert="horz" wrap="square" lIns="91440" tIns="45720" rIns="91440" bIns="45720" anchor="t" anchorCtr="0"/>
          <a:lstStyle/>
          <a:p>
            <a:pPr marL="0" indent="0" eaLnBrk="1" hangingPunct="1">
              <a:buFontTx/>
              <a:buNone/>
            </a:pPr>
            <a:r>
              <a:rPr lang="en-GB" altLang="tr-TR" sz="2800" b="1" dirty="0"/>
              <a:t>Informational influence</a:t>
            </a:r>
            <a:r>
              <a:rPr lang="en-GB" altLang="tr-TR" sz="2800" dirty="0"/>
              <a:t> – to go with information derived from others, rather than from ourselves, because it removes ambiguity in the situation (desire to be correct) – </a:t>
            </a:r>
            <a:r>
              <a:rPr lang="en-GB" altLang="tr-TR" sz="2800" dirty="0">
                <a:solidFill>
                  <a:schemeClr val="bg1"/>
                </a:solidFill>
              </a:rPr>
              <a:t>Sherif’s study</a:t>
            </a:r>
            <a:endParaRPr lang="en-GB" altLang="tr-TR" sz="2800" dirty="0">
              <a:solidFill>
                <a:schemeClr val="bg1"/>
              </a:solidFill>
            </a:endParaRPr>
          </a:p>
          <a:p>
            <a:pPr marL="0" indent="0" eaLnBrk="1" hangingPunct="1">
              <a:buFontTx/>
              <a:buNone/>
            </a:pPr>
            <a:endParaRPr lang="en-GB" altLang="tr-TR" sz="2800" dirty="0">
              <a:solidFill>
                <a:srgbClr val="FF0000"/>
              </a:solidFill>
            </a:endParaRPr>
          </a:p>
          <a:p>
            <a:pPr marL="0" indent="0" eaLnBrk="1" hangingPunct="1">
              <a:buFontTx/>
              <a:buNone/>
            </a:pPr>
            <a:r>
              <a:rPr lang="en-GB" altLang="tr-TR" sz="2800" b="1" dirty="0"/>
              <a:t>Normative influence</a:t>
            </a:r>
            <a:r>
              <a:rPr lang="en-GB" altLang="tr-TR" sz="2800" dirty="0"/>
              <a:t> – </a:t>
            </a:r>
            <a:r>
              <a:rPr lang="en-US" altLang="tr-TR" sz="2800" dirty="0"/>
              <a:t>The influence of other people that leads us to conform in order to be liked and accepted by them; results in public compliance with the group’s beliefs and behaviors, but not necessarily in private acceptance </a:t>
            </a:r>
            <a:r>
              <a:rPr lang="en-GB" altLang="tr-TR" sz="2800" dirty="0"/>
              <a:t>– </a:t>
            </a:r>
            <a:r>
              <a:rPr lang="en-GB" altLang="tr-TR" sz="2800" dirty="0">
                <a:solidFill>
                  <a:schemeClr val="bg1"/>
                </a:solidFill>
              </a:rPr>
              <a:t>Asch’s study</a:t>
            </a:r>
            <a:endParaRPr lang="en-GB" altLang="tr-TR" sz="2800" dirty="0">
              <a:solidFill>
                <a:schemeClr val="bg1"/>
              </a:solidFill>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828800" y="190500"/>
            <a:ext cx="9753600" cy="582930"/>
          </a:xfrm>
          <a:noFill/>
          <a:ln>
            <a:noFill/>
          </a:ln>
          <a:effectLst/>
          <a:scene3d>
            <a:camera prst="orthographicFront"/>
            <a:lightRig rig="balanced" dir="t"/>
          </a:scene3d>
          <a:sp3d prstMaterial="plastic"/>
        </p:spPr>
        <p:txBody>
          <a:bodyPr vert="horz" lIns="91440" tIns="45720" rIns="91440" bIns="45720" rtlCol="0" anchor="b">
            <a:noAutofit/>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US" sz="280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t>Informational vs. NormativeSocial Influence</a:t>
            </a:r>
            <a:endParaRPr kumimoji="0" lang="en-US" sz="280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endParaRPr>
          </a:p>
        </p:txBody>
      </p:sp>
      <p:sp>
        <p:nvSpPr>
          <p:cNvPr id="20483" name="Rectangle 3"/>
          <p:cNvSpPr>
            <a:spLocks noGrp="1" noChangeArrowheads="1"/>
          </p:cNvSpPr>
          <p:nvPr>
            <p:ph idx="1"/>
          </p:nvPr>
        </p:nvSpPr>
        <p:spPr>
          <a:xfrm>
            <a:off x="396240" y="1376680"/>
            <a:ext cx="11186795" cy="4805680"/>
          </a:xfrm>
        </p:spPr>
        <p:txBody>
          <a:bodyPr vert="horz" wrap="square" lIns="91440" tIns="45720" rIns="91440" bIns="45720" numCol="1" anchor="t" anchorCtr="0" compatLnSpc="1"/>
          <a:lstStyle/>
          <a:p>
            <a:pPr eaLnBrk="1" hangingPunct="1"/>
            <a:r>
              <a:rPr sz="2800" b="1" dirty="0"/>
              <a:t>Informational Social Influence</a:t>
            </a:r>
            <a:endParaRPr sz="2800" b="1" dirty="0"/>
          </a:p>
          <a:p>
            <a:pPr lvl="1" eaLnBrk="1" hangingPunct="1"/>
            <a:r>
              <a:rPr dirty="0"/>
              <a:t>Situation is ambiguous</a:t>
            </a:r>
            <a:endParaRPr dirty="0"/>
          </a:p>
          <a:p>
            <a:pPr lvl="1" eaLnBrk="1" hangingPunct="1"/>
            <a:r>
              <a:rPr dirty="0"/>
              <a:t>Participant relies on others for information</a:t>
            </a:r>
            <a:endParaRPr dirty="0"/>
          </a:p>
          <a:p>
            <a:pPr lvl="1" eaLnBrk="1" hangingPunct="1"/>
            <a:r>
              <a:rPr dirty="0"/>
              <a:t>Public response = private acceptance (internalization*)</a:t>
            </a:r>
            <a:endParaRPr dirty="0"/>
          </a:p>
          <a:p>
            <a:pPr lvl="2" eaLnBrk="1" hangingPunct="1"/>
            <a:r>
              <a:rPr dirty="0"/>
              <a:t>Sherif</a:t>
            </a:r>
            <a:r>
              <a:rPr dirty="0">
                <a:latin typeface="Calibri" panose="020F0502020204030204" charset="0"/>
              </a:rPr>
              <a:t>’</a:t>
            </a:r>
            <a:r>
              <a:rPr dirty="0"/>
              <a:t>s study</a:t>
            </a:r>
            <a:endParaRPr dirty="0"/>
          </a:p>
          <a:p>
            <a:pPr lvl="2" eaLnBrk="1" hangingPunct="1"/>
            <a:endParaRPr dirty="0"/>
          </a:p>
          <a:p>
            <a:pPr eaLnBrk="1" hangingPunct="1"/>
            <a:r>
              <a:rPr sz="2800" b="1" dirty="0"/>
              <a:t>Normative Social Influence</a:t>
            </a:r>
            <a:endParaRPr sz="2800" b="1" dirty="0"/>
          </a:p>
          <a:p>
            <a:pPr lvl="1" eaLnBrk="1" hangingPunct="1"/>
            <a:r>
              <a:rPr dirty="0"/>
              <a:t>Situation is not ambiguous</a:t>
            </a:r>
            <a:endParaRPr dirty="0"/>
          </a:p>
          <a:p>
            <a:pPr lvl="1" eaLnBrk="1" hangingPunct="1"/>
            <a:r>
              <a:rPr dirty="0"/>
              <a:t>Participant is looking for social approval</a:t>
            </a:r>
            <a:endParaRPr dirty="0"/>
          </a:p>
          <a:p>
            <a:pPr lvl="1" eaLnBrk="1" hangingPunct="1"/>
            <a:r>
              <a:rPr dirty="0"/>
              <a:t>Public response </a:t>
            </a:r>
            <a:r>
              <a:rPr dirty="0">
                <a:cs typeface="Arial" panose="020B0604020202020204" pitchFamily="34" charset="0"/>
              </a:rPr>
              <a:t>≠ </a:t>
            </a:r>
            <a:r>
              <a:rPr dirty="0"/>
              <a:t>private acceptance (compliance*)</a:t>
            </a:r>
            <a:endParaRPr dirty="0"/>
          </a:p>
          <a:p>
            <a:pPr lvl="2" eaLnBrk="1" hangingPunct="1"/>
            <a:r>
              <a:rPr lang="en-GB" altLang="x-none" dirty="0"/>
              <a:t>Asch</a:t>
            </a:r>
            <a:r>
              <a:rPr lang="en-GB" altLang="x-none" dirty="0">
                <a:latin typeface="Calibri" panose="020F0502020204030204" charset="0"/>
              </a:rPr>
              <a:t>’</a:t>
            </a:r>
            <a:r>
              <a:rPr lang="en-GB" altLang="x-none" dirty="0"/>
              <a:t>s study</a:t>
            </a:r>
            <a:endParaRPr lang="en-GB" altLang="x-none" dirty="0"/>
          </a:p>
          <a:p>
            <a:pPr lvl="2" eaLnBrk="1" hangingPunct="1"/>
            <a:endParaRPr dirty="0"/>
          </a:p>
          <a:p>
            <a:pPr lvl="2" eaLnBrk="1" hangingPunct="1">
              <a:buNone/>
            </a:pPr>
            <a:r>
              <a:rPr dirty="0"/>
              <a:t>* Types of conformity.</a:t>
            </a:r>
            <a:endParaRPr lang="en-GB" altLang="x-none"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noFill/>
          <a:ln>
            <a:noFill/>
          </a:ln>
          <a:effectLst/>
          <a:scene3d>
            <a:camera prst="orthographicFront"/>
            <a:lightRig rig="balanced" dir="t"/>
          </a:scene3d>
          <a:sp3d prstMaterial="plastic"/>
        </p:spPr>
        <p:txBody>
          <a:bodyPr vert="horz" lIns="91440" tIns="45720" rIns="91440" bIns="45720" rtlCol="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GB" sz="4800" b="1" i="0" u="none" strike="noStrike" kern="1200" cap="none" spc="40" normalizeH="0" baseline="0" noProof="0">
                <a:ln w="13335" cmpd="sng">
                  <a:solidFill>
                    <a:schemeClr val="accent1">
                      <a:lumMod val="50000"/>
                    </a:schemeClr>
                  </a:solidFill>
                  <a:prstDash val="solid"/>
                </a:ln>
                <a:solidFill>
                  <a:schemeClr val="tx1"/>
                </a:solidFill>
                <a:effectLst/>
                <a:uLnTx/>
                <a:uFillTx/>
                <a:latin typeface="+mj-lt"/>
                <a:ea typeface="+mj-ea"/>
                <a:cs typeface="+mj-cs"/>
              </a:rPr>
              <a:t>Obedience </a:t>
            </a:r>
            <a:endParaRPr kumimoji="0" lang="en-GB" sz="4800" b="1" i="0" u="none" strike="noStrike" kern="1200" cap="none" spc="40" normalizeH="0" baseline="0" noProof="0">
              <a:ln w="13335" cmpd="sng">
                <a:solidFill>
                  <a:schemeClr val="accent1">
                    <a:lumMod val="50000"/>
                  </a:schemeClr>
                </a:solidFill>
                <a:prstDash val="solid"/>
              </a:ln>
              <a:solidFill>
                <a:schemeClr val="tx1"/>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30400" y="190500"/>
            <a:ext cx="9652000" cy="582930"/>
          </a:xfrm>
          <a:noFill/>
          <a:ln>
            <a:noFill/>
          </a:ln>
          <a:effectLst/>
          <a:scene3d>
            <a:camera prst="orthographicFront"/>
            <a:lightRig rig="balanced" dir="t"/>
          </a:scene3d>
          <a:sp3d prstMaterial="plastic"/>
        </p:spPr>
        <p:txBody>
          <a:bodyPr vert="horz" lIns="91440" tIns="45720" rIns="91440" bIns="45720" rtlCol="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GB" sz="2800" b="1" i="0" u="none" strike="noStrike" kern="1200" cap="none" spc="50" normalizeH="0" baseline="0" noProof="0">
                <a:ln w="13335" cmpd="sng">
                  <a:solidFill>
                    <a:schemeClr val="accent1">
                      <a:lumMod val="50000"/>
                    </a:schemeClr>
                  </a:solidFill>
                  <a:prstDash val="solid"/>
                </a:ln>
                <a:solidFill>
                  <a:schemeClr val="tx1"/>
                </a:solidFill>
                <a:effectLst/>
                <a:uLnTx/>
                <a:uFillTx/>
                <a:latin typeface="+mj-lt"/>
                <a:ea typeface="+mj-ea"/>
                <a:cs typeface="+mj-cs"/>
              </a:rPr>
              <a:t>Obedience to Authority</a:t>
            </a:r>
            <a:endParaRPr kumimoji="0" lang="en-GB" sz="2800" b="1" i="0" u="none" strike="noStrike" kern="1200" cap="none" spc="50" normalizeH="0" baseline="0" noProof="0">
              <a:ln w="13335" cmpd="sng">
                <a:solidFill>
                  <a:schemeClr val="accent1">
                    <a:lumMod val="50000"/>
                  </a:schemeClr>
                </a:solidFill>
                <a:prstDash val="solid"/>
              </a:ln>
              <a:solidFill>
                <a:schemeClr val="tx1"/>
              </a:solidFill>
              <a:effectLst/>
              <a:uLnTx/>
              <a:uFillTx/>
              <a:latin typeface="+mj-lt"/>
              <a:ea typeface="+mj-ea"/>
              <a:cs typeface="+mj-cs"/>
            </a:endParaRPr>
          </a:p>
        </p:txBody>
      </p:sp>
      <p:sp>
        <p:nvSpPr>
          <p:cNvPr id="25603" name="Rectangle 3"/>
          <p:cNvSpPr>
            <a:spLocks noGrp="1"/>
          </p:cNvSpPr>
          <p:nvPr>
            <p:ph idx="1"/>
          </p:nvPr>
        </p:nvSpPr>
        <p:spPr>
          <a:xfrm>
            <a:off x="669925" y="1719580"/>
            <a:ext cx="10851515" cy="4878070"/>
          </a:xfrm>
        </p:spPr>
        <p:txBody>
          <a:bodyPr vert="horz" wrap="square" lIns="91440" tIns="45720" rIns="91440" bIns="45720" anchor="t" anchorCtr="0"/>
          <a:lstStyle/>
          <a:p>
            <a:pPr eaLnBrk="1" hangingPunct="1"/>
            <a:r>
              <a:rPr lang="en-GB" altLang="tr-TR" sz="2800" b="1" dirty="0"/>
              <a:t>Milgram’s shock generator studies</a:t>
            </a:r>
            <a:endParaRPr lang="en-GB" altLang="tr-TR" sz="2800" b="1" dirty="0"/>
          </a:p>
          <a:p>
            <a:pPr eaLnBrk="1" hangingPunct="1"/>
            <a:r>
              <a:rPr lang="en-GB" altLang="tr-TR" sz="2800" dirty="0"/>
              <a:t>The participant and a confederate (an actor pretending to be another participant) are told by the experimenter that they will be participating in an experiment to test “</a:t>
            </a:r>
            <a:r>
              <a:rPr lang="en-GB" altLang="tr-TR" sz="2800" i="1" dirty="0"/>
              <a:t>the effects of punishment on learning behaviour</a:t>
            </a:r>
            <a:r>
              <a:rPr lang="en-GB" altLang="tr-TR" sz="2800" dirty="0"/>
              <a:t>”.</a:t>
            </a:r>
            <a:endParaRPr lang="en-GB" altLang="tr-TR" sz="2800" dirty="0"/>
          </a:p>
          <a:p>
            <a:pPr eaLnBrk="1" hangingPunct="1"/>
            <a:r>
              <a:rPr lang="en-GB" altLang="tr-TR" sz="2800" dirty="0"/>
              <a:t>Learner or teacher</a:t>
            </a:r>
            <a:endParaRPr lang="en-GB" altLang="tr-TR" sz="2800" dirty="0"/>
          </a:p>
          <a:p>
            <a:pPr eaLnBrk="1" hangingPunct="1"/>
            <a:r>
              <a:rPr lang="en-GB" altLang="tr-TR" sz="2800" dirty="0"/>
              <a:t>Teacher gives, learner receives electric shock</a:t>
            </a:r>
            <a:endParaRPr lang="en-GB" altLang="tr-TR" sz="2800" dirty="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74850" y="263525"/>
            <a:ext cx="8229600" cy="422275"/>
          </a:xfrm>
          <a:noFill/>
          <a:ln>
            <a:noFill/>
          </a:ln>
          <a:effectLst/>
          <a:scene3d>
            <a:camera prst="orthographicFront"/>
            <a:lightRig rig="balanced" dir="t"/>
          </a:scene3d>
          <a:sp3d prstMaterial="plastic"/>
        </p:spPr>
        <p:txBody>
          <a:bodyPr vert="horz" lIns="91440" tIns="45720" rIns="91440" bIns="45720" rtlCol="0"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GB" sz="311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t>Milgram’s (1974) Obedience Experiment</a:t>
            </a:r>
            <a:endParaRPr kumimoji="0" lang="en-GB" sz="311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endParaRPr>
          </a:p>
        </p:txBody>
      </p:sp>
      <p:sp>
        <p:nvSpPr>
          <p:cNvPr id="26627" name="Rectangle 3"/>
          <p:cNvSpPr>
            <a:spLocks noGrp="1"/>
          </p:cNvSpPr>
          <p:nvPr>
            <p:ph idx="1"/>
          </p:nvPr>
        </p:nvSpPr>
        <p:spPr>
          <a:xfrm>
            <a:off x="629920" y="1719580"/>
            <a:ext cx="10861040" cy="4878070"/>
          </a:xfrm>
        </p:spPr>
        <p:txBody>
          <a:bodyPr vert="horz" wrap="square" lIns="91440" tIns="45720" rIns="91440" bIns="45720" anchor="t" anchorCtr="0"/>
          <a:lstStyle/>
          <a:p>
            <a:pPr marL="0" indent="0" eaLnBrk="1" hangingPunct="1">
              <a:buFontTx/>
              <a:buNone/>
            </a:pPr>
            <a:endParaRPr lang="en-GB" altLang="tr-TR" sz="3700" dirty="0"/>
          </a:p>
          <a:p>
            <a:pPr marL="0" indent="0" eaLnBrk="1" hangingPunct="1">
              <a:buFontTx/>
              <a:buNone/>
            </a:pPr>
            <a:r>
              <a:rPr lang="en-GB" altLang="tr-TR" sz="3700" dirty="0"/>
              <a:t>The teacher believes that he is actually giving shocks to the learner participant. In reality, there are NO shocks being given to the learner.</a:t>
            </a:r>
            <a:endParaRPr lang="en-GB" altLang="tr-TR" sz="3700" dirty="0"/>
          </a:p>
          <a:p>
            <a:pPr marL="0" indent="0" eaLnBrk="1" hangingPunct="1">
              <a:buFont typeface="Arial" panose="020B0604020202020204" pitchFamily="34" charset="0"/>
              <a:buChar char="•"/>
            </a:pPr>
            <a:endParaRPr lang="en-GB" altLang="tr-TR" sz="3700" dirty="0"/>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The experimenter (E) persuades the participant (S) to give what the participant believes are painful electric shocks to another participant (A), who is actually an actor. Many participants continued to give shocks despite pleas for mercy from the actor.">
            <a:hlinkClick r:id="rId1" tooltip="The experimenter (E) persuades the participant (S) to give what the participant believes are painful electric shocks to another participant (A), who is actually an actor. Many participants continued to give shocks despite pleas for mercy from the actor."/>
          </p:cNvPr>
          <p:cNvPicPr>
            <a:picLocks noChangeAspect="1"/>
          </p:cNvPicPr>
          <p:nvPr/>
        </p:nvPicPr>
        <p:blipFill>
          <a:blip r:embed="rId2"/>
          <a:stretch>
            <a:fillRect/>
          </a:stretch>
        </p:blipFill>
        <p:spPr>
          <a:xfrm>
            <a:off x="461010" y="1717675"/>
            <a:ext cx="5144135" cy="4669155"/>
          </a:xfrm>
          <a:prstGeom prst="rect">
            <a:avLst/>
          </a:prstGeom>
          <a:noFill/>
          <a:ln w="9525">
            <a:noFill/>
          </a:ln>
        </p:spPr>
      </p:pic>
      <p:pic>
        <p:nvPicPr>
          <p:cNvPr id="28674" name="Picture 2" descr="25"/>
          <p:cNvPicPr>
            <a:picLocks noChangeAspect="1"/>
          </p:cNvPicPr>
          <p:nvPr/>
        </p:nvPicPr>
        <p:blipFill>
          <a:blip r:embed="rId3"/>
          <a:stretch>
            <a:fillRect/>
          </a:stretch>
        </p:blipFill>
        <p:spPr>
          <a:xfrm>
            <a:off x="5836285" y="2349500"/>
            <a:ext cx="6062980" cy="3095625"/>
          </a:xfrm>
          <a:prstGeom prst="rect">
            <a:avLst/>
          </a:prstGeom>
          <a:noFill/>
          <a:ln w="9525">
            <a:noFill/>
          </a:ln>
        </p:spPr>
      </p:pic>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991360" y="457200"/>
            <a:ext cx="8229600" cy="269240"/>
          </a:xfrm>
          <a:noFill/>
          <a:ln>
            <a:noFill/>
          </a:ln>
          <a:effectLst/>
          <a:scene3d>
            <a:camera prst="orthographicFront"/>
            <a:lightRig rig="balanced" dir="t"/>
          </a:scene3d>
          <a:sp3d prstMaterial="plastic"/>
        </p:spPr>
        <p:txBody>
          <a:bodyPr vert="horz" lIns="91440" tIns="45720" rIns="91440" bIns="45720" rtlCol="0"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GB" sz="311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rPr>
              <a:t>Milgram’s (1974) Obedience Experiment</a:t>
            </a:r>
            <a:endParaRPr kumimoji="0" lang="en-GB" sz="3110" b="1" i="0" u="none" strike="noStrike" kern="1200" cap="none" spc="50" normalizeH="0" baseline="0" noProof="0" dirty="0">
              <a:ln w="13335" cmpd="sng">
                <a:solidFill>
                  <a:schemeClr val="accent1">
                    <a:lumMod val="50000"/>
                  </a:schemeClr>
                </a:solidFill>
                <a:prstDash val="solid"/>
              </a:ln>
              <a:solidFill>
                <a:schemeClr val="tx1"/>
              </a:solidFill>
              <a:effectLst/>
              <a:uLnTx/>
              <a:uFillTx/>
              <a:latin typeface="+mj-lt"/>
              <a:ea typeface="+mj-ea"/>
              <a:cs typeface="+mj-cs"/>
            </a:endParaRPr>
          </a:p>
        </p:txBody>
      </p:sp>
      <p:sp>
        <p:nvSpPr>
          <p:cNvPr id="29699" name="Rectangle 3"/>
          <p:cNvSpPr>
            <a:spLocks noGrp="1"/>
          </p:cNvSpPr>
          <p:nvPr>
            <p:ph idx="1"/>
          </p:nvPr>
        </p:nvSpPr>
        <p:spPr>
          <a:xfrm>
            <a:off x="497840" y="1719580"/>
            <a:ext cx="11135360" cy="5138420"/>
          </a:xfrm>
        </p:spPr>
        <p:txBody>
          <a:bodyPr vert="horz" wrap="square" lIns="91440" tIns="45720" rIns="91440" bIns="45720" anchor="t" anchorCtr="0"/>
          <a:lstStyle/>
          <a:p>
            <a:pPr eaLnBrk="1" hangingPunct="1">
              <a:lnSpc>
                <a:spcPct val="90000"/>
              </a:lnSpc>
            </a:pPr>
            <a:r>
              <a:rPr lang="en-GB" altLang="tr-TR" sz="2800" dirty="0"/>
              <a:t>After a certain number of level increases, the actor starts to bang on the wall that separates him from the teacher. After banging on the wall and complaining of his heart condition, the learner gives </a:t>
            </a:r>
            <a:r>
              <a:rPr lang="en-GB" altLang="tr-TR" sz="2800" b="1" dirty="0"/>
              <a:t>no further response</a:t>
            </a:r>
            <a:r>
              <a:rPr lang="en-GB" altLang="tr-TR" sz="2800" dirty="0"/>
              <a:t> to the questions and no further complaints.  </a:t>
            </a:r>
            <a:endParaRPr lang="en-GB" altLang="tr-TR" sz="2800" dirty="0"/>
          </a:p>
          <a:p>
            <a:pPr eaLnBrk="1" hangingPunct="1">
              <a:lnSpc>
                <a:spcPct val="90000"/>
              </a:lnSpc>
            </a:pPr>
            <a:endParaRPr lang="en-GB" altLang="tr-TR" sz="2800" dirty="0"/>
          </a:p>
          <a:p>
            <a:pPr eaLnBrk="1" hangingPunct="1">
              <a:lnSpc>
                <a:spcPct val="90000"/>
              </a:lnSpc>
            </a:pPr>
            <a:r>
              <a:rPr lang="en-GB" altLang="tr-TR" sz="2800" dirty="0"/>
              <a:t>It is at this point that many people begin to indicate their desire to stop the experiment and check on the subject but they are told by the experimenter to continue – and they do! </a:t>
            </a:r>
            <a:endParaRPr lang="en-GB" altLang="tr-TR" sz="2800" dirty="0"/>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5" descr="pas82760_1713"/>
          <p:cNvPicPr>
            <a:picLocks noChangeAspect="1"/>
          </p:cNvPicPr>
          <p:nvPr/>
        </p:nvPicPr>
        <p:blipFill>
          <a:blip r:embed="rId1"/>
          <a:stretch>
            <a:fillRect/>
          </a:stretch>
        </p:blipFill>
        <p:spPr>
          <a:xfrm>
            <a:off x="2209800" y="1295400"/>
            <a:ext cx="7315200" cy="4953000"/>
          </a:xfrm>
          <a:prstGeom prst="rect">
            <a:avLst/>
          </a:prstGeom>
          <a:noFill/>
          <a:ln w="9525">
            <a:no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p:cNvSpPr>
          <p:nvPr>
            <p:ph idx="1"/>
          </p:nvPr>
        </p:nvSpPr>
        <p:spPr>
          <a:xfrm>
            <a:off x="609600" y="1719580"/>
            <a:ext cx="10829925" cy="4878070"/>
          </a:xfrm>
        </p:spPr>
        <p:txBody>
          <a:bodyPr vert="horz" wrap="square" lIns="91440" tIns="45720" rIns="91440" bIns="45720" anchor="t" anchorCtr="0"/>
          <a:lstStyle/>
          <a:p>
            <a:pPr eaLnBrk="1" hangingPunct="1"/>
            <a:r>
              <a:rPr lang="en-GB" altLang="tr-TR" sz="2800" dirty="0"/>
              <a:t>Before the experiment Milgram asked to fellow psychologists – </a:t>
            </a:r>
            <a:r>
              <a:rPr lang="en-GB" altLang="tr-TR" sz="2800" b="1" dirty="0"/>
              <a:t>only sadists would give the maximum voltage.</a:t>
            </a:r>
            <a:endParaRPr lang="en-GB" altLang="tr-TR" sz="2800" b="1" dirty="0"/>
          </a:p>
          <a:p>
            <a:pPr eaLnBrk="1" hangingPunct="1"/>
            <a:endParaRPr lang="en-GB" altLang="tr-TR" sz="2800" dirty="0"/>
          </a:p>
          <a:p>
            <a:pPr eaLnBrk="1" hangingPunct="1"/>
            <a:r>
              <a:rPr lang="en-GB" altLang="tr-TR" sz="2800" dirty="0"/>
              <a:t>However,</a:t>
            </a:r>
            <a:r>
              <a:rPr lang="en-GB" altLang="tr-TR" sz="2800" b="1" dirty="0"/>
              <a:t> 65%</a:t>
            </a:r>
            <a:r>
              <a:rPr lang="en-GB" altLang="tr-TR" sz="2800" dirty="0"/>
              <a:t> (26 out of 40) of experimental participants administered the experiment's final 450-volt shock, though many were quite uncomfortable in doing so. No participant stopped before the 300-volt level (average 360-volt).</a:t>
            </a:r>
            <a:endParaRPr lang="en-GB" altLang="tr-TR" sz="2800" dirty="0"/>
          </a:p>
        </p:txBody>
      </p:sp>
      <p:sp>
        <p:nvSpPr>
          <p:cNvPr id="2" name="Title 1"/>
          <p:cNvSpPr>
            <a:spLocks noGrp="1"/>
          </p:cNvSpPr>
          <p:nvPr>
            <p:ph type="title"/>
          </p:nvPr>
        </p:nvSpPr>
        <p:spPr/>
        <p:txBody>
          <a:bodyPr/>
          <a:lstStyle/>
          <a:p>
            <a:pPr algn="ctr"/>
            <a:r>
              <a:rPr lang="en-GB" sz="2800" spc="50" noProof="0" dirty="0">
                <a:ln w="13335" cmpd="sng">
                  <a:solidFill>
                    <a:schemeClr val="accent1">
                      <a:lumMod val="50000"/>
                    </a:schemeClr>
                  </a:solidFill>
                  <a:prstDash val="solid"/>
                </a:ln>
                <a:solidFill>
                  <a:schemeClr val="tx1"/>
                </a:solidFill>
                <a:effectLst/>
                <a:uLnTx/>
                <a:uFillTx/>
                <a:sym typeface="+mn-ea"/>
              </a:rPr>
              <a:t>Milgram’s (1974) Obedience Experiment</a:t>
            </a:r>
            <a:endParaRPr lang="en-GB" altLang="en-US" sz="280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1" name="Object 3"/>
          <p:cNvGraphicFramePr>
            <a:graphicFrameLocks noGrp="1" noChangeAspect="1"/>
          </p:cNvGraphicFramePr>
          <p:nvPr>
            <p:ph idx="1"/>
          </p:nvPr>
        </p:nvGraphicFramePr>
        <p:xfrm>
          <a:off x="2286000" y="2016125"/>
          <a:ext cx="7772400" cy="4308475"/>
        </p:xfrm>
        <a:graphic>
          <a:graphicData uri="http://schemas.openxmlformats.org/presentationml/2006/ole">
            <mc:AlternateContent xmlns:mc="http://schemas.openxmlformats.org/markup-compatibility/2006">
              <mc:Choice xmlns:v="urn:schemas-microsoft-com:vml" Requires="v">
                <p:oleObj spid="_x0000_s4098" name="" r:id="rId1" imgW="5892165" imgH="3267075" progId="Word.Document.8">
                  <p:embed/>
                </p:oleObj>
              </mc:Choice>
              <mc:Fallback>
                <p:oleObj name="" r:id="rId1" imgW="5892165" imgH="3267075" progId="Word.Document.8">
                  <p:embed/>
                  <p:pic>
                    <p:nvPicPr>
                      <p:cNvPr id="0" name="Picture 3075"/>
                      <p:cNvPicPr/>
                      <p:nvPr/>
                    </p:nvPicPr>
                    <p:blipFill>
                      <a:blip r:embed="rId2"/>
                      <a:srcRect/>
                      <a:stretch>
                        <a:fillRect/>
                      </a:stretch>
                    </p:blipFill>
                    <p:spPr>
                      <a:xfrm>
                        <a:off x="2286000" y="2016125"/>
                        <a:ext cx="7772400" cy="4308475"/>
                      </a:xfrm>
                      <a:prstGeom prst="rect">
                        <a:avLst/>
                      </a:prstGeom>
                      <a:noFill/>
                      <a:ln w="38100">
                        <a:miter/>
                      </a:ln>
                    </p:spPr>
                  </p:pic>
                </p:oleObj>
              </mc:Fallback>
            </mc:AlternateContent>
          </a:graphicData>
        </a:graphic>
      </p:graphicFrame>
      <p:sp>
        <p:nvSpPr>
          <p:cNvPr id="2" name="Title 1"/>
          <p:cNvSpPr>
            <a:spLocks noGrp="1"/>
          </p:cNvSpPr>
          <p:nvPr>
            <p:ph type="title"/>
          </p:nvPr>
        </p:nvSpPr>
        <p:spPr/>
        <p:txBody>
          <a:bodyPr/>
          <a:lstStyle/>
          <a:p>
            <a:pPr algn="ctr"/>
            <a:r>
              <a:rPr lang="en-GB" sz="2800" spc="50" noProof="0" dirty="0">
                <a:ln w="13335" cmpd="sng">
                  <a:solidFill>
                    <a:schemeClr val="accent1">
                      <a:lumMod val="50000"/>
                    </a:schemeClr>
                  </a:solidFill>
                  <a:prstDash val="solid"/>
                </a:ln>
                <a:solidFill>
                  <a:schemeClr val="tx1"/>
                </a:solidFill>
                <a:effectLst/>
                <a:uLnTx/>
                <a:uFillTx/>
                <a:sym typeface="+mn-ea"/>
              </a:rPr>
              <a:t>Milgram’s (1974) Obedience Experiment</a:t>
            </a:r>
            <a:endParaRPr lang="en-GB" altLang="en-US" sz="280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a:ln>
            <a:noFill/>
          </a:ln>
          <a:effectLst/>
          <a:scene3d>
            <a:camera prst="orthographicFront"/>
            <a:lightRig rig="balanced" dir="t"/>
          </a:scene3d>
          <a:sp3d prstMaterial="plastic"/>
        </p:spPr>
        <p:txBody>
          <a:bodyPr vert="horz" lIns="91440" tIns="45720" rIns="91440" bIns="45720" rtlCol="0"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tabLst>
                <a:tab pos="3830320" algn="l"/>
              </a:tabLst>
              <a:defRPr/>
            </a:pPr>
            <a:r>
              <a:rPr kumimoji="0" lang="en-GB" sz="5000" b="1" i="0" u="none" strike="noStrike" kern="1200" cap="none" spc="50" normalizeH="0" baseline="0" noProof="0">
                <a:ln w="13335" cmpd="sng">
                  <a:solidFill>
                    <a:schemeClr val="accent1">
                      <a:lumMod val="50000"/>
                    </a:schemeClr>
                  </a:solidFill>
                  <a:prstDash val="solid"/>
                </a:ln>
                <a:solidFill>
                  <a:schemeClr val="accent6">
                    <a:tint val="1000"/>
                  </a:schemeClr>
                </a:solidFill>
                <a:effectLst/>
                <a:uLnTx/>
                <a:uFillTx/>
                <a:latin typeface="+mj-lt"/>
                <a:ea typeface="+mj-ea"/>
                <a:cs typeface="+mj-cs"/>
              </a:rPr>
              <a:t>…</a:t>
            </a:r>
            <a:endParaRPr kumimoji="0" lang="en-GB" sz="5000" b="1" i="0" u="none" strike="noStrike" kern="1200" cap="none" spc="50" normalizeH="0" baseline="0" noProof="0">
              <a:ln w="13335" cmpd="sng">
                <a:solidFill>
                  <a:schemeClr val="accent1">
                    <a:lumMod val="50000"/>
                  </a:schemeClr>
                </a:solidFill>
                <a:prstDash val="solid"/>
              </a:ln>
              <a:solidFill>
                <a:schemeClr val="accent6">
                  <a:tint val="1000"/>
                </a:schemeClr>
              </a:solidFill>
              <a:effectLst/>
              <a:uLnTx/>
              <a:uFillTx/>
              <a:latin typeface="+mj-lt"/>
              <a:ea typeface="+mj-ea"/>
              <a:cs typeface="+mj-cs"/>
            </a:endParaRPr>
          </a:p>
        </p:txBody>
      </p:sp>
      <p:sp>
        <p:nvSpPr>
          <p:cNvPr id="32771" name="Rectangle 3"/>
          <p:cNvSpPr>
            <a:spLocks noGrp="1" noChangeArrowheads="1"/>
          </p:cNvSpPr>
          <p:nvPr>
            <p:ph idx="1"/>
          </p:nvPr>
        </p:nvSpPr>
        <p:spPr>
          <a:xfrm>
            <a:off x="497840" y="1384300"/>
            <a:ext cx="11155045" cy="5140960"/>
          </a:xfrm>
        </p:spPr>
        <p:txBody>
          <a:bodyPr vert="horz" wrap="square" lIns="91440" tIns="45720" rIns="91440" bIns="45720" numCol="1" rtlCol="0" anchor="t" anchorCtr="0" compatLnSpc="1">
            <a:normAutofit lnSpcReduction="10000"/>
          </a:bodyPr>
          <a:lstStyle/>
          <a:p>
            <a:pPr marL="0" marR="0" lvl="0" indent="0" algn="l" defTabSz="914400" rtl="0" eaLnBrk="1" fontAlgn="auto" latinLnBrk="0" hangingPunct="1">
              <a:lnSpc>
                <a:spcPct val="90000"/>
              </a:lnSpc>
              <a:spcBef>
                <a:spcPct val="20000"/>
              </a:spcBef>
              <a:spcAft>
                <a:spcPts val="0"/>
              </a:spcAft>
              <a:buClr>
                <a:schemeClr val="accent1">
                  <a:lumMod val="60000"/>
                  <a:lumOff val="40000"/>
                </a:schemeClr>
              </a:buClr>
              <a:buSzTx/>
              <a:buFont typeface="Arial" panose="020B0604020202020204" pitchFamily="34" charset="0"/>
              <a:buNone/>
              <a:defRPr/>
            </a:pPr>
            <a:r>
              <a:rPr kumimoji="0" lang="en-GB" sz="2800" b="1" i="0" u="none" strike="noStrike" kern="1200" cap="none" spc="0" normalizeH="0" baseline="0" noProof="0" dirty="0">
                <a:ln>
                  <a:noFill/>
                </a:ln>
                <a:solidFill>
                  <a:schemeClr val="tx2"/>
                </a:solidFill>
                <a:effectLst/>
                <a:uLnTx/>
                <a:uFillTx/>
                <a:latin typeface="+mn-lt"/>
                <a:ea typeface="+mn-ea"/>
                <a:cs typeface="+mn-cs"/>
              </a:rPr>
              <a:t>Less artificial studies:</a:t>
            </a:r>
            <a:endParaRPr kumimoji="0" lang="en-GB" sz="2800" b="1"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1">
                  <a:lumMod val="60000"/>
                  <a:lumOff val="40000"/>
                </a:schemeClr>
              </a:buClr>
              <a:buSzTx/>
              <a:buFont typeface="Arial" panose="020B0604020202020204" pitchFamily="34" charset="0"/>
              <a:buChar char="•"/>
              <a:defRPr/>
            </a:pP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1">
                  <a:lumMod val="60000"/>
                  <a:lumOff val="40000"/>
                </a:schemeClr>
              </a:buClr>
              <a:buSzTx/>
              <a:buFont typeface="Arial" panose="020B0604020202020204" pitchFamily="34" charset="0"/>
              <a:buChar char="•"/>
              <a:defRPr/>
            </a:pPr>
            <a:r>
              <a:rPr kumimoji="0" lang="en-GB" sz="2800" b="0" i="0" u="none" strike="noStrike" kern="1200" cap="none" spc="0" normalizeH="0" baseline="0" noProof="0" dirty="0" err="1">
                <a:ln>
                  <a:noFill/>
                </a:ln>
                <a:solidFill>
                  <a:schemeClr val="tx2"/>
                </a:solidFill>
                <a:effectLst/>
                <a:uLnTx/>
                <a:uFillTx/>
                <a:latin typeface="+mn-lt"/>
                <a:ea typeface="+mn-ea"/>
                <a:cs typeface="+mn-cs"/>
              </a:rPr>
              <a:t>Hofling et al</a:t>
            </a:r>
            <a:r>
              <a:rPr kumimoji="0" lang="en-GB" sz="2800" b="0" i="0" u="none" strike="noStrike" kern="1200" cap="none" spc="0" normalizeH="0" baseline="0" noProof="0" dirty="0">
                <a:ln>
                  <a:noFill/>
                </a:ln>
                <a:solidFill>
                  <a:schemeClr val="tx2"/>
                </a:solidFill>
                <a:effectLst/>
                <a:uLnTx/>
                <a:uFillTx/>
                <a:latin typeface="+mn-lt"/>
                <a:ea typeface="+mn-ea"/>
                <a:cs typeface="+mn-cs"/>
              </a:rPr>
              <a:t> (1966) - </a:t>
            </a:r>
            <a:r>
              <a:rPr kumimoji="0" lang="en-GB" sz="2800" b="1" i="0" u="none" strike="noStrike" kern="1200" cap="none" spc="0" normalizeH="0" baseline="0" noProof="0" dirty="0">
                <a:ln>
                  <a:noFill/>
                </a:ln>
                <a:solidFill>
                  <a:schemeClr val="tx2"/>
                </a:solidFill>
                <a:effectLst/>
                <a:uLnTx/>
                <a:uFillTx/>
                <a:latin typeface="+mn-lt"/>
                <a:ea typeface="+mn-ea"/>
                <a:cs typeface="+mn-cs"/>
              </a:rPr>
              <a:t>nurses</a:t>
            </a:r>
            <a:r>
              <a:rPr kumimoji="0" lang="en-GB" sz="2800" b="0" i="0" u="none" strike="noStrike" kern="1200" cap="none" spc="0" normalizeH="0" baseline="0" noProof="0" dirty="0">
                <a:ln>
                  <a:noFill/>
                </a:ln>
                <a:solidFill>
                  <a:schemeClr val="tx2"/>
                </a:solidFill>
                <a:effectLst/>
                <a:uLnTx/>
                <a:uFillTx/>
                <a:latin typeface="+mn-lt"/>
                <a:ea typeface="+mn-ea"/>
                <a:cs typeface="+mn-cs"/>
              </a:rPr>
              <a:t> were asked to give potentially lethal injections to patients, and </a:t>
            </a:r>
            <a:r>
              <a:rPr kumimoji="0" lang="tr-TR" sz="2800" b="0" i="0" u="none" strike="noStrike" kern="1200" cap="none" spc="0" normalizeH="0" baseline="0" noProof="0" dirty="0">
                <a:ln>
                  <a:noFill/>
                </a:ln>
                <a:solidFill>
                  <a:schemeClr val="tx2"/>
                </a:solidFill>
                <a:effectLst/>
                <a:uLnTx/>
                <a:uFillTx/>
                <a:latin typeface="+mn-lt"/>
                <a:ea typeface="+mn-ea"/>
                <a:cs typeface="+mn-cs"/>
              </a:rPr>
              <a:t>i</a:t>
            </a:r>
            <a:r>
              <a:rPr kumimoji="0" lang="en-US" sz="2800" b="0" i="0" u="none" strike="noStrike" kern="1200" cap="none" spc="0" normalizeH="0" baseline="0" noProof="0" dirty="0">
                <a:ln>
                  <a:noFill/>
                </a:ln>
                <a:solidFill>
                  <a:schemeClr val="tx2"/>
                </a:solidFill>
                <a:effectLst/>
                <a:uLnTx/>
                <a:uFillTx/>
                <a:latin typeface="+mn-lt"/>
                <a:ea typeface="+mn-ea"/>
                <a:cs typeface="+mn-cs"/>
              </a:rPr>
              <a:t>n spite of official guidelines forbidding administration in such circumstances</a:t>
            </a:r>
            <a:r>
              <a:rPr kumimoji="0" lang="tr-TR" sz="2800" b="0" i="0" u="none" strike="noStrike" kern="1200" cap="none" spc="0" normalizeH="0" baseline="0" noProof="0" dirty="0">
                <a:ln>
                  <a:noFill/>
                </a:ln>
                <a:solidFill>
                  <a:schemeClr val="tx2"/>
                </a:solidFill>
                <a:effectLst/>
                <a:uLnTx/>
                <a:uFillTx/>
                <a:latin typeface="+mn-lt"/>
                <a:ea typeface="+mn-ea"/>
                <a:cs typeface="+mn-cs"/>
              </a:rPr>
              <a:t>,</a:t>
            </a:r>
            <a:r>
              <a:rPr kumimoji="0" lang="en-US" sz="2800" b="0" i="0" u="none" strike="noStrike" kern="1200" cap="none" spc="0" normalizeH="0" baseline="0" noProof="0" dirty="0">
                <a:ln>
                  <a:noFill/>
                </a:ln>
                <a:solidFill>
                  <a:schemeClr val="tx2"/>
                </a:solidFill>
                <a:effectLst/>
                <a:uLnTx/>
                <a:uFillTx/>
                <a:latin typeface="+mn-lt"/>
                <a:ea typeface="+mn-ea"/>
                <a:cs typeface="+mn-cs"/>
              </a:rPr>
              <a:t> </a:t>
            </a:r>
            <a:r>
              <a:rPr kumimoji="0" lang="en-GB" sz="2800" b="0" i="0" u="none" strike="noStrike" kern="1200" cap="none" spc="0" normalizeH="0" baseline="0" noProof="0" dirty="0">
                <a:ln>
                  <a:noFill/>
                </a:ln>
                <a:solidFill>
                  <a:schemeClr val="tx2"/>
                </a:solidFill>
                <a:effectLst/>
                <a:uLnTx/>
                <a:uFillTx/>
                <a:latin typeface="+mn-lt"/>
                <a:ea typeface="+mn-ea"/>
                <a:cs typeface="+mn-cs"/>
              </a:rPr>
              <a:t>21 out of 22 appeared prepared to do it. </a:t>
            </a:r>
            <a:endParaRPr kumimoji="0" lang="tr-TR" sz="2800" b="0" i="0" u="none" strike="noStrike" kern="1200" cap="none" spc="0" normalizeH="0" baseline="0" noProof="0" dirty="0">
              <a:ln>
                <a:noFill/>
              </a:ln>
              <a:solidFill>
                <a:schemeClr val="tx2"/>
              </a:solidFill>
              <a:effectLst/>
              <a:uLnTx/>
              <a:uFillTx/>
              <a:latin typeface="+mn-lt"/>
              <a:ea typeface="+mn-ea"/>
              <a:cs typeface="+mn-cs"/>
            </a:endParaRPr>
          </a:p>
          <a:p>
            <a:pPr marL="915670" marR="0" lvl="2" indent="-274320" algn="l" defTabSz="914400" rtl="0" eaLnBrk="1" fontAlgn="auto" latinLnBrk="0" hangingPunct="1">
              <a:lnSpc>
                <a:spcPct val="90000"/>
              </a:lnSpc>
              <a:spcBef>
                <a:spcPct val="20000"/>
              </a:spcBef>
              <a:spcAft>
                <a:spcPts val="0"/>
              </a:spcAft>
              <a:buClr>
                <a:schemeClr val="accent1">
                  <a:lumMod val="60000"/>
                  <a:lumOff val="40000"/>
                </a:schemeClr>
              </a:buClr>
              <a:buSzTx/>
              <a:buFont typeface="Arial" panose="020B0604020202020204" pitchFamily="34" charset="0"/>
              <a:buChar char="•"/>
              <a:defRPr/>
            </a:pPr>
            <a:r>
              <a:rPr kumimoji="0" lang="tr-TR" sz="2000" b="0" i="0" u="none" strike="noStrike" kern="1200" cap="none" spc="0" normalizeH="0" baseline="0" noProof="0" dirty="0" err="1">
                <a:ln>
                  <a:noFill/>
                </a:ln>
                <a:solidFill>
                  <a:schemeClr val="tx2"/>
                </a:solidFill>
                <a:effectLst/>
                <a:uLnTx/>
                <a:uFillTx/>
                <a:latin typeface="+mn-lt"/>
                <a:ea typeface="+mn-ea"/>
                <a:cs typeface="+mn-cs"/>
              </a:rPr>
              <a:t>The</a:t>
            </a:r>
            <a:r>
              <a:rPr kumimoji="0" lang="tr-TR" sz="2000" b="0" i="0" u="none" strike="noStrike" kern="1200" cap="none" spc="0" normalizeH="0" baseline="0" noProof="0" dirty="0">
                <a:ln>
                  <a:noFill/>
                </a:ln>
                <a:solidFill>
                  <a:schemeClr val="tx2"/>
                </a:solidFill>
                <a:effectLst/>
                <a:uLnTx/>
                <a:uFillTx/>
                <a:latin typeface="+mn-lt"/>
                <a:ea typeface="+mn-ea"/>
                <a:cs typeface="+mn-cs"/>
              </a:rPr>
              <a:t> </a:t>
            </a:r>
            <a:r>
              <a:rPr kumimoji="0" lang="en-US" sz="2000" b="0" i="0" u="none" strike="noStrike" kern="1200" cap="none" spc="0" normalizeH="0" baseline="0" noProof="0" dirty="0">
                <a:ln>
                  <a:noFill/>
                </a:ln>
                <a:solidFill>
                  <a:schemeClr val="tx2"/>
                </a:solidFill>
                <a:effectLst/>
                <a:uLnTx/>
                <a:uFillTx/>
                <a:latin typeface="+mn-lt"/>
                <a:ea typeface="+mn-ea"/>
                <a:cs typeface="+mn-cs"/>
              </a:rPr>
              <a:t>study </a:t>
            </a:r>
            <a:r>
              <a:rPr kumimoji="0" lang="tr-TR" sz="2000" b="0" i="0" u="none" strike="noStrike" kern="1200" cap="none" spc="0" normalizeH="0" baseline="0" noProof="0" dirty="0">
                <a:ln>
                  <a:noFill/>
                </a:ln>
                <a:solidFill>
                  <a:schemeClr val="tx2"/>
                </a:solidFill>
                <a:effectLst/>
                <a:uLnTx/>
                <a:uFillTx/>
                <a:latin typeface="+mn-lt"/>
                <a:ea typeface="+mn-ea"/>
                <a:cs typeface="+mn-cs"/>
              </a:rPr>
              <a:t>had </a:t>
            </a:r>
            <a:r>
              <a:rPr kumimoji="0" lang="en-US" sz="2000" b="0" i="0" u="none" strike="noStrike" kern="1200" cap="none" spc="0" normalizeH="0" baseline="0" noProof="0" dirty="0">
                <a:ln>
                  <a:noFill/>
                </a:ln>
                <a:solidFill>
                  <a:schemeClr val="tx2"/>
                </a:solidFill>
                <a:effectLst/>
                <a:uLnTx/>
                <a:uFillTx/>
                <a:latin typeface="+mn-lt"/>
                <a:ea typeface="+mn-ea"/>
                <a:cs typeface="+mn-cs"/>
              </a:rPr>
              <a:t>high levels of ecological validity, due to the fact it was conducted in a real life environment. </a:t>
            </a:r>
            <a:endParaRPr kumimoji="0" lang="en-GB" sz="20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1">
                  <a:lumMod val="60000"/>
                  <a:lumOff val="40000"/>
                </a:schemeClr>
              </a:buClr>
              <a:buSzTx/>
              <a:buFont typeface="Arial" panose="020B0604020202020204" pitchFamily="34" charset="0"/>
              <a:buChar char="•"/>
              <a:defRPr/>
            </a:pPr>
            <a:endParaRPr kumimoji="0" lang="en-GB"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1">
                  <a:lumMod val="60000"/>
                  <a:lumOff val="40000"/>
                </a:schemeClr>
              </a:buClr>
              <a:buSzTx/>
              <a:buFont typeface="Arial" panose="020B0604020202020204" pitchFamily="34" charset="0"/>
              <a:buChar char="•"/>
              <a:defRPr/>
            </a:pPr>
            <a:r>
              <a:rPr kumimoji="0" lang="en-GB" sz="2800" b="0" i="0" u="none" strike="noStrike" kern="1200" cap="none" spc="0" normalizeH="0" baseline="0" noProof="0" dirty="0">
                <a:ln>
                  <a:noFill/>
                </a:ln>
                <a:solidFill>
                  <a:schemeClr val="tx2"/>
                </a:solidFill>
                <a:effectLst/>
                <a:uLnTx/>
                <a:uFillTx/>
                <a:latin typeface="+mn-lt"/>
                <a:ea typeface="+mn-ea"/>
                <a:cs typeface="+mn-cs"/>
              </a:rPr>
              <a:t>Sheridan and King (1972) -  people were asked to give real (but small) electric shocks to a </a:t>
            </a:r>
            <a:r>
              <a:rPr kumimoji="0" lang="en-GB" sz="2800" b="1" i="0" u="none" strike="noStrike" kern="1200" cap="none" spc="0" normalizeH="0" baseline="0" noProof="0" dirty="0">
                <a:ln>
                  <a:noFill/>
                </a:ln>
                <a:solidFill>
                  <a:schemeClr val="tx2"/>
                </a:solidFill>
                <a:effectLst/>
                <a:uLnTx/>
                <a:uFillTx/>
                <a:latin typeface="+mn-lt"/>
                <a:ea typeface="+mn-ea"/>
                <a:cs typeface="+mn-cs"/>
              </a:rPr>
              <a:t>puppy</a:t>
            </a:r>
            <a:r>
              <a:rPr kumimoji="0" lang="en-GB" sz="2800" b="0" i="0" u="none" strike="noStrike" kern="1200" cap="none" spc="0" normalizeH="0" baseline="0" noProof="0" dirty="0">
                <a:ln>
                  <a:noFill/>
                </a:ln>
                <a:solidFill>
                  <a:schemeClr val="tx2"/>
                </a:solidFill>
                <a:effectLst/>
                <a:uLnTx/>
                <a:uFillTx/>
                <a:latin typeface="+mn-lt"/>
                <a:ea typeface="+mn-ea"/>
                <a:cs typeface="+mn-cs"/>
              </a:rPr>
              <a:t> (for a learning task).  The participants obeyed even though they could see the distress of the animal. </a:t>
            </a:r>
            <a:endParaRPr kumimoji="0" lang="tr-TR"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1">
                  <a:lumMod val="60000"/>
                  <a:lumOff val="40000"/>
                </a:schemeClr>
              </a:buClr>
              <a:buSzTx/>
              <a:buFont typeface="Arial" panose="020B0604020202020204" pitchFamily="34" charset="0"/>
              <a:buChar char="•"/>
              <a:defRPr/>
            </a:pPr>
            <a:endParaRPr kumimoji="0" lang="tr-TR" sz="28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1">
                  <a:lumMod val="60000"/>
                  <a:lumOff val="40000"/>
                </a:schemeClr>
              </a:buClr>
              <a:buSzTx/>
              <a:buFont typeface="Arial" panose="020B0604020202020204" pitchFamily="34" charset="0"/>
              <a:buChar char="•"/>
              <a:defRPr/>
            </a:pPr>
            <a:endParaRPr kumimoji="0" lang="en-US" altLang="en-GB" sz="28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GB" altLang="en-US"/>
          </a:p>
        </p:txBody>
      </p:sp>
      <p:sp>
        <p:nvSpPr>
          <p:cNvPr id="5" name="Content Placeholder 4"/>
          <p:cNvSpPr>
            <a:spLocks noGrp="1"/>
          </p:cNvSpPr>
          <p:nvPr>
            <p:ph idx="1"/>
          </p:nvPr>
        </p:nvSpPr>
        <p:spPr/>
        <p:txBody>
          <a:bodyPr/>
          <a:lstStyle/>
          <a:p>
            <a:r>
              <a:rPr lang="tr-TR" b="1" noProof="0" dirty="0" err="1">
                <a:ln>
                  <a:noFill/>
                </a:ln>
                <a:solidFill>
                  <a:schemeClr val="tx2"/>
                </a:solidFill>
                <a:effectLst/>
                <a:uLnTx/>
                <a:uFillTx/>
                <a:sym typeface="+mn-ea"/>
              </a:rPr>
              <a:t>Zimbardo’s</a:t>
            </a:r>
            <a:r>
              <a:rPr lang="tr-TR" b="1" noProof="0" dirty="0">
                <a:ln>
                  <a:noFill/>
                </a:ln>
                <a:solidFill>
                  <a:schemeClr val="tx2"/>
                </a:solidFill>
                <a:effectLst/>
                <a:uLnTx/>
                <a:uFillTx/>
                <a:sym typeface="+mn-ea"/>
              </a:rPr>
              <a:t> </a:t>
            </a:r>
            <a:r>
              <a:rPr lang="en-GB" altLang="tr-TR" b="1" noProof="0" dirty="0">
                <a:ln>
                  <a:noFill/>
                </a:ln>
                <a:solidFill>
                  <a:schemeClr val="tx2"/>
                </a:solidFill>
                <a:effectLst/>
                <a:uLnTx/>
                <a:uFillTx/>
                <a:sym typeface="+mn-ea"/>
              </a:rPr>
              <a:t>Standford </a:t>
            </a:r>
            <a:r>
              <a:rPr lang="tr-TR" b="1" noProof="0" dirty="0" err="1">
                <a:ln>
                  <a:noFill/>
                </a:ln>
                <a:solidFill>
                  <a:schemeClr val="tx2"/>
                </a:solidFill>
                <a:effectLst/>
                <a:uLnTx/>
                <a:uFillTx/>
                <a:sym typeface="+mn-ea"/>
              </a:rPr>
              <a:t>Prison</a:t>
            </a:r>
            <a:r>
              <a:rPr lang="tr-TR" b="1" noProof="0" dirty="0">
                <a:ln>
                  <a:noFill/>
                </a:ln>
                <a:solidFill>
                  <a:schemeClr val="tx2"/>
                </a:solidFill>
                <a:effectLst/>
                <a:uLnTx/>
                <a:uFillTx/>
                <a:sym typeface="+mn-ea"/>
              </a:rPr>
              <a:t> </a:t>
            </a:r>
            <a:r>
              <a:rPr lang="tr-TR" b="1" noProof="0" dirty="0" err="1">
                <a:ln>
                  <a:noFill/>
                </a:ln>
                <a:solidFill>
                  <a:schemeClr val="tx2"/>
                </a:solidFill>
                <a:effectLst/>
                <a:uLnTx/>
                <a:uFillTx/>
                <a:sym typeface="+mn-ea"/>
              </a:rPr>
              <a:t>experiment</a:t>
            </a:r>
            <a:r>
              <a:rPr lang="tr-TR" b="1" noProof="0" dirty="0">
                <a:ln>
                  <a:noFill/>
                </a:ln>
                <a:solidFill>
                  <a:schemeClr val="tx2"/>
                </a:solidFill>
                <a:effectLst/>
                <a:uLnTx/>
                <a:uFillTx/>
                <a:sym typeface="+mn-ea"/>
              </a:rPr>
              <a:t> </a:t>
            </a:r>
            <a:r>
              <a:rPr lang="tr-TR" noProof="0" dirty="0">
                <a:ln>
                  <a:noFill/>
                </a:ln>
                <a:solidFill>
                  <a:schemeClr val="tx2"/>
                </a:solidFill>
                <a:effectLst/>
                <a:uLnTx/>
                <a:uFillTx/>
                <a:sym typeface="+mn-ea"/>
              </a:rPr>
              <a:t>(1973)</a:t>
            </a:r>
            <a:r>
              <a:rPr lang="en-GB" altLang="tr-TR" noProof="0" dirty="0">
                <a:ln>
                  <a:noFill/>
                </a:ln>
                <a:solidFill>
                  <a:schemeClr val="tx2"/>
                </a:solidFill>
                <a:effectLst/>
                <a:uLnTx/>
                <a:uFillTx/>
                <a:sym typeface="+mn-ea"/>
              </a:rPr>
              <a:t> - </a:t>
            </a:r>
            <a:r>
              <a:rPr lang="en-US" altLang="en-GB" noProof="0" dirty="0">
                <a:ln>
                  <a:noFill/>
                </a:ln>
                <a:solidFill>
                  <a:schemeClr val="tx2"/>
                </a:solidFill>
                <a:effectLst/>
                <a:uLnTx/>
                <a:uFillTx/>
                <a:sym typeface="+mn-ea"/>
              </a:rPr>
              <a:t>. The SPE demonstrates aspects of conformity, obedience, and, most </a:t>
            </a:r>
            <a:r>
              <a:rPr lang="en-GB" altLang="en-US" noProof="0" dirty="0">
                <a:ln>
                  <a:noFill/>
                </a:ln>
                <a:solidFill>
                  <a:schemeClr val="tx2"/>
                </a:solidFill>
                <a:effectLst/>
                <a:uLnTx/>
                <a:uFillTx/>
                <a:sym typeface="+mn-ea"/>
              </a:rPr>
              <a:t> </a:t>
            </a:r>
            <a:r>
              <a:rPr lang="en-US" altLang="en-GB" noProof="0" dirty="0">
                <a:ln>
                  <a:noFill/>
                </a:ln>
                <a:solidFill>
                  <a:schemeClr val="tx2"/>
                </a:solidFill>
                <a:effectLst/>
                <a:uLnTx/>
                <a:uFillTx/>
                <a:sym typeface="+mn-ea"/>
              </a:rPr>
              <a:t>significantly, the power of social situations on people’s</a:t>
            </a:r>
            <a:r>
              <a:rPr lang="en-GB" altLang="en-US" noProof="0" dirty="0">
                <a:ln>
                  <a:noFill/>
                </a:ln>
                <a:solidFill>
                  <a:schemeClr val="tx2"/>
                </a:solidFill>
                <a:effectLst/>
                <a:uLnTx/>
                <a:uFillTx/>
                <a:sym typeface="+mn-ea"/>
              </a:rPr>
              <a:t> </a:t>
            </a:r>
            <a:r>
              <a:rPr lang="en-US" altLang="en-GB" noProof="0" dirty="0">
                <a:ln>
                  <a:noFill/>
                </a:ln>
                <a:solidFill>
                  <a:schemeClr val="tx2"/>
                </a:solidFill>
                <a:effectLst/>
                <a:uLnTx/>
                <a:uFillTx/>
                <a:sym typeface="+mn-ea"/>
              </a:rPr>
              <a:t>behaviour. </a:t>
            </a:r>
            <a:endParaRPr kumimoji="0" lang="en-US" altLang="en-GB" b="0" i="0" u="none" strike="noStrike" kern="1200" cap="none" spc="0" normalizeH="0" baseline="0" noProof="0" dirty="0">
              <a:ln>
                <a:noFill/>
              </a:ln>
              <a:solidFill>
                <a:schemeClr val="tx2"/>
              </a:solidFill>
              <a:effectLst/>
              <a:uLnTx/>
              <a:uFillTx/>
              <a:latin typeface="+mn-lt"/>
              <a:ea typeface="+mn-ea"/>
              <a:cs typeface="+mn-cs"/>
            </a:endParaRPr>
          </a:p>
          <a:p>
            <a:r>
              <a:rPr lang="en-US" altLang="en-GB"/>
              <a:t>Guards quickly became authoritarian, enforcing harsh rules and humiliating prisoners (e.g., stripping, delousing, sleep deprivation). Prisoners showed passive submission, anxiety, and rebellion. The 2-week plan ended after 6 days due to ethical concerns over escalating abuse and emotional breakdowns.</a:t>
            </a:r>
            <a:endParaRPr lang="en-US" altLang="en-GB"/>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Lecture summary</a:t>
            </a:r>
            <a:endParaRPr lang="en-GB" altLang="en-US"/>
          </a:p>
        </p:txBody>
      </p:sp>
      <p:sp>
        <p:nvSpPr>
          <p:cNvPr id="5" name="Content Placeholder 4"/>
          <p:cNvSpPr>
            <a:spLocks noGrp="1"/>
          </p:cNvSpPr>
          <p:nvPr>
            <p:ph idx="1"/>
          </p:nvPr>
        </p:nvSpPr>
        <p:spPr/>
        <p:txBody>
          <a:bodyPr/>
          <a:lstStyle/>
          <a:p>
            <a:r>
              <a:rPr lang="en-GB" altLang="en-US" dirty="0" smtClean="0"/>
              <a:t>Attribution theories and errors/biases.</a:t>
            </a:r>
            <a:endParaRPr lang="en-GB" altLang="en-US" dirty="0" smtClean="0"/>
          </a:p>
          <a:p>
            <a:r>
              <a:rPr lang="en-GB" altLang="en-US" dirty="0" smtClean="0"/>
              <a:t>Asch and Sheriff studies; internalization and compliance; informational and normative social influence</a:t>
            </a:r>
            <a:endParaRPr lang="en-GB" altLang="en-US" dirty="0" smtClean="0"/>
          </a:p>
          <a:p>
            <a:r>
              <a:rPr lang="en-GB" altLang="en-US" dirty="0" smtClean="0"/>
              <a:t>Milgram’s obedience study</a:t>
            </a:r>
            <a:endParaRPr lang="en-GB" altLang="en-US" dirty="0" smtClean="0"/>
          </a:p>
          <a:p>
            <a:r>
              <a:rPr lang="en-GB" altLang="en-US" dirty="0" smtClean="0"/>
              <a:t>Zimbardo’s prison experiment.</a:t>
            </a:r>
            <a:endParaRPr lang="en-GB"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405,&quot;left&quot;:27,&quot;top&quot;:93.4,&quot;width&quot;:525.8}"/>
</p:tagLst>
</file>

<file path=ppt/tags/tag2.xml><?xml version="1.0" encoding="utf-8"?>
<p:tagLst xmlns:p="http://schemas.openxmlformats.org/presentationml/2006/main">
  <p:tag name="KSO_WM_DIAGRAM_VIRTUALLY_FRAME" val="{&quot;height&quot;:405,&quot;left&quot;:27,&quot;top&quot;:93.4,&quot;width&quot;:525.8}"/>
</p:tagLst>
</file>

<file path=ppt/tags/tag3.xml><?xml version="1.0" encoding="utf-8"?>
<p:tagLst xmlns:p="http://schemas.openxmlformats.org/presentationml/2006/main">
  <p:tag name="KSO_WM_DIAGRAM_VIRTUALLY_FRAME" val="{&quot;height&quot;:405,&quot;left&quot;:27,&quot;top&quot;:93.4,&quot;width&quot;:525.8}"/>
</p:tagLst>
</file>

<file path=ppt/tags/tag4.xml><?xml version="1.0" encoding="utf-8"?>
<p:tagLst xmlns:p="http://schemas.openxmlformats.org/presentationml/2006/main">
  <p:tag name="KSO_WM_DIAGRAM_VIRTUALLY_FRAME" val="{&quot;height&quot;:405,&quot;left&quot;:27,&quot;top&quot;:93.4,&quot;width&quot;:525.8}"/>
</p:tagLst>
</file>

<file path=ppt/tags/tag5.xml><?xml version="1.0" encoding="utf-8"?>
<p:tagLst xmlns:p="http://schemas.openxmlformats.org/presentationml/2006/main">
  <p:tag name="KSO_WM_DIAGRAM_VIRTUALLY_FRAME" val="{&quot;height&quot;:405,&quot;left&quot;:27,&quot;top&quot;:93.4,&quot;width&quot;:525.8}"/>
</p:tagLst>
</file>

<file path=ppt/tags/tag6.xml><?xml version="1.0" encoding="utf-8"?>
<p:tagLst xmlns:p="http://schemas.openxmlformats.org/presentationml/2006/main">
  <p:tag name="KSO_WM_DIAGRAM_VIRTUALLY_FRAME" val="{&quot;height&quot;:405,&quot;left&quot;:27,&quot;top&quot;:93.4,&quot;width&quot;:525.8}"/>
</p:tagLst>
</file>

<file path=ppt/tags/tag7.xml><?xml version="1.0" encoding="utf-8"?>
<p:tagLst xmlns:p="http://schemas.openxmlformats.org/presentationml/2006/main">
  <p:tag name="KSO_WM_DIAGRAM_VIRTUALLY_FRAME" val="{&quot;height&quot;:405,&quot;left&quot;:27,&quot;top&quot;:93.4,&quot;width&quot;:525.8}"/>
</p:tagLst>
</file>

<file path=ppt/tags/tag8.xml><?xml version="1.0" encoding="utf-8"?>
<p:tagLst xmlns:p="http://schemas.openxmlformats.org/presentationml/2006/main">
  <p:tag name="KSO_WM_DIAGRAM_VIRTUALLY_FRAME" val="{&quot;height&quot;:405,&quot;left&quot;:27,&quot;top&quot;:93.4,&quot;width&quot;:525.8}"/>
</p:tagLst>
</file>

<file path=ppt/tags/tag9.xml><?xml version="1.0" encoding="utf-8"?>
<p:tagLst xmlns:p="http://schemas.openxmlformats.org/presentationml/2006/main">
  <p:tag name="KSO_WM_DIAGRAM_VIRTUALLY_FRAME" val="{&quot;height&quot;:405,&quot;left&quot;:27,&quot;top&quot;:93.4,&quot;width&quot;:525.8}"/>
</p:tagLst>
</file>

<file path=ppt/theme/theme1.xml><?xml version="1.0" encoding="utf-8"?>
<a:theme xmlns:a="http://schemas.openxmlformats.org/drawingml/2006/main" name="Communications and Dialogues">
  <a:themeElements>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Communications and Dialogu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Communications and Dialogu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mmunications and Dialogu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mmunications and Dialogu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mmunications and Dialogu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mmunications and Dialogu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mmunications and Dialogu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mmunications and Dialogu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mmunications and Dialogu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mmunications and Dialogu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mmunications and Dialogu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mmunications and Dialogu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mmunications and Dialogu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0</TotalTime>
  <Words>14434</Words>
  <Application>WPS Presentation</Application>
  <PresentationFormat>Widescreen</PresentationFormat>
  <Paragraphs>398</Paragraphs>
  <Slides>54</Slides>
  <Notes>30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54</vt:i4>
      </vt:variant>
    </vt:vector>
  </HeadingPairs>
  <TitlesOfParts>
    <vt:vector size="71" baseType="lpstr">
      <vt:lpstr>Arial</vt:lpstr>
      <vt:lpstr>SimSun</vt:lpstr>
      <vt:lpstr>Wingdings</vt:lpstr>
      <vt:lpstr>Marlett</vt:lpstr>
      <vt:lpstr>Calibri</vt:lpstr>
      <vt:lpstr>Microsoft YaHei</vt:lpstr>
      <vt:lpstr>Arial Unicode MS</vt:lpstr>
      <vt:lpstr>Monotype Sorts</vt:lpstr>
      <vt:lpstr>Wingdings</vt:lpstr>
      <vt:lpstr>Gill Sans MT</vt:lpstr>
      <vt:lpstr>Comic Sans MS</vt:lpstr>
      <vt:lpstr>Garamond</vt:lpstr>
      <vt:lpstr>Bradley Hand ITC TT-Bold</vt:lpstr>
      <vt:lpstr>Bradley Hand ITC</vt:lpstr>
      <vt:lpstr>Communications and Dialogues</vt:lpstr>
      <vt:lpstr>MSPhotoEd.3</vt:lpstr>
      <vt:lpstr>Word.Document.8</vt:lpstr>
      <vt:lpstr>SOCIAL PSYCHOLOGY</vt:lpstr>
      <vt:lpstr>Learning Outcomes</vt:lpstr>
      <vt:lpstr>What is an attribution? </vt:lpstr>
      <vt:lpstr>Internal vs. External</vt:lpstr>
      <vt:lpstr>Three classic theories</vt:lpstr>
      <vt:lpstr>Heider NAIVE SCIENTIST Theory</vt:lpstr>
      <vt:lpstr>Heider and Simmel (1944)</vt:lpstr>
      <vt:lpstr>Correspondence Inference Theory  (Jones &amp; Davis, 1965)</vt:lpstr>
      <vt:lpstr>Correspondence Inference Theory</vt:lpstr>
      <vt:lpstr>Covariation Theory (Kelley, 1967; 1973)</vt:lpstr>
      <vt:lpstr>Consensus</vt:lpstr>
      <vt:lpstr>Distinctiveness</vt:lpstr>
      <vt:lpstr>Consistency </vt:lpstr>
      <vt:lpstr>PowerPoint 演示文稿</vt:lpstr>
      <vt:lpstr>Example of covariation judgement</vt:lpstr>
      <vt:lpstr>Attribution bias and errors</vt:lpstr>
      <vt:lpstr>The Fundamental Attribution Error  (Ross, 1977)</vt:lpstr>
      <vt:lpstr>PowerPoint 演示文稿</vt:lpstr>
      <vt:lpstr>PowerPoint 演示文稿</vt:lpstr>
      <vt:lpstr>PowerPoint 演示文稿</vt:lpstr>
      <vt:lpstr>Jones &amp; Harris (1967) ‘Castro study’</vt:lpstr>
      <vt:lpstr>PowerPoint 演示文稿</vt:lpstr>
      <vt:lpstr>PowerPoint 演示文稿</vt:lpstr>
      <vt:lpstr>False consensus effect (Ross et al. 1977)</vt:lpstr>
      <vt:lpstr>Ross, Greene &amp; House (1977)</vt:lpstr>
      <vt:lpstr>PowerPoint 演示文稿</vt:lpstr>
      <vt:lpstr>Self-serving bias (Miller &amp; Ross, 1975)</vt:lpstr>
      <vt:lpstr>PowerPoint 演示文稿</vt:lpstr>
      <vt:lpstr>The actor-observer effect (Jones &amp; Nisbett, 1972)</vt:lpstr>
      <vt:lpstr>The actor-observer effect</vt:lpstr>
      <vt:lpstr>PowerPoint 演示文稿</vt:lpstr>
      <vt:lpstr>Actors vs. observers</vt:lpstr>
      <vt:lpstr>PowerPoint 演示文稿</vt:lpstr>
      <vt:lpstr>Social Influence</vt:lpstr>
      <vt:lpstr>Conformity 1</vt:lpstr>
      <vt:lpstr>Sherif’s (1935)  Autokinetic Effect Experiment</vt:lpstr>
      <vt:lpstr>PowerPoint 演示文稿</vt:lpstr>
      <vt:lpstr>Conformity 2</vt:lpstr>
      <vt:lpstr>Asch’s (1950s)Lines Experiments</vt:lpstr>
      <vt:lpstr>PowerPoint 演示文稿</vt:lpstr>
      <vt:lpstr>Factors that affect conformity </vt:lpstr>
      <vt:lpstr>Explanations of Conformity</vt:lpstr>
      <vt:lpstr>Informational vs. NormativeSocial Influence</vt:lpstr>
      <vt:lpstr>Obedience </vt:lpstr>
      <vt:lpstr>Obedience to Authority</vt:lpstr>
      <vt:lpstr>Milgram’s (1974) Obedience Experiment</vt:lpstr>
      <vt:lpstr>PowerPoint 演示文稿</vt:lpstr>
      <vt:lpstr>Milgram’s (1974) Obedience Experiment</vt:lpstr>
      <vt:lpstr>PowerPoint 演示文稿</vt:lpstr>
      <vt:lpstr>Milgram’s (1974) Obedience Experiment</vt:lpstr>
      <vt:lpstr>Milgram’s (1974) Obedience Experiment</vt:lpstr>
      <vt:lpstr>…</vt:lpstr>
      <vt:lpstr>PowerPoint 演示文稿</vt:lpstr>
      <vt:lpstr>Lecture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PSYCHOLOGY</dc:title>
  <dc:creator>aslı</dc:creator>
  <cp:lastModifiedBy>Asli Niyazi</cp:lastModifiedBy>
  <cp:revision>9</cp:revision>
  <dcterms:created xsi:type="dcterms:W3CDTF">2025-09-23T07:30:00Z</dcterms:created>
  <dcterms:modified xsi:type="dcterms:W3CDTF">2025-11-03T11:59:11Z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A8E8F4DD65834228855FD6A57895C206_12</vt:lpwstr>
  </property>
  <property fmtid="{D5CDD505-2E9C-101B-9397-08002B2CF9AE}" pid="3" name="KSOProductBuildVer">
    <vt:lpwstr>2057-12.2.0.23131</vt:lpwstr>
  </property>
</Properties>
</file>