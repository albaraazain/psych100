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sldIdLst>
    <p:sldId id="257" r:id="rId2"/>
    <p:sldId id="258" r:id="rId3"/>
    <p:sldId id="259" r:id="rId4"/>
    <p:sldId id="288" r:id="rId5"/>
    <p:sldId id="260" r:id="rId6"/>
    <p:sldId id="261" r:id="rId7"/>
    <p:sldId id="262" r:id="rId8"/>
    <p:sldId id="263" r:id="rId9"/>
    <p:sldId id="264" r:id="rId10"/>
    <p:sldId id="265" r:id="rId11"/>
    <p:sldId id="284" r:id="rId12"/>
    <p:sldId id="282" r:id="rId13"/>
    <p:sldId id="283" r:id="rId14"/>
    <p:sldId id="266" r:id="rId15"/>
    <p:sldId id="289" r:id="rId16"/>
    <p:sldId id="267" r:id="rId17"/>
    <p:sldId id="268" r:id="rId18"/>
    <p:sldId id="269" r:id="rId19"/>
    <p:sldId id="270" r:id="rId20"/>
    <p:sldId id="271" r:id="rId21"/>
    <p:sldId id="272" r:id="rId22"/>
    <p:sldId id="285" r:id="rId23"/>
    <p:sldId id="286" r:id="rId24"/>
    <p:sldId id="287" r:id="rId25"/>
    <p:sldId id="273" r:id="rId26"/>
    <p:sldId id="275" r:id="rId27"/>
    <p:sldId id="276" r:id="rId28"/>
    <p:sldId id="277" r:id="rId29"/>
    <p:sldId id="274" r:id="rId30"/>
    <p:sldId id="278" r:id="rId31"/>
    <p:sldId id="280" r:id="rId32"/>
    <p:sldId id="281"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2" d="100"/>
          <a:sy n="112" d="100"/>
        </p:scale>
        <p:origin x="4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8" name="Date Placeholder 7"/>
          <p:cNvSpPr>
            <a:spLocks noGrp="1"/>
          </p:cNvSpPr>
          <p:nvPr>
            <p:ph type="dt" sz="half" idx="10"/>
          </p:nvPr>
        </p:nvSpPr>
        <p:spPr/>
        <p:txBody>
          <a:bodyPr/>
          <a:lstStyle/>
          <a:p>
            <a:fld id="{ED291B17-9318-49DB-B28B-6E5994AE9581}" type="datetime1">
              <a:rPr lang="en-US" smtClean="0"/>
              <a:t>11/27/2025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lvl1pPr>
              <a:defRPr>
                <a:solidFill>
                  <a:schemeClr val="tx1"/>
                </a:solidFill>
              </a:defRPr>
            </a:lvl1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Date Placeholder 7"/>
          <p:cNvSpPr>
            <a:spLocks noGrp="1"/>
          </p:cNvSpPr>
          <p:nvPr>
            <p:ph type="dt" sz="half" idx="10"/>
          </p:nvPr>
        </p:nvSpPr>
        <p:spPr/>
        <p:txBody>
          <a:bodyPr/>
          <a:lstStyle/>
          <a:p>
            <a:fld id="{78DD82B9-B8EE-4375-B6FF-88FA6ABB15D9}" type="datetime1">
              <a:rPr lang="en-US" smtClean="0"/>
              <a:t>11/27/2025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7" name="Date Placeholder 6"/>
          <p:cNvSpPr>
            <a:spLocks noGrp="1"/>
          </p:cNvSpPr>
          <p:nvPr>
            <p:ph type="dt" sz="half" idx="10"/>
          </p:nvPr>
        </p:nvSpPr>
        <p:spPr/>
        <p:txBody>
          <a:bodyPr/>
          <a:lstStyle/>
          <a:p>
            <a:fld id="{B2497495-0637-405E-AE64-5CC7506D51F5}" type="datetime1">
              <a:rPr lang="en-US" smtClean="0"/>
              <a:t>11/27/2025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11/27/2025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defRPr/>
            </a:pPr>
            <a:r>
              <a:rPr lang="en-US" smtClean="0"/>
              <a:t>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11/27/2025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11/27/2025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8" name="Date Placeholder 7"/>
          <p:cNvSpPr>
            <a:spLocks noGrp="1"/>
          </p:cNvSpPr>
          <p:nvPr>
            <p:ph type="dt" sz="half" idx="10"/>
          </p:nvPr>
        </p:nvSpPr>
        <p:spPr>
          <a:xfrm>
            <a:off x="7605951" y="6456916"/>
            <a:ext cx="2844799" cy="365125"/>
          </a:xfrm>
        </p:spPr>
        <p:txBody>
          <a:bodyPr/>
          <a:lstStyle/>
          <a:p>
            <a:fld id="{D82884F1-FFEA-405F-9602-3DCA865EDA4E}" type="datetime1">
              <a:rPr lang="en-US" smtClean="0"/>
              <a:t>11/27/2025</a:t>
            </a:fld>
            <a:endParaRPr lang="en-US" dirty="0"/>
          </a:p>
        </p:txBody>
      </p:sp>
      <p:sp>
        <p:nvSpPr>
          <p:cNvPr id="10" name="Footer Placeholder 9"/>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p:cNvSpPr>
            <a:spLocks noGrp="1"/>
          </p:cNvSpPr>
          <p:nvPr>
            <p:ph type="sldNum" sz="quarter" idx="12"/>
          </p:nvPr>
        </p:nvSpPr>
        <p:spPr>
          <a:xfrm>
            <a:off x="10558300" y="6456916"/>
            <a:ext cx="1052510" cy="365125"/>
          </a:xfrm>
        </p:spPr>
        <p:txBody>
          <a:bodyPr/>
          <a:lstStyle/>
          <a:p>
            <a:fld id="{3A98EE3D-8CD1-4C3F-BD1C-C98C9596463C}"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11/27/2025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Rectangle 7"/>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p:cNvSpPr>
            <a:spLocks noGrp="1"/>
          </p:cNvSpPr>
          <p:nvPr>
            <p:ph type="dt" sz="half" idx="10"/>
          </p:nvPr>
        </p:nvSpPr>
        <p:spPr/>
        <p:txBody>
          <a:bodyPr/>
          <a:lstStyle/>
          <a:p>
            <a:fld id="{ED291B17-9318-49DB-B28B-6E5994AE9581}" type="datetime1">
              <a:rPr lang="en-US" smtClean="0"/>
              <a:t>11/27/2025</a:t>
            </a:fld>
            <a:endParaRPr lang="en-US" dirty="0"/>
          </a:p>
        </p:txBody>
      </p:sp>
      <p:sp>
        <p:nvSpPr>
          <p:cNvPr id="12" name="Footer Placeholder 11"/>
          <p:cNvSpPr>
            <a:spLocks noGrp="1"/>
          </p:cNvSpPr>
          <p:nvPr>
            <p:ph type="ftr" sz="quarter" idx="11"/>
          </p:nvPr>
        </p:nvSpPr>
        <p:spPr/>
        <p:txBody>
          <a:bodyPr/>
          <a:lstStyle/>
          <a:p>
            <a:endParaRPr lang="en-US" dirty="0"/>
          </a:p>
        </p:txBody>
      </p:sp>
      <p:sp>
        <p:nvSpPr>
          <p:cNvPr id="13" name="Slide Number Placeholder 12"/>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D291B17-9318-49DB-B28B-6E5994AE9581}" type="datetime1">
              <a:rPr lang="en-US" smtClean="0"/>
              <a:t>11/27/2025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11/27/2025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29920" indent="-30607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899795" indent="-26987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60"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105"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81191" y="1020431"/>
            <a:ext cx="10993549" cy="1475013"/>
          </a:xfrm>
        </p:spPr>
        <p:txBody>
          <a:bodyPr>
            <a:normAutofit/>
          </a:bodyPr>
          <a:lstStyle/>
          <a:p>
            <a:pPr algn="ctr"/>
            <a:r>
              <a:rPr lang="en-US" dirty="0" smtClean="0"/>
              <a:t>PSYC100 GENERAL PSYCHOLOGY</a:t>
            </a:r>
            <a:br>
              <a:rPr lang="en-US" dirty="0" smtClean="0"/>
            </a:br>
            <a:r>
              <a:rPr lang="en-US" dirty="0" smtClean="0"/>
              <a:t>INTELLIGENCE</a:t>
            </a:r>
            <a:endParaRPr lang="en-US" dirty="0"/>
          </a:p>
        </p:txBody>
      </p:sp>
      <p:sp>
        <p:nvSpPr>
          <p:cNvPr id="20" name="Rectangle 19"/>
          <p:cNvSpPr>
            <a:spLocks noGrp="1" noRot="1" noChangeAspect="1" noMove="1" noResize="1" noEditPoints="1" noAdjustHandles="1" noChangeArrowheads="1" noChangeShapeType="1" noTextEdit="1"/>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p:cNvSpPr>
            <a:spLocks noGrp="1" noRot="1" noChangeAspect="1" noMove="1" noResize="1" noEditPoints="1" noAdjustHandles="1" noChangeArrowheads="1" noChangeShapeType="1" noTextEdit="1"/>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p:cNvSpPr>
            <a:spLocks noGrp="1" noRot="1" noChangeAspect="1" noMove="1" noResize="1" noEditPoints="1" noAdjustHandles="1" noChangeArrowheads="1" noChangeShapeType="1" noTextEdit="1"/>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6" name="Picture 5" descr="A close up of a logo&#10;&#10;Description automatically generated"/>
          <p:cNvPicPr>
            <a:picLocks noChangeAspect="1"/>
          </p:cNvPicPr>
          <p:nvPr/>
        </p:nvPicPr>
        <p:blipFill rotWithShape="1">
          <a:blip r:embed="rId2" cstate="print">
            <a:extLst>
              <a:ext uri="{28A0092B-C50C-407E-A947-70E740481C1C}">
                <a14:useLocalDpi xmlns:a14="http://schemas.microsoft.com/office/drawing/2010/main" val="0"/>
              </a:ext>
            </a:extLst>
          </a:blip>
          <a:srcRect/>
          <a:stretch>
            <a:fillRect/>
          </a:stretch>
        </p:blipFill>
        <p:spPr>
          <a:xfrm>
            <a:off x="448733" y="3081867"/>
            <a:ext cx="11260667" cy="3310466"/>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9271" y="420145"/>
            <a:ext cx="11029616" cy="1188720"/>
          </a:xfrm>
        </p:spPr>
        <p:txBody>
          <a:bodyPr/>
          <a:lstStyle/>
          <a:p>
            <a:r>
              <a:rPr lang="en-US" dirty="0" smtClean="0"/>
              <a:t>Learning outcomes</a:t>
            </a:r>
            <a:endParaRPr lang="en-US" dirty="0"/>
          </a:p>
        </p:txBody>
      </p:sp>
      <p:sp>
        <p:nvSpPr>
          <p:cNvPr id="3" name="Content Placeholder 2"/>
          <p:cNvSpPr>
            <a:spLocks noGrp="1"/>
          </p:cNvSpPr>
          <p:nvPr>
            <p:ph idx="1"/>
          </p:nvPr>
        </p:nvSpPr>
        <p:spPr>
          <a:xfrm>
            <a:off x="459271" y="2466552"/>
            <a:ext cx="11029615" cy="3634486"/>
          </a:xfrm>
        </p:spPr>
        <p:txBody>
          <a:bodyPr>
            <a:noAutofit/>
          </a:bodyPr>
          <a:lstStyle/>
          <a:p>
            <a:r>
              <a:rPr lang="en-US" sz="1500" dirty="0" smtClean="0">
                <a:solidFill>
                  <a:schemeClr val="tx1"/>
                </a:solidFill>
              </a:rPr>
              <a:t>Defining intelligence</a:t>
            </a:r>
          </a:p>
          <a:p>
            <a:r>
              <a:rPr lang="en-US" sz="1500" dirty="0" smtClean="0">
                <a:solidFill>
                  <a:schemeClr val="tx1"/>
                </a:solidFill>
              </a:rPr>
              <a:t>Theories of intelligence</a:t>
            </a:r>
          </a:p>
          <a:p>
            <a:pPr lvl="1"/>
            <a:r>
              <a:rPr lang="en-US" sz="1500" dirty="0" smtClean="0">
                <a:solidFill>
                  <a:schemeClr val="tx1"/>
                </a:solidFill>
              </a:rPr>
              <a:t>Two-factor theory of Spearman</a:t>
            </a:r>
          </a:p>
          <a:p>
            <a:pPr lvl="1"/>
            <a:r>
              <a:rPr lang="en-US" sz="1500" dirty="0" smtClean="0">
                <a:solidFill>
                  <a:schemeClr val="tx1"/>
                </a:solidFill>
              </a:rPr>
              <a:t>Fluid and Crystallized Intelligence theory of Cattell</a:t>
            </a:r>
          </a:p>
          <a:p>
            <a:pPr lvl="1"/>
            <a:r>
              <a:rPr lang="en-US" sz="1500" dirty="0" smtClean="0">
                <a:solidFill>
                  <a:schemeClr val="tx1"/>
                </a:solidFill>
              </a:rPr>
              <a:t>Sternberg’s theory</a:t>
            </a:r>
          </a:p>
          <a:p>
            <a:pPr lvl="1"/>
            <a:r>
              <a:rPr lang="en-US" sz="1500" dirty="0" smtClean="0">
                <a:solidFill>
                  <a:schemeClr val="tx1"/>
                </a:solidFill>
              </a:rPr>
              <a:t>Gardner’s theory</a:t>
            </a:r>
          </a:p>
          <a:p>
            <a:r>
              <a:rPr lang="en-US" sz="1500" dirty="0" smtClean="0">
                <a:solidFill>
                  <a:schemeClr val="tx1"/>
                </a:solidFill>
              </a:rPr>
              <a:t>Intelligence testing</a:t>
            </a:r>
          </a:p>
          <a:p>
            <a:pPr lvl="1"/>
            <a:r>
              <a:rPr lang="en-US" sz="1500" dirty="0" err="1" smtClean="0">
                <a:solidFill>
                  <a:schemeClr val="tx1"/>
                </a:solidFill>
              </a:rPr>
              <a:t>Standford-Binet</a:t>
            </a:r>
            <a:r>
              <a:rPr lang="en-US" sz="1500" dirty="0" smtClean="0">
                <a:solidFill>
                  <a:schemeClr val="tx1"/>
                </a:solidFill>
              </a:rPr>
              <a:t> test</a:t>
            </a:r>
          </a:p>
          <a:p>
            <a:pPr lvl="1"/>
            <a:r>
              <a:rPr lang="en-US" sz="1500" dirty="0" smtClean="0">
                <a:solidFill>
                  <a:schemeClr val="tx1"/>
                </a:solidFill>
              </a:rPr>
              <a:t>Wechsler tests</a:t>
            </a:r>
          </a:p>
          <a:p>
            <a:pPr lvl="1"/>
            <a:r>
              <a:rPr lang="en-US" sz="1500" dirty="0" smtClean="0">
                <a:solidFill>
                  <a:schemeClr val="tx1"/>
                </a:solidFill>
              </a:rPr>
              <a:t>Raven’s progressive matrices</a:t>
            </a:r>
          </a:p>
          <a:p>
            <a:r>
              <a:rPr lang="en-US" sz="1500" dirty="0" smtClean="0">
                <a:solidFill>
                  <a:schemeClr val="tx1"/>
                </a:solidFill>
              </a:rPr>
              <a:t>Gender differences in IQ</a:t>
            </a:r>
          </a:p>
          <a:p>
            <a:r>
              <a:rPr lang="en-US" sz="1500" dirty="0" smtClean="0">
                <a:solidFill>
                  <a:schemeClr val="tx1"/>
                </a:solidFill>
              </a:rPr>
              <a:t>Racial differences in IQ</a:t>
            </a:r>
          </a:p>
          <a:p>
            <a:r>
              <a:rPr lang="en-US" sz="1500" dirty="0" smtClean="0">
                <a:solidFill>
                  <a:schemeClr val="tx1"/>
                </a:solidFill>
              </a:rPr>
              <a:t>The Flynn Effect</a:t>
            </a:r>
          </a:p>
          <a:p>
            <a:endParaRPr lang="en-US" sz="1500" dirty="0" smtClean="0">
              <a:solidFill>
                <a:schemeClr val="tx1"/>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intelligence?</a:t>
            </a:r>
            <a:endParaRPr lang="en-US" dirty="0"/>
          </a:p>
        </p:txBody>
      </p:sp>
      <p:pic>
        <p:nvPicPr>
          <p:cNvPr id="6" name="Content Placeholder 5"/>
          <p:cNvPicPr>
            <a:picLocks noGrp="1" noChangeAspect="1"/>
          </p:cNvPicPr>
          <p:nvPr>
            <p:ph idx="1"/>
          </p:nvPr>
        </p:nvPicPr>
        <p:blipFill>
          <a:blip r:embed="rId2"/>
          <a:stretch>
            <a:fillRect/>
          </a:stretch>
        </p:blipFill>
        <p:spPr>
          <a:xfrm>
            <a:off x="1305361" y="2341563"/>
            <a:ext cx="2676275" cy="3633787"/>
          </a:xfrm>
          <a:prstGeom prst="rect">
            <a:avLst/>
          </a:prstGeom>
        </p:spPr>
      </p:pic>
      <p:sp>
        <p:nvSpPr>
          <p:cNvPr id="7" name="TextBox 6"/>
          <p:cNvSpPr txBox="1"/>
          <p:nvPr/>
        </p:nvSpPr>
        <p:spPr>
          <a:xfrm>
            <a:off x="6571716" y="3691783"/>
            <a:ext cx="4292714" cy="369332"/>
          </a:xfrm>
          <a:prstGeom prst="rect">
            <a:avLst/>
          </a:prstGeom>
          <a:noFill/>
        </p:spPr>
        <p:txBody>
          <a:bodyPr wrap="none" rtlCol="0">
            <a:spAutoFit/>
          </a:bodyPr>
          <a:lstStyle/>
          <a:p>
            <a:r>
              <a:rPr lang="en-US" dirty="0" smtClean="0"/>
              <a:t>HOW WOULD YOU DEFINE INTELLIGENCE?</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 very general mental capability that involves the ability to reason, plan, solve problems, think abstractly, comprehend complex ideas, learn quickly, and learn from experience.”</a:t>
            </a:r>
            <a:br>
              <a:rPr lang="en-US" dirty="0"/>
            </a:br>
            <a:endParaRPr lang="en-US" dirty="0"/>
          </a:p>
        </p:txBody>
      </p:sp>
    </p:spTree>
    <p:extLst>
      <p:ext uri="{BB962C8B-B14F-4D97-AF65-F5344CB8AC3E}">
        <p14:creationId xmlns:p14="http://schemas.microsoft.com/office/powerpoint/2010/main" val="1761287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Theories of intelligence</a:t>
            </a:r>
            <a:endParaRPr lang="en-US" dirty="0"/>
          </a:p>
        </p:txBody>
      </p:sp>
      <p:sp>
        <p:nvSpPr>
          <p:cNvPr id="3" name="Content Placeholder 2"/>
          <p:cNvSpPr>
            <a:spLocks noGrp="1"/>
          </p:cNvSpPr>
          <p:nvPr>
            <p:ph idx="1"/>
          </p:nvPr>
        </p:nvSpPr>
        <p:spPr>
          <a:xfrm>
            <a:off x="581193" y="2340864"/>
            <a:ext cx="4589014" cy="3634486"/>
          </a:xfrm>
        </p:spPr>
        <p:txBody>
          <a:bodyPr>
            <a:normAutofit fontScale="92500" lnSpcReduction="10000"/>
          </a:bodyPr>
          <a:lstStyle/>
          <a:p>
            <a:r>
              <a:rPr lang="en-US" sz="1800" b="1" dirty="0">
                <a:solidFill>
                  <a:schemeClr val="tx1"/>
                </a:solidFill>
              </a:rPr>
              <a:t>Spearman’s two-factor </a:t>
            </a:r>
            <a:r>
              <a:rPr lang="en-US" sz="1800" b="1" dirty="0" smtClean="0">
                <a:solidFill>
                  <a:schemeClr val="tx1"/>
                </a:solidFill>
              </a:rPr>
              <a:t>theory (1904)</a:t>
            </a:r>
          </a:p>
          <a:p>
            <a:pPr lvl="1"/>
            <a:r>
              <a:rPr lang="en-US" sz="1800" dirty="0">
                <a:solidFill>
                  <a:schemeClr val="tx1"/>
                </a:solidFill>
              </a:rPr>
              <a:t>All intellectual activities share a </a:t>
            </a:r>
            <a:r>
              <a:rPr lang="en-US" sz="1800" b="1" dirty="0">
                <a:solidFill>
                  <a:schemeClr val="tx1"/>
                </a:solidFill>
              </a:rPr>
              <a:t>common underlying factor (g)</a:t>
            </a:r>
            <a:r>
              <a:rPr lang="en-US" sz="1800" dirty="0">
                <a:solidFill>
                  <a:schemeClr val="tx1"/>
                </a:solidFill>
              </a:rPr>
              <a:t>, along with </a:t>
            </a:r>
            <a:r>
              <a:rPr lang="en-US" sz="1800" b="1" dirty="0">
                <a:solidFill>
                  <a:schemeClr val="tx1"/>
                </a:solidFill>
              </a:rPr>
              <a:t>specific factors (s)</a:t>
            </a:r>
            <a:r>
              <a:rPr lang="en-US" sz="1800" dirty="0">
                <a:solidFill>
                  <a:schemeClr val="tx1"/>
                </a:solidFill>
              </a:rPr>
              <a:t> unique to each task. So performance on any mental task depends on how intelligent you are overall (g) plus how skilled you are in that specific area (s</a:t>
            </a:r>
            <a:r>
              <a:rPr lang="en-US" sz="1800" dirty="0" smtClean="0">
                <a:solidFill>
                  <a:schemeClr val="tx1"/>
                </a:solidFill>
              </a:rPr>
              <a:t>).</a:t>
            </a:r>
          </a:p>
          <a:p>
            <a:pPr lvl="1"/>
            <a:r>
              <a:rPr lang="en-US" sz="1800" dirty="0" smtClean="0">
                <a:solidFill>
                  <a:schemeClr val="tx1"/>
                </a:solidFill>
              </a:rPr>
              <a:t>There </a:t>
            </a:r>
            <a:r>
              <a:rPr lang="en-US" altLang="en-US" sz="1800" dirty="0">
                <a:solidFill>
                  <a:schemeClr val="tx1"/>
                </a:solidFill>
              </a:rPr>
              <a:t>is a </a:t>
            </a:r>
            <a:r>
              <a:rPr lang="en-US" altLang="en-US" sz="1800" b="1" dirty="0">
                <a:solidFill>
                  <a:schemeClr val="tx1"/>
                </a:solidFill>
              </a:rPr>
              <a:t>single general intelligence (g)</a:t>
            </a:r>
            <a:r>
              <a:rPr lang="en-US" altLang="en-US" sz="1800" dirty="0">
                <a:solidFill>
                  <a:schemeClr val="tx1"/>
                </a:solidFill>
              </a:rPr>
              <a:t> that influences performance on </a:t>
            </a:r>
            <a:r>
              <a:rPr lang="en-US" altLang="en-US" sz="1800" b="1" dirty="0">
                <a:solidFill>
                  <a:schemeClr val="tx1"/>
                </a:solidFill>
              </a:rPr>
              <a:t>every</a:t>
            </a:r>
            <a:r>
              <a:rPr lang="en-US" altLang="en-US" sz="1800" dirty="0">
                <a:solidFill>
                  <a:schemeClr val="tx1"/>
                </a:solidFill>
              </a:rPr>
              <a:t> cognitive task. </a:t>
            </a:r>
            <a:endParaRPr lang="en-US" altLang="en-US" sz="1800" dirty="0" smtClean="0">
              <a:solidFill>
                <a:schemeClr val="tx1"/>
              </a:solidFill>
            </a:endParaRPr>
          </a:p>
          <a:p>
            <a:pPr lvl="1"/>
            <a:r>
              <a:rPr lang="en-US" altLang="en-US" sz="1800" dirty="0" smtClean="0">
                <a:solidFill>
                  <a:schemeClr val="tx1"/>
                </a:solidFill>
              </a:rPr>
              <a:t>There are </a:t>
            </a:r>
            <a:r>
              <a:rPr lang="en-US" altLang="en-US" sz="1800" dirty="0">
                <a:solidFill>
                  <a:schemeClr val="tx1"/>
                </a:solidFill>
              </a:rPr>
              <a:t>also many </a:t>
            </a:r>
            <a:r>
              <a:rPr lang="en-US" altLang="en-US" sz="1800" b="1" dirty="0">
                <a:solidFill>
                  <a:schemeClr val="tx1"/>
                </a:solidFill>
              </a:rPr>
              <a:t>specific abilities (s)</a:t>
            </a:r>
            <a:r>
              <a:rPr lang="en-US" altLang="en-US" sz="1800" dirty="0">
                <a:solidFill>
                  <a:schemeClr val="tx1"/>
                </a:solidFill>
              </a:rPr>
              <a:t> unique to each task. </a:t>
            </a:r>
          </a:p>
          <a:p>
            <a:pPr lvl="1"/>
            <a:endParaRPr lang="en-US" altLang="en-US" sz="1800" dirty="0">
              <a:solidFill>
                <a:schemeClr val="tx1"/>
              </a:solidFill>
            </a:endParaRPr>
          </a:p>
          <a:p>
            <a:pPr lvl="1"/>
            <a:endParaRPr lang="en-US" sz="1800" dirty="0">
              <a:solidFill>
                <a:schemeClr val="tx1"/>
              </a:solidFill>
            </a:endParaRPr>
          </a:p>
        </p:txBody>
      </p:sp>
      <p:pic>
        <p:nvPicPr>
          <p:cNvPr id="2050" name="Picture 2" descr="Spearman's Two Factor Theory of Intellige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8620" y="3043015"/>
            <a:ext cx="2707267" cy="281085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Theories of </a:t>
            </a:r>
            <a:r>
              <a:rPr lang="en-US" dirty="0" smtClean="0"/>
              <a:t>intelligence (cont.)</a:t>
            </a:r>
            <a:endParaRPr lang="en-US" dirty="0"/>
          </a:p>
        </p:txBody>
      </p:sp>
      <p:sp>
        <p:nvSpPr>
          <p:cNvPr id="3" name="Content Placeholder 2"/>
          <p:cNvSpPr>
            <a:spLocks noGrp="1"/>
          </p:cNvSpPr>
          <p:nvPr>
            <p:ph idx="1"/>
          </p:nvPr>
        </p:nvSpPr>
        <p:spPr>
          <a:xfrm>
            <a:off x="581192" y="2686304"/>
            <a:ext cx="5793971" cy="3634486"/>
          </a:xfrm>
        </p:spPr>
        <p:txBody>
          <a:bodyPr>
            <a:noAutofit/>
          </a:bodyPr>
          <a:lstStyle/>
          <a:p>
            <a:pPr marL="306070" lvl="1">
              <a:lnSpc>
                <a:spcPct val="110000"/>
              </a:lnSpc>
            </a:pPr>
            <a:r>
              <a:rPr lang="en-US" sz="1800" b="1" dirty="0">
                <a:solidFill>
                  <a:schemeClr val="tx1"/>
                </a:solidFill>
              </a:rPr>
              <a:t>Fluid and Crystallized Intelligence theory of </a:t>
            </a:r>
            <a:r>
              <a:rPr lang="en-US" sz="1800" b="1" dirty="0" smtClean="0">
                <a:solidFill>
                  <a:schemeClr val="tx1"/>
                </a:solidFill>
              </a:rPr>
              <a:t>Cattell (gf-</a:t>
            </a:r>
            <a:r>
              <a:rPr lang="en-US" sz="1800" b="1" dirty="0" err="1" smtClean="0">
                <a:solidFill>
                  <a:schemeClr val="tx1"/>
                </a:solidFill>
              </a:rPr>
              <a:t>gc</a:t>
            </a:r>
            <a:r>
              <a:rPr lang="en-US" sz="1800" b="1" dirty="0" smtClean="0">
                <a:solidFill>
                  <a:schemeClr val="tx1"/>
                </a:solidFill>
              </a:rPr>
              <a:t> theory)</a:t>
            </a:r>
          </a:p>
          <a:p>
            <a:pPr lvl="1"/>
            <a:r>
              <a:rPr lang="en-US" sz="1800" dirty="0">
                <a:solidFill>
                  <a:schemeClr val="tx1"/>
                </a:solidFill>
              </a:rPr>
              <a:t>Cattell (1963) </a:t>
            </a:r>
            <a:r>
              <a:rPr lang="en-US" sz="1800" dirty="0" smtClean="0">
                <a:solidFill>
                  <a:schemeClr val="tx1"/>
                </a:solidFill>
              </a:rPr>
              <a:t>argue </a:t>
            </a:r>
            <a:r>
              <a:rPr lang="en-US" sz="1800" dirty="0">
                <a:solidFill>
                  <a:schemeClr val="tx1"/>
                </a:solidFill>
              </a:rPr>
              <a:t>that </a:t>
            </a:r>
            <a:r>
              <a:rPr lang="en-US" sz="1800" i="1" dirty="0">
                <a:solidFill>
                  <a:schemeClr val="tx1"/>
                </a:solidFill>
              </a:rPr>
              <a:t>g </a:t>
            </a:r>
            <a:r>
              <a:rPr lang="en-US" sz="1800" dirty="0">
                <a:solidFill>
                  <a:schemeClr val="tx1"/>
                </a:solidFill>
              </a:rPr>
              <a:t>can </a:t>
            </a:r>
            <a:r>
              <a:rPr lang="en-US" sz="1800" dirty="0" smtClean="0">
                <a:solidFill>
                  <a:schemeClr val="tx1"/>
                </a:solidFill>
              </a:rPr>
              <a:t>be subdivided </a:t>
            </a:r>
            <a:r>
              <a:rPr lang="en-US" sz="1800" dirty="0">
                <a:solidFill>
                  <a:schemeClr val="tx1"/>
                </a:solidFill>
              </a:rPr>
              <a:t>into two major dimensions – fluid </a:t>
            </a:r>
            <a:r>
              <a:rPr lang="en-US" sz="1800" dirty="0" smtClean="0">
                <a:solidFill>
                  <a:schemeClr val="tx1"/>
                </a:solidFill>
              </a:rPr>
              <a:t>and crystallized </a:t>
            </a:r>
            <a:r>
              <a:rPr lang="en-US" sz="1800" dirty="0">
                <a:solidFill>
                  <a:schemeClr val="tx1"/>
                </a:solidFill>
              </a:rPr>
              <a:t>intelligence</a:t>
            </a:r>
            <a:r>
              <a:rPr lang="en-US" sz="1800" dirty="0" smtClean="0">
                <a:solidFill>
                  <a:schemeClr val="tx1"/>
                </a:solidFill>
              </a:rPr>
              <a:t>.</a:t>
            </a:r>
          </a:p>
          <a:p>
            <a:pPr lvl="1"/>
            <a:r>
              <a:rPr lang="en-US" sz="1800" dirty="0" smtClean="0">
                <a:solidFill>
                  <a:schemeClr val="tx1"/>
                </a:solidFill>
              </a:rPr>
              <a:t>Fluid intelligence (gf) - The </a:t>
            </a:r>
            <a:r>
              <a:rPr lang="en-US" sz="1800" dirty="0">
                <a:solidFill>
                  <a:schemeClr val="tx1"/>
                </a:solidFill>
              </a:rPr>
              <a:t>ability to </a:t>
            </a:r>
            <a:r>
              <a:rPr lang="en-US" sz="1800" b="1" dirty="0">
                <a:solidFill>
                  <a:schemeClr val="tx1"/>
                </a:solidFill>
              </a:rPr>
              <a:t>reason, think abstractly, and solve novel problems</a:t>
            </a:r>
            <a:r>
              <a:rPr lang="en-US" sz="1800" dirty="0">
                <a:solidFill>
                  <a:schemeClr val="tx1"/>
                </a:solidFill>
              </a:rPr>
              <a:t>—independent of prior knowledge or experience</a:t>
            </a:r>
            <a:r>
              <a:rPr lang="en-US" sz="1800" dirty="0" smtClean="0">
                <a:solidFill>
                  <a:schemeClr val="tx1"/>
                </a:solidFill>
              </a:rPr>
              <a:t>.</a:t>
            </a:r>
          </a:p>
          <a:p>
            <a:pPr lvl="1"/>
            <a:r>
              <a:rPr lang="en-US" sz="1800" dirty="0" smtClean="0">
                <a:solidFill>
                  <a:schemeClr val="tx1"/>
                </a:solidFill>
              </a:rPr>
              <a:t>Crystallized intelligence (</a:t>
            </a:r>
            <a:r>
              <a:rPr lang="en-US" sz="1800" dirty="0" err="1" smtClean="0">
                <a:solidFill>
                  <a:schemeClr val="tx1"/>
                </a:solidFill>
              </a:rPr>
              <a:t>gc</a:t>
            </a:r>
            <a:r>
              <a:rPr lang="en-US" sz="1800" dirty="0">
                <a:solidFill>
                  <a:schemeClr val="tx1"/>
                </a:solidFill>
              </a:rPr>
              <a:t>) - The ability to </a:t>
            </a:r>
            <a:r>
              <a:rPr lang="en-US" sz="1800" b="1" dirty="0">
                <a:solidFill>
                  <a:schemeClr val="tx1"/>
                </a:solidFill>
              </a:rPr>
              <a:t>use learned knowledge, skills, and experience</a:t>
            </a:r>
            <a:r>
              <a:rPr lang="en-US" sz="1800" dirty="0">
                <a:solidFill>
                  <a:schemeClr val="tx1"/>
                </a:solidFill>
              </a:rPr>
              <a:t>. It grows through education and cultural exposure.</a:t>
            </a:r>
            <a:endParaRPr lang="en-US" sz="1800" dirty="0" smtClean="0">
              <a:solidFill>
                <a:schemeClr val="tx1"/>
              </a:solidFill>
            </a:endParaRPr>
          </a:p>
          <a:p>
            <a:endParaRPr lang="en-US" sz="1800" b="1" dirty="0">
              <a:solidFill>
                <a:schemeClr val="tx1"/>
              </a:solidFill>
            </a:endParaRPr>
          </a:p>
          <a:p>
            <a:endParaRPr lang="en-US" sz="1800" b="1" dirty="0">
              <a:solidFill>
                <a:schemeClr val="tx1"/>
              </a:solidFill>
            </a:endParaRPr>
          </a:p>
        </p:txBody>
      </p:sp>
      <p:pic>
        <p:nvPicPr>
          <p:cNvPr id="4" name="Picture 3"/>
          <p:cNvPicPr>
            <a:picLocks noChangeAspect="1"/>
          </p:cNvPicPr>
          <p:nvPr/>
        </p:nvPicPr>
        <p:blipFill>
          <a:blip r:embed="rId2"/>
          <a:stretch>
            <a:fillRect/>
          </a:stretch>
        </p:blipFill>
        <p:spPr>
          <a:xfrm>
            <a:off x="6674266" y="1760434"/>
            <a:ext cx="4783374" cy="3461047"/>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Theories of intelligence (cont.)</a:t>
            </a:r>
          </a:p>
        </p:txBody>
      </p:sp>
      <p:sp>
        <p:nvSpPr>
          <p:cNvPr id="3" name="Content Placeholder 2"/>
          <p:cNvSpPr>
            <a:spLocks noGrp="1"/>
          </p:cNvSpPr>
          <p:nvPr>
            <p:ph idx="1"/>
          </p:nvPr>
        </p:nvSpPr>
        <p:spPr/>
        <p:txBody>
          <a:bodyPr/>
          <a:lstStyle/>
          <a:p>
            <a:r>
              <a:rPr lang="en-US" sz="1800" dirty="0" smtClean="0">
                <a:solidFill>
                  <a:schemeClr val="tx1"/>
                </a:solidFill>
              </a:rPr>
              <a:t>Sternberg’s Theory</a:t>
            </a:r>
          </a:p>
          <a:p>
            <a:pPr lvl="1"/>
            <a:r>
              <a:rPr lang="en-US" sz="1800" dirty="0" smtClean="0">
                <a:solidFill>
                  <a:schemeClr val="tx1"/>
                </a:solidFill>
              </a:rPr>
              <a:t>Three types of intelligences</a:t>
            </a:r>
            <a:endParaRPr lang="en-US" sz="1800" dirty="0">
              <a:solidFill>
                <a:schemeClr val="tx1"/>
              </a:solidFill>
            </a:endParaRPr>
          </a:p>
        </p:txBody>
      </p:sp>
      <p:pic>
        <p:nvPicPr>
          <p:cNvPr id="4" name="Picture 3"/>
          <p:cNvPicPr>
            <a:picLocks noChangeAspect="1"/>
          </p:cNvPicPr>
          <p:nvPr/>
        </p:nvPicPr>
        <p:blipFill>
          <a:blip r:embed="rId2"/>
          <a:stretch>
            <a:fillRect/>
          </a:stretch>
        </p:blipFill>
        <p:spPr>
          <a:xfrm>
            <a:off x="6212793" y="3033757"/>
            <a:ext cx="5398014" cy="3098602"/>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Theories of intelligence (cont.)</a:t>
            </a:r>
          </a:p>
        </p:txBody>
      </p:sp>
      <p:sp>
        <p:nvSpPr>
          <p:cNvPr id="3" name="Content Placeholder 2"/>
          <p:cNvSpPr>
            <a:spLocks noGrp="1"/>
          </p:cNvSpPr>
          <p:nvPr>
            <p:ph idx="1"/>
          </p:nvPr>
        </p:nvSpPr>
        <p:spPr/>
        <p:txBody>
          <a:bodyPr/>
          <a:lstStyle/>
          <a:p>
            <a:r>
              <a:rPr lang="en-US" sz="1800" dirty="0" smtClean="0">
                <a:solidFill>
                  <a:schemeClr val="tx1"/>
                </a:solidFill>
              </a:rPr>
              <a:t>Gardner’s Theory</a:t>
            </a:r>
          </a:p>
          <a:p>
            <a:pPr lvl="1"/>
            <a:r>
              <a:rPr lang="en-US" sz="1800" dirty="0" smtClean="0">
                <a:solidFill>
                  <a:schemeClr val="tx1"/>
                </a:solidFill>
              </a:rPr>
              <a:t>Eight types of intelligences</a:t>
            </a:r>
            <a:endParaRPr lang="en-US" sz="1800" dirty="0">
              <a:solidFill>
                <a:schemeClr val="tx1"/>
              </a:solidFill>
            </a:endParaRPr>
          </a:p>
        </p:txBody>
      </p:sp>
      <p:pic>
        <p:nvPicPr>
          <p:cNvPr id="4" name="Picture 3"/>
          <p:cNvPicPr>
            <a:picLocks noChangeAspect="1"/>
          </p:cNvPicPr>
          <p:nvPr/>
        </p:nvPicPr>
        <p:blipFill>
          <a:blip r:embed="rId2"/>
          <a:stretch>
            <a:fillRect/>
          </a:stretch>
        </p:blipFill>
        <p:spPr>
          <a:xfrm>
            <a:off x="5734228" y="2281043"/>
            <a:ext cx="5415185" cy="4219128"/>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INTELLIGENCE TESTING</a:t>
            </a:r>
            <a:endParaRPr lang="en-US"/>
          </a:p>
        </p:txBody>
      </p:sp>
      <p:sp>
        <p:nvSpPr>
          <p:cNvPr id="3" name="Content Placeholder 2"/>
          <p:cNvSpPr>
            <a:spLocks noGrp="1"/>
          </p:cNvSpPr>
          <p:nvPr>
            <p:ph idx="1"/>
          </p:nvPr>
        </p:nvSpPr>
        <p:spPr/>
        <p:txBody>
          <a:bodyPr/>
          <a:lstStyle/>
          <a:p>
            <a:pPr lvl="1"/>
            <a:r>
              <a:rPr lang="en-US" sz="2400" dirty="0" err="1">
                <a:solidFill>
                  <a:schemeClr val="tx1"/>
                </a:solidFill>
              </a:rPr>
              <a:t>Standford-Binet</a:t>
            </a:r>
            <a:r>
              <a:rPr lang="en-US" sz="2400" dirty="0">
                <a:solidFill>
                  <a:schemeClr val="tx1"/>
                </a:solidFill>
              </a:rPr>
              <a:t> test</a:t>
            </a:r>
          </a:p>
          <a:p>
            <a:pPr lvl="1"/>
            <a:r>
              <a:rPr lang="en-US" sz="2400" dirty="0">
                <a:solidFill>
                  <a:schemeClr val="tx1"/>
                </a:solidFill>
              </a:rPr>
              <a:t>Wechsler </a:t>
            </a:r>
            <a:r>
              <a:rPr lang="en-US" sz="2400" dirty="0" smtClean="0">
                <a:solidFill>
                  <a:schemeClr val="tx1"/>
                </a:solidFill>
              </a:rPr>
              <a:t>tests</a:t>
            </a:r>
          </a:p>
          <a:p>
            <a:pPr lvl="1"/>
            <a:r>
              <a:rPr lang="en-US" sz="2400" dirty="0" smtClean="0">
                <a:solidFill>
                  <a:schemeClr val="tx1"/>
                </a:solidFill>
              </a:rPr>
              <a:t>Raven’s progressive matrices</a:t>
            </a:r>
            <a:endParaRPr lang="en-US" sz="2400" dirty="0">
              <a:solidFill>
                <a:schemeClr val="tx1"/>
              </a:solidFill>
            </a:endParaRPr>
          </a:p>
          <a:p>
            <a:endParaRPr lang="en-US" sz="2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err="1" smtClean="0"/>
              <a:t>standford-binet</a:t>
            </a:r>
            <a:r>
              <a:rPr lang="en-US" dirty="0" smtClean="0"/>
              <a:t> test</a:t>
            </a:r>
            <a:endParaRPr lang="en-US" dirty="0"/>
          </a:p>
        </p:txBody>
      </p:sp>
      <p:sp>
        <p:nvSpPr>
          <p:cNvPr id="3" name="Content Placeholder 2"/>
          <p:cNvSpPr>
            <a:spLocks noGrp="1"/>
          </p:cNvSpPr>
          <p:nvPr>
            <p:ph idx="1"/>
          </p:nvPr>
        </p:nvSpPr>
        <p:spPr>
          <a:xfrm>
            <a:off x="581192" y="2726944"/>
            <a:ext cx="11029615" cy="3634486"/>
          </a:xfrm>
        </p:spPr>
        <p:txBody>
          <a:bodyPr>
            <a:noAutofit/>
          </a:bodyPr>
          <a:lstStyle/>
          <a:p>
            <a:r>
              <a:rPr lang="en-US" sz="2000" dirty="0">
                <a:solidFill>
                  <a:schemeClr val="tx1"/>
                </a:solidFill>
              </a:rPr>
              <a:t>In 1904, </a:t>
            </a:r>
            <a:r>
              <a:rPr lang="en-US" sz="2000" dirty="0" err="1">
                <a:solidFill>
                  <a:schemeClr val="tx1"/>
                </a:solidFill>
              </a:rPr>
              <a:t>Binet</a:t>
            </a:r>
            <a:r>
              <a:rPr lang="en-US" sz="2000" dirty="0">
                <a:solidFill>
                  <a:schemeClr val="tx1"/>
                </a:solidFill>
              </a:rPr>
              <a:t> and Simon were commissioned </a:t>
            </a:r>
            <a:r>
              <a:rPr lang="en-US" sz="2000" dirty="0" smtClean="0">
                <a:solidFill>
                  <a:schemeClr val="tx1"/>
                </a:solidFill>
              </a:rPr>
              <a:t>by the </a:t>
            </a:r>
            <a:r>
              <a:rPr lang="en-US" sz="2000" dirty="0">
                <a:solidFill>
                  <a:schemeClr val="tx1"/>
                </a:solidFill>
              </a:rPr>
              <a:t>French government to devise a test which </a:t>
            </a:r>
            <a:r>
              <a:rPr lang="en-US" sz="2000" dirty="0" smtClean="0">
                <a:solidFill>
                  <a:schemeClr val="tx1"/>
                </a:solidFill>
              </a:rPr>
              <a:t>would identify </a:t>
            </a:r>
            <a:r>
              <a:rPr lang="en-US" sz="2000" dirty="0">
                <a:solidFill>
                  <a:schemeClr val="tx1"/>
                </a:solidFill>
              </a:rPr>
              <a:t>those children who wouldn’t benefit </a:t>
            </a:r>
            <a:r>
              <a:rPr lang="en-US" sz="2000" dirty="0" smtClean="0">
                <a:solidFill>
                  <a:schemeClr val="tx1"/>
                </a:solidFill>
              </a:rPr>
              <a:t>from ordinary </a:t>
            </a:r>
            <a:r>
              <a:rPr lang="en-US" sz="2000" dirty="0">
                <a:solidFill>
                  <a:schemeClr val="tx1"/>
                </a:solidFill>
              </a:rPr>
              <a:t>schooling because of their lower intelligence.</a:t>
            </a:r>
          </a:p>
          <a:p>
            <a:r>
              <a:rPr lang="en-US" sz="2000" dirty="0">
                <a:solidFill>
                  <a:schemeClr val="tx1"/>
                </a:solidFill>
              </a:rPr>
              <a:t>The result was the Simon–</a:t>
            </a:r>
            <a:r>
              <a:rPr lang="en-US" sz="2000" dirty="0" err="1">
                <a:solidFill>
                  <a:schemeClr val="tx1"/>
                </a:solidFill>
              </a:rPr>
              <a:t>Binet</a:t>
            </a:r>
            <a:r>
              <a:rPr lang="en-US" sz="2000" dirty="0">
                <a:solidFill>
                  <a:schemeClr val="tx1"/>
                </a:solidFill>
              </a:rPr>
              <a:t> test (1905), </a:t>
            </a:r>
            <a:r>
              <a:rPr lang="en-US" sz="2000" dirty="0" smtClean="0">
                <a:solidFill>
                  <a:schemeClr val="tx1"/>
                </a:solidFill>
              </a:rPr>
              <a:t>generally accepted </a:t>
            </a:r>
            <a:r>
              <a:rPr lang="en-US" sz="2000" dirty="0">
                <a:solidFill>
                  <a:schemeClr val="tx1"/>
                </a:solidFill>
              </a:rPr>
              <a:t>as </a:t>
            </a:r>
            <a:r>
              <a:rPr lang="en-US" sz="2000" b="1" dirty="0">
                <a:solidFill>
                  <a:schemeClr val="tx1"/>
                </a:solidFill>
              </a:rPr>
              <a:t>the first</a:t>
            </a:r>
            <a:r>
              <a:rPr lang="en-GB" altLang="en-US" sz="2000" b="1" dirty="0">
                <a:solidFill>
                  <a:schemeClr val="tx1"/>
                </a:solidFill>
              </a:rPr>
              <a:t> INDIVIDUAL</a:t>
            </a:r>
            <a:r>
              <a:rPr lang="en-US" sz="2000" b="1" dirty="0">
                <a:solidFill>
                  <a:schemeClr val="tx1"/>
                </a:solidFill>
              </a:rPr>
              <a:t> intelligence test</a:t>
            </a:r>
            <a:r>
              <a:rPr lang="en-US" sz="2000" dirty="0" smtClean="0">
                <a:solidFill>
                  <a:schemeClr val="tx1"/>
                </a:solidFill>
              </a:rPr>
              <a:t>.</a:t>
            </a:r>
          </a:p>
          <a:p>
            <a:r>
              <a:rPr lang="en-US" sz="2000" dirty="0" smtClean="0">
                <a:solidFill>
                  <a:schemeClr val="tx1"/>
                </a:solidFill>
              </a:rPr>
              <a:t>Revisions led to </a:t>
            </a:r>
            <a:r>
              <a:rPr lang="en-US" sz="2000" dirty="0" err="1" smtClean="0">
                <a:solidFill>
                  <a:schemeClr val="tx1"/>
                </a:solidFill>
              </a:rPr>
              <a:t>Standford-Binet</a:t>
            </a:r>
            <a:r>
              <a:rPr lang="en-US" sz="2000" dirty="0" smtClean="0">
                <a:solidFill>
                  <a:schemeClr val="tx1"/>
                </a:solidFill>
              </a:rPr>
              <a:t> test</a:t>
            </a:r>
          </a:p>
          <a:p>
            <a:r>
              <a:rPr lang="en-US" sz="2000" dirty="0" smtClean="0">
                <a:solidFill>
                  <a:schemeClr val="tx1"/>
                </a:solidFill>
              </a:rPr>
              <a:t>1986 – 4</a:t>
            </a:r>
            <a:r>
              <a:rPr lang="en-US" sz="2000" baseline="30000" dirty="0" smtClean="0">
                <a:solidFill>
                  <a:schemeClr val="tx1"/>
                </a:solidFill>
              </a:rPr>
              <a:t>th</a:t>
            </a:r>
            <a:r>
              <a:rPr lang="en-US" sz="2000" dirty="0" smtClean="0">
                <a:solidFill>
                  <a:schemeClr val="tx1"/>
                </a:solidFill>
              </a:rPr>
              <a:t> revision and 2003 – 5</a:t>
            </a:r>
            <a:r>
              <a:rPr lang="en-US" sz="2000" baseline="30000" dirty="0" smtClean="0">
                <a:solidFill>
                  <a:schemeClr val="tx1"/>
                </a:solidFill>
              </a:rPr>
              <a:t>th</a:t>
            </a:r>
            <a:r>
              <a:rPr lang="en-US" sz="2000" dirty="0" smtClean="0">
                <a:solidFill>
                  <a:schemeClr val="tx1"/>
                </a:solidFill>
              </a:rPr>
              <a:t> edition</a:t>
            </a:r>
          </a:p>
          <a:p>
            <a:pPr lvl="1"/>
            <a:r>
              <a:rPr lang="en-GB" altLang="en-US" sz="2000" dirty="0">
                <a:solidFill>
                  <a:schemeClr val="tx1"/>
                </a:solidFill>
              </a:rPr>
              <a:t>Verbal and nonverbal scales are </a:t>
            </a:r>
            <a:r>
              <a:rPr lang="en-GB" altLang="en-US" sz="2000" dirty="0" smtClean="0">
                <a:solidFill>
                  <a:schemeClr val="tx1"/>
                </a:solidFill>
              </a:rPr>
              <a:t>balanced (based on gf-</a:t>
            </a:r>
            <a:r>
              <a:rPr lang="en-GB" altLang="en-US" sz="2000" dirty="0" err="1" smtClean="0">
                <a:solidFill>
                  <a:schemeClr val="tx1"/>
                </a:solidFill>
              </a:rPr>
              <a:t>gc</a:t>
            </a:r>
            <a:r>
              <a:rPr lang="en-GB" altLang="en-US" sz="2000" dirty="0" smtClean="0">
                <a:solidFill>
                  <a:schemeClr val="tx1"/>
                </a:solidFill>
              </a:rPr>
              <a:t> theory)</a:t>
            </a:r>
            <a:endParaRPr lang="en-GB" altLang="en-US" sz="2000" dirty="0">
              <a:solidFill>
                <a:schemeClr val="tx1"/>
              </a:solidFill>
            </a:endParaRPr>
          </a:p>
          <a:p>
            <a:pPr lvl="1">
              <a:lnSpc>
                <a:spcPct val="80000"/>
              </a:lnSpc>
            </a:pPr>
            <a:r>
              <a:rPr lang="en-GB" altLang="en-US" sz="2000" b="1" dirty="0">
                <a:solidFill>
                  <a:schemeClr val="tx1"/>
                </a:solidFill>
              </a:rPr>
              <a:t>Mean 100, SD 15</a:t>
            </a:r>
          </a:p>
          <a:p>
            <a:pPr lvl="1">
              <a:lnSpc>
                <a:spcPct val="80000"/>
              </a:lnSpc>
            </a:pPr>
            <a:r>
              <a:rPr lang="en-GB" altLang="en-US" sz="2000" dirty="0">
                <a:solidFill>
                  <a:schemeClr val="tx1"/>
                </a:solidFill>
              </a:rPr>
              <a:t>Verbal IQ, nonverbal IQ, full-scale IQ</a:t>
            </a:r>
          </a:p>
          <a:p>
            <a:pPr lvl="1"/>
            <a:endParaRPr lang="en-GB" altLang="en-US" sz="2000" dirty="0">
              <a:solidFill>
                <a:schemeClr val="tx1"/>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76350" y="1342390"/>
            <a:ext cx="8936355" cy="481393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GB"/>
              <a:t>Army Alpha and Army Beta IQ Tests</a:t>
            </a:r>
          </a:p>
        </p:txBody>
      </p:sp>
      <p:sp>
        <p:nvSpPr>
          <p:cNvPr id="5" name="Content Placeholder 4"/>
          <p:cNvSpPr>
            <a:spLocks noGrp="1"/>
          </p:cNvSpPr>
          <p:nvPr>
            <p:ph idx="1"/>
          </p:nvPr>
        </p:nvSpPr>
        <p:spPr/>
        <p:txBody>
          <a:bodyPr/>
          <a:lstStyle/>
          <a:p>
            <a:r>
              <a:rPr lang="en-US" altLang="en-GB" sz="2400"/>
              <a:t>These were the very first </a:t>
            </a:r>
            <a:r>
              <a:rPr lang="en-GB" altLang="en-US" sz="2400" b="1"/>
              <a:t>GROUP</a:t>
            </a:r>
            <a:r>
              <a:rPr lang="en-US" altLang="en-GB" sz="2400" b="1"/>
              <a:t> </a:t>
            </a:r>
            <a:r>
              <a:rPr lang="en-US" altLang="en-GB" sz="2400"/>
              <a:t>intelligence tests in history, developed in 1917–1919 by the U.S. Army to screen and classify over 1.7 million recruits during World War I.</a:t>
            </a:r>
          </a:p>
          <a:p>
            <a:r>
              <a:rPr lang="en-GB" altLang="en-US" sz="2400"/>
              <a:t>Army Alpha  - </a:t>
            </a:r>
            <a:r>
              <a:rPr lang="en-US" altLang="en-GB" sz="2400"/>
              <a:t>Designed for literate recruits (those who could read and write English well).</a:t>
            </a:r>
          </a:p>
          <a:p>
            <a:r>
              <a:rPr lang="en-GB" altLang="en-US" sz="2400"/>
              <a:t>Army Beta - </a:t>
            </a:r>
            <a:r>
              <a:rPr lang="en-US" altLang="en-GB" sz="2400"/>
              <a:t>Designed for illiterate recruits or non-English speakers (mostly recent immigrants from Southern/Eastern Europe and some African Americans).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tretch>
            <a:fillRect/>
          </a:stretch>
        </p:blipFill>
        <p:spPr>
          <a:xfrm>
            <a:off x="699770" y="1158240"/>
            <a:ext cx="9027160" cy="527875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Wechsler tests</a:t>
            </a:r>
            <a:endParaRPr lang="en-US" dirty="0"/>
          </a:p>
        </p:txBody>
      </p:sp>
      <p:sp>
        <p:nvSpPr>
          <p:cNvPr id="3" name="Content Placeholder 2"/>
          <p:cNvSpPr>
            <a:spLocks noGrp="1"/>
          </p:cNvSpPr>
          <p:nvPr>
            <p:ph idx="1"/>
          </p:nvPr>
        </p:nvSpPr>
        <p:spPr/>
        <p:txBody>
          <a:bodyPr/>
          <a:lstStyle/>
          <a:p>
            <a:endParaRPr lang="en-US" sz="2000" dirty="0" smtClean="0"/>
          </a:p>
          <a:p>
            <a:r>
              <a:rPr lang="en-US" sz="2000" dirty="0" smtClean="0">
                <a:solidFill>
                  <a:schemeClr val="tx1"/>
                </a:solidFill>
              </a:rPr>
              <a:t>Balanced verbal and nonverbal scales</a:t>
            </a:r>
          </a:p>
          <a:p>
            <a:r>
              <a:rPr lang="en-US" sz="2000" dirty="0" smtClean="0">
                <a:solidFill>
                  <a:schemeClr val="tx1"/>
                </a:solidFill>
              </a:rPr>
              <a:t>The most commonly used IQ tests globally</a:t>
            </a:r>
          </a:p>
          <a:p>
            <a:r>
              <a:rPr lang="en-US" sz="2000" dirty="0" smtClean="0">
                <a:solidFill>
                  <a:schemeClr val="tx1"/>
                </a:solidFill>
              </a:rPr>
              <a:t>Most recent versions:</a:t>
            </a:r>
          </a:p>
          <a:p>
            <a:pPr lvl="1">
              <a:lnSpc>
                <a:spcPct val="80000"/>
              </a:lnSpc>
            </a:pPr>
            <a:r>
              <a:rPr lang="en-US" altLang="en-US" sz="2000" dirty="0">
                <a:solidFill>
                  <a:schemeClr val="tx1"/>
                </a:solidFill>
              </a:rPr>
              <a:t>Wechsler Preschool and Primary Scale of Intelligence (WPPSI – IV, 2012</a:t>
            </a:r>
            <a:r>
              <a:rPr lang="en-US" altLang="en-US" sz="2000" dirty="0" smtClean="0">
                <a:solidFill>
                  <a:schemeClr val="tx1"/>
                </a:solidFill>
              </a:rPr>
              <a:t>) – 2.5 – 6 </a:t>
            </a:r>
            <a:r>
              <a:rPr lang="en-US" altLang="en-US" sz="2000" dirty="0" err="1" smtClean="0">
                <a:solidFill>
                  <a:schemeClr val="tx1"/>
                </a:solidFill>
              </a:rPr>
              <a:t>yrs</a:t>
            </a:r>
            <a:r>
              <a:rPr lang="en-US" altLang="en-US" sz="2000" dirty="0" smtClean="0">
                <a:solidFill>
                  <a:schemeClr val="tx1"/>
                </a:solidFill>
              </a:rPr>
              <a:t> old</a:t>
            </a:r>
            <a:endParaRPr lang="en-US" altLang="en-US" sz="2000" dirty="0">
              <a:solidFill>
                <a:schemeClr val="tx1"/>
              </a:solidFill>
            </a:endParaRPr>
          </a:p>
          <a:p>
            <a:pPr lvl="1">
              <a:lnSpc>
                <a:spcPct val="80000"/>
              </a:lnSpc>
            </a:pPr>
            <a:r>
              <a:rPr lang="en-US" altLang="en-US" sz="2000" dirty="0">
                <a:solidFill>
                  <a:schemeClr val="tx1"/>
                </a:solidFill>
              </a:rPr>
              <a:t>Wechsler Intelligence Scale Children (WISC – V, 2014</a:t>
            </a:r>
            <a:r>
              <a:rPr lang="en-US" altLang="en-US" sz="2000" dirty="0" smtClean="0">
                <a:solidFill>
                  <a:schemeClr val="tx1"/>
                </a:solidFill>
              </a:rPr>
              <a:t>) – 6-16 </a:t>
            </a:r>
            <a:r>
              <a:rPr lang="en-US" altLang="en-US" sz="2000" dirty="0" err="1" smtClean="0">
                <a:solidFill>
                  <a:schemeClr val="tx1"/>
                </a:solidFill>
              </a:rPr>
              <a:t>yrs</a:t>
            </a:r>
            <a:r>
              <a:rPr lang="en-US" altLang="en-US" sz="2000" dirty="0" smtClean="0">
                <a:solidFill>
                  <a:schemeClr val="tx1"/>
                </a:solidFill>
              </a:rPr>
              <a:t> old</a:t>
            </a:r>
            <a:endParaRPr lang="en-US" altLang="en-US" sz="2000" dirty="0">
              <a:solidFill>
                <a:schemeClr val="tx1"/>
              </a:solidFill>
            </a:endParaRPr>
          </a:p>
          <a:p>
            <a:pPr lvl="1">
              <a:lnSpc>
                <a:spcPct val="80000"/>
              </a:lnSpc>
            </a:pPr>
            <a:r>
              <a:rPr lang="en-US" altLang="en-US" sz="2000" dirty="0">
                <a:solidFill>
                  <a:schemeClr val="tx1"/>
                </a:solidFill>
              </a:rPr>
              <a:t>Wechsler Adult Intelligence Scale (WAIS-V, </a:t>
            </a:r>
            <a:r>
              <a:rPr lang="en-GB" altLang="en-US" sz="2000" dirty="0">
                <a:solidFill>
                  <a:schemeClr val="tx1"/>
                </a:solidFill>
              </a:rPr>
              <a:t>2024</a:t>
            </a:r>
            <a:r>
              <a:rPr lang="en-US" altLang="en-US" sz="2000" dirty="0" smtClean="0">
                <a:solidFill>
                  <a:schemeClr val="tx1"/>
                </a:solidFill>
              </a:rPr>
              <a:t>) – 16-90 </a:t>
            </a:r>
            <a:r>
              <a:rPr lang="en-US" altLang="en-US" sz="2000" dirty="0" err="1" smtClean="0">
                <a:solidFill>
                  <a:schemeClr val="tx1"/>
                </a:solidFill>
              </a:rPr>
              <a:t>yrs</a:t>
            </a:r>
            <a:r>
              <a:rPr lang="en-US" altLang="en-US" sz="2000" dirty="0" smtClean="0">
                <a:solidFill>
                  <a:schemeClr val="tx1"/>
                </a:solidFill>
              </a:rPr>
              <a:t> old</a:t>
            </a:r>
            <a:endParaRPr lang="en-US" altLang="en-US" sz="2000" dirty="0">
              <a:solidFill>
                <a:schemeClr val="tx1"/>
              </a:solidFill>
            </a:endParaRPr>
          </a:p>
          <a:p>
            <a:endParaRPr lang="en-US" sz="20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Raven’s progressive matrices</a:t>
            </a:r>
            <a:endParaRPr lang="en-US" dirty="0"/>
          </a:p>
        </p:txBody>
      </p:sp>
      <p:sp>
        <p:nvSpPr>
          <p:cNvPr id="3" name="Content Placeholder 2"/>
          <p:cNvSpPr>
            <a:spLocks noGrp="1"/>
          </p:cNvSpPr>
          <p:nvPr>
            <p:ph idx="1"/>
          </p:nvPr>
        </p:nvSpPr>
        <p:spPr>
          <a:xfrm>
            <a:off x="581192" y="2340864"/>
            <a:ext cx="5614509" cy="3634486"/>
          </a:xfrm>
        </p:spPr>
        <p:txBody>
          <a:bodyPr/>
          <a:lstStyle/>
          <a:p>
            <a:r>
              <a:rPr lang="en-US" dirty="0"/>
              <a:t>Raven’s Standard Progressive Matrices (SPM), Advanced Progressive Matrices (APM), and Colored Progressive Matrices (CPM for children</a:t>
            </a:r>
            <a:r>
              <a:rPr lang="en-US" dirty="0" smtClean="0"/>
              <a:t>) (Raven, 1938; 1998).</a:t>
            </a:r>
          </a:p>
          <a:p>
            <a:r>
              <a:rPr lang="en-US" dirty="0" smtClean="0"/>
              <a:t>Non-verbal</a:t>
            </a:r>
          </a:p>
          <a:p>
            <a:r>
              <a:rPr lang="en-US" dirty="0" smtClean="0"/>
              <a:t>Culture-reduced</a:t>
            </a:r>
          </a:p>
          <a:p>
            <a:endParaRPr lang="en-US" dirty="0"/>
          </a:p>
          <a:p>
            <a:endParaRPr lang="en-US" dirty="0"/>
          </a:p>
        </p:txBody>
      </p:sp>
      <p:pic>
        <p:nvPicPr>
          <p:cNvPr id="4" name="Picture 3"/>
          <p:cNvPicPr>
            <a:picLocks noChangeAspect="1"/>
          </p:cNvPicPr>
          <p:nvPr/>
        </p:nvPicPr>
        <p:blipFill>
          <a:blip r:embed="rId2"/>
          <a:stretch>
            <a:fillRect/>
          </a:stretch>
        </p:blipFill>
        <p:spPr>
          <a:xfrm>
            <a:off x="7178467" y="2273803"/>
            <a:ext cx="3973795" cy="3417695"/>
          </a:xfrm>
          <a:prstGeom prst="rect">
            <a:avLst/>
          </a:prstGeom>
        </p:spPr>
      </p:pic>
    </p:spTree>
    <p:extLst>
      <p:ext uri="{BB962C8B-B14F-4D97-AF65-F5344CB8AC3E}">
        <p14:creationId xmlns:p14="http://schemas.microsoft.com/office/powerpoint/2010/main" val="4200645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Gender differences in </a:t>
            </a:r>
            <a:r>
              <a:rPr lang="en-US" dirty="0" err="1" smtClean="0"/>
              <a:t>iq</a:t>
            </a:r>
            <a:r>
              <a:rPr lang="en-US" dirty="0" smtClean="0"/>
              <a:t> - gender</a:t>
            </a:r>
            <a:endParaRPr lang="en-US" dirty="0"/>
          </a:p>
        </p:txBody>
      </p:sp>
      <p:sp>
        <p:nvSpPr>
          <p:cNvPr id="3" name="Content Placeholder 2"/>
          <p:cNvSpPr>
            <a:spLocks noGrp="1"/>
          </p:cNvSpPr>
          <p:nvPr>
            <p:ph idx="1"/>
          </p:nvPr>
        </p:nvSpPr>
        <p:spPr/>
        <p:txBody>
          <a:bodyPr/>
          <a:lstStyle/>
          <a:p>
            <a:pPr>
              <a:lnSpc>
                <a:spcPct val="80000"/>
              </a:lnSpc>
            </a:pPr>
            <a:r>
              <a:rPr lang="en-GB" altLang="tr-TR" sz="2000" dirty="0"/>
              <a:t>Most IQ tests have been constructed so that there are no differences in scores between genders</a:t>
            </a:r>
          </a:p>
          <a:p>
            <a:pPr>
              <a:lnSpc>
                <a:spcPct val="80000"/>
              </a:lnSpc>
            </a:pPr>
            <a:r>
              <a:rPr lang="en-GB" altLang="tr-TR" sz="2000" dirty="0"/>
              <a:t>Any difference between genders may only have been negligible (</a:t>
            </a:r>
            <a:r>
              <a:rPr lang="en-GB" altLang="tr-TR" sz="2000" dirty="0" err="1"/>
              <a:t>Terman</a:t>
            </a:r>
            <a:r>
              <a:rPr lang="en-GB" altLang="tr-TR" sz="2000" dirty="0"/>
              <a:t>, 1916)</a:t>
            </a:r>
          </a:p>
          <a:p>
            <a:pPr>
              <a:lnSpc>
                <a:spcPct val="80000"/>
              </a:lnSpc>
            </a:pPr>
            <a:r>
              <a:rPr lang="en-GB" altLang="tr-TR" sz="2000" dirty="0"/>
              <a:t>Meta-analyses reporting scores for men average 5 IQ points more than women (</a:t>
            </a:r>
            <a:r>
              <a:rPr lang="en-GB" altLang="tr-TR" sz="2000" dirty="0" err="1"/>
              <a:t>Irwing</a:t>
            </a:r>
            <a:r>
              <a:rPr lang="en-GB" altLang="tr-TR" sz="2000" dirty="0"/>
              <a:t> &amp; Lynn, 2005) have small effect sizes</a:t>
            </a:r>
          </a:p>
          <a:p>
            <a:endParaRPr lang="en-US" sz="20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Gender differences in </a:t>
            </a:r>
            <a:r>
              <a:rPr lang="en-US" dirty="0" err="1"/>
              <a:t>iq</a:t>
            </a:r>
            <a:endParaRPr lang="en-US" dirty="0"/>
          </a:p>
        </p:txBody>
      </p:sp>
      <p:sp>
        <p:nvSpPr>
          <p:cNvPr id="3" name="Content Placeholder 2"/>
          <p:cNvSpPr>
            <a:spLocks noGrp="1"/>
          </p:cNvSpPr>
          <p:nvPr>
            <p:ph idx="1"/>
          </p:nvPr>
        </p:nvSpPr>
        <p:spPr>
          <a:xfrm>
            <a:off x="359002" y="2776700"/>
            <a:ext cx="11029615" cy="3634486"/>
          </a:xfrm>
        </p:spPr>
        <p:txBody>
          <a:bodyPr>
            <a:noAutofit/>
          </a:bodyPr>
          <a:lstStyle/>
          <a:p>
            <a:pPr>
              <a:lnSpc>
                <a:spcPct val="90000"/>
              </a:lnSpc>
            </a:pPr>
            <a:r>
              <a:rPr lang="en-GB" altLang="tr-TR" sz="1800" dirty="0"/>
              <a:t>Males better on </a:t>
            </a:r>
            <a:r>
              <a:rPr lang="en-GB" altLang="tr-TR" sz="1800" b="1" dirty="0" err="1"/>
              <a:t>visuo</a:t>
            </a:r>
            <a:r>
              <a:rPr lang="en-GB" altLang="tr-TR" sz="1800" b="1" dirty="0"/>
              <a:t>-spatial tasks </a:t>
            </a:r>
            <a:r>
              <a:rPr lang="en-GB" altLang="tr-TR" sz="1800" dirty="0"/>
              <a:t>(e.g. mental rotation). Mean of male distribution on mental rotation is almost one standard deviation above that for females (Masters and Sanders, 1993)</a:t>
            </a:r>
            <a:endParaRPr lang="tr-TR" altLang="tr-TR" sz="1800" dirty="0"/>
          </a:p>
          <a:p>
            <a:pPr lvl="1">
              <a:lnSpc>
                <a:spcPct val="90000"/>
              </a:lnSpc>
            </a:pPr>
            <a:r>
              <a:rPr lang="tr-TR" altLang="tr-TR" sz="1800" dirty="0" err="1">
                <a:solidFill>
                  <a:schemeClr val="tx1"/>
                </a:solidFill>
              </a:rPr>
              <a:t>Constructing</a:t>
            </a:r>
            <a:r>
              <a:rPr lang="tr-TR" altLang="tr-TR" sz="1800" dirty="0">
                <a:solidFill>
                  <a:schemeClr val="tx1"/>
                </a:solidFill>
              </a:rPr>
              <a:t> </a:t>
            </a:r>
            <a:r>
              <a:rPr lang="tr-TR" altLang="tr-TR" sz="1800" dirty="0" err="1">
                <a:solidFill>
                  <a:schemeClr val="tx1"/>
                </a:solidFill>
              </a:rPr>
              <a:t>models</a:t>
            </a:r>
            <a:r>
              <a:rPr lang="tr-TR" altLang="tr-TR" sz="1800" dirty="0">
                <a:solidFill>
                  <a:schemeClr val="tx1"/>
                </a:solidFill>
              </a:rPr>
              <a:t>, </a:t>
            </a:r>
            <a:r>
              <a:rPr lang="tr-TR" altLang="tr-TR" sz="1800" dirty="0" err="1">
                <a:solidFill>
                  <a:schemeClr val="tx1"/>
                </a:solidFill>
              </a:rPr>
              <a:t>furniture</a:t>
            </a:r>
            <a:r>
              <a:rPr lang="tr-TR" altLang="tr-TR" sz="1800" dirty="0">
                <a:solidFill>
                  <a:schemeClr val="tx1"/>
                </a:solidFill>
              </a:rPr>
              <a:t> </a:t>
            </a:r>
            <a:r>
              <a:rPr lang="tr-TR" altLang="tr-TR" sz="1800" dirty="0" err="1">
                <a:solidFill>
                  <a:schemeClr val="tx1"/>
                </a:solidFill>
              </a:rPr>
              <a:t>assembly</a:t>
            </a:r>
            <a:endParaRPr lang="en-GB" altLang="tr-TR" sz="1800" dirty="0">
              <a:solidFill>
                <a:schemeClr val="tx1"/>
              </a:solidFill>
            </a:endParaRPr>
          </a:p>
          <a:p>
            <a:pPr>
              <a:lnSpc>
                <a:spcPct val="90000"/>
              </a:lnSpc>
            </a:pPr>
            <a:endParaRPr lang="en-GB" altLang="tr-TR" sz="1800" dirty="0"/>
          </a:p>
          <a:p>
            <a:pPr>
              <a:lnSpc>
                <a:spcPct val="90000"/>
              </a:lnSpc>
            </a:pPr>
            <a:r>
              <a:rPr lang="en-GB" altLang="tr-TR" sz="1800" dirty="0"/>
              <a:t>Males also score higher on </a:t>
            </a:r>
            <a:r>
              <a:rPr lang="en-GB" altLang="tr-TR" sz="1800" b="1" dirty="0"/>
              <a:t>mechanical reasoning </a:t>
            </a:r>
            <a:r>
              <a:rPr lang="tr-TR" altLang="tr-TR" sz="1800" dirty="0"/>
              <a:t>(</a:t>
            </a:r>
            <a:r>
              <a:rPr lang="tr-TR" altLang="tr-TR" sz="1800" dirty="0" err="1"/>
              <a:t>e.g</a:t>
            </a:r>
            <a:r>
              <a:rPr lang="tr-TR" altLang="tr-TR" sz="1800" dirty="0"/>
              <a:t>. </a:t>
            </a:r>
            <a:r>
              <a:rPr lang="tr-TR" altLang="tr-TR" sz="1800" dirty="0" err="1"/>
              <a:t>Maintainig</a:t>
            </a:r>
            <a:r>
              <a:rPr lang="tr-TR" altLang="tr-TR" sz="1800" dirty="0"/>
              <a:t>, </a:t>
            </a:r>
            <a:r>
              <a:rPr lang="tr-TR" altLang="tr-TR" sz="1800" dirty="0" err="1"/>
              <a:t>repairing</a:t>
            </a:r>
            <a:r>
              <a:rPr lang="tr-TR" altLang="tr-TR" sz="1800" dirty="0"/>
              <a:t>, </a:t>
            </a:r>
            <a:r>
              <a:rPr lang="tr-TR" altLang="tr-TR" sz="1800" dirty="0" err="1"/>
              <a:t>operating</a:t>
            </a:r>
            <a:r>
              <a:rPr lang="tr-TR" altLang="tr-TR" sz="1800" dirty="0"/>
              <a:t> </a:t>
            </a:r>
            <a:r>
              <a:rPr lang="tr-TR" altLang="tr-TR" sz="1800" dirty="0" err="1"/>
              <a:t>equipment</a:t>
            </a:r>
            <a:r>
              <a:rPr lang="tr-TR" altLang="tr-TR" sz="1800" dirty="0"/>
              <a:t>) </a:t>
            </a:r>
            <a:r>
              <a:rPr lang="en-GB" altLang="tr-TR" sz="1800" b="1" dirty="0"/>
              <a:t>and quantitative tasks </a:t>
            </a:r>
            <a:r>
              <a:rPr lang="en-GB" altLang="tr-TR" sz="1800" dirty="0"/>
              <a:t>(maths</a:t>
            </a:r>
            <a:r>
              <a:rPr lang="en-GB" altLang="tr-TR" sz="1800" dirty="0" smtClean="0"/>
              <a:t>)</a:t>
            </a:r>
          </a:p>
          <a:p>
            <a:pPr>
              <a:lnSpc>
                <a:spcPct val="90000"/>
              </a:lnSpc>
            </a:pPr>
            <a:endParaRPr lang="en-GB" altLang="tr-TR" sz="1800" dirty="0" smtClean="0"/>
          </a:p>
          <a:p>
            <a:pPr>
              <a:lnSpc>
                <a:spcPct val="90000"/>
              </a:lnSpc>
            </a:pPr>
            <a:r>
              <a:rPr lang="en-GB" altLang="tr-TR" sz="1800" dirty="0"/>
              <a:t>Females perform better than males on a number of </a:t>
            </a:r>
            <a:r>
              <a:rPr lang="en-GB" altLang="tr-TR" sz="1800" b="1" dirty="0"/>
              <a:t>verbal tasks</a:t>
            </a:r>
            <a:r>
              <a:rPr lang="en-GB" altLang="tr-TR" sz="1800" dirty="0"/>
              <a:t>, such as synonym generation, and verbal fluency. Mean of female distribution is between 0.5 and 1.2 standard deviations above that of </a:t>
            </a:r>
            <a:r>
              <a:rPr lang="en-GB" altLang="tr-TR" sz="1800" dirty="0" smtClean="0"/>
              <a:t>males.</a:t>
            </a:r>
            <a:endParaRPr lang="en-GB" altLang="tr-TR" sz="1800" dirty="0"/>
          </a:p>
          <a:p>
            <a:pPr>
              <a:lnSpc>
                <a:spcPct val="90000"/>
              </a:lnSpc>
            </a:pPr>
            <a:endParaRPr lang="en-GB" altLang="tr-TR" sz="1800" dirty="0"/>
          </a:p>
          <a:p>
            <a:pPr>
              <a:lnSpc>
                <a:spcPct val="90000"/>
              </a:lnSpc>
            </a:pPr>
            <a:r>
              <a:rPr lang="en-GB" altLang="tr-TR" sz="1800" dirty="0"/>
              <a:t>Females may also perform better than males on some </a:t>
            </a:r>
            <a:r>
              <a:rPr lang="en-GB" altLang="tr-TR" sz="1800" b="1" dirty="0"/>
              <a:t>memory tasks</a:t>
            </a:r>
            <a:r>
              <a:rPr lang="en-GB" altLang="tr-TR" sz="1800" dirty="0"/>
              <a:t>.</a:t>
            </a:r>
          </a:p>
          <a:p>
            <a:pPr>
              <a:lnSpc>
                <a:spcPct val="90000"/>
              </a:lnSpc>
            </a:pPr>
            <a:endParaRPr lang="en-GB" altLang="tr-TR" sz="1800" dirty="0"/>
          </a:p>
          <a:p>
            <a:endParaRPr lang="en-US" sz="18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a:t>
            </a:r>
            <a:endParaRPr lang="en-US" dirty="0"/>
          </a:p>
        </p:txBody>
      </p:sp>
      <p:sp>
        <p:nvSpPr>
          <p:cNvPr id="4" name="Rectangle 1"/>
          <p:cNvSpPr>
            <a:spLocks noGrp="1" noChangeArrowheads="1"/>
          </p:cNvSpPr>
          <p:nvPr>
            <p:ph idx="1"/>
          </p:nvPr>
        </p:nvSpPr>
        <p:spPr bwMode="auto">
          <a:xfrm>
            <a:off x="495734" y="2333684"/>
            <a:ext cx="1054987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smtClean="0">
                <a:ln>
                  <a:noFill/>
                </a:ln>
                <a:solidFill>
                  <a:schemeClr val="tx1"/>
                </a:solidFill>
                <a:effectLst/>
              </a:rPr>
              <a:t>Biological</a:t>
            </a:r>
            <a:r>
              <a:rPr kumimoji="0" lang="en-US" altLang="en-US" sz="18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smtClean="0">
                <a:ln>
                  <a:noFill/>
                </a:ln>
                <a:solidFill>
                  <a:schemeClr val="tx1"/>
                </a:solidFill>
                <a:effectLst/>
              </a:rPr>
              <a:t>Brain size: Males have ~10% larger brains on average, correlating with ~0.3-0.4 IQ points per gram </a:t>
            </a:r>
          </a:p>
          <a:p>
            <a:pPr marL="0" marR="0" lvl="0" indent="0" algn="l" defTabSz="914400" rtl="0" eaLnBrk="0" fontAlgn="base" latinLnBrk="0" hangingPunct="0">
              <a:lnSpc>
                <a:spcPct val="100000"/>
              </a:lnSpc>
              <a:spcBef>
                <a:spcPct val="0"/>
              </a:spcBef>
              <a:spcAft>
                <a:spcPct val="0"/>
              </a:spcAft>
              <a:buClrTx/>
              <a:buSzTx/>
              <a:buNone/>
            </a:pPr>
            <a:r>
              <a:rPr kumimoji="0" lang="en-US" altLang="en-US" sz="1800" b="0" i="0" u="none" strike="noStrike" cap="none" normalizeH="0" baseline="0" dirty="0" smtClean="0">
                <a:ln>
                  <a:noFill/>
                </a:ln>
                <a:solidFill>
                  <a:schemeClr val="tx1"/>
                </a:solidFill>
                <a:effectLst/>
              </a:rPr>
              <a:t>(though females have higher neuronal density).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smtClean="0">
                <a:ln>
                  <a:noFill/>
                </a:ln>
                <a:solidFill>
                  <a:schemeClr val="tx1"/>
                </a:solidFill>
                <a:effectLst/>
              </a:rPr>
              <a:t>Hormones: Prenatal testosterone exposure predicts better spatial skills and male-typical play; </a:t>
            </a:r>
          </a:p>
          <a:p>
            <a:pPr marL="0" marR="0" lvl="0" indent="0" algn="l" defTabSz="914400" rtl="0" eaLnBrk="0" fontAlgn="base" latinLnBrk="0" hangingPunct="0">
              <a:lnSpc>
                <a:spcPct val="100000"/>
              </a:lnSpc>
              <a:spcBef>
                <a:spcPct val="0"/>
              </a:spcBef>
              <a:spcAft>
                <a:spcPct val="0"/>
              </a:spcAft>
              <a:buClrTx/>
              <a:buSzTx/>
              <a:buNone/>
            </a:pPr>
            <a:r>
              <a:rPr kumimoji="0" lang="en-US" altLang="en-US" sz="1800" b="0" i="0" u="none" strike="noStrike" cap="none" normalizeH="0" baseline="0" dirty="0" smtClean="0">
                <a:ln>
                  <a:noFill/>
                </a:ln>
                <a:solidFill>
                  <a:schemeClr val="tx1"/>
                </a:solidFill>
                <a:effectLst/>
              </a:rPr>
              <a:t>estrogen supports verbal memory.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smtClean="0">
                <a:ln>
                  <a:noFill/>
                </a:ln>
                <a:solidFill>
                  <a:schemeClr val="tx1"/>
                </a:solidFill>
                <a:effectLst/>
              </a:rPr>
              <a:t>Evolution: Hunter-gatherer hypothesis posits male spatial edges from navigation/hunting; </a:t>
            </a:r>
          </a:p>
          <a:p>
            <a:pPr marL="0" marR="0" lvl="0" indent="0" algn="l" defTabSz="914400" rtl="0" eaLnBrk="0" fontAlgn="base" latinLnBrk="0" hangingPunct="0">
              <a:lnSpc>
                <a:spcPct val="100000"/>
              </a:lnSpc>
              <a:spcBef>
                <a:spcPct val="0"/>
              </a:spcBef>
              <a:spcAft>
                <a:spcPct val="0"/>
              </a:spcAft>
              <a:buClrTx/>
              <a:buSzTx/>
              <a:buNone/>
            </a:pPr>
            <a:r>
              <a:rPr kumimoji="0" lang="en-US" altLang="en-US" sz="1800" b="0" i="0" u="none" strike="noStrike" cap="none" normalizeH="0" baseline="0" dirty="0" smtClean="0">
                <a:ln>
                  <a:noFill/>
                </a:ln>
                <a:solidFill>
                  <a:schemeClr val="tx1"/>
                </a:solidFill>
                <a:effectLst/>
              </a:rPr>
              <a:t>female verbal from social/child-rearing roles (supported by cross-cultural consistency). </a:t>
            </a:r>
          </a:p>
          <a:p>
            <a:pPr marL="0" marR="0" lvl="0" indent="0" algn="l" defTabSz="914400" rtl="0" eaLnBrk="0" fontAlgn="base" latinLnBrk="0" hangingPunct="0">
              <a:lnSpc>
                <a:spcPct val="100000"/>
              </a:lnSpc>
              <a:spcBef>
                <a:spcPct val="0"/>
              </a:spcBef>
              <a:spcAft>
                <a:spcPct val="0"/>
              </a:spcAft>
              <a:buClrTx/>
              <a:buSzTx/>
              <a:buNone/>
            </a:pPr>
            <a:endParaRPr kumimoji="0" lang="en-US" altLang="en-US" sz="18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pPr>
            <a:r>
              <a:rPr kumimoji="0" lang="en-US" altLang="en-US" sz="1800" b="1" i="0" u="none" strike="noStrike" cap="none" normalizeH="0" baseline="0" dirty="0" smtClean="0">
                <a:ln>
                  <a:noFill/>
                </a:ln>
                <a:solidFill>
                  <a:schemeClr val="tx1"/>
                </a:solidFill>
                <a:effectLst/>
              </a:rPr>
              <a:t>Environmental</a:t>
            </a:r>
            <a:r>
              <a:rPr kumimoji="0" lang="en-US" altLang="en-US" sz="18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smtClean="0">
                <a:ln>
                  <a:noFill/>
                </a:ln>
                <a:solidFill>
                  <a:schemeClr val="tx1"/>
                </a:solidFill>
                <a:effectLst/>
              </a:rPr>
              <a:t>Socialization: Girls encouraged in language arts, boys in STEM toys (e.g., LEGO studies show early gaps).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smtClean="0">
                <a:ln>
                  <a:noFill/>
                </a:ln>
                <a:solidFill>
                  <a:schemeClr val="tx1"/>
                </a:solidFill>
                <a:effectLst/>
              </a:rPr>
              <a:t>Education: Gaps narrow in gender-equal societies (e.g., PISA data from Nordic countries), but high-end math differences persist. </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smtClean="0">
                <a:ln>
                  <a:noFill/>
                </a:ln>
                <a:solidFill>
                  <a:schemeClr val="tx1"/>
                </a:solidFill>
                <a:effectLst/>
              </a:rPr>
              <a:t>Gender differentiated toys</a:t>
            </a:r>
          </a:p>
          <a:p>
            <a:pPr marL="0" marR="0" lvl="0" indent="0" algn="l" defTabSz="914400" rtl="0" eaLnBrk="0" fontAlgn="base" latinLnBrk="0" hangingPunct="0">
              <a:lnSpc>
                <a:spcPct val="100000"/>
              </a:lnSpc>
              <a:spcBef>
                <a:spcPct val="0"/>
              </a:spcBef>
              <a:spcAft>
                <a:spcPct val="0"/>
              </a:spcAft>
              <a:buClrTx/>
              <a:buSzTx/>
              <a:buNone/>
            </a:pPr>
            <a:endParaRPr kumimoji="0" lang="en-US" altLang="en-US" sz="1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smtClean="0">
              <a:ln>
                <a:noFill/>
              </a:ln>
              <a:solidFill>
                <a:schemeClr val="tx1"/>
              </a:solidFill>
              <a:effectLst/>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Gender differences in </a:t>
            </a:r>
            <a:r>
              <a:rPr lang="en-US" dirty="0" err="1" smtClean="0"/>
              <a:t>iq</a:t>
            </a:r>
            <a:r>
              <a:rPr lang="en-US" dirty="0" smtClean="0"/>
              <a:t> - race</a:t>
            </a:r>
            <a:endParaRPr lang="en-US" dirty="0"/>
          </a:p>
        </p:txBody>
      </p:sp>
      <p:sp>
        <p:nvSpPr>
          <p:cNvPr id="3" name="Content Placeholder 2"/>
          <p:cNvSpPr>
            <a:spLocks noGrp="1"/>
          </p:cNvSpPr>
          <p:nvPr>
            <p:ph idx="1"/>
          </p:nvPr>
        </p:nvSpPr>
        <p:spPr/>
        <p:txBody>
          <a:bodyPr/>
          <a:lstStyle/>
          <a:p>
            <a:pPr>
              <a:lnSpc>
                <a:spcPct val="80000"/>
              </a:lnSpc>
            </a:pPr>
            <a:r>
              <a:rPr lang="en-GB" altLang="tr-TR" sz="2000" dirty="0"/>
              <a:t>A number of studies (based in USA) have reported that some racial groups differ in intelligence</a:t>
            </a:r>
          </a:p>
          <a:p>
            <a:pPr>
              <a:lnSpc>
                <a:spcPct val="80000"/>
              </a:lnSpc>
            </a:pPr>
            <a:r>
              <a:rPr lang="en-GB" altLang="tr-TR" sz="2000" dirty="0"/>
              <a:t>Jensen (1969) suggested that white children were more intelligent than black children, and Asian children were more intelligent than either. He claimed that such differences were </a:t>
            </a:r>
            <a:r>
              <a:rPr lang="en-GB" altLang="tr-TR" sz="2000" b="1" dirty="0"/>
              <a:t>largely due to genetic factors</a:t>
            </a:r>
          </a:p>
          <a:p>
            <a:pPr>
              <a:lnSpc>
                <a:spcPct val="80000"/>
              </a:lnSpc>
            </a:pPr>
            <a:r>
              <a:rPr lang="en-GB" altLang="tr-TR" sz="2000" dirty="0"/>
              <a:t>Herrnstein and Murray published </a:t>
            </a:r>
            <a:r>
              <a:rPr lang="en-GB" altLang="tr-TR" sz="2000" i="1" dirty="0"/>
              <a:t>The Bell Curve </a:t>
            </a:r>
            <a:r>
              <a:rPr lang="en-GB" altLang="tr-TR" sz="2000" dirty="0"/>
              <a:t>(1994), suggesting a difference of one standard deviation between mean IQ scores of Blacks (mean = 85) and Whites (mean = 100) in USA</a:t>
            </a:r>
          </a:p>
          <a:p>
            <a:pPr>
              <a:lnSpc>
                <a:spcPct val="80000"/>
              </a:lnSpc>
            </a:pPr>
            <a:r>
              <a:rPr lang="en-GB" altLang="tr-TR" sz="2000" dirty="0"/>
              <a:t>Herrnstein and Murray further suggested that the </a:t>
            </a:r>
            <a:r>
              <a:rPr lang="en-GB" altLang="tr-TR" sz="2000" b="1" dirty="0"/>
              <a:t>differences are genetic in origin</a:t>
            </a:r>
          </a:p>
          <a:p>
            <a:endParaRPr lang="en-US" sz="20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Gender differences in </a:t>
            </a:r>
            <a:r>
              <a:rPr lang="en-US" dirty="0" err="1"/>
              <a:t>iq</a:t>
            </a:r>
            <a:r>
              <a:rPr lang="en-US" dirty="0"/>
              <a:t> - race</a:t>
            </a:r>
          </a:p>
        </p:txBody>
      </p:sp>
      <p:sp>
        <p:nvSpPr>
          <p:cNvPr id="3" name="Content Placeholder 2"/>
          <p:cNvSpPr>
            <a:spLocks noGrp="1"/>
          </p:cNvSpPr>
          <p:nvPr>
            <p:ph idx="1"/>
          </p:nvPr>
        </p:nvSpPr>
        <p:spPr>
          <a:xfrm>
            <a:off x="581192" y="2340864"/>
            <a:ext cx="5101761" cy="3634486"/>
          </a:xfrm>
        </p:spPr>
        <p:txBody>
          <a:bodyPr/>
          <a:lstStyle/>
          <a:p>
            <a:pPr>
              <a:lnSpc>
                <a:spcPct val="90000"/>
              </a:lnSpc>
            </a:pPr>
            <a:r>
              <a:rPr lang="en-GB" altLang="tr-TR" sz="2000" dirty="0"/>
              <a:t>American Psychological Association assembled a task force to investigate Herrnstein and Murray’s findings (see handout </a:t>
            </a:r>
            <a:r>
              <a:rPr lang="en-GB" altLang="tr-TR" sz="2000" dirty="0" err="1"/>
              <a:t>Neisser</a:t>
            </a:r>
            <a:r>
              <a:rPr lang="en-GB" altLang="tr-TR" sz="2000" dirty="0"/>
              <a:t> et al., 1996)</a:t>
            </a:r>
          </a:p>
          <a:p>
            <a:pPr>
              <a:lnSpc>
                <a:spcPct val="90000"/>
              </a:lnSpc>
            </a:pPr>
            <a:r>
              <a:rPr lang="en-GB" altLang="tr-TR" sz="2000" dirty="0"/>
              <a:t>Task force agreed that there were differences between average IQ scores of African Americans and white Americans, but suggest that differences may be due to </a:t>
            </a:r>
            <a:r>
              <a:rPr lang="en-GB" altLang="tr-TR" sz="2000" b="1" dirty="0"/>
              <a:t>cultural factors. </a:t>
            </a:r>
          </a:p>
          <a:p>
            <a:endParaRPr lang="en-US" sz="2000"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5936" y="2452643"/>
            <a:ext cx="3982341" cy="3443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why?</a:t>
            </a:r>
          </a:p>
        </p:txBody>
      </p:sp>
      <p:sp>
        <p:nvSpPr>
          <p:cNvPr id="3" name="Content Placeholder 2"/>
          <p:cNvSpPr>
            <a:spLocks noGrp="1"/>
          </p:cNvSpPr>
          <p:nvPr>
            <p:ph idx="1"/>
          </p:nvPr>
        </p:nvSpPr>
        <p:spPr/>
        <p:txBody>
          <a:bodyPr/>
          <a:lstStyle/>
          <a:p>
            <a:r>
              <a:rPr lang="en-GB" altLang="tr-TR" sz="2000" dirty="0"/>
              <a:t>Three possible explanations for race difference on IQ scores</a:t>
            </a:r>
          </a:p>
          <a:p>
            <a:pPr lvl="1"/>
            <a:r>
              <a:rPr lang="en-GB" altLang="tr-TR" sz="2000" dirty="0">
                <a:solidFill>
                  <a:schemeClr val="tx1"/>
                </a:solidFill>
              </a:rPr>
              <a:t>Test bias </a:t>
            </a:r>
          </a:p>
          <a:p>
            <a:pPr lvl="1"/>
            <a:r>
              <a:rPr lang="en-GB" altLang="tr-TR" sz="2000" dirty="0">
                <a:solidFill>
                  <a:schemeClr val="tx1"/>
                </a:solidFill>
              </a:rPr>
              <a:t>Genetics</a:t>
            </a:r>
          </a:p>
          <a:p>
            <a:pPr lvl="1"/>
            <a:r>
              <a:rPr lang="en-GB" altLang="tr-TR" sz="2000" dirty="0">
                <a:solidFill>
                  <a:schemeClr val="tx1"/>
                </a:solidFill>
              </a:rPr>
              <a:t>Environment</a:t>
            </a:r>
          </a:p>
          <a:p>
            <a:endParaRPr lang="en-US" sz="20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 bias</a:t>
            </a:r>
            <a:endParaRPr lang="en-US" dirty="0"/>
          </a:p>
        </p:txBody>
      </p:sp>
      <p:sp>
        <p:nvSpPr>
          <p:cNvPr id="3" name="Content Placeholder 2"/>
          <p:cNvSpPr>
            <a:spLocks noGrp="1"/>
          </p:cNvSpPr>
          <p:nvPr>
            <p:ph idx="1"/>
          </p:nvPr>
        </p:nvSpPr>
        <p:spPr/>
        <p:txBody>
          <a:bodyPr/>
          <a:lstStyle/>
          <a:p>
            <a:r>
              <a:rPr lang="en-US" dirty="0"/>
              <a:t>This explanation posits that IQ tests are not neutral but reflect the cultural knowledge, language, and experiences of the dominant group (typically White, middle-class Americans), disadvantaging minority groups. Differences in scores, therefore, do not measure true intelligence but familiarity with test content.</a:t>
            </a:r>
          </a:p>
          <a:p>
            <a:endParaRPr lang="en-US" dirty="0"/>
          </a:p>
        </p:txBody>
      </p:sp>
    </p:spTree>
    <p:extLst>
      <p:ext uri="{BB962C8B-B14F-4D97-AF65-F5344CB8AC3E}">
        <p14:creationId xmlns:p14="http://schemas.microsoft.com/office/powerpoint/2010/main" val="39107513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genetics</a:t>
            </a:r>
            <a:endParaRPr lang="en-US" dirty="0"/>
          </a:p>
        </p:txBody>
      </p:sp>
      <p:sp>
        <p:nvSpPr>
          <p:cNvPr id="3" name="Content Placeholder 2"/>
          <p:cNvSpPr>
            <a:spLocks noGrp="1"/>
          </p:cNvSpPr>
          <p:nvPr>
            <p:ph idx="1"/>
          </p:nvPr>
        </p:nvSpPr>
        <p:spPr/>
        <p:txBody>
          <a:bodyPr/>
          <a:lstStyle/>
          <a:p>
            <a:r>
              <a:rPr lang="en-US" dirty="0"/>
              <a:t>This view argues that racial groups have evolved genetic differences in cognitive abilities due to historical selection pressures (e.g., climate, migration), leading to inherent IQ disparities</a:t>
            </a:r>
          </a:p>
          <a:p>
            <a:r>
              <a:rPr lang="en-US" dirty="0"/>
              <a:t>Race is primarily a social construct, not a biological one; </a:t>
            </a:r>
            <a:r>
              <a:rPr lang="en-US" dirty="0" smtClean="0"/>
              <a:t>No </a:t>
            </a:r>
            <a:r>
              <a:rPr lang="en-US" dirty="0"/>
              <a:t>genes for "intelligence" have been identified that differ systematically by race</a:t>
            </a:r>
            <a:r>
              <a:rPr lang="en-US" dirty="0" smtClean="0"/>
              <a:t>.</a:t>
            </a:r>
          </a:p>
          <a:p>
            <a:r>
              <a:rPr lang="en-US" dirty="0" err="1"/>
              <a:t>Nisbett</a:t>
            </a:r>
            <a:r>
              <a:rPr lang="en-US" dirty="0"/>
              <a:t>, R. E., et al. (2012). "Intelligence: New findings and theoretical developments." American Psychologist, 67(6), 503–504.</a:t>
            </a:r>
          </a:p>
          <a:p>
            <a:pPr marL="0" indent="0">
              <a:buNone/>
            </a:pPr>
            <a:endParaRPr lang="en-US" dirty="0"/>
          </a:p>
          <a:p>
            <a:endParaRPr lang="en-US" dirty="0"/>
          </a:p>
        </p:txBody>
      </p:sp>
    </p:spTree>
    <p:extLst>
      <p:ext uri="{BB962C8B-B14F-4D97-AF65-F5344CB8AC3E}">
        <p14:creationId xmlns:p14="http://schemas.microsoft.com/office/powerpoint/2010/main" val="40280763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environment</a:t>
            </a:r>
            <a:endParaRPr lang="en-US" dirty="0"/>
          </a:p>
        </p:txBody>
      </p:sp>
      <p:sp>
        <p:nvSpPr>
          <p:cNvPr id="3" name="Content Placeholder 2"/>
          <p:cNvSpPr>
            <a:spLocks noGrp="1"/>
          </p:cNvSpPr>
          <p:nvPr>
            <p:ph idx="1"/>
          </p:nvPr>
        </p:nvSpPr>
        <p:spPr/>
        <p:txBody>
          <a:bodyPr/>
          <a:lstStyle/>
          <a:p>
            <a:r>
              <a:rPr lang="en-US" dirty="0"/>
              <a:t>This dominant explanation attributes gaps to unequal access to resources, education, health, and opportunity, which shape cognitive development from prenatal stages onward. Racial categories proxy for systemic inequities (e.g., racism, poverty).</a:t>
            </a:r>
          </a:p>
          <a:p>
            <a:r>
              <a:rPr lang="en-US" b="1" dirty="0"/>
              <a:t>While all three explanations have been proposed, the overwhelming scientific consensus </a:t>
            </a:r>
            <a:r>
              <a:rPr lang="en-US" b="1" dirty="0" smtClean="0"/>
              <a:t>is </a:t>
            </a:r>
            <a:r>
              <a:rPr lang="en-US" b="1" dirty="0"/>
              <a:t>that environmental factors, compounded by historical and ongoing inequities, account for nearly all racial IQ </a:t>
            </a:r>
            <a:r>
              <a:rPr lang="en-US" b="1" dirty="0" smtClean="0"/>
              <a:t>differences.</a:t>
            </a:r>
            <a:endParaRPr lang="en-US" b="1" dirty="0"/>
          </a:p>
          <a:p>
            <a:endParaRPr lang="en-US" dirty="0"/>
          </a:p>
        </p:txBody>
      </p:sp>
    </p:spTree>
    <p:extLst>
      <p:ext uri="{BB962C8B-B14F-4D97-AF65-F5344CB8AC3E}">
        <p14:creationId xmlns:p14="http://schemas.microsoft.com/office/powerpoint/2010/main" val="29378883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Flynn effect</a:t>
            </a:r>
            <a:endParaRPr lang="en-US" dirty="0"/>
          </a:p>
        </p:txBody>
      </p:sp>
      <p:sp>
        <p:nvSpPr>
          <p:cNvPr id="3" name="Content Placeholder 2"/>
          <p:cNvSpPr>
            <a:spLocks noGrp="1"/>
          </p:cNvSpPr>
          <p:nvPr>
            <p:ph idx="1"/>
          </p:nvPr>
        </p:nvSpPr>
        <p:spPr>
          <a:xfrm>
            <a:off x="581192" y="2340864"/>
            <a:ext cx="6033253" cy="3634486"/>
          </a:xfrm>
        </p:spPr>
        <p:txBody>
          <a:bodyPr/>
          <a:lstStyle/>
          <a:p>
            <a:r>
              <a:rPr lang="en-US" altLang="tr-TR" sz="2000" dirty="0"/>
              <a:t>IQ has increased over time, on average around 3 IQ points per decade</a:t>
            </a:r>
          </a:p>
          <a:p>
            <a:r>
              <a:rPr lang="en-US" sz="2000" dirty="0"/>
              <a:t>Largest gains in fluid intelligence (reasoning, pattern recognition—e.g., Raven’s Matrices), not crystallized (vocabulary, facts).</a:t>
            </a:r>
          </a:p>
          <a:p>
            <a:r>
              <a:rPr lang="en-US" sz="2000" dirty="0"/>
              <a:t>Observed in &gt;30 countries, including developing nations.</a:t>
            </a:r>
          </a:p>
          <a:p>
            <a:r>
              <a:rPr lang="en-US" sz="2000" dirty="0"/>
              <a:t>Slowing or reversing in some developed nations (Norway, Denmark, UK) since the late 1990s.</a:t>
            </a:r>
          </a:p>
          <a:p>
            <a:endParaRPr lang="en-US" sz="2000" dirty="0"/>
          </a:p>
        </p:txBody>
      </p:sp>
      <p:pic>
        <p:nvPicPr>
          <p:cNvPr id="5" name="Picture 4" descr="http://web.uvic.ca/%7Elalonde/psyc335/notes/images/flyn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712" y="1774825"/>
            <a:ext cx="5332576" cy="420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302762" y="906062"/>
            <a:ext cx="7620660" cy="5712447"/>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47686" y="1255587"/>
            <a:ext cx="7896578" cy="4346825"/>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23603" y="877603"/>
            <a:ext cx="9144793" cy="5102794"/>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a:t>
            </a:r>
            <a:endParaRPr lang="en-US" dirty="0"/>
          </a:p>
        </p:txBody>
      </p:sp>
      <p:sp>
        <p:nvSpPr>
          <p:cNvPr id="3" name="Content Placeholder 2"/>
          <p:cNvSpPr>
            <a:spLocks noGrp="1"/>
          </p:cNvSpPr>
          <p:nvPr>
            <p:ph idx="1"/>
          </p:nvPr>
        </p:nvSpPr>
        <p:spPr/>
        <p:txBody>
          <a:bodyPr/>
          <a:lstStyle/>
          <a:p>
            <a:r>
              <a:rPr lang="en-US" sz="2000" dirty="0" smtClean="0"/>
              <a:t>Nutrition: Better </a:t>
            </a:r>
            <a:r>
              <a:rPr lang="en-US" sz="2000" dirty="0"/>
              <a:t>prenatal and childhood nutrition → brain </a:t>
            </a:r>
            <a:r>
              <a:rPr lang="en-US" sz="2000" dirty="0" smtClean="0"/>
              <a:t>growth</a:t>
            </a:r>
          </a:p>
          <a:p>
            <a:r>
              <a:rPr lang="en-US" sz="2000" dirty="0" smtClean="0"/>
              <a:t>Education: Longer </a:t>
            </a:r>
            <a:r>
              <a:rPr lang="en-US" sz="2000" dirty="0"/>
              <a:t>schooling, abstract thinking </a:t>
            </a:r>
            <a:r>
              <a:rPr lang="en-US" sz="2000" dirty="0" smtClean="0"/>
              <a:t>training</a:t>
            </a:r>
          </a:p>
          <a:p>
            <a:r>
              <a:rPr lang="en-US" sz="2000" dirty="0"/>
              <a:t>Cognitive </a:t>
            </a:r>
            <a:r>
              <a:rPr lang="en-US" sz="2000" dirty="0" smtClean="0"/>
              <a:t>Stimulation: TV</a:t>
            </a:r>
            <a:r>
              <a:rPr lang="en-US" sz="2000" dirty="0"/>
              <a:t>, puzzles, video games, </a:t>
            </a:r>
            <a:r>
              <a:rPr lang="en-US" sz="2000" dirty="0" smtClean="0"/>
              <a:t>VR</a:t>
            </a:r>
          </a:p>
          <a:p>
            <a:r>
              <a:rPr lang="en-US" sz="2000" dirty="0"/>
              <a:t>Smaller </a:t>
            </a:r>
            <a:r>
              <a:rPr lang="en-US" sz="2000" dirty="0" smtClean="0"/>
              <a:t>families: More </a:t>
            </a:r>
            <a:r>
              <a:rPr lang="en-US" sz="2000" dirty="0"/>
              <a:t>parental attention per </a:t>
            </a:r>
            <a:r>
              <a:rPr lang="en-US" sz="2000" dirty="0" smtClean="0"/>
              <a:t>child</a:t>
            </a:r>
          </a:p>
          <a:p>
            <a:r>
              <a:rPr lang="en-US" sz="2000" dirty="0"/>
              <a:t>Test </a:t>
            </a:r>
            <a:r>
              <a:rPr lang="en-US" sz="2000" dirty="0" smtClean="0"/>
              <a:t>familiarity: Practice </a:t>
            </a:r>
            <a:r>
              <a:rPr lang="en-US" sz="2000" dirty="0"/>
              <a:t>with multiple-choice, abstract problems</a:t>
            </a:r>
          </a:p>
          <a:p>
            <a:endParaRPr lang="en-US" sz="2000" dirty="0"/>
          </a:p>
          <a:p>
            <a:endParaRPr lang="en-US" sz="2000" dirty="0"/>
          </a:p>
          <a:p>
            <a:endParaRPr lang="en-US" sz="2000" dirty="0">
              <a:effectLst/>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Heredity or environment?</a:t>
            </a:r>
            <a:endParaRPr lang="en-US" dirty="0"/>
          </a:p>
        </p:txBody>
      </p:sp>
      <p:sp>
        <p:nvSpPr>
          <p:cNvPr id="3" name="Content Placeholder 2"/>
          <p:cNvSpPr>
            <a:spLocks noGrp="1"/>
          </p:cNvSpPr>
          <p:nvPr>
            <p:ph idx="1"/>
          </p:nvPr>
        </p:nvSpPr>
        <p:spPr/>
        <p:txBody>
          <a:bodyPr>
            <a:noAutofit/>
          </a:bodyPr>
          <a:lstStyle/>
          <a:p>
            <a:r>
              <a:rPr lang="en-US" sz="2000" dirty="0"/>
              <a:t>B</a:t>
            </a:r>
            <a:r>
              <a:rPr lang="en-US" sz="2000" dirty="0" smtClean="0"/>
              <a:t>oth </a:t>
            </a:r>
            <a:r>
              <a:rPr lang="en-US" sz="2000" dirty="0"/>
              <a:t>heredity and environment contribute </a:t>
            </a:r>
            <a:r>
              <a:rPr lang="en-US" sz="2000" dirty="0" smtClean="0"/>
              <a:t>to intelligence</a:t>
            </a:r>
            <a:endParaRPr lang="en-US" sz="2000" dirty="0"/>
          </a:p>
          <a:p>
            <a:r>
              <a:rPr lang="en-US" sz="2000" dirty="0"/>
              <a:t>H</a:t>
            </a:r>
            <a:r>
              <a:rPr lang="en-US" sz="2000" dirty="0" smtClean="0"/>
              <a:t>eredity </a:t>
            </a:r>
            <a:r>
              <a:rPr lang="en-US" sz="2000" dirty="0"/>
              <a:t>and environment interact in various </a:t>
            </a:r>
            <a:r>
              <a:rPr lang="en-US" sz="2000" dirty="0" smtClean="0"/>
              <a:t>ways</a:t>
            </a:r>
          </a:p>
          <a:p>
            <a:r>
              <a:rPr lang="en-US" sz="2000" dirty="0"/>
              <a:t>As people’s genetic similarity increases, generally </a:t>
            </a:r>
            <a:r>
              <a:rPr lang="en-US" sz="2000" dirty="0" smtClean="0"/>
              <a:t>so does </a:t>
            </a:r>
            <a:r>
              <a:rPr lang="en-US" sz="2000" dirty="0"/>
              <a:t>the similarity of their environments. This </a:t>
            </a:r>
            <a:r>
              <a:rPr lang="en-US" sz="2000" dirty="0" smtClean="0"/>
              <a:t>can be </a:t>
            </a:r>
            <a:r>
              <a:rPr lang="en-US" sz="2000" dirty="0"/>
              <a:t>overcome by comparing the IQs of </a:t>
            </a:r>
            <a:r>
              <a:rPr lang="en-US" sz="2000" b="1" dirty="0" err="1" smtClean="0"/>
              <a:t>Monozygotics</a:t>
            </a:r>
            <a:r>
              <a:rPr lang="en-US" sz="2000" b="1" dirty="0" smtClean="0"/>
              <a:t> reared together </a:t>
            </a:r>
            <a:r>
              <a:rPr lang="en-US" sz="2000" b="1" dirty="0"/>
              <a:t>with those raised </a:t>
            </a:r>
            <a:r>
              <a:rPr lang="en-US" sz="2000" b="1" dirty="0" smtClean="0"/>
              <a:t>apart</a:t>
            </a:r>
            <a:r>
              <a:rPr lang="en-US" sz="2000" dirty="0" smtClean="0"/>
              <a:t>.</a:t>
            </a:r>
            <a:endParaRPr lang="en-US" sz="2000" dirty="0"/>
          </a:p>
          <a:p>
            <a:r>
              <a:rPr lang="en-US" sz="2000" dirty="0" err="1" smtClean="0"/>
              <a:t>MZsRA</a:t>
            </a:r>
            <a:r>
              <a:rPr lang="en-US" sz="2000" dirty="0" smtClean="0"/>
              <a:t> </a:t>
            </a:r>
            <a:r>
              <a:rPr lang="en-US" sz="2000" dirty="0"/>
              <a:t>are still more similar than same-sex </a:t>
            </a:r>
            <a:r>
              <a:rPr lang="en-US" sz="2000" dirty="0" err="1" smtClean="0"/>
              <a:t>Dizygotics</a:t>
            </a:r>
            <a:r>
              <a:rPr lang="en-US" sz="2000" dirty="0" smtClean="0"/>
              <a:t> reared together</a:t>
            </a:r>
            <a:r>
              <a:rPr lang="en-US" sz="2000" dirty="0"/>
              <a:t>, suggesting a strong genetic influence.</a:t>
            </a:r>
          </a:p>
          <a:p>
            <a:pPr lvl="1"/>
            <a:r>
              <a:rPr lang="en-US" sz="2000" dirty="0">
                <a:solidFill>
                  <a:schemeClr val="tx1"/>
                </a:solidFill>
              </a:rPr>
              <a:t>However, studies of </a:t>
            </a:r>
            <a:r>
              <a:rPr lang="en-US" sz="2000" dirty="0" err="1">
                <a:solidFill>
                  <a:schemeClr val="tx1"/>
                </a:solidFill>
              </a:rPr>
              <a:t>MZsRA</a:t>
            </a:r>
            <a:r>
              <a:rPr lang="en-US" sz="2000" dirty="0">
                <a:solidFill>
                  <a:schemeClr val="tx1"/>
                </a:solidFill>
              </a:rPr>
              <a:t> have been </a:t>
            </a:r>
            <a:r>
              <a:rPr lang="en-US" sz="2000" dirty="0" smtClean="0">
                <a:solidFill>
                  <a:schemeClr val="tx1"/>
                </a:solidFill>
              </a:rPr>
              <a:t>criticized on several </a:t>
            </a:r>
            <a:r>
              <a:rPr lang="en-US" sz="2000" dirty="0">
                <a:solidFill>
                  <a:schemeClr val="tx1"/>
                </a:solidFill>
              </a:rPr>
              <a:t>important </a:t>
            </a:r>
            <a:r>
              <a:rPr lang="en-US" sz="2000" b="1" dirty="0">
                <a:solidFill>
                  <a:schemeClr val="tx1"/>
                </a:solidFill>
              </a:rPr>
              <a:t>methodological grounds</a:t>
            </a:r>
            <a:r>
              <a:rPr lang="en-US" sz="2000" dirty="0" smtClean="0">
                <a:solidFill>
                  <a:schemeClr val="tx1"/>
                </a:solidFill>
              </a:rPr>
              <a:t>.</a:t>
            </a:r>
          </a:p>
          <a:p>
            <a:r>
              <a:rPr lang="en-US" sz="2000" dirty="0"/>
              <a:t>Further support for the influence of genetic </a:t>
            </a:r>
            <a:r>
              <a:rPr lang="en-US" sz="2000" dirty="0" smtClean="0"/>
              <a:t>factors comes </a:t>
            </a:r>
            <a:r>
              <a:rPr lang="en-US" sz="2000" dirty="0"/>
              <a:t>from </a:t>
            </a:r>
            <a:r>
              <a:rPr lang="en-US" sz="2000" b="1" dirty="0"/>
              <a:t>adoption studies</a:t>
            </a:r>
            <a:r>
              <a:rPr lang="en-US" sz="2000" dirty="0"/>
              <a:t>. But when </a:t>
            </a:r>
            <a:r>
              <a:rPr lang="en-US" sz="2000" dirty="0" smtClean="0"/>
              <a:t>children from </a:t>
            </a:r>
            <a:r>
              <a:rPr lang="en-US" sz="2000" dirty="0"/>
              <a:t>disadvantaged parents are adopted into </a:t>
            </a:r>
            <a:r>
              <a:rPr lang="en-US" sz="2000" dirty="0" smtClean="0"/>
              <a:t>high SES </a:t>
            </a:r>
            <a:r>
              <a:rPr lang="en-US" sz="2000" dirty="0"/>
              <a:t>families, substantial gains in IQ </a:t>
            </a:r>
            <a:r>
              <a:rPr lang="en-US" sz="2000" dirty="0" smtClean="0"/>
              <a:t>can occur</a:t>
            </a:r>
            <a:r>
              <a:rPr lang="en-US" sz="2000" dirty="0"/>
              <a:t>.</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50905" y="737182"/>
            <a:ext cx="7154026" cy="5998934"/>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Lecture summary</a:t>
            </a:r>
            <a:endParaRPr lang="en-US" dirty="0"/>
          </a:p>
        </p:txBody>
      </p:sp>
      <p:sp>
        <p:nvSpPr>
          <p:cNvPr id="3" name="Content Placeholder 2"/>
          <p:cNvSpPr>
            <a:spLocks noGrp="1"/>
          </p:cNvSpPr>
          <p:nvPr>
            <p:ph idx="1"/>
          </p:nvPr>
        </p:nvSpPr>
        <p:spPr>
          <a:xfrm>
            <a:off x="581025" y="2056765"/>
            <a:ext cx="11029315" cy="4446905"/>
          </a:xfrm>
        </p:spPr>
        <p:txBody>
          <a:bodyPr>
            <a:normAutofit fontScale="90000"/>
          </a:bodyPr>
          <a:lstStyle/>
          <a:p>
            <a:r>
              <a:rPr lang="en-US" sz="1700" dirty="0" smtClean="0">
                <a:sym typeface="+mn-ea"/>
              </a:rPr>
              <a:t>Defin</a:t>
            </a:r>
            <a:r>
              <a:rPr lang="en-GB" altLang="en-US" sz="1700" dirty="0" smtClean="0">
                <a:sym typeface="+mn-ea"/>
              </a:rPr>
              <a:t>ition of </a:t>
            </a:r>
            <a:r>
              <a:rPr lang="en-US" sz="1700" dirty="0" smtClean="0">
                <a:sym typeface="+mn-ea"/>
              </a:rPr>
              <a:t>intelligence</a:t>
            </a:r>
            <a:endParaRPr lang="en-US" sz="1700" dirty="0" smtClean="0"/>
          </a:p>
          <a:p>
            <a:r>
              <a:rPr lang="en-US" sz="1700" dirty="0" smtClean="0">
                <a:sym typeface="+mn-ea"/>
              </a:rPr>
              <a:t>Theories of intelligence</a:t>
            </a:r>
            <a:endParaRPr lang="en-US" sz="1700" dirty="0" smtClean="0"/>
          </a:p>
          <a:p>
            <a:pPr lvl="1"/>
            <a:r>
              <a:rPr lang="en-US" sz="1700" dirty="0" smtClean="0">
                <a:solidFill>
                  <a:schemeClr val="tx1"/>
                </a:solidFill>
                <a:sym typeface="+mn-ea"/>
              </a:rPr>
              <a:t>Two-factor theory of Spearman</a:t>
            </a:r>
            <a:endParaRPr lang="en-US" sz="1700" dirty="0" smtClean="0">
              <a:solidFill>
                <a:schemeClr val="tx1"/>
              </a:solidFill>
            </a:endParaRPr>
          </a:p>
          <a:p>
            <a:pPr lvl="1"/>
            <a:r>
              <a:rPr lang="en-US" sz="1700" dirty="0" smtClean="0">
                <a:solidFill>
                  <a:schemeClr val="tx1"/>
                </a:solidFill>
                <a:sym typeface="+mn-ea"/>
              </a:rPr>
              <a:t>Fluid and Crystallized Intelligence theory of Cattell</a:t>
            </a:r>
            <a:endParaRPr lang="en-US" sz="1700" dirty="0" smtClean="0">
              <a:solidFill>
                <a:schemeClr val="tx1"/>
              </a:solidFill>
            </a:endParaRPr>
          </a:p>
          <a:p>
            <a:pPr lvl="1"/>
            <a:r>
              <a:rPr lang="en-US" sz="1700" dirty="0" smtClean="0">
                <a:solidFill>
                  <a:schemeClr val="tx1"/>
                </a:solidFill>
                <a:sym typeface="+mn-ea"/>
              </a:rPr>
              <a:t>Sternberg’s theory</a:t>
            </a:r>
            <a:endParaRPr lang="en-US" sz="1700" dirty="0" smtClean="0">
              <a:solidFill>
                <a:schemeClr val="tx1"/>
              </a:solidFill>
            </a:endParaRPr>
          </a:p>
          <a:p>
            <a:pPr lvl="1"/>
            <a:r>
              <a:rPr lang="en-US" sz="1700" dirty="0" smtClean="0">
                <a:solidFill>
                  <a:schemeClr val="tx1"/>
                </a:solidFill>
                <a:sym typeface="+mn-ea"/>
              </a:rPr>
              <a:t>Gardner’s theory</a:t>
            </a:r>
            <a:endParaRPr lang="en-US" sz="1700" dirty="0" smtClean="0">
              <a:solidFill>
                <a:schemeClr val="tx1"/>
              </a:solidFill>
            </a:endParaRPr>
          </a:p>
          <a:p>
            <a:r>
              <a:rPr lang="en-US" sz="1700" dirty="0" smtClean="0">
                <a:sym typeface="+mn-ea"/>
              </a:rPr>
              <a:t>Intelligence testing</a:t>
            </a:r>
            <a:endParaRPr lang="en-US" sz="1700" dirty="0" smtClean="0"/>
          </a:p>
          <a:p>
            <a:pPr lvl="1"/>
            <a:r>
              <a:rPr lang="en-US" sz="1700" dirty="0" err="1" smtClean="0">
                <a:solidFill>
                  <a:schemeClr val="tx1"/>
                </a:solidFill>
                <a:sym typeface="+mn-ea"/>
              </a:rPr>
              <a:t>Standford-Binet</a:t>
            </a:r>
            <a:r>
              <a:rPr lang="en-US" sz="1700" dirty="0" smtClean="0">
                <a:solidFill>
                  <a:schemeClr val="tx1"/>
                </a:solidFill>
                <a:sym typeface="+mn-ea"/>
              </a:rPr>
              <a:t> test</a:t>
            </a:r>
            <a:r>
              <a:rPr lang="en-GB" altLang="en-US" sz="1700" dirty="0" smtClean="0">
                <a:solidFill>
                  <a:schemeClr val="tx1"/>
                </a:solidFill>
                <a:sym typeface="+mn-ea"/>
              </a:rPr>
              <a:t> - first IQ test</a:t>
            </a:r>
            <a:endParaRPr lang="en-US" sz="1700" dirty="0" smtClean="0">
              <a:solidFill>
                <a:schemeClr val="tx1"/>
              </a:solidFill>
            </a:endParaRPr>
          </a:p>
          <a:p>
            <a:pPr lvl="1"/>
            <a:r>
              <a:rPr lang="en-US" sz="1700" dirty="0" smtClean="0">
                <a:solidFill>
                  <a:schemeClr val="tx1"/>
                </a:solidFill>
                <a:sym typeface="+mn-ea"/>
              </a:rPr>
              <a:t>Wechsler tests</a:t>
            </a:r>
            <a:r>
              <a:rPr lang="en-GB" altLang="en-US" sz="1700" dirty="0" smtClean="0">
                <a:solidFill>
                  <a:schemeClr val="tx1"/>
                </a:solidFill>
                <a:sym typeface="+mn-ea"/>
              </a:rPr>
              <a:t> - most widely used IQ test</a:t>
            </a:r>
            <a:endParaRPr lang="en-US" sz="1700" dirty="0" smtClean="0">
              <a:solidFill>
                <a:schemeClr val="tx1"/>
              </a:solidFill>
            </a:endParaRPr>
          </a:p>
          <a:p>
            <a:r>
              <a:rPr lang="en-US" sz="1700" dirty="0" smtClean="0">
                <a:sym typeface="+mn-ea"/>
              </a:rPr>
              <a:t>Gender differences in IQ</a:t>
            </a:r>
            <a:endParaRPr lang="en-US" sz="1700" dirty="0" smtClean="0"/>
          </a:p>
          <a:p>
            <a:r>
              <a:rPr lang="en-US" sz="1700" dirty="0" smtClean="0">
                <a:sym typeface="+mn-ea"/>
              </a:rPr>
              <a:t>Racial differences in IQ</a:t>
            </a:r>
            <a:endParaRPr lang="en-US" sz="1700" dirty="0" smtClean="0"/>
          </a:p>
          <a:p>
            <a:r>
              <a:rPr lang="en-US" sz="1700" dirty="0" smtClean="0">
                <a:sym typeface="+mn-ea"/>
              </a:rPr>
              <a:t>The Flynn Effect</a:t>
            </a:r>
            <a:endParaRPr lang="en-US" sz="1700" dirty="0" smtClean="0"/>
          </a:p>
          <a:p>
            <a:endParaRPr lang="en-US" dirty="0"/>
          </a:p>
        </p:txBody>
      </p:sp>
    </p:spTree>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Future forward</Template>
  <TotalTime>0</TotalTime>
  <Words>1537</Words>
  <Application>Microsoft Office PowerPoint</Application>
  <PresentationFormat>Widescreen</PresentationFormat>
  <Paragraphs>142</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Franklin Gothic Book</vt:lpstr>
      <vt:lpstr>Franklin Gothic Demi</vt:lpstr>
      <vt:lpstr>Wingdings 2</vt:lpstr>
      <vt:lpstr>DividendVTI</vt:lpstr>
      <vt:lpstr>PSYC100 GENERAL PSYCHOLOGY INTELLIGENCE</vt:lpstr>
      <vt:lpstr>Learning outcomes</vt:lpstr>
      <vt:lpstr>What is intelligence?</vt:lpstr>
      <vt:lpstr>“A very general mental capability that involves the ability to reason, plan, solve problems, think abstractly, comprehend complex ideas, learn quickly, and learn from experience.” </vt:lpstr>
      <vt:lpstr>Theories of intelligence</vt:lpstr>
      <vt:lpstr>Theories of intelligence (cont.)</vt:lpstr>
      <vt:lpstr>Theories of intelligence (cont.)</vt:lpstr>
      <vt:lpstr>Theories of intelligence (cont.)</vt:lpstr>
      <vt:lpstr>INTELLIGENCE TESTING</vt:lpstr>
      <vt:lpstr>The standford-binet test</vt:lpstr>
      <vt:lpstr>PowerPoint Presentation</vt:lpstr>
      <vt:lpstr>Army Alpha and Army Beta IQ Tests</vt:lpstr>
      <vt:lpstr>PowerPoint Presentation</vt:lpstr>
      <vt:lpstr>Wechsler tests</vt:lpstr>
      <vt:lpstr>Raven’s progressive matrices</vt:lpstr>
      <vt:lpstr>Gender differences in iq - gender</vt:lpstr>
      <vt:lpstr>Gender differences in iq</vt:lpstr>
      <vt:lpstr>Why?</vt:lpstr>
      <vt:lpstr>Gender differences in iq - race</vt:lpstr>
      <vt:lpstr>Gender differences in iq - race</vt:lpstr>
      <vt:lpstr>why?</vt:lpstr>
      <vt:lpstr>Test bias</vt:lpstr>
      <vt:lpstr>genetics</vt:lpstr>
      <vt:lpstr>environment</vt:lpstr>
      <vt:lpstr>The Flynn effect</vt:lpstr>
      <vt:lpstr>PowerPoint Presentation</vt:lpstr>
      <vt:lpstr>PowerPoint Presentation</vt:lpstr>
      <vt:lpstr>PowerPoint Presentation</vt:lpstr>
      <vt:lpstr>Why?</vt:lpstr>
      <vt:lpstr>Heredity or environment?</vt:lpstr>
      <vt:lpstr>PowerPoint Presentation</vt:lpstr>
      <vt:lpstr>Lecture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cp:revision>
  <dcterms:created xsi:type="dcterms:W3CDTF">2025-10-21T09:50:00Z</dcterms:created>
  <dcterms:modified xsi:type="dcterms:W3CDTF">2025-11-27T10:10:50Z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6B462C8A19CB4B0D8CB3807328E54CCB_12</vt:lpwstr>
  </property>
  <property fmtid="{D5CDD505-2E9C-101B-9397-08002B2CF9AE}" pid="3" name="KSOProductBuildVer">
    <vt:lpwstr>2057-12.2.0.23155</vt:lpwstr>
  </property>
</Properties>
</file>