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0" r:id="rId4"/>
    <p:sldId id="262" r:id="rId5"/>
    <p:sldId id="258" r:id="rId6"/>
    <p:sldId id="259" r:id="rId7"/>
    <p:sldId id="263" r:id="rId8"/>
    <p:sldId id="265" r:id="rId9"/>
    <p:sldId id="261" r:id="rId10"/>
    <p:sldId id="268" r:id="rId11"/>
    <p:sldId id="270" r:id="rId12"/>
    <p:sldId id="269" r:id="rId13"/>
    <p:sldId id="264" r:id="rId14"/>
    <p:sldId id="266" r:id="rId15"/>
    <p:sldId id="267" r:id="rId16"/>
    <p:sldId id="271" r:id="rId17"/>
    <p:sldId id="272" r:id="rId18"/>
    <p:sldId id="273" r:id="rId19"/>
    <p:sldId id="274" r:id="rId20"/>
    <p:sldId id="275" r:id="rId21"/>
    <p:sldId id="277" r:id="rId22"/>
    <p:sldId id="276" r:id="rId23"/>
    <p:sldId id="278" r:id="rId24"/>
    <p:sldId id="291" r:id="rId25"/>
    <p:sldId id="279" r:id="rId26"/>
    <p:sldId id="280" r:id="rId27"/>
    <p:sldId id="283" r:id="rId28"/>
    <p:sldId id="282" r:id="rId29"/>
    <p:sldId id="284" r:id="rId30"/>
    <p:sldId id="285" r:id="rId31"/>
    <p:sldId id="286" r:id="rId32"/>
    <p:sldId id="289" r:id="rId33"/>
    <p:sldId id="287" r:id="rId34"/>
    <p:sldId id="288"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261" autoAdjust="0"/>
  </p:normalViewPr>
  <p:slideViewPr>
    <p:cSldViewPr snapToGrid="0">
      <p:cViewPr varScale="1">
        <p:scale>
          <a:sx n="89" d="100"/>
          <a:sy n="89" d="100"/>
        </p:scale>
        <p:origin x="1350" y="84"/>
      </p:cViewPr>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19EB9A8-EFA8-47FC-9B0C-BC2CCC333D07}" type="doc">
      <dgm:prSet loTypeId="urn:microsoft.com/office/officeart/2008/layout/LinedList" loCatId="list" qsTypeId="urn:microsoft.com/office/officeart/2005/8/quickstyle/simple1#1" qsCatId="simple" csTypeId="urn:microsoft.com/office/officeart/2005/8/colors/colorful1#1" csCatId="colorful" phldr="1"/>
      <dgm:spPr/>
      <dgm:t>
        <a:bodyPr/>
        <a:lstStyle/>
        <a:p>
          <a:endParaRPr lang="en-US"/>
        </a:p>
      </dgm:t>
    </dgm:pt>
    <dgm:pt modelId="{CBB55D7C-73B3-4FCA-8221-D44C61D76F1E}">
      <dgm:prSet/>
      <dgm:spPr/>
      <dgm:t>
        <a:bodyPr/>
        <a:lstStyle/>
        <a:p>
          <a:r>
            <a:rPr lang="en-GB" dirty="0"/>
            <a:t>The Biopsychological approach</a:t>
          </a:r>
          <a:endParaRPr lang="en-US" dirty="0"/>
        </a:p>
      </dgm:t>
    </dgm:pt>
    <dgm:pt modelId="{93C4E5DE-D4E8-490B-B350-228DF9446143}" type="parTrans" cxnId="{6029511C-0879-4EC3-85FD-A0C078721782}">
      <dgm:prSet/>
      <dgm:spPr/>
      <dgm:t>
        <a:bodyPr/>
        <a:lstStyle/>
        <a:p>
          <a:endParaRPr lang="en-US"/>
        </a:p>
      </dgm:t>
    </dgm:pt>
    <dgm:pt modelId="{C596791D-6C35-498E-AC95-D92DFB3E699E}" type="sibTrans" cxnId="{6029511C-0879-4EC3-85FD-A0C078721782}">
      <dgm:prSet/>
      <dgm:spPr/>
      <dgm:t>
        <a:bodyPr/>
        <a:lstStyle/>
        <a:p>
          <a:endParaRPr lang="en-US"/>
        </a:p>
      </dgm:t>
    </dgm:pt>
    <dgm:pt modelId="{ED2C3FB1-626A-4BEA-8739-9C770BFC0556}">
      <dgm:prSet/>
      <dgm:spPr/>
      <dgm:t>
        <a:bodyPr/>
        <a:lstStyle/>
        <a:p>
          <a:r>
            <a:rPr lang="en-GB"/>
            <a:t>The Behaviourist approach</a:t>
          </a:r>
          <a:endParaRPr lang="en-US"/>
        </a:p>
      </dgm:t>
    </dgm:pt>
    <dgm:pt modelId="{19FC3ABE-205E-4C8D-9AC2-A1089F028235}" type="parTrans" cxnId="{CA22CB58-3CD2-449E-90F5-8CB43EF5FC19}">
      <dgm:prSet/>
      <dgm:spPr/>
      <dgm:t>
        <a:bodyPr/>
        <a:lstStyle/>
        <a:p>
          <a:endParaRPr lang="en-US"/>
        </a:p>
      </dgm:t>
    </dgm:pt>
    <dgm:pt modelId="{881394DC-EE9C-4E7D-85BF-FECBB43CE7E6}" type="sibTrans" cxnId="{CA22CB58-3CD2-449E-90F5-8CB43EF5FC19}">
      <dgm:prSet/>
      <dgm:spPr/>
      <dgm:t>
        <a:bodyPr/>
        <a:lstStyle/>
        <a:p>
          <a:endParaRPr lang="en-US"/>
        </a:p>
      </dgm:t>
    </dgm:pt>
    <dgm:pt modelId="{7C3D6C0D-B5E7-492C-B486-5E5638B3BE94}">
      <dgm:prSet/>
      <dgm:spPr/>
      <dgm:t>
        <a:bodyPr/>
        <a:lstStyle/>
        <a:p>
          <a:r>
            <a:rPr lang="en-GB"/>
            <a:t>The Psychodynamic approach</a:t>
          </a:r>
          <a:endParaRPr lang="en-US"/>
        </a:p>
      </dgm:t>
    </dgm:pt>
    <dgm:pt modelId="{76BED1D1-F6FE-430E-BB8E-870A1A9FB4AB}" type="parTrans" cxnId="{22DAD0B8-28CC-44CA-A8EF-0BB26AF442A6}">
      <dgm:prSet/>
      <dgm:spPr/>
      <dgm:t>
        <a:bodyPr/>
        <a:lstStyle/>
        <a:p>
          <a:endParaRPr lang="en-US"/>
        </a:p>
      </dgm:t>
    </dgm:pt>
    <dgm:pt modelId="{9E49C169-1C70-45A2-998F-51B1B4F44B05}" type="sibTrans" cxnId="{22DAD0B8-28CC-44CA-A8EF-0BB26AF442A6}">
      <dgm:prSet/>
      <dgm:spPr/>
      <dgm:t>
        <a:bodyPr/>
        <a:lstStyle/>
        <a:p>
          <a:endParaRPr lang="en-US"/>
        </a:p>
      </dgm:t>
    </dgm:pt>
    <dgm:pt modelId="{BCB8149D-F820-4C51-8740-2FAA2E052187}">
      <dgm:prSet/>
      <dgm:spPr/>
      <dgm:t>
        <a:bodyPr/>
        <a:lstStyle/>
        <a:p>
          <a:r>
            <a:rPr lang="en-GB"/>
            <a:t>The Humanistic approach</a:t>
          </a:r>
          <a:endParaRPr lang="en-US"/>
        </a:p>
      </dgm:t>
    </dgm:pt>
    <dgm:pt modelId="{7950ABA1-7A66-4522-85AC-232C92113C21}" type="parTrans" cxnId="{DC50E281-2DB8-40D9-A526-54A34A54DACB}">
      <dgm:prSet/>
      <dgm:spPr/>
      <dgm:t>
        <a:bodyPr/>
        <a:lstStyle/>
        <a:p>
          <a:endParaRPr lang="en-US"/>
        </a:p>
      </dgm:t>
    </dgm:pt>
    <dgm:pt modelId="{6BAB546D-E0E8-4776-BFF3-7B9B12F1507C}" type="sibTrans" cxnId="{DC50E281-2DB8-40D9-A526-54A34A54DACB}">
      <dgm:prSet/>
      <dgm:spPr/>
      <dgm:t>
        <a:bodyPr/>
        <a:lstStyle/>
        <a:p>
          <a:endParaRPr lang="en-US"/>
        </a:p>
      </dgm:t>
    </dgm:pt>
    <dgm:pt modelId="{80896AE6-AC72-4607-9E1B-B9D2891CAAE0}">
      <dgm:prSet/>
      <dgm:spPr/>
      <dgm:t>
        <a:bodyPr/>
        <a:lstStyle/>
        <a:p>
          <a:r>
            <a:rPr lang="en-GB"/>
            <a:t>The Cognitive approach</a:t>
          </a:r>
          <a:endParaRPr lang="en-US"/>
        </a:p>
      </dgm:t>
    </dgm:pt>
    <dgm:pt modelId="{E3D5FC63-C105-4676-989B-5E43F3C6B207}" type="parTrans" cxnId="{521F0DF1-FE9A-4FCE-8C8D-D0FEA7CDA308}">
      <dgm:prSet/>
      <dgm:spPr/>
      <dgm:t>
        <a:bodyPr/>
        <a:lstStyle/>
        <a:p>
          <a:endParaRPr lang="en-US"/>
        </a:p>
      </dgm:t>
    </dgm:pt>
    <dgm:pt modelId="{005D9144-7FBC-4336-8656-A56A0B560AFB}" type="sibTrans" cxnId="{521F0DF1-FE9A-4FCE-8C8D-D0FEA7CDA308}">
      <dgm:prSet/>
      <dgm:spPr/>
      <dgm:t>
        <a:bodyPr/>
        <a:lstStyle/>
        <a:p>
          <a:endParaRPr lang="en-US"/>
        </a:p>
      </dgm:t>
    </dgm:pt>
    <dgm:pt modelId="{58E3486A-C145-47F3-8930-D86C11821442}">
      <dgm:prSet/>
      <dgm:spPr/>
      <dgm:t>
        <a:bodyPr/>
        <a:lstStyle/>
        <a:p>
          <a:r>
            <a:rPr lang="en-GB"/>
            <a:t>The Evolutionary approach</a:t>
          </a:r>
          <a:endParaRPr lang="en-US"/>
        </a:p>
      </dgm:t>
    </dgm:pt>
    <dgm:pt modelId="{34C7A73A-BC42-4901-9704-5CD3F590AF3C}" type="parTrans" cxnId="{C42F435A-9181-43FD-9DE1-47521A8B3A08}">
      <dgm:prSet/>
      <dgm:spPr/>
      <dgm:t>
        <a:bodyPr/>
        <a:lstStyle/>
        <a:p>
          <a:endParaRPr lang="en-US"/>
        </a:p>
      </dgm:t>
    </dgm:pt>
    <dgm:pt modelId="{6F8335F2-A18F-410F-AD23-7D2B74BA3D30}" type="sibTrans" cxnId="{C42F435A-9181-43FD-9DE1-47521A8B3A08}">
      <dgm:prSet/>
      <dgm:spPr/>
      <dgm:t>
        <a:bodyPr/>
        <a:lstStyle/>
        <a:p>
          <a:endParaRPr lang="en-US"/>
        </a:p>
      </dgm:t>
    </dgm:pt>
    <dgm:pt modelId="{FA54A7BB-2C8F-4074-A437-5B92C7FC9582}" type="pres">
      <dgm:prSet presAssocID="{E19EB9A8-EFA8-47FC-9B0C-BC2CCC333D07}" presName="vert0" presStyleCnt="0">
        <dgm:presLayoutVars>
          <dgm:dir/>
          <dgm:animOne val="branch"/>
          <dgm:animLvl val="lvl"/>
        </dgm:presLayoutVars>
      </dgm:prSet>
      <dgm:spPr/>
      <dgm:t>
        <a:bodyPr/>
        <a:lstStyle/>
        <a:p>
          <a:endParaRPr lang="en-US"/>
        </a:p>
      </dgm:t>
    </dgm:pt>
    <dgm:pt modelId="{596D31AF-FC3F-46A8-BAD6-663BDD459333}" type="pres">
      <dgm:prSet presAssocID="{CBB55D7C-73B3-4FCA-8221-D44C61D76F1E}" presName="thickLine" presStyleLbl="alignNode1" presStyleIdx="0" presStyleCnt="6"/>
      <dgm:spPr/>
    </dgm:pt>
    <dgm:pt modelId="{6AE55DEA-3E79-4CEB-81B9-0236ED468F44}" type="pres">
      <dgm:prSet presAssocID="{CBB55D7C-73B3-4FCA-8221-D44C61D76F1E}" presName="horz1" presStyleCnt="0"/>
      <dgm:spPr/>
    </dgm:pt>
    <dgm:pt modelId="{BFD9320D-52D9-45A0-9F5D-63ECDF206805}" type="pres">
      <dgm:prSet presAssocID="{CBB55D7C-73B3-4FCA-8221-D44C61D76F1E}" presName="tx1" presStyleLbl="revTx" presStyleIdx="0" presStyleCnt="6"/>
      <dgm:spPr/>
      <dgm:t>
        <a:bodyPr/>
        <a:lstStyle/>
        <a:p>
          <a:endParaRPr lang="en-US"/>
        </a:p>
      </dgm:t>
    </dgm:pt>
    <dgm:pt modelId="{EAD901DF-D632-48BB-B06E-BF29B0F7B72C}" type="pres">
      <dgm:prSet presAssocID="{CBB55D7C-73B3-4FCA-8221-D44C61D76F1E}" presName="vert1" presStyleCnt="0"/>
      <dgm:spPr/>
    </dgm:pt>
    <dgm:pt modelId="{61485B22-822F-4F2B-8710-D0242A8DEF2C}" type="pres">
      <dgm:prSet presAssocID="{ED2C3FB1-626A-4BEA-8739-9C770BFC0556}" presName="thickLine" presStyleLbl="alignNode1" presStyleIdx="1" presStyleCnt="6"/>
      <dgm:spPr/>
    </dgm:pt>
    <dgm:pt modelId="{74366977-1CF5-4C81-A555-34A47A3C36CE}" type="pres">
      <dgm:prSet presAssocID="{ED2C3FB1-626A-4BEA-8739-9C770BFC0556}" presName="horz1" presStyleCnt="0"/>
      <dgm:spPr/>
    </dgm:pt>
    <dgm:pt modelId="{87A1775F-ECA0-4B03-966F-63577C46ABAA}" type="pres">
      <dgm:prSet presAssocID="{ED2C3FB1-626A-4BEA-8739-9C770BFC0556}" presName="tx1" presStyleLbl="revTx" presStyleIdx="1" presStyleCnt="6"/>
      <dgm:spPr/>
      <dgm:t>
        <a:bodyPr/>
        <a:lstStyle/>
        <a:p>
          <a:endParaRPr lang="en-US"/>
        </a:p>
      </dgm:t>
    </dgm:pt>
    <dgm:pt modelId="{208724AC-60E2-4A45-A1D5-B93A16B42BAE}" type="pres">
      <dgm:prSet presAssocID="{ED2C3FB1-626A-4BEA-8739-9C770BFC0556}" presName="vert1" presStyleCnt="0"/>
      <dgm:spPr/>
    </dgm:pt>
    <dgm:pt modelId="{FF5CE783-9FD7-4C10-8124-EB7295D8F235}" type="pres">
      <dgm:prSet presAssocID="{7C3D6C0D-B5E7-492C-B486-5E5638B3BE94}" presName="thickLine" presStyleLbl="alignNode1" presStyleIdx="2" presStyleCnt="6"/>
      <dgm:spPr/>
    </dgm:pt>
    <dgm:pt modelId="{A506076D-6B33-4088-9287-7C665A8E6527}" type="pres">
      <dgm:prSet presAssocID="{7C3D6C0D-B5E7-492C-B486-5E5638B3BE94}" presName="horz1" presStyleCnt="0"/>
      <dgm:spPr/>
    </dgm:pt>
    <dgm:pt modelId="{7184133C-DB34-4EF7-9861-09D3424E2560}" type="pres">
      <dgm:prSet presAssocID="{7C3D6C0D-B5E7-492C-B486-5E5638B3BE94}" presName="tx1" presStyleLbl="revTx" presStyleIdx="2" presStyleCnt="6"/>
      <dgm:spPr/>
      <dgm:t>
        <a:bodyPr/>
        <a:lstStyle/>
        <a:p>
          <a:endParaRPr lang="en-US"/>
        </a:p>
      </dgm:t>
    </dgm:pt>
    <dgm:pt modelId="{F7DFF7DE-18D7-488A-B71D-EB3F28738B44}" type="pres">
      <dgm:prSet presAssocID="{7C3D6C0D-B5E7-492C-B486-5E5638B3BE94}" presName="vert1" presStyleCnt="0"/>
      <dgm:spPr/>
    </dgm:pt>
    <dgm:pt modelId="{F14BCA72-3A9E-4B6B-8008-51DDF2ED1DD9}" type="pres">
      <dgm:prSet presAssocID="{BCB8149D-F820-4C51-8740-2FAA2E052187}" presName="thickLine" presStyleLbl="alignNode1" presStyleIdx="3" presStyleCnt="6"/>
      <dgm:spPr/>
    </dgm:pt>
    <dgm:pt modelId="{36DD25B0-7821-42A8-A747-CA9B2F05FB12}" type="pres">
      <dgm:prSet presAssocID="{BCB8149D-F820-4C51-8740-2FAA2E052187}" presName="horz1" presStyleCnt="0"/>
      <dgm:spPr/>
    </dgm:pt>
    <dgm:pt modelId="{001CBFDC-D8F6-4BEB-BF9B-05CA17531414}" type="pres">
      <dgm:prSet presAssocID="{BCB8149D-F820-4C51-8740-2FAA2E052187}" presName="tx1" presStyleLbl="revTx" presStyleIdx="3" presStyleCnt="6"/>
      <dgm:spPr/>
      <dgm:t>
        <a:bodyPr/>
        <a:lstStyle/>
        <a:p>
          <a:endParaRPr lang="en-US"/>
        </a:p>
      </dgm:t>
    </dgm:pt>
    <dgm:pt modelId="{CA9454FC-4327-4611-93A6-84376F0F1FF0}" type="pres">
      <dgm:prSet presAssocID="{BCB8149D-F820-4C51-8740-2FAA2E052187}" presName="vert1" presStyleCnt="0"/>
      <dgm:spPr/>
    </dgm:pt>
    <dgm:pt modelId="{74637C7A-EC9D-416D-A4CD-14765A983FB9}" type="pres">
      <dgm:prSet presAssocID="{80896AE6-AC72-4607-9E1B-B9D2891CAAE0}" presName="thickLine" presStyleLbl="alignNode1" presStyleIdx="4" presStyleCnt="6"/>
      <dgm:spPr/>
    </dgm:pt>
    <dgm:pt modelId="{F3FF8076-CA96-4786-9D1B-1AB14ABEC5E3}" type="pres">
      <dgm:prSet presAssocID="{80896AE6-AC72-4607-9E1B-B9D2891CAAE0}" presName="horz1" presStyleCnt="0"/>
      <dgm:spPr/>
    </dgm:pt>
    <dgm:pt modelId="{7A253677-5F5D-4D9C-BE50-BEBB7325E3BB}" type="pres">
      <dgm:prSet presAssocID="{80896AE6-AC72-4607-9E1B-B9D2891CAAE0}" presName="tx1" presStyleLbl="revTx" presStyleIdx="4" presStyleCnt="6"/>
      <dgm:spPr/>
      <dgm:t>
        <a:bodyPr/>
        <a:lstStyle/>
        <a:p>
          <a:endParaRPr lang="en-US"/>
        </a:p>
      </dgm:t>
    </dgm:pt>
    <dgm:pt modelId="{43A30D22-B807-4284-8EB8-A72B10591671}" type="pres">
      <dgm:prSet presAssocID="{80896AE6-AC72-4607-9E1B-B9D2891CAAE0}" presName="vert1" presStyleCnt="0"/>
      <dgm:spPr/>
    </dgm:pt>
    <dgm:pt modelId="{EC6C8B6F-D559-407C-9620-3790077379E7}" type="pres">
      <dgm:prSet presAssocID="{58E3486A-C145-47F3-8930-D86C11821442}" presName="thickLine" presStyleLbl="alignNode1" presStyleIdx="5" presStyleCnt="6"/>
      <dgm:spPr/>
    </dgm:pt>
    <dgm:pt modelId="{0BD257AA-F127-4B5B-B710-06D06EAB7A2F}" type="pres">
      <dgm:prSet presAssocID="{58E3486A-C145-47F3-8930-D86C11821442}" presName="horz1" presStyleCnt="0"/>
      <dgm:spPr/>
    </dgm:pt>
    <dgm:pt modelId="{92FBF1C5-C335-48EB-9659-4AEDDCD03675}" type="pres">
      <dgm:prSet presAssocID="{58E3486A-C145-47F3-8930-D86C11821442}" presName="tx1" presStyleLbl="revTx" presStyleIdx="5" presStyleCnt="6"/>
      <dgm:spPr/>
      <dgm:t>
        <a:bodyPr/>
        <a:lstStyle/>
        <a:p>
          <a:endParaRPr lang="en-US"/>
        </a:p>
      </dgm:t>
    </dgm:pt>
    <dgm:pt modelId="{3A16567A-ABFD-4D58-840E-38F44CF9CD57}" type="pres">
      <dgm:prSet presAssocID="{58E3486A-C145-47F3-8930-D86C11821442}" presName="vert1" presStyleCnt="0"/>
      <dgm:spPr/>
    </dgm:pt>
  </dgm:ptLst>
  <dgm:cxnLst>
    <dgm:cxn modelId="{DC50E281-2DB8-40D9-A526-54A34A54DACB}" srcId="{E19EB9A8-EFA8-47FC-9B0C-BC2CCC333D07}" destId="{BCB8149D-F820-4C51-8740-2FAA2E052187}" srcOrd="3" destOrd="0" parTransId="{7950ABA1-7A66-4522-85AC-232C92113C21}" sibTransId="{6BAB546D-E0E8-4776-BFF3-7B9B12F1507C}"/>
    <dgm:cxn modelId="{1EEA41D3-2CE3-4CF4-ACD5-93CA6EEE2B36}" type="presOf" srcId="{E19EB9A8-EFA8-47FC-9B0C-BC2CCC333D07}" destId="{FA54A7BB-2C8F-4074-A437-5B92C7FC9582}" srcOrd="0" destOrd="0" presId="urn:microsoft.com/office/officeart/2008/layout/LinedList"/>
    <dgm:cxn modelId="{CA22CB58-3CD2-449E-90F5-8CB43EF5FC19}" srcId="{E19EB9A8-EFA8-47FC-9B0C-BC2CCC333D07}" destId="{ED2C3FB1-626A-4BEA-8739-9C770BFC0556}" srcOrd="1" destOrd="0" parTransId="{19FC3ABE-205E-4C8D-9AC2-A1089F028235}" sibTransId="{881394DC-EE9C-4E7D-85BF-FECBB43CE7E6}"/>
    <dgm:cxn modelId="{D14BE7A5-4D89-48E9-82F3-E27C266CD0B5}" type="presOf" srcId="{80896AE6-AC72-4607-9E1B-B9D2891CAAE0}" destId="{7A253677-5F5D-4D9C-BE50-BEBB7325E3BB}" srcOrd="0" destOrd="0" presId="urn:microsoft.com/office/officeart/2008/layout/LinedList"/>
    <dgm:cxn modelId="{87D19A59-9B34-48F1-A50F-92F7FED4DF20}" type="presOf" srcId="{ED2C3FB1-626A-4BEA-8739-9C770BFC0556}" destId="{87A1775F-ECA0-4B03-966F-63577C46ABAA}" srcOrd="0" destOrd="0" presId="urn:microsoft.com/office/officeart/2008/layout/LinedList"/>
    <dgm:cxn modelId="{7CE40492-04FD-4AD9-B6BD-1AA322571BDE}" type="presOf" srcId="{CBB55D7C-73B3-4FCA-8221-D44C61D76F1E}" destId="{BFD9320D-52D9-45A0-9F5D-63ECDF206805}" srcOrd="0" destOrd="0" presId="urn:microsoft.com/office/officeart/2008/layout/LinedList"/>
    <dgm:cxn modelId="{3B98EAAF-F662-473B-AFE2-EA1A1DDA647F}" type="presOf" srcId="{7C3D6C0D-B5E7-492C-B486-5E5638B3BE94}" destId="{7184133C-DB34-4EF7-9861-09D3424E2560}" srcOrd="0" destOrd="0" presId="urn:microsoft.com/office/officeart/2008/layout/LinedList"/>
    <dgm:cxn modelId="{22DAD0B8-28CC-44CA-A8EF-0BB26AF442A6}" srcId="{E19EB9A8-EFA8-47FC-9B0C-BC2CCC333D07}" destId="{7C3D6C0D-B5E7-492C-B486-5E5638B3BE94}" srcOrd="2" destOrd="0" parTransId="{76BED1D1-F6FE-430E-BB8E-870A1A9FB4AB}" sibTransId="{9E49C169-1C70-45A2-998F-51B1B4F44B05}"/>
    <dgm:cxn modelId="{521F0DF1-FE9A-4FCE-8C8D-D0FEA7CDA308}" srcId="{E19EB9A8-EFA8-47FC-9B0C-BC2CCC333D07}" destId="{80896AE6-AC72-4607-9E1B-B9D2891CAAE0}" srcOrd="4" destOrd="0" parTransId="{E3D5FC63-C105-4676-989B-5E43F3C6B207}" sibTransId="{005D9144-7FBC-4336-8656-A56A0B560AFB}"/>
    <dgm:cxn modelId="{770C74B3-3C8B-4E77-A1A3-08BBFAA62FF8}" type="presOf" srcId="{58E3486A-C145-47F3-8930-D86C11821442}" destId="{92FBF1C5-C335-48EB-9659-4AEDDCD03675}" srcOrd="0" destOrd="0" presId="urn:microsoft.com/office/officeart/2008/layout/LinedList"/>
    <dgm:cxn modelId="{6029511C-0879-4EC3-85FD-A0C078721782}" srcId="{E19EB9A8-EFA8-47FC-9B0C-BC2CCC333D07}" destId="{CBB55D7C-73B3-4FCA-8221-D44C61D76F1E}" srcOrd="0" destOrd="0" parTransId="{93C4E5DE-D4E8-490B-B350-228DF9446143}" sibTransId="{C596791D-6C35-498E-AC95-D92DFB3E699E}"/>
    <dgm:cxn modelId="{C42F435A-9181-43FD-9DE1-47521A8B3A08}" srcId="{E19EB9A8-EFA8-47FC-9B0C-BC2CCC333D07}" destId="{58E3486A-C145-47F3-8930-D86C11821442}" srcOrd="5" destOrd="0" parTransId="{34C7A73A-BC42-4901-9704-5CD3F590AF3C}" sibTransId="{6F8335F2-A18F-410F-AD23-7D2B74BA3D30}"/>
    <dgm:cxn modelId="{9C905C4D-D054-4D7F-838E-BACDD26419AA}" type="presOf" srcId="{BCB8149D-F820-4C51-8740-2FAA2E052187}" destId="{001CBFDC-D8F6-4BEB-BF9B-05CA17531414}" srcOrd="0" destOrd="0" presId="urn:microsoft.com/office/officeart/2008/layout/LinedList"/>
    <dgm:cxn modelId="{D589F84A-63E0-4A12-8E8B-052D365D8C20}" type="presParOf" srcId="{FA54A7BB-2C8F-4074-A437-5B92C7FC9582}" destId="{596D31AF-FC3F-46A8-BAD6-663BDD459333}" srcOrd="0" destOrd="0" presId="urn:microsoft.com/office/officeart/2008/layout/LinedList"/>
    <dgm:cxn modelId="{B6D36370-D10F-48AC-8735-D33CB601BEE1}" type="presParOf" srcId="{FA54A7BB-2C8F-4074-A437-5B92C7FC9582}" destId="{6AE55DEA-3E79-4CEB-81B9-0236ED468F44}" srcOrd="1" destOrd="0" presId="urn:microsoft.com/office/officeart/2008/layout/LinedList"/>
    <dgm:cxn modelId="{93ACC7B0-99B9-487D-88BA-C514FDA30E65}" type="presParOf" srcId="{6AE55DEA-3E79-4CEB-81B9-0236ED468F44}" destId="{BFD9320D-52D9-45A0-9F5D-63ECDF206805}" srcOrd="0" destOrd="0" presId="urn:microsoft.com/office/officeart/2008/layout/LinedList"/>
    <dgm:cxn modelId="{D82EE0B3-BB64-44A7-9DC4-F0C9043C1C82}" type="presParOf" srcId="{6AE55DEA-3E79-4CEB-81B9-0236ED468F44}" destId="{EAD901DF-D632-48BB-B06E-BF29B0F7B72C}" srcOrd="1" destOrd="0" presId="urn:microsoft.com/office/officeart/2008/layout/LinedList"/>
    <dgm:cxn modelId="{33DDAA40-D6BE-4DDC-8EE3-40F8417B30D2}" type="presParOf" srcId="{FA54A7BB-2C8F-4074-A437-5B92C7FC9582}" destId="{61485B22-822F-4F2B-8710-D0242A8DEF2C}" srcOrd="2" destOrd="0" presId="urn:microsoft.com/office/officeart/2008/layout/LinedList"/>
    <dgm:cxn modelId="{62C8BA7D-6283-4F84-81C3-17A574ED5F9A}" type="presParOf" srcId="{FA54A7BB-2C8F-4074-A437-5B92C7FC9582}" destId="{74366977-1CF5-4C81-A555-34A47A3C36CE}" srcOrd="3" destOrd="0" presId="urn:microsoft.com/office/officeart/2008/layout/LinedList"/>
    <dgm:cxn modelId="{06A2E8A2-445A-47A0-B79A-7288E43176FF}" type="presParOf" srcId="{74366977-1CF5-4C81-A555-34A47A3C36CE}" destId="{87A1775F-ECA0-4B03-966F-63577C46ABAA}" srcOrd="0" destOrd="0" presId="urn:microsoft.com/office/officeart/2008/layout/LinedList"/>
    <dgm:cxn modelId="{BBA98C3D-04BA-4908-945F-1D18CA49FFCE}" type="presParOf" srcId="{74366977-1CF5-4C81-A555-34A47A3C36CE}" destId="{208724AC-60E2-4A45-A1D5-B93A16B42BAE}" srcOrd="1" destOrd="0" presId="urn:microsoft.com/office/officeart/2008/layout/LinedList"/>
    <dgm:cxn modelId="{5D48C5FC-6FDA-4916-A28B-F2D8341814DF}" type="presParOf" srcId="{FA54A7BB-2C8F-4074-A437-5B92C7FC9582}" destId="{FF5CE783-9FD7-4C10-8124-EB7295D8F235}" srcOrd="4" destOrd="0" presId="urn:microsoft.com/office/officeart/2008/layout/LinedList"/>
    <dgm:cxn modelId="{E7D99B17-0B35-4BC6-945D-75EE2A44BB86}" type="presParOf" srcId="{FA54A7BB-2C8F-4074-A437-5B92C7FC9582}" destId="{A506076D-6B33-4088-9287-7C665A8E6527}" srcOrd="5" destOrd="0" presId="urn:microsoft.com/office/officeart/2008/layout/LinedList"/>
    <dgm:cxn modelId="{BF8BD645-38CA-48FD-B71A-FF8EEE15AE88}" type="presParOf" srcId="{A506076D-6B33-4088-9287-7C665A8E6527}" destId="{7184133C-DB34-4EF7-9861-09D3424E2560}" srcOrd="0" destOrd="0" presId="urn:microsoft.com/office/officeart/2008/layout/LinedList"/>
    <dgm:cxn modelId="{5C51ABD3-314A-4A75-85BF-97BB73784EB6}" type="presParOf" srcId="{A506076D-6B33-4088-9287-7C665A8E6527}" destId="{F7DFF7DE-18D7-488A-B71D-EB3F28738B44}" srcOrd="1" destOrd="0" presId="urn:microsoft.com/office/officeart/2008/layout/LinedList"/>
    <dgm:cxn modelId="{EC0976AC-9969-4B5C-B230-B585B798D9F0}" type="presParOf" srcId="{FA54A7BB-2C8F-4074-A437-5B92C7FC9582}" destId="{F14BCA72-3A9E-4B6B-8008-51DDF2ED1DD9}" srcOrd="6" destOrd="0" presId="urn:microsoft.com/office/officeart/2008/layout/LinedList"/>
    <dgm:cxn modelId="{234F3E49-0E2C-43B3-BB63-23C84A14CE9A}" type="presParOf" srcId="{FA54A7BB-2C8F-4074-A437-5B92C7FC9582}" destId="{36DD25B0-7821-42A8-A747-CA9B2F05FB12}" srcOrd="7" destOrd="0" presId="urn:microsoft.com/office/officeart/2008/layout/LinedList"/>
    <dgm:cxn modelId="{3CEB3B2A-3DFE-4E64-8145-F36B6BCB7B10}" type="presParOf" srcId="{36DD25B0-7821-42A8-A747-CA9B2F05FB12}" destId="{001CBFDC-D8F6-4BEB-BF9B-05CA17531414}" srcOrd="0" destOrd="0" presId="urn:microsoft.com/office/officeart/2008/layout/LinedList"/>
    <dgm:cxn modelId="{B4B1519F-7C66-442F-B563-D1D412FA56BF}" type="presParOf" srcId="{36DD25B0-7821-42A8-A747-CA9B2F05FB12}" destId="{CA9454FC-4327-4611-93A6-84376F0F1FF0}" srcOrd="1" destOrd="0" presId="urn:microsoft.com/office/officeart/2008/layout/LinedList"/>
    <dgm:cxn modelId="{EBC3D01E-DDA2-4578-8CD1-47D1D7A32096}" type="presParOf" srcId="{FA54A7BB-2C8F-4074-A437-5B92C7FC9582}" destId="{74637C7A-EC9D-416D-A4CD-14765A983FB9}" srcOrd="8" destOrd="0" presId="urn:microsoft.com/office/officeart/2008/layout/LinedList"/>
    <dgm:cxn modelId="{EA376C7C-B0DF-4A85-90F7-F2BCEA3669B6}" type="presParOf" srcId="{FA54A7BB-2C8F-4074-A437-5B92C7FC9582}" destId="{F3FF8076-CA96-4786-9D1B-1AB14ABEC5E3}" srcOrd="9" destOrd="0" presId="urn:microsoft.com/office/officeart/2008/layout/LinedList"/>
    <dgm:cxn modelId="{7A96D137-D804-43DF-9B79-BAB3017AB153}" type="presParOf" srcId="{F3FF8076-CA96-4786-9D1B-1AB14ABEC5E3}" destId="{7A253677-5F5D-4D9C-BE50-BEBB7325E3BB}" srcOrd="0" destOrd="0" presId="urn:microsoft.com/office/officeart/2008/layout/LinedList"/>
    <dgm:cxn modelId="{26E348A7-2FE8-41FC-B18E-D48A3028496F}" type="presParOf" srcId="{F3FF8076-CA96-4786-9D1B-1AB14ABEC5E3}" destId="{43A30D22-B807-4284-8EB8-A72B10591671}" srcOrd="1" destOrd="0" presId="urn:microsoft.com/office/officeart/2008/layout/LinedList"/>
    <dgm:cxn modelId="{72AEB7B5-D7D4-4145-AB5F-56D0BFBC4764}" type="presParOf" srcId="{FA54A7BB-2C8F-4074-A437-5B92C7FC9582}" destId="{EC6C8B6F-D559-407C-9620-3790077379E7}" srcOrd="10" destOrd="0" presId="urn:microsoft.com/office/officeart/2008/layout/LinedList"/>
    <dgm:cxn modelId="{DDBCCC8A-F23A-4436-A410-86869E2A9E9A}" type="presParOf" srcId="{FA54A7BB-2C8F-4074-A437-5B92C7FC9582}" destId="{0BD257AA-F127-4B5B-B710-06D06EAB7A2F}" srcOrd="11" destOrd="0" presId="urn:microsoft.com/office/officeart/2008/layout/LinedList"/>
    <dgm:cxn modelId="{69DA1322-A49F-4AF1-A04D-794B59CDB580}" type="presParOf" srcId="{0BD257AA-F127-4B5B-B710-06D06EAB7A2F}" destId="{92FBF1C5-C335-48EB-9659-4AEDDCD03675}" srcOrd="0" destOrd="0" presId="urn:microsoft.com/office/officeart/2008/layout/LinedList"/>
    <dgm:cxn modelId="{50DCDD86-6571-48CA-A127-DB2A91182373}" type="presParOf" srcId="{0BD257AA-F127-4B5B-B710-06D06EAB7A2F}" destId="{3A16567A-ABFD-4D58-840E-38F44CF9CD5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6D31AF-FC3F-46A8-BAD6-663BDD459333}">
      <dsp:nvSpPr>
        <dsp:cNvPr id="0" name=""/>
        <dsp:cNvSpPr/>
      </dsp:nvSpPr>
      <dsp:spPr bwMode="white">
        <a:xfrm>
          <a:off x="0" y="0"/>
          <a:ext cx="6797675"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hemeClr val="accent2"/>
        </a:lnRef>
        <a:fillRef idx="1">
          <a:schemeClr val="accent2"/>
        </a:fillRef>
        <a:effectRef idx="0">
          <a:scrgbClr r="0" g="0" b="0"/>
        </a:effectRef>
        <a:fontRef idx="minor">
          <a:schemeClr val="lt1"/>
        </a:fontRef>
      </dsp:style>
    </dsp:sp>
    <dsp:sp modelId="{BFD9320D-52D9-45A0-9F5D-63ECDF206805}">
      <dsp:nvSpPr>
        <dsp:cNvPr id="0" name=""/>
        <dsp:cNvSpPr/>
      </dsp:nvSpPr>
      <dsp:spPr bwMode="white">
        <a:xfrm>
          <a:off x="0" y="0"/>
          <a:ext cx="6797675" cy="941652"/>
        </a:xfrm>
        <a:prstGeom prst="rect">
          <a:avLst/>
        </a:prstGeom>
        <a:noFill/>
        <a:ln>
          <a:noFill/>
        </a:ln>
        <a:effectLst/>
      </dsp:spPr>
      <dsp:style>
        <a:lnRef idx="0">
          <a:schemeClr val="dk1">
            <a:alpha val="0"/>
          </a:schemeClr>
        </a:lnRef>
        <a:fillRef idx="0">
          <a:schemeClr val="lt1">
            <a:alpha val="0"/>
          </a:schemeClr>
        </a:fillRef>
        <a:effectRef idx="0">
          <a:scrgbClr r="0" g="0" b="0"/>
        </a:effectRef>
        <a:fontRef idx="minor"/>
      </dsp:style>
      <dsp:txBody>
        <a:bodyPr spcFirstLastPara="0" vert="horz" wrap="square" lIns="125730" tIns="125730" rIns="125730" bIns="125730" numCol="1" spcCol="1270" anchor="t" anchorCtr="0">
          <a:noAutofit/>
        </a:bodyPr>
        <a:lstStyle/>
        <a:p>
          <a:pPr lvl="0" algn="l" defTabSz="1600200">
            <a:lnSpc>
              <a:spcPct val="90000"/>
            </a:lnSpc>
            <a:spcBef>
              <a:spcPct val="0"/>
            </a:spcBef>
            <a:spcAft>
              <a:spcPct val="35000"/>
            </a:spcAft>
          </a:pPr>
          <a:r>
            <a:rPr lang="en-GB" sz="3600" kern="1200" dirty="0">
              <a:solidFill>
                <a:schemeClr val="tx1"/>
              </a:solidFill>
            </a:rPr>
            <a:t>The Biopsychological approach</a:t>
          </a:r>
          <a:endParaRPr lang="en-US" sz="3600" kern="1200" dirty="0">
            <a:solidFill>
              <a:schemeClr val="tx1"/>
            </a:solidFill>
          </a:endParaRPr>
        </a:p>
      </dsp:txBody>
      <dsp:txXfrm>
        <a:off x="0" y="0"/>
        <a:ext cx="6797675" cy="941652"/>
      </dsp:txXfrm>
    </dsp:sp>
    <dsp:sp modelId="{61485B22-822F-4F2B-8710-D0242A8DEF2C}">
      <dsp:nvSpPr>
        <dsp:cNvPr id="0" name=""/>
        <dsp:cNvSpPr/>
      </dsp:nvSpPr>
      <dsp:spPr bwMode="white">
        <a:xfrm>
          <a:off x="0" y="941652"/>
          <a:ext cx="6797675" cy="0"/>
        </a:xfrm>
        <a:prstGeom prst="line">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hemeClr val="accent3"/>
        </a:lnRef>
        <a:fillRef idx="1">
          <a:schemeClr val="accent3"/>
        </a:fillRef>
        <a:effectRef idx="0">
          <a:scrgbClr r="0" g="0" b="0"/>
        </a:effectRef>
        <a:fontRef idx="minor">
          <a:schemeClr val="lt1"/>
        </a:fontRef>
      </dsp:style>
    </dsp:sp>
    <dsp:sp modelId="{87A1775F-ECA0-4B03-966F-63577C46ABAA}">
      <dsp:nvSpPr>
        <dsp:cNvPr id="0" name=""/>
        <dsp:cNvSpPr/>
      </dsp:nvSpPr>
      <dsp:spPr bwMode="white">
        <a:xfrm>
          <a:off x="0" y="941652"/>
          <a:ext cx="6797675" cy="941652"/>
        </a:xfrm>
        <a:prstGeom prst="rect">
          <a:avLst/>
        </a:prstGeom>
        <a:noFill/>
        <a:ln>
          <a:noFill/>
        </a:ln>
        <a:effectLst/>
      </dsp:spPr>
      <dsp:style>
        <a:lnRef idx="0">
          <a:schemeClr val="dk1">
            <a:alpha val="0"/>
          </a:schemeClr>
        </a:lnRef>
        <a:fillRef idx="0">
          <a:schemeClr val="lt1">
            <a:alpha val="0"/>
          </a:schemeClr>
        </a:fillRef>
        <a:effectRef idx="0">
          <a:scrgbClr r="0" g="0" b="0"/>
        </a:effectRef>
        <a:fontRef idx="minor"/>
      </dsp:style>
      <dsp:txBody>
        <a:bodyPr spcFirstLastPara="0" vert="horz" wrap="square" lIns="125730" tIns="125730" rIns="125730" bIns="125730" numCol="1" spcCol="1270" anchor="t" anchorCtr="0">
          <a:noAutofit/>
        </a:bodyPr>
        <a:lstStyle/>
        <a:p>
          <a:pPr lvl="0" algn="l" defTabSz="1600200">
            <a:lnSpc>
              <a:spcPct val="90000"/>
            </a:lnSpc>
            <a:spcBef>
              <a:spcPct val="0"/>
            </a:spcBef>
            <a:spcAft>
              <a:spcPct val="35000"/>
            </a:spcAft>
          </a:pPr>
          <a:r>
            <a:rPr lang="en-GB" sz="3600" kern="1200">
              <a:solidFill>
                <a:schemeClr val="tx1"/>
              </a:solidFill>
            </a:rPr>
            <a:t>The Behaviourist approach</a:t>
          </a:r>
          <a:endParaRPr lang="en-US" sz="3600" kern="1200">
            <a:solidFill>
              <a:schemeClr val="tx1"/>
            </a:solidFill>
          </a:endParaRPr>
        </a:p>
      </dsp:txBody>
      <dsp:txXfrm>
        <a:off x="0" y="941652"/>
        <a:ext cx="6797675" cy="941652"/>
      </dsp:txXfrm>
    </dsp:sp>
    <dsp:sp modelId="{FF5CE783-9FD7-4C10-8124-EB7295D8F235}">
      <dsp:nvSpPr>
        <dsp:cNvPr id="0" name=""/>
        <dsp:cNvSpPr/>
      </dsp:nvSpPr>
      <dsp:spPr bwMode="white">
        <a:xfrm>
          <a:off x="0" y="1883304"/>
          <a:ext cx="6797675" cy="0"/>
        </a:xfrm>
        <a:prstGeom prst="line">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hemeClr val="accent4"/>
        </a:lnRef>
        <a:fillRef idx="1">
          <a:schemeClr val="accent4"/>
        </a:fillRef>
        <a:effectRef idx="0">
          <a:scrgbClr r="0" g="0" b="0"/>
        </a:effectRef>
        <a:fontRef idx="minor">
          <a:schemeClr val="lt1"/>
        </a:fontRef>
      </dsp:style>
    </dsp:sp>
    <dsp:sp modelId="{7184133C-DB34-4EF7-9861-09D3424E2560}">
      <dsp:nvSpPr>
        <dsp:cNvPr id="0" name=""/>
        <dsp:cNvSpPr/>
      </dsp:nvSpPr>
      <dsp:spPr bwMode="white">
        <a:xfrm>
          <a:off x="0" y="1883304"/>
          <a:ext cx="6797675" cy="941652"/>
        </a:xfrm>
        <a:prstGeom prst="rect">
          <a:avLst/>
        </a:prstGeom>
        <a:noFill/>
        <a:ln>
          <a:noFill/>
        </a:ln>
        <a:effectLst/>
      </dsp:spPr>
      <dsp:style>
        <a:lnRef idx="0">
          <a:schemeClr val="dk1">
            <a:alpha val="0"/>
          </a:schemeClr>
        </a:lnRef>
        <a:fillRef idx="0">
          <a:schemeClr val="lt1">
            <a:alpha val="0"/>
          </a:schemeClr>
        </a:fillRef>
        <a:effectRef idx="0">
          <a:scrgbClr r="0" g="0" b="0"/>
        </a:effectRef>
        <a:fontRef idx="minor"/>
      </dsp:style>
      <dsp:txBody>
        <a:bodyPr spcFirstLastPara="0" vert="horz" wrap="square" lIns="125730" tIns="125730" rIns="125730" bIns="125730" numCol="1" spcCol="1270" anchor="t" anchorCtr="0">
          <a:noAutofit/>
        </a:bodyPr>
        <a:lstStyle/>
        <a:p>
          <a:pPr lvl="0" algn="l" defTabSz="1600200">
            <a:lnSpc>
              <a:spcPct val="90000"/>
            </a:lnSpc>
            <a:spcBef>
              <a:spcPct val="0"/>
            </a:spcBef>
            <a:spcAft>
              <a:spcPct val="35000"/>
            </a:spcAft>
          </a:pPr>
          <a:r>
            <a:rPr lang="en-GB" sz="3600" kern="1200">
              <a:solidFill>
                <a:schemeClr val="tx1"/>
              </a:solidFill>
            </a:rPr>
            <a:t>The Psychodynamic approach</a:t>
          </a:r>
          <a:endParaRPr lang="en-US" sz="3600" kern="1200">
            <a:solidFill>
              <a:schemeClr val="tx1"/>
            </a:solidFill>
          </a:endParaRPr>
        </a:p>
      </dsp:txBody>
      <dsp:txXfrm>
        <a:off x="0" y="1883304"/>
        <a:ext cx="6797675" cy="941652"/>
      </dsp:txXfrm>
    </dsp:sp>
    <dsp:sp modelId="{F14BCA72-3A9E-4B6B-8008-51DDF2ED1DD9}">
      <dsp:nvSpPr>
        <dsp:cNvPr id="0" name=""/>
        <dsp:cNvSpPr/>
      </dsp:nvSpPr>
      <dsp:spPr bwMode="white">
        <a:xfrm>
          <a:off x="0" y="2824956"/>
          <a:ext cx="6797675" cy="0"/>
        </a:xfrm>
        <a:prstGeom prst="lin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hemeClr val="accent5"/>
        </a:lnRef>
        <a:fillRef idx="1">
          <a:schemeClr val="accent5"/>
        </a:fillRef>
        <a:effectRef idx="0">
          <a:scrgbClr r="0" g="0" b="0"/>
        </a:effectRef>
        <a:fontRef idx="minor">
          <a:schemeClr val="lt1"/>
        </a:fontRef>
      </dsp:style>
    </dsp:sp>
    <dsp:sp modelId="{001CBFDC-D8F6-4BEB-BF9B-05CA17531414}">
      <dsp:nvSpPr>
        <dsp:cNvPr id="0" name=""/>
        <dsp:cNvSpPr/>
      </dsp:nvSpPr>
      <dsp:spPr bwMode="white">
        <a:xfrm>
          <a:off x="0" y="2824956"/>
          <a:ext cx="6797675" cy="941652"/>
        </a:xfrm>
        <a:prstGeom prst="rect">
          <a:avLst/>
        </a:prstGeom>
        <a:noFill/>
        <a:ln>
          <a:noFill/>
        </a:ln>
        <a:effectLst/>
      </dsp:spPr>
      <dsp:style>
        <a:lnRef idx="0">
          <a:schemeClr val="dk1">
            <a:alpha val="0"/>
          </a:schemeClr>
        </a:lnRef>
        <a:fillRef idx="0">
          <a:schemeClr val="lt1">
            <a:alpha val="0"/>
          </a:schemeClr>
        </a:fillRef>
        <a:effectRef idx="0">
          <a:scrgbClr r="0" g="0" b="0"/>
        </a:effectRef>
        <a:fontRef idx="minor"/>
      </dsp:style>
      <dsp:txBody>
        <a:bodyPr spcFirstLastPara="0" vert="horz" wrap="square" lIns="125730" tIns="125730" rIns="125730" bIns="125730" numCol="1" spcCol="1270" anchor="t" anchorCtr="0">
          <a:noAutofit/>
        </a:bodyPr>
        <a:lstStyle/>
        <a:p>
          <a:pPr lvl="0" algn="l" defTabSz="1600200">
            <a:lnSpc>
              <a:spcPct val="90000"/>
            </a:lnSpc>
            <a:spcBef>
              <a:spcPct val="0"/>
            </a:spcBef>
            <a:spcAft>
              <a:spcPct val="35000"/>
            </a:spcAft>
          </a:pPr>
          <a:r>
            <a:rPr lang="en-GB" sz="3600" kern="1200">
              <a:solidFill>
                <a:schemeClr val="tx1"/>
              </a:solidFill>
            </a:rPr>
            <a:t>The Humanistic approach</a:t>
          </a:r>
          <a:endParaRPr lang="en-US" sz="3600" kern="1200">
            <a:solidFill>
              <a:schemeClr val="tx1"/>
            </a:solidFill>
          </a:endParaRPr>
        </a:p>
      </dsp:txBody>
      <dsp:txXfrm>
        <a:off x="0" y="2824956"/>
        <a:ext cx="6797675" cy="941652"/>
      </dsp:txXfrm>
    </dsp:sp>
    <dsp:sp modelId="{74637C7A-EC9D-416D-A4CD-14765A983FB9}">
      <dsp:nvSpPr>
        <dsp:cNvPr id="0" name=""/>
        <dsp:cNvSpPr/>
      </dsp:nvSpPr>
      <dsp:spPr bwMode="white">
        <a:xfrm>
          <a:off x="0" y="3766608"/>
          <a:ext cx="6797675" cy="0"/>
        </a:xfrm>
        <a:prstGeom prst="line">
          <a:avLst/>
        </a:prstGeom>
        <a:solidFill>
          <a:schemeClr val="accent6">
            <a:hueOff val="0"/>
            <a:satOff val="0"/>
            <a:lumOff val="0"/>
            <a:alphaOff val="0"/>
          </a:schemeClr>
        </a:solidFill>
        <a:ln w="15875" cap="flat" cmpd="sng" algn="ctr">
          <a:solidFill>
            <a:schemeClr val="accent6">
              <a:hueOff val="0"/>
              <a:satOff val="0"/>
              <a:lumOff val="0"/>
              <a:alphaOff val="0"/>
            </a:schemeClr>
          </a:solidFill>
          <a:prstDash val="solid"/>
        </a:ln>
        <a:effectLst/>
      </dsp:spPr>
      <dsp:style>
        <a:lnRef idx="2">
          <a:schemeClr val="accent6"/>
        </a:lnRef>
        <a:fillRef idx="1">
          <a:schemeClr val="accent6"/>
        </a:fillRef>
        <a:effectRef idx="0">
          <a:scrgbClr r="0" g="0" b="0"/>
        </a:effectRef>
        <a:fontRef idx="minor">
          <a:schemeClr val="lt1"/>
        </a:fontRef>
      </dsp:style>
    </dsp:sp>
    <dsp:sp modelId="{7A253677-5F5D-4D9C-BE50-BEBB7325E3BB}">
      <dsp:nvSpPr>
        <dsp:cNvPr id="0" name=""/>
        <dsp:cNvSpPr/>
      </dsp:nvSpPr>
      <dsp:spPr bwMode="white">
        <a:xfrm>
          <a:off x="0" y="3766608"/>
          <a:ext cx="6797675" cy="941652"/>
        </a:xfrm>
        <a:prstGeom prst="rect">
          <a:avLst/>
        </a:prstGeom>
        <a:noFill/>
        <a:ln>
          <a:noFill/>
        </a:ln>
        <a:effectLst/>
      </dsp:spPr>
      <dsp:style>
        <a:lnRef idx="0">
          <a:schemeClr val="dk1">
            <a:alpha val="0"/>
          </a:schemeClr>
        </a:lnRef>
        <a:fillRef idx="0">
          <a:schemeClr val="lt1">
            <a:alpha val="0"/>
          </a:schemeClr>
        </a:fillRef>
        <a:effectRef idx="0">
          <a:scrgbClr r="0" g="0" b="0"/>
        </a:effectRef>
        <a:fontRef idx="minor"/>
      </dsp:style>
      <dsp:txBody>
        <a:bodyPr spcFirstLastPara="0" vert="horz" wrap="square" lIns="125730" tIns="125730" rIns="125730" bIns="125730" numCol="1" spcCol="1270" anchor="t" anchorCtr="0">
          <a:noAutofit/>
        </a:bodyPr>
        <a:lstStyle/>
        <a:p>
          <a:pPr lvl="0" algn="l" defTabSz="1600200">
            <a:lnSpc>
              <a:spcPct val="90000"/>
            </a:lnSpc>
            <a:spcBef>
              <a:spcPct val="0"/>
            </a:spcBef>
            <a:spcAft>
              <a:spcPct val="35000"/>
            </a:spcAft>
          </a:pPr>
          <a:r>
            <a:rPr lang="en-GB" sz="3600" kern="1200">
              <a:solidFill>
                <a:schemeClr val="tx1"/>
              </a:solidFill>
            </a:rPr>
            <a:t>The Cognitive approach</a:t>
          </a:r>
          <a:endParaRPr lang="en-US" sz="3600" kern="1200">
            <a:solidFill>
              <a:schemeClr val="tx1"/>
            </a:solidFill>
          </a:endParaRPr>
        </a:p>
      </dsp:txBody>
      <dsp:txXfrm>
        <a:off x="0" y="3766608"/>
        <a:ext cx="6797675" cy="941652"/>
      </dsp:txXfrm>
    </dsp:sp>
    <dsp:sp modelId="{EC6C8B6F-D559-407C-9620-3790077379E7}">
      <dsp:nvSpPr>
        <dsp:cNvPr id="0" name=""/>
        <dsp:cNvSpPr/>
      </dsp:nvSpPr>
      <dsp:spPr bwMode="white">
        <a:xfrm>
          <a:off x="0" y="4708260"/>
          <a:ext cx="6797675"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hemeClr val="accent2"/>
        </a:lnRef>
        <a:fillRef idx="1">
          <a:schemeClr val="accent2"/>
        </a:fillRef>
        <a:effectRef idx="0">
          <a:scrgbClr r="0" g="0" b="0"/>
        </a:effectRef>
        <a:fontRef idx="minor">
          <a:schemeClr val="lt1"/>
        </a:fontRef>
      </dsp:style>
    </dsp:sp>
    <dsp:sp modelId="{92FBF1C5-C335-48EB-9659-4AEDDCD03675}">
      <dsp:nvSpPr>
        <dsp:cNvPr id="0" name=""/>
        <dsp:cNvSpPr/>
      </dsp:nvSpPr>
      <dsp:spPr bwMode="white">
        <a:xfrm>
          <a:off x="0" y="4708260"/>
          <a:ext cx="6797675" cy="941652"/>
        </a:xfrm>
        <a:prstGeom prst="rect">
          <a:avLst/>
        </a:prstGeom>
        <a:noFill/>
        <a:ln>
          <a:noFill/>
        </a:ln>
        <a:effectLst/>
      </dsp:spPr>
      <dsp:style>
        <a:lnRef idx="0">
          <a:schemeClr val="dk1">
            <a:alpha val="0"/>
          </a:schemeClr>
        </a:lnRef>
        <a:fillRef idx="0">
          <a:schemeClr val="lt1">
            <a:alpha val="0"/>
          </a:schemeClr>
        </a:fillRef>
        <a:effectRef idx="0">
          <a:scrgbClr r="0" g="0" b="0"/>
        </a:effectRef>
        <a:fontRef idx="minor"/>
      </dsp:style>
      <dsp:txBody>
        <a:bodyPr spcFirstLastPara="0" vert="horz" wrap="square" lIns="125730" tIns="125730" rIns="125730" bIns="125730" numCol="1" spcCol="1270" anchor="t" anchorCtr="0">
          <a:noAutofit/>
        </a:bodyPr>
        <a:lstStyle/>
        <a:p>
          <a:pPr lvl="0" algn="l" defTabSz="1600200">
            <a:lnSpc>
              <a:spcPct val="90000"/>
            </a:lnSpc>
            <a:spcBef>
              <a:spcPct val="0"/>
            </a:spcBef>
            <a:spcAft>
              <a:spcPct val="35000"/>
            </a:spcAft>
          </a:pPr>
          <a:r>
            <a:rPr lang="en-GB" sz="3600" kern="1200">
              <a:solidFill>
                <a:schemeClr val="tx1"/>
              </a:solidFill>
            </a:rPr>
            <a:t>The Evolutionary approach</a:t>
          </a:r>
          <a:endParaRPr lang="en-US" sz="3600" kern="1200">
            <a:solidFill>
              <a:schemeClr val="tx1"/>
            </a:solidFill>
          </a:endParaRPr>
        </a:p>
      </dsp:txBody>
      <dsp:txXfrm>
        <a:off x="0" y="4708260"/>
        <a:ext cx="6797675" cy="94165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t>10/1/2025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t>10/1/2025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t>10/1/2025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t>10/1/2025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t>10/1/2025</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t>10/1/2025</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t>10/1/2025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10/1/2025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10/1/2025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t>10/1/2025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t>10/1/2025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10/1/2025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2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2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2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2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2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923155" y="638810"/>
            <a:ext cx="6863080" cy="3686175"/>
          </a:xfrm>
        </p:spPr>
        <p:txBody>
          <a:bodyPr>
            <a:normAutofit/>
          </a:bodyPr>
          <a:lstStyle/>
          <a:p>
            <a:r>
              <a:rPr lang="en-GB" sz="6800"/>
              <a:t>PSYC100 GENERAL PSYCHOLOGY</a:t>
            </a:r>
          </a:p>
        </p:txBody>
      </p:sp>
      <p:sp>
        <p:nvSpPr>
          <p:cNvPr id="3" name="Subtitle 2"/>
          <p:cNvSpPr>
            <a:spLocks noGrp="1"/>
          </p:cNvSpPr>
          <p:nvPr>
            <p:ph type="subTitle" idx="1"/>
          </p:nvPr>
        </p:nvSpPr>
        <p:spPr>
          <a:xfrm>
            <a:off x="5289753" y="4672739"/>
            <a:ext cx="6269347" cy="1021498"/>
          </a:xfrm>
        </p:spPr>
        <p:txBody>
          <a:bodyPr>
            <a:normAutofit/>
          </a:bodyPr>
          <a:lstStyle/>
          <a:p>
            <a:r>
              <a:rPr lang="en-GB">
                <a:solidFill>
                  <a:schemeClr val="tx1">
                    <a:lumMod val="85000"/>
                    <a:lumOff val="15000"/>
                  </a:schemeClr>
                </a:solidFill>
              </a:rPr>
              <a:t>Theoretical Approaches to Psychology</a:t>
            </a:r>
          </a:p>
        </p:txBody>
      </p:sp>
      <p:pic>
        <p:nvPicPr>
          <p:cNvPr id="4" name="Picture 3"/>
          <p:cNvPicPr>
            <a:picLocks noChangeAspect="1"/>
          </p:cNvPicPr>
          <p:nvPr/>
        </p:nvPicPr>
        <p:blipFill>
          <a:blip r:embed="rId2"/>
          <a:srcRect l="27543" r="32072" b="2"/>
          <a:stretch>
            <a:fillRect/>
          </a:stretch>
        </p:blipFill>
        <p:spPr>
          <a:xfrm>
            <a:off x="-1" y="1"/>
            <a:ext cx="4635315" cy="6857999"/>
          </a:xfrm>
          <a:prstGeom prst="rect">
            <a:avLst/>
          </a:prstGeom>
        </p:spPr>
      </p:pic>
      <p:cxnSp>
        <p:nvCxnSpPr>
          <p:cNvPr id="11" name="Straight Connector 10"/>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16" y="0"/>
            <a:ext cx="4050791"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92370" y="516835"/>
            <a:ext cx="3084844" cy="5772840"/>
          </a:xfrm>
        </p:spPr>
        <p:txBody>
          <a:bodyPr anchor="ctr">
            <a:normAutofit/>
          </a:bodyPr>
          <a:lstStyle/>
          <a:p>
            <a:r>
              <a:rPr lang="en-GB" sz="3600">
                <a:solidFill>
                  <a:schemeClr val="bg1"/>
                </a:solidFill>
              </a:rPr>
              <a:t>Learning Outcomes</a:t>
            </a:r>
          </a:p>
        </p:txBody>
      </p:sp>
      <p:graphicFrame>
        <p:nvGraphicFramePr>
          <p:cNvPr id="5" name="Content Placeholder 2"/>
          <p:cNvGraphicFramePr>
            <a:graphicFrameLocks noGrp="1"/>
          </p:cNvGraphicFramePr>
          <p:nvPr>
            <p:ph idx="1"/>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I - The Biopsychological Approach</a:t>
            </a:r>
            <a:endParaRPr lang="en-GB" dirty="0"/>
          </a:p>
        </p:txBody>
      </p:sp>
      <p:sp>
        <p:nvSpPr>
          <p:cNvPr id="3" name="Content Placeholder 2"/>
          <p:cNvSpPr>
            <a:spLocks noGrp="1"/>
          </p:cNvSpPr>
          <p:nvPr>
            <p:ph idx="1"/>
          </p:nvPr>
        </p:nvSpPr>
        <p:spPr/>
        <p:txBody>
          <a:bodyPr/>
          <a:lstStyle/>
          <a:p>
            <a:pPr algn="ctr"/>
            <a:r>
              <a:rPr lang="en-GB" sz="3200" dirty="0">
                <a:solidFill>
                  <a:schemeClr val="tx1"/>
                </a:solidFill>
              </a:rPr>
              <a:t>How much of our behaviour do you believe to be determined by nature (genetics) or nurture (environment, upbringing, culture, friends etc.)</a:t>
            </a:r>
          </a:p>
          <a:p>
            <a:endParaRPr lang="en-GB"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The Biopsychological Approach</a:t>
            </a:r>
            <a:endParaRPr lang="en-GB" dirty="0"/>
          </a:p>
        </p:txBody>
      </p:sp>
      <p:sp>
        <p:nvSpPr>
          <p:cNvPr id="3" name="Content Placeholder 2"/>
          <p:cNvSpPr>
            <a:spLocks noGrp="1"/>
          </p:cNvSpPr>
          <p:nvPr>
            <p:ph idx="1"/>
          </p:nvPr>
        </p:nvSpPr>
        <p:spPr/>
        <p:txBody>
          <a:bodyPr>
            <a:normAutofit fontScale="92500" lnSpcReduction="20000"/>
          </a:bodyPr>
          <a:lstStyle/>
          <a:p>
            <a:r>
              <a:rPr lang="en-GB" dirty="0"/>
              <a:t>The biopsychological approach emphasizes that psychological phenomena are rooted in biological processes. In other words, to understand why we feel anxious, learn a new skill, or even fall in love, we must look at the brain, nervous system, genetics, and endocrine system.</a:t>
            </a:r>
          </a:p>
          <a:p>
            <a:r>
              <a:rPr lang="en-GB" b="1" dirty="0"/>
              <a:t>For example:</a:t>
            </a:r>
          </a:p>
          <a:p>
            <a:r>
              <a:rPr lang="en-GB" dirty="0"/>
              <a:t>Schizophrenia – excess dopamine</a:t>
            </a:r>
          </a:p>
          <a:p>
            <a:r>
              <a:rPr lang="en-GB" dirty="0"/>
              <a:t>Depression – low serotonin</a:t>
            </a:r>
          </a:p>
          <a:p>
            <a:r>
              <a:rPr lang="en-GB" dirty="0"/>
              <a:t>Addiction – dopamine reward pathways</a:t>
            </a:r>
          </a:p>
          <a:p>
            <a:r>
              <a:rPr lang="en-GB" dirty="0"/>
              <a:t>Extroversion – low arousal levels</a:t>
            </a:r>
          </a:p>
          <a:p>
            <a:r>
              <a:rPr lang="en-GB" dirty="0"/>
              <a:t>Aggression – testosterone levels</a:t>
            </a:r>
          </a:p>
          <a:p>
            <a:endParaRPr lang="en-GB" dirty="0"/>
          </a:p>
          <a:p>
            <a:endParaRPr lang="en-GB"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The Biopsychological Approach</a:t>
            </a:r>
          </a:p>
        </p:txBody>
      </p:sp>
      <p:sp>
        <p:nvSpPr>
          <p:cNvPr id="3" name="Content Placeholder 2"/>
          <p:cNvSpPr>
            <a:spLocks noGrp="1"/>
          </p:cNvSpPr>
          <p:nvPr>
            <p:ph idx="1"/>
          </p:nvPr>
        </p:nvSpPr>
        <p:spPr/>
        <p:txBody>
          <a:bodyPr>
            <a:normAutofit lnSpcReduction="10000"/>
          </a:bodyPr>
          <a:lstStyle/>
          <a:p>
            <a:r>
              <a:rPr lang="en-GB" dirty="0"/>
              <a:t>The impact of biology on our behaviour; how the brain, the nervous system, the hormones and genetics influence our behaviour.</a:t>
            </a:r>
          </a:p>
          <a:p>
            <a:r>
              <a:rPr lang="en-GB" b="1" dirty="0"/>
              <a:t>Behaviour genetics:</a:t>
            </a:r>
          </a:p>
          <a:p>
            <a:r>
              <a:rPr lang="en-GB" dirty="0"/>
              <a:t>1. genetic differences</a:t>
            </a:r>
          </a:p>
          <a:p>
            <a:r>
              <a:rPr lang="en-GB" dirty="0"/>
              <a:t>2. shared environments</a:t>
            </a:r>
          </a:p>
          <a:p>
            <a:r>
              <a:rPr lang="en-GB" dirty="0"/>
              <a:t>3. non-shared environments</a:t>
            </a:r>
          </a:p>
          <a:p>
            <a:r>
              <a:rPr lang="en-GB" dirty="0"/>
              <a:t>Examples: intelligence, personality, addiction</a:t>
            </a:r>
          </a:p>
          <a:p>
            <a:r>
              <a:rPr lang="en-GB" b="1" dirty="0"/>
              <a:t>Two major methods</a:t>
            </a:r>
            <a:r>
              <a:rPr lang="en-GB" dirty="0"/>
              <a:t>: twin studies and adoption studies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Twin studies</a:t>
            </a:r>
          </a:p>
        </p:txBody>
      </p:sp>
      <p:sp>
        <p:nvSpPr>
          <p:cNvPr id="5" name="Content Placeholder 4"/>
          <p:cNvSpPr>
            <a:spLocks noGrp="1"/>
          </p:cNvSpPr>
          <p:nvPr>
            <p:ph idx="1"/>
          </p:nvPr>
        </p:nvSpPr>
        <p:spPr/>
        <p:txBody>
          <a:bodyPr/>
          <a:lstStyle/>
          <a:p>
            <a:r>
              <a:rPr lang="en-GB" dirty="0"/>
              <a:t>Twin studies compare identical (</a:t>
            </a:r>
            <a:r>
              <a:rPr lang="en-GB" b="1" dirty="0"/>
              <a:t>monozygotic, MZ</a:t>
            </a:r>
            <a:r>
              <a:rPr lang="en-GB" dirty="0"/>
              <a:t>) twins, who share nearly 100% of their DNA, with fraternal (</a:t>
            </a:r>
            <a:r>
              <a:rPr lang="en-GB" b="1" dirty="0"/>
              <a:t>dizygotic, DZ</a:t>
            </a:r>
            <a:r>
              <a:rPr lang="en-GB" dirty="0"/>
              <a:t>) twins, who share about 50% of their DNA (like typical siblings). By examining similarities and differences in traits between these groups, researchers can estimate the heritability of a trait (</a:t>
            </a:r>
            <a:r>
              <a:rPr lang="en-GB" b="1" dirty="0"/>
              <a:t>CONCORDANCE RATE</a:t>
            </a:r>
            <a:r>
              <a:rPr lang="en-GB" dirty="0"/>
              <a:t>)—how much of the variation is due to genetics versus environment.</a:t>
            </a:r>
          </a:p>
          <a:p>
            <a:r>
              <a:rPr lang="en-GB" dirty="0"/>
              <a:t>If MZ twins are more similar for a trait (e.g., intelligence, depression) than DZ twins, genetics likely plays a stronger role, since both twin types are typically raised in similar environments. If both MZ and DZ twins show similar levels of similarity, the environment is likely the dominant factor.</a:t>
            </a:r>
          </a:p>
          <a:p>
            <a:endParaRPr lang="en-GB"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Twin studies</a:t>
            </a:r>
            <a:endParaRPr lang="en-GB" dirty="0"/>
          </a:p>
        </p:txBody>
      </p:sp>
      <p:sp>
        <p:nvSpPr>
          <p:cNvPr id="3" name="Content Placeholder 2"/>
          <p:cNvSpPr>
            <a:spLocks noGrp="1"/>
          </p:cNvSpPr>
          <p:nvPr>
            <p:ph idx="1"/>
          </p:nvPr>
        </p:nvSpPr>
        <p:spPr/>
        <p:txBody>
          <a:bodyPr/>
          <a:lstStyle/>
          <a:p>
            <a:r>
              <a:rPr lang="en-GB" dirty="0"/>
              <a:t>The equal environments assumption posits that MZ and DZ twins experience similar environmental influences (e.g., parenting, socioeconomic status). This allows differences in trait similarity to be attributed to genetics.</a:t>
            </a:r>
          </a:p>
          <a:p>
            <a:endParaRPr lang="en-GB" dirty="0"/>
          </a:p>
          <a:p>
            <a:r>
              <a:rPr lang="en-GB" b="1" dirty="0"/>
              <a:t>1. Classical Twin Design</a:t>
            </a:r>
            <a:r>
              <a:rPr lang="en-GB" dirty="0"/>
              <a:t>: Compares MZ and DZ twins raised together.</a:t>
            </a:r>
          </a:p>
          <a:p>
            <a:r>
              <a:rPr lang="en-GB" b="1" dirty="0"/>
              <a:t>2. Twins Reared Apart</a:t>
            </a:r>
            <a:r>
              <a:rPr lang="en-GB" dirty="0"/>
              <a:t>: Studies MZ twins separated at birth and raised in different environments. This isolates genetic effects by minimizing shared environmental influences. CAUTION HERE!!!</a:t>
            </a:r>
          </a:p>
          <a:p>
            <a:endParaRPr lang="en-GB" dirty="0"/>
          </a:p>
          <a:p>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Adoption studies</a:t>
            </a:r>
          </a:p>
        </p:txBody>
      </p:sp>
      <p:sp>
        <p:nvSpPr>
          <p:cNvPr id="3" name="Content Placeholder 2"/>
          <p:cNvSpPr>
            <a:spLocks noGrp="1"/>
          </p:cNvSpPr>
          <p:nvPr>
            <p:ph idx="1"/>
          </p:nvPr>
        </p:nvSpPr>
        <p:spPr/>
        <p:txBody>
          <a:bodyPr/>
          <a:lstStyle/>
          <a:p>
            <a:r>
              <a:rPr lang="en-GB" dirty="0"/>
              <a:t>Adoption studies examine individuals raised by non-biological (adoptive) parents to separate genetic influences from environmental ones. By comparing adopted children to their biological parents (genetic influence) and adoptive parents (environmental influence), researchers can isolate these factors.</a:t>
            </a:r>
          </a:p>
          <a:p>
            <a:endParaRPr lang="en-GB" dirty="0"/>
          </a:p>
          <a:p>
            <a:r>
              <a:rPr lang="en-GB" dirty="0"/>
              <a:t>If adopted children resemble their biological parents more than their adoptive parents for a trait, </a:t>
            </a:r>
            <a:r>
              <a:rPr lang="en-GB" b="1" dirty="0"/>
              <a:t>genetics</a:t>
            </a:r>
            <a:r>
              <a:rPr lang="en-GB" dirty="0"/>
              <a:t> likely plays a stronger role. If they resemble their adoptive parents, the </a:t>
            </a:r>
            <a:r>
              <a:rPr lang="en-GB" b="1" dirty="0"/>
              <a:t>environment</a:t>
            </a:r>
            <a:r>
              <a:rPr lang="en-GB" dirty="0"/>
              <a:t> is key.</a:t>
            </a:r>
          </a:p>
          <a:p>
            <a:endParaRPr lang="en-GB"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Criticisms</a:t>
            </a:r>
          </a:p>
        </p:txBody>
      </p:sp>
      <p:sp>
        <p:nvSpPr>
          <p:cNvPr id="3" name="Content Placeholder 2"/>
          <p:cNvSpPr>
            <a:spLocks noGrp="1"/>
          </p:cNvSpPr>
          <p:nvPr>
            <p:ph idx="1"/>
          </p:nvPr>
        </p:nvSpPr>
        <p:spPr/>
        <p:txBody>
          <a:bodyPr/>
          <a:lstStyle/>
          <a:p>
            <a:r>
              <a:rPr lang="en-GB" b="1" dirty="0"/>
              <a:t>Reductionism</a:t>
            </a:r>
            <a:r>
              <a:rPr lang="en-GB" dirty="0"/>
              <a:t>: It oversimplifies complex behaviours to biology, ignoring culture or environment (nature vs. nurture debate).</a:t>
            </a:r>
          </a:p>
          <a:p>
            <a:r>
              <a:rPr lang="en-GB" b="1" dirty="0"/>
              <a:t>Ethical Concerns</a:t>
            </a:r>
            <a:r>
              <a:rPr lang="en-GB" dirty="0"/>
              <a:t>: Animal testing and genetic editing raise issues.</a:t>
            </a:r>
          </a:p>
          <a:p>
            <a:r>
              <a:rPr lang="en-GB" b="1" dirty="0"/>
              <a:t>Determinism</a:t>
            </a:r>
            <a:r>
              <a:rPr lang="en-GB" dirty="0"/>
              <a:t>: Suggests biology determines everything, though neuroplasticity shows change is possible.</a:t>
            </a:r>
          </a:p>
          <a:p>
            <a:endParaRPr lang="en-GB"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II - The Behaviourist Approach</a:t>
            </a:r>
            <a:endParaRPr lang="en-GB" dirty="0"/>
          </a:p>
        </p:txBody>
      </p:sp>
      <p:sp>
        <p:nvSpPr>
          <p:cNvPr id="3" name="Content Placeholder 2"/>
          <p:cNvSpPr>
            <a:spLocks noGrp="1"/>
          </p:cNvSpPr>
          <p:nvPr>
            <p:ph idx="1"/>
          </p:nvPr>
        </p:nvSpPr>
        <p:spPr>
          <a:xfrm>
            <a:off x="1097280" y="2108201"/>
            <a:ext cx="4998720" cy="3760891"/>
          </a:xfrm>
        </p:spPr>
        <p:txBody>
          <a:bodyPr>
            <a:normAutofit/>
          </a:bodyPr>
          <a:lstStyle/>
          <a:p>
            <a:r>
              <a:rPr lang="en-GB" b="1" dirty="0"/>
              <a:t>Classical conditioning </a:t>
            </a:r>
            <a:r>
              <a:rPr lang="en-GB" dirty="0"/>
              <a:t>- Classical conditioning is a learning process where a neutral stimulus becomes associated with an unconditioned stimulus to elicit a conditioned response.</a:t>
            </a:r>
          </a:p>
          <a:p>
            <a:r>
              <a:rPr lang="en-GB" dirty="0"/>
              <a:t>UCS (Unconditioned Stimulus), CS (Conditioned Stimulus), UCR (Unconditioned Response), and CR (Conditioned Response)</a:t>
            </a:r>
          </a:p>
          <a:p>
            <a:endParaRPr lang="en-GB" dirty="0"/>
          </a:p>
        </p:txBody>
      </p:sp>
      <p:pic>
        <p:nvPicPr>
          <p:cNvPr id="4" name="Picture 3"/>
          <p:cNvPicPr>
            <a:picLocks noChangeAspect="1"/>
          </p:cNvPicPr>
          <p:nvPr/>
        </p:nvPicPr>
        <p:blipFill>
          <a:blip r:embed="rId2"/>
          <a:stretch>
            <a:fillRect/>
          </a:stretch>
        </p:blipFill>
        <p:spPr>
          <a:xfrm>
            <a:off x="6493396" y="2108200"/>
            <a:ext cx="4662284" cy="4003233"/>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The Behaviourist Approach</a:t>
            </a:r>
            <a:endParaRPr lang="en-GB" dirty="0"/>
          </a:p>
        </p:txBody>
      </p:sp>
      <p:sp>
        <p:nvSpPr>
          <p:cNvPr id="3" name="Content Placeholder 2"/>
          <p:cNvSpPr>
            <a:spLocks noGrp="1"/>
          </p:cNvSpPr>
          <p:nvPr>
            <p:ph idx="1"/>
          </p:nvPr>
        </p:nvSpPr>
        <p:spPr>
          <a:xfrm>
            <a:off x="1097280" y="2108201"/>
            <a:ext cx="4998720" cy="3760891"/>
          </a:xfrm>
        </p:spPr>
        <p:txBody>
          <a:bodyPr>
            <a:normAutofit/>
          </a:bodyPr>
          <a:lstStyle/>
          <a:p>
            <a:r>
              <a:rPr lang="en-GB" b="1" dirty="0"/>
              <a:t>Operant conditioning </a:t>
            </a:r>
            <a:r>
              <a:rPr lang="en-GB" dirty="0"/>
              <a:t>-Unlike classical conditioning, which involves automatic responses to stimuli, operant conditioning focuses on voluntary behaviours and how their outcomes influence whether they’re repeated</a:t>
            </a:r>
          </a:p>
          <a:p>
            <a:r>
              <a:rPr lang="en-GB" dirty="0"/>
              <a:t>Positive Reinforcement, Negative Reinforcement, Positive Punishment, Negative Punishment</a:t>
            </a:r>
          </a:p>
        </p:txBody>
      </p:sp>
      <p:pic>
        <p:nvPicPr>
          <p:cNvPr id="5" name="Picture 4"/>
          <p:cNvPicPr>
            <a:picLocks noChangeAspect="1"/>
          </p:cNvPicPr>
          <p:nvPr/>
        </p:nvPicPr>
        <p:blipFill>
          <a:blip r:embed="rId2"/>
          <a:stretch>
            <a:fillRect/>
          </a:stretch>
        </p:blipFill>
        <p:spPr>
          <a:xfrm>
            <a:off x="7465669" y="2025570"/>
            <a:ext cx="4143739" cy="4184248"/>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24125" y="1047750"/>
            <a:ext cx="7143750" cy="47625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650" y="241107"/>
            <a:ext cx="10058400" cy="1450757"/>
          </a:xfrm>
        </p:spPr>
        <p:txBody>
          <a:bodyPr/>
          <a:lstStyle/>
          <a:p>
            <a:r>
              <a:rPr lang="en-GB" b="1" dirty="0"/>
              <a:t>The Behaviourist Approach</a:t>
            </a:r>
          </a:p>
        </p:txBody>
      </p:sp>
      <p:sp>
        <p:nvSpPr>
          <p:cNvPr id="3" name="Content Placeholder 2"/>
          <p:cNvSpPr>
            <a:spLocks noGrp="1"/>
          </p:cNvSpPr>
          <p:nvPr>
            <p:ph idx="1"/>
          </p:nvPr>
        </p:nvSpPr>
        <p:spPr>
          <a:xfrm>
            <a:off x="599569" y="2073477"/>
            <a:ext cx="10058400" cy="3783313"/>
          </a:xfrm>
        </p:spPr>
        <p:txBody>
          <a:bodyPr/>
          <a:lstStyle/>
          <a:p>
            <a:r>
              <a:rPr lang="en-GB" sz="2400" dirty="0"/>
              <a:t>Classical conditioning</a:t>
            </a:r>
          </a:p>
          <a:p>
            <a:endParaRPr lang="en-GB" sz="2400" dirty="0"/>
          </a:p>
          <a:p>
            <a:r>
              <a:rPr lang="en-GB" sz="2400" dirty="0"/>
              <a:t>Pavlov – Dog Experiments</a:t>
            </a:r>
          </a:p>
          <a:p>
            <a:r>
              <a:rPr lang="en-GB" sz="2400" dirty="0"/>
              <a:t>Watson – Little Albert Study</a:t>
            </a:r>
          </a:p>
          <a:p>
            <a:endParaRPr lang="en-GB" sz="2400" dirty="0"/>
          </a:p>
          <a:p>
            <a:r>
              <a:rPr lang="en-GB" sz="2400" dirty="0"/>
              <a:t>https://www.youtube.com/watch?v=Xt0ucxOrPQE</a:t>
            </a:r>
          </a:p>
          <a:p>
            <a:endParaRPr lang="en-GB" dirty="0"/>
          </a:p>
        </p:txBody>
      </p:sp>
      <p:pic>
        <p:nvPicPr>
          <p:cNvPr id="4" name="Picture 3"/>
          <p:cNvPicPr>
            <a:picLocks noChangeAspect="1"/>
          </p:cNvPicPr>
          <p:nvPr/>
        </p:nvPicPr>
        <p:blipFill>
          <a:blip r:embed="rId2"/>
          <a:stretch>
            <a:fillRect/>
          </a:stretch>
        </p:blipFill>
        <p:spPr>
          <a:xfrm>
            <a:off x="7944091" y="1296364"/>
            <a:ext cx="4247909" cy="3958541"/>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305" y="241107"/>
            <a:ext cx="10058400" cy="1450757"/>
          </a:xfrm>
        </p:spPr>
        <p:txBody>
          <a:bodyPr/>
          <a:lstStyle/>
          <a:p>
            <a:r>
              <a:rPr lang="en-GB" b="1" dirty="0"/>
              <a:t>The Behaviourist Approach</a:t>
            </a:r>
          </a:p>
        </p:txBody>
      </p:sp>
      <p:sp>
        <p:nvSpPr>
          <p:cNvPr id="3" name="Content Placeholder 2"/>
          <p:cNvSpPr>
            <a:spLocks noGrp="1"/>
          </p:cNvSpPr>
          <p:nvPr>
            <p:ph idx="1"/>
          </p:nvPr>
        </p:nvSpPr>
        <p:spPr>
          <a:xfrm>
            <a:off x="379649" y="2085052"/>
            <a:ext cx="8220341" cy="3783313"/>
          </a:xfrm>
        </p:spPr>
        <p:txBody>
          <a:bodyPr>
            <a:normAutofit/>
          </a:bodyPr>
          <a:lstStyle/>
          <a:p>
            <a:r>
              <a:rPr lang="en-GB" sz="2400" dirty="0"/>
              <a:t>Operant Conditioning</a:t>
            </a:r>
          </a:p>
          <a:p>
            <a:endParaRPr lang="en-GB" sz="2400" dirty="0"/>
          </a:p>
          <a:p>
            <a:r>
              <a:rPr lang="en-GB" sz="2400" dirty="0"/>
              <a:t>Skinner – Skinner Box studies</a:t>
            </a:r>
          </a:p>
          <a:p>
            <a:endParaRPr lang="en-GB" sz="2400" dirty="0"/>
          </a:p>
          <a:p>
            <a:r>
              <a:rPr lang="en-GB" sz="2400" dirty="0"/>
              <a:t>https://www.youtube.com/watch?v=X-lgMnvPDQ0</a:t>
            </a:r>
          </a:p>
        </p:txBody>
      </p:sp>
      <p:pic>
        <p:nvPicPr>
          <p:cNvPr id="5" name="Picture 4"/>
          <p:cNvPicPr>
            <a:picLocks noChangeAspect="1"/>
          </p:cNvPicPr>
          <p:nvPr/>
        </p:nvPicPr>
        <p:blipFill>
          <a:blip r:embed="rId2"/>
          <a:stretch>
            <a:fillRect/>
          </a:stretch>
        </p:blipFill>
        <p:spPr>
          <a:xfrm>
            <a:off x="8414795" y="1923008"/>
            <a:ext cx="3227407" cy="3783312"/>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7 key assumptions</a:t>
            </a:r>
          </a:p>
        </p:txBody>
      </p:sp>
      <p:sp>
        <p:nvSpPr>
          <p:cNvPr id="4" name="Rectangle 1"/>
          <p:cNvSpPr>
            <a:spLocks noGrp="1" noChangeArrowheads="1"/>
          </p:cNvSpPr>
          <p:nvPr>
            <p:ph idx="1"/>
          </p:nvPr>
        </p:nvSpPr>
        <p:spPr bwMode="auto">
          <a:xfrm>
            <a:off x="689610" y="2338705"/>
            <a:ext cx="11058525" cy="382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600" b="1" i="0" u="none" strike="noStrike" cap="none" normalizeH="0" baseline="0" dirty="0">
                <a:ln>
                  <a:noFill/>
                </a:ln>
                <a:solidFill>
                  <a:schemeClr val="tx1"/>
                </a:solidFill>
                <a:effectLst/>
              </a:rPr>
              <a:t>Behavior is Learned</a:t>
            </a:r>
            <a:r>
              <a:rPr kumimoji="0" lang="en-US" altLang="en-US" sz="1600" b="0" i="0" u="none" strike="noStrike" cap="none" normalizeH="0" baseline="0" dirty="0">
                <a:ln>
                  <a:noFill/>
                </a:ln>
                <a:solidFill>
                  <a:schemeClr val="tx1"/>
                </a:solidFill>
                <a:effectLst/>
              </a:rPr>
              <a:t>: All behaviors are acquired through interactions with the environment via conditioning (classical or operant). Innate or inherited factors are minimized.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600" b="1" i="0" u="none" strike="noStrike" cap="none" normalizeH="0" baseline="0" dirty="0">
                <a:ln>
                  <a:noFill/>
                </a:ln>
                <a:solidFill>
                  <a:schemeClr val="tx1"/>
                </a:solidFill>
                <a:effectLst/>
              </a:rPr>
              <a:t>Observable Behavior is the Focus</a:t>
            </a:r>
            <a:r>
              <a:rPr kumimoji="0" lang="en-US" altLang="en-US" sz="1600" b="0" i="0" u="none" strike="noStrike" cap="none" normalizeH="0" baseline="0" dirty="0">
                <a:ln>
                  <a:noFill/>
                </a:ln>
                <a:solidFill>
                  <a:schemeClr val="tx1"/>
                </a:solidFill>
                <a:effectLst/>
              </a:rPr>
              <a:t>: Only measurable, observable behaviors are studied. Internal mental states (thoughts, emotions) are considered irrelevant or inaccessible for scientific study.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600" b="1" i="0" u="none" strike="noStrike" cap="none" normalizeH="0" baseline="0" dirty="0">
                <a:ln>
                  <a:noFill/>
                </a:ln>
                <a:solidFill>
                  <a:schemeClr val="tx1"/>
                </a:solidFill>
                <a:effectLst/>
              </a:rPr>
              <a:t>Environmental Determinism</a:t>
            </a:r>
            <a:r>
              <a:rPr kumimoji="0" lang="en-US" altLang="en-US" sz="1600" b="0" i="0" u="none" strike="noStrike" cap="none" normalizeH="0" baseline="0" dirty="0">
                <a:ln>
                  <a:noFill/>
                </a:ln>
                <a:solidFill>
                  <a:schemeClr val="tx1"/>
                </a:solidFill>
                <a:effectLst/>
              </a:rPr>
              <a:t>: Behavior is primarily determined by external stimuli and reinforcements, not free will or internal processes.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600" b="1" i="0" u="none" strike="noStrike" cap="none" normalizeH="0" baseline="0" dirty="0">
                <a:ln>
                  <a:noFill/>
                </a:ln>
                <a:solidFill>
                  <a:schemeClr val="tx1"/>
                </a:solidFill>
                <a:effectLst/>
              </a:rPr>
              <a:t>Conditioning Drives Learning</a:t>
            </a:r>
            <a:r>
              <a:rPr kumimoji="0" lang="en-US" altLang="en-US" sz="1600" b="0" i="0" u="none" strike="noStrike" cap="none" normalizeH="0" baseline="0" dirty="0">
                <a:ln>
                  <a:noFill/>
                </a:ln>
                <a:solidFill>
                  <a:schemeClr val="tx1"/>
                </a:solidFill>
                <a:effectLst/>
              </a:rPr>
              <a:t>:  Either </a:t>
            </a:r>
            <a:r>
              <a:rPr kumimoji="0" lang="en-US" altLang="en-US" sz="1600" b="1" i="0" u="none" strike="noStrike" cap="none" normalizeH="0" baseline="0" dirty="0">
                <a:ln>
                  <a:noFill/>
                </a:ln>
                <a:solidFill>
                  <a:schemeClr val="tx1"/>
                </a:solidFill>
                <a:effectLst/>
              </a:rPr>
              <a:t>Classical Conditioning</a:t>
            </a:r>
            <a:r>
              <a:rPr kumimoji="0" lang="en-US" altLang="en-US" sz="1600" b="0" i="0" u="none" strike="noStrike" cap="none" normalizeH="0" baseline="0" dirty="0">
                <a:ln>
                  <a:noFill/>
                </a:ln>
                <a:solidFill>
                  <a:schemeClr val="tx1"/>
                </a:solidFill>
                <a:effectLst/>
              </a:rPr>
              <a:t> (Pavlov): Behaviors are learned through associations between stimuli (e.g., a bell triggering salivation in dogs), or </a:t>
            </a:r>
            <a:r>
              <a:rPr kumimoji="0" lang="en-US" altLang="en-US" sz="1600" b="1" i="0" u="none" strike="noStrike" cap="none" normalizeH="0" baseline="0" dirty="0">
                <a:ln>
                  <a:noFill/>
                </a:ln>
                <a:solidFill>
                  <a:schemeClr val="tx1"/>
                </a:solidFill>
                <a:effectLst/>
              </a:rPr>
              <a:t>Operant Conditioning</a:t>
            </a:r>
            <a:r>
              <a:rPr kumimoji="0" lang="en-US" altLang="en-US" sz="1600" b="0" i="0" u="none" strike="noStrike" cap="none" normalizeH="0" baseline="0" dirty="0">
                <a:ln>
                  <a:noFill/>
                </a:ln>
                <a:solidFill>
                  <a:schemeClr val="tx1"/>
                </a:solidFill>
                <a:effectLst/>
              </a:rPr>
              <a:t> (Skinner): Behaviors are shaped by consequences (rewards or punishments).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600" b="1" i="0" u="none" strike="noStrike" cap="none" normalizeH="0" baseline="0" dirty="0">
                <a:ln>
                  <a:noFill/>
                </a:ln>
                <a:solidFill>
                  <a:schemeClr val="tx1"/>
                </a:solidFill>
                <a:effectLst/>
              </a:rPr>
              <a:t>Tabula Rasa (Blank Slate)</a:t>
            </a:r>
            <a:r>
              <a:rPr kumimoji="0" lang="en-US" altLang="en-US" sz="1600" b="0" i="0" u="none" strike="noStrike" cap="none" normalizeH="0" baseline="0" dirty="0">
                <a:ln>
                  <a:noFill/>
                </a:ln>
                <a:solidFill>
                  <a:schemeClr val="tx1"/>
                </a:solidFill>
                <a:effectLst/>
              </a:rPr>
              <a:t>: Humans and animals start as blank slates, and behavior is shaped entirely by experience and learning.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600" b="1" i="0" u="none" strike="noStrike" cap="none" normalizeH="0" baseline="0" dirty="0">
                <a:ln>
                  <a:noFill/>
                </a:ln>
                <a:solidFill>
                  <a:schemeClr val="tx1"/>
                </a:solidFill>
                <a:effectLst/>
              </a:rPr>
              <a:t>Generalization Across Species</a:t>
            </a:r>
            <a:r>
              <a:rPr kumimoji="0" lang="en-US" altLang="en-US" sz="1600" b="0" i="0" u="none" strike="noStrike" cap="none" normalizeH="0" baseline="0" dirty="0">
                <a:ln>
                  <a:noFill/>
                </a:ln>
                <a:solidFill>
                  <a:schemeClr val="tx1"/>
                </a:solidFill>
                <a:effectLst/>
              </a:rPr>
              <a:t>: Principles of behavior (e.g., conditioning) apply universally to humans and animals, allowing animal studies to inform human behavior.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pPr>
            <a:r>
              <a:rPr kumimoji="0" lang="en-US" altLang="en-US" sz="1600" b="1" i="0" u="none" strike="noStrike" cap="none" normalizeH="0" baseline="0" dirty="0">
                <a:ln>
                  <a:noFill/>
                </a:ln>
                <a:solidFill>
                  <a:schemeClr val="tx1"/>
                </a:solidFill>
                <a:effectLst/>
              </a:rPr>
              <a:t>Predictability and Control</a:t>
            </a:r>
            <a:r>
              <a:rPr kumimoji="0" lang="en-US" altLang="en-US" sz="1600" b="0" i="0" u="none" strike="noStrike" cap="none" normalizeH="0" baseline="0" dirty="0">
                <a:ln>
                  <a:noFill/>
                </a:ln>
                <a:solidFill>
                  <a:schemeClr val="tx1"/>
                </a:solidFill>
                <a:effectLst/>
              </a:rPr>
              <a:t>: Behavior can be predicted and controlled by manipulating environmental stimuli and reinforcements.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Criticisms</a:t>
            </a:r>
          </a:p>
        </p:txBody>
      </p:sp>
      <p:sp>
        <p:nvSpPr>
          <p:cNvPr id="3" name="Content Placeholder 2"/>
          <p:cNvSpPr>
            <a:spLocks noGrp="1"/>
          </p:cNvSpPr>
          <p:nvPr>
            <p:ph idx="1"/>
          </p:nvPr>
        </p:nvSpPr>
        <p:spPr/>
        <p:txBody>
          <a:bodyPr/>
          <a:lstStyle/>
          <a:p>
            <a:r>
              <a:rPr lang="en-GB" dirty="0"/>
              <a:t>Overemphasis on Observable Behaviour</a:t>
            </a:r>
          </a:p>
          <a:p>
            <a:r>
              <a:rPr lang="en-GB" dirty="0"/>
              <a:t>Neglect of Innate Factors</a:t>
            </a:r>
          </a:p>
          <a:p>
            <a:r>
              <a:rPr lang="en-GB" dirty="0"/>
              <a:t>Overreliance on Animal Studies</a:t>
            </a:r>
          </a:p>
          <a:p>
            <a:r>
              <a:rPr lang="en-GB" dirty="0"/>
              <a:t>Deterministic View</a:t>
            </a:r>
          </a:p>
          <a:p>
            <a:r>
              <a:rPr lang="en-GB" dirty="0"/>
              <a:t>Ethical Concerns</a:t>
            </a:r>
          </a:p>
          <a:p>
            <a:r>
              <a:rPr lang="en-GB" dirty="0"/>
              <a:t>Failure to Address Individual Differences</a:t>
            </a:r>
          </a:p>
          <a:p>
            <a:endParaRPr lang="en-GB"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III – The Psychodynamic Approach </a:t>
            </a:r>
          </a:p>
        </p:txBody>
      </p:sp>
      <p:sp>
        <p:nvSpPr>
          <p:cNvPr id="3" name="Content Placeholder 2"/>
          <p:cNvSpPr>
            <a:spLocks noGrp="1"/>
          </p:cNvSpPr>
          <p:nvPr>
            <p:ph idx="1"/>
          </p:nvPr>
        </p:nvSpPr>
        <p:spPr/>
        <p:txBody>
          <a:bodyPr/>
          <a:lstStyle/>
          <a:p>
            <a:r>
              <a:rPr lang="en-GB" sz="3200" dirty="0"/>
              <a:t>While Freud’s </a:t>
            </a:r>
            <a:r>
              <a:rPr lang="en-GB" sz="3200" i="1" dirty="0"/>
              <a:t>psychoanalytic theory</a:t>
            </a:r>
            <a:r>
              <a:rPr lang="en-GB" sz="3200" dirty="0"/>
              <a:t> was the original Psychodynamic theory, the Psychodynamic theories of Jung (1964), Adler (1927) and Erikson (1950) aren’t psychoanalytic. Because of his enormous influence, Freud will be our focus.</a:t>
            </a:r>
          </a:p>
          <a:p>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Sigmund Freud</a:t>
            </a:r>
          </a:p>
        </p:txBody>
      </p:sp>
      <p:sp>
        <p:nvSpPr>
          <p:cNvPr id="3" name="Content Placeholder 2"/>
          <p:cNvSpPr>
            <a:spLocks noGrp="1"/>
          </p:cNvSpPr>
          <p:nvPr>
            <p:ph idx="1"/>
          </p:nvPr>
        </p:nvSpPr>
        <p:spPr/>
        <p:txBody>
          <a:bodyPr>
            <a:normAutofit/>
          </a:bodyPr>
          <a:lstStyle/>
          <a:p>
            <a:r>
              <a:rPr lang="en-GB" sz="2400" b="1" dirty="0"/>
              <a:t>Levels of the mind: </a:t>
            </a:r>
            <a:r>
              <a:rPr lang="en-GB" sz="2400" dirty="0"/>
              <a:t>Pre-conscious, Conscious, Unconscious</a:t>
            </a:r>
          </a:p>
          <a:p>
            <a:r>
              <a:rPr lang="en-GB" sz="2400" b="1" dirty="0"/>
              <a:t>Personality</a:t>
            </a:r>
            <a:r>
              <a:rPr lang="en-GB" sz="2400" dirty="0"/>
              <a:t>: Id, Ego, Superego</a:t>
            </a:r>
          </a:p>
          <a:p>
            <a:r>
              <a:rPr lang="en-GB" sz="2400" b="1" dirty="0"/>
              <a:t>Psychosexual Stages of Development</a:t>
            </a:r>
          </a:p>
          <a:p>
            <a:r>
              <a:rPr lang="en-GB" sz="2400" b="1" dirty="0"/>
              <a:t>Defence  mechanisms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68105" y="219919"/>
            <a:ext cx="7016543" cy="5949387"/>
          </a:xfrm>
          <a:prstGeom prst="rect">
            <a:avLst/>
          </a:prstGeom>
        </p:spPr>
      </p:pic>
      <p:sp>
        <p:nvSpPr>
          <p:cNvPr id="5" name="Content Placeholder 4"/>
          <p:cNvSpPr>
            <a:spLocks noGrp="1"/>
          </p:cNvSpPr>
          <p:nvPr>
            <p:ph sz="half" idx="2"/>
          </p:nvPr>
        </p:nvSpPr>
        <p:spPr>
          <a:xfrm>
            <a:off x="7581417" y="2120900"/>
            <a:ext cx="4242477" cy="3748194"/>
          </a:xfrm>
        </p:spPr>
        <p:txBody>
          <a:bodyPr/>
          <a:lstStyle/>
          <a:p>
            <a:r>
              <a:rPr lang="en-GB" dirty="0"/>
              <a:t>Id – pleasure principle</a:t>
            </a:r>
          </a:p>
          <a:p>
            <a:r>
              <a:rPr lang="en-GB" dirty="0"/>
              <a:t>Ego – reality principle</a:t>
            </a:r>
          </a:p>
          <a:p>
            <a:r>
              <a:rPr lang="en-GB" dirty="0"/>
              <a:t>Superego – morality principle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11" name="Straight Connector 10"/>
          <p:cNvCxnSpPr>
            <a:cxnSpLocks noGrp="1" noRot="1" noChangeAspect="1" noMove="1" noResize="1" noEditPoints="1" noAdjustHandles="1" noChangeArrowheads="1" noChangeShapeType="1"/>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p:cNvSpPr>
            <a:spLocks noGrp="1" noRot="1" noChangeAspect="1" noMove="1" noResize="1" noEditPoints="1" noAdjustHandles="1" noChangeArrowheads="1" noChangeShapeType="1" noTextEdit="1"/>
          </p:cNvSpPr>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41110" y="639098"/>
            <a:ext cx="3401961" cy="3494790"/>
          </a:xfrm>
        </p:spPr>
        <p:txBody>
          <a:bodyPr vert="horz" lIns="91440" tIns="45720" rIns="91440" bIns="45720" rtlCol="0" anchor="b">
            <a:normAutofit/>
          </a:bodyPr>
          <a:lstStyle/>
          <a:p>
            <a:r>
              <a:rPr lang="en-US" sz="3800" b="1">
                <a:solidFill>
                  <a:schemeClr val="tx1">
                    <a:lumMod val="85000"/>
                    <a:lumOff val="15000"/>
                  </a:schemeClr>
                </a:solidFill>
              </a:rPr>
              <a:t>Psychosexual Stages of Development</a:t>
            </a:r>
          </a:p>
        </p:txBody>
      </p:sp>
      <p:pic>
        <p:nvPicPr>
          <p:cNvPr id="4" name="Content Placeholder 3" descr="A chart with text on it&#10;&#10;AI-generated content may be incorrect."/>
          <p:cNvPicPr>
            <a:picLocks noGrp="1" noChangeAspect="1"/>
          </p:cNvPicPr>
          <p:nvPr>
            <p:ph idx="1"/>
          </p:nvPr>
        </p:nvPicPr>
        <p:blipFill>
          <a:blip r:embed="rId2"/>
          <a:stretch>
            <a:fillRect/>
          </a:stretch>
        </p:blipFill>
        <p:spPr>
          <a:xfrm>
            <a:off x="633999" y="1041652"/>
            <a:ext cx="6912217" cy="4251013"/>
          </a:xfrm>
          <a:prstGeom prst="rect">
            <a:avLst/>
          </a:prstGeom>
        </p:spPr>
      </p:pic>
      <p:cxnSp>
        <p:nvCxnSpPr>
          <p:cNvPr id="15" name="Straight Connector 14"/>
          <p:cNvCxnSpPr>
            <a:cxnSpLocks noGrp="1" noRot="1" noChangeAspect="1" noMove="1" noResize="1" noEditPoints="1" noAdjustHandles="1" noChangeArrowheads="1" noChangeShapeType="1"/>
          </p:cNvCxnSpPr>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a:spLocks noGrp="1" noRot="1" noChangeAspect="1" noMove="1" noResize="1" noEditPoints="1" noAdjustHandles="1" noChangeArrowheads="1" noChangeShapeType="1" noTextEdit="1"/>
          </p:cNvSpPr>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7" name="Rectangle 5126"/>
          <p:cNvSpPr>
            <a:spLocks noGrp="1" noRot="1" noChangeAspect="1" noMove="1" noResize="1" noEditPoints="1" noAdjustHandles="1" noChangeArrowheads="1" noChangeShapeType="1" noTextEdit="1"/>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5129" name="Straight Connector 5128"/>
          <p:cNvCxnSpPr>
            <a:cxnSpLocks noGrp="1" noRot="1" noChangeAspect="1" noMove="1" noResize="1" noEditPoints="1" noAdjustHandles="1" noChangeArrowheads="1" noChangeShapeType="1"/>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5131" name="Rectangle 5130"/>
          <p:cNvSpPr>
            <a:spLocks noGrp="1" noRot="1" noChangeAspect="1" noMove="1" noResize="1" noEditPoints="1" noAdjustHandles="1" noChangeArrowheads="1" noChangeShapeType="1" noTextEdit="1"/>
          </p:cNvSpPr>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41110" y="639098"/>
            <a:ext cx="3401961" cy="3494790"/>
          </a:xfrm>
        </p:spPr>
        <p:txBody>
          <a:bodyPr vert="horz" lIns="91440" tIns="45720" rIns="91440" bIns="45720" rtlCol="0" anchor="b">
            <a:normAutofit/>
          </a:bodyPr>
          <a:lstStyle/>
          <a:p>
            <a:r>
              <a:rPr lang="en-US" sz="4200" b="1" dirty="0" smtClean="0">
                <a:solidFill>
                  <a:schemeClr val="tx1">
                    <a:lumMod val="85000"/>
                    <a:lumOff val="15000"/>
                  </a:schemeClr>
                </a:solidFill>
              </a:rPr>
              <a:t>Defense </a:t>
            </a:r>
            <a:r>
              <a:rPr lang="en-US" sz="4200" b="1" dirty="0">
                <a:solidFill>
                  <a:schemeClr val="tx1">
                    <a:lumMod val="85000"/>
                    <a:lumOff val="15000"/>
                  </a:schemeClr>
                </a:solidFill>
              </a:rPr>
              <a:t>mechanisms</a:t>
            </a:r>
          </a:p>
        </p:txBody>
      </p:sp>
      <p:pic>
        <p:nvPicPr>
          <p:cNvPr id="5122" name="Picture 2" descr="Defense Mechanisms in Psychology: Definitions, Types, Examples"/>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33999" y="1223097"/>
            <a:ext cx="6912217" cy="4668415"/>
          </a:xfrm>
          <a:prstGeom prst="rect">
            <a:avLst/>
          </a:prstGeom>
          <a:noFill/>
          <a:extLst>
            <a:ext uri="{909E8E84-426E-40DD-AFC4-6F175D3DCCD1}">
              <a14:hiddenFill xmlns:a14="http://schemas.microsoft.com/office/drawing/2010/main">
                <a:solidFill>
                  <a:srgbClr val="FFFFFF"/>
                </a:solidFill>
              </a14:hiddenFill>
            </a:ext>
          </a:extLst>
        </p:spPr>
      </p:pic>
      <p:cxnSp>
        <p:nvCxnSpPr>
          <p:cNvPr id="5133" name="Straight Connector 5132"/>
          <p:cNvCxnSpPr>
            <a:cxnSpLocks noGrp="1" noRot="1" noChangeAspect="1" noMove="1" noResize="1" noEditPoints="1" noAdjustHandles="1" noChangeArrowheads="1" noChangeShapeType="1"/>
          </p:cNvCxnSpPr>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135" name="Rectangle 5134"/>
          <p:cNvSpPr>
            <a:spLocks noGrp="1" noRot="1" noChangeAspect="1" noMove="1" noResize="1" noEditPoints="1" noAdjustHandles="1" noChangeArrowheads="1" noChangeShapeType="1" noTextEdit="1"/>
          </p:cNvSpPr>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Criticisms</a:t>
            </a:r>
          </a:p>
        </p:txBody>
      </p:sp>
      <p:sp>
        <p:nvSpPr>
          <p:cNvPr id="3" name="Content Placeholder 2"/>
          <p:cNvSpPr>
            <a:spLocks noGrp="1"/>
          </p:cNvSpPr>
          <p:nvPr>
            <p:ph idx="1"/>
          </p:nvPr>
        </p:nvSpPr>
        <p:spPr/>
        <p:txBody>
          <a:bodyPr/>
          <a:lstStyle/>
          <a:p>
            <a:r>
              <a:rPr lang="en-GB" dirty="0"/>
              <a:t>Lack of empirical evidence/ Unfalsifiable concepts</a:t>
            </a:r>
          </a:p>
          <a:p>
            <a:r>
              <a:rPr lang="en-GB" dirty="0"/>
              <a:t>Overemphasis on sexuality</a:t>
            </a:r>
          </a:p>
          <a:p>
            <a:r>
              <a:rPr lang="en-GB" dirty="0"/>
              <a:t>Gender bias</a:t>
            </a:r>
          </a:p>
          <a:p>
            <a:r>
              <a:rPr lang="en-GB" dirty="0"/>
              <a:t>Neglect of social and cultural influences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IV – The Humanistic Perspective</a:t>
            </a:r>
          </a:p>
        </p:txBody>
      </p:sp>
      <p:sp>
        <p:nvSpPr>
          <p:cNvPr id="3" name="Content Placeholder 2"/>
          <p:cNvSpPr>
            <a:spLocks noGrp="1"/>
          </p:cNvSpPr>
          <p:nvPr>
            <p:ph idx="1"/>
          </p:nvPr>
        </p:nvSpPr>
        <p:spPr/>
        <p:txBody>
          <a:bodyPr>
            <a:normAutofit lnSpcReduction="10000"/>
          </a:bodyPr>
          <a:lstStyle/>
          <a:p>
            <a:r>
              <a:rPr lang="en-GB" dirty="0"/>
              <a:t>Both the Psychoanalytic and Behaviourist approaches are </a:t>
            </a:r>
            <a:r>
              <a:rPr lang="en-GB" i="1" dirty="0"/>
              <a:t>deterministic</a:t>
            </a:r>
            <a:r>
              <a:rPr lang="en-GB" dirty="0"/>
              <a:t>: people are driven by forces beyond their control, either unconscious forces from within (Freud) or reinforcements from outside (Skinner). Humanistic Psychologists believe in people’s ability to choose how they act. It emphasizes individual potential</a:t>
            </a:r>
            <a:r>
              <a:rPr lang="en-GB" dirty="0" smtClean="0"/>
              <a:t>, personal growth, </a:t>
            </a:r>
            <a:r>
              <a:rPr lang="en-GB" dirty="0"/>
              <a:t>self-actualization, and subjective experience</a:t>
            </a:r>
          </a:p>
          <a:p>
            <a:endParaRPr lang="en-GB" dirty="0"/>
          </a:p>
          <a:p>
            <a:r>
              <a:rPr lang="en-GB" b="1" dirty="0"/>
              <a:t>Abraham Maslow </a:t>
            </a:r>
            <a:r>
              <a:rPr lang="en-GB" dirty="0"/>
              <a:t>– needs hierarchy, self-actualization, positive growth</a:t>
            </a:r>
          </a:p>
          <a:p>
            <a:r>
              <a:rPr lang="en-GB" b="1" dirty="0"/>
              <a:t>Carl Rogers </a:t>
            </a:r>
            <a:r>
              <a:rPr lang="en-GB" dirty="0"/>
              <a:t>– self concept, </a:t>
            </a:r>
            <a:r>
              <a:rPr lang="en-GB" dirty="0" smtClean="0"/>
              <a:t>unconditional positive regard, conditions of worth, fully </a:t>
            </a:r>
            <a:r>
              <a:rPr lang="en-GB" dirty="0"/>
              <a:t>functioning person </a:t>
            </a:r>
          </a:p>
          <a:p>
            <a:endParaRPr lang="en-GB"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of Maslow and Rogers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a:t>Similarities</a:t>
            </a:r>
            <a:r>
              <a:rPr lang="en-US" dirty="0"/>
              <a:t>:</a:t>
            </a:r>
          </a:p>
          <a:p>
            <a:r>
              <a:rPr lang="en-US" b="1" dirty="0"/>
              <a:t>Focus on Self-Actualization</a:t>
            </a:r>
            <a:r>
              <a:rPr lang="en-US" dirty="0"/>
              <a:t>: Both Maslow and Rogers saw self-actualization as a central human drive, emphasizing personal growth and fulfillment.</a:t>
            </a:r>
          </a:p>
          <a:p>
            <a:r>
              <a:rPr lang="en-US" b="1" dirty="0"/>
              <a:t>Positive View of Humanity</a:t>
            </a:r>
            <a:r>
              <a:rPr lang="en-US" dirty="0"/>
              <a:t>: They rejected deterministic or pathology-focused views (e.g., Freud’s psychoanalysis) and instead highlighted human potential, creativity, and autonomy.</a:t>
            </a:r>
          </a:p>
          <a:p>
            <a:r>
              <a:rPr lang="en-US" b="1" dirty="0"/>
              <a:t>Holistic Approach</a:t>
            </a:r>
            <a:r>
              <a:rPr lang="en-US" dirty="0"/>
              <a:t>: Both viewed individuals as whole beings, not just products of biology or environment, and emphasized subjective experience.</a:t>
            </a:r>
          </a:p>
          <a:p>
            <a:r>
              <a:rPr lang="en-US" b="1" dirty="0" smtClean="0"/>
              <a:t>Difference:</a:t>
            </a:r>
          </a:p>
          <a:p>
            <a:r>
              <a:rPr lang="en-US" b="1" dirty="0" smtClean="0"/>
              <a:t>Structure </a:t>
            </a:r>
            <a:r>
              <a:rPr lang="en-US" b="1" dirty="0"/>
              <a:t>of Motivation</a:t>
            </a:r>
            <a:r>
              <a:rPr lang="en-US" dirty="0"/>
              <a:t>: Maslow proposed a structured hierarchy of needs, with clear </a:t>
            </a:r>
            <a:r>
              <a:rPr lang="en-US" dirty="0" smtClean="0"/>
              <a:t>stages; Rogers </a:t>
            </a:r>
            <a:r>
              <a:rPr lang="en-US" dirty="0"/>
              <a:t>focused on a more fluid actualizing tendency, without a rigid sequence.</a:t>
            </a:r>
          </a:p>
          <a:p>
            <a:endParaRPr lang="en-US" dirty="0"/>
          </a:p>
        </p:txBody>
      </p:sp>
    </p:spTree>
    <p:extLst>
      <p:ext uri="{BB962C8B-B14F-4D97-AF65-F5344CB8AC3E}">
        <p14:creationId xmlns:p14="http://schemas.microsoft.com/office/powerpoint/2010/main" val="26019383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53" name="Rectangle 6152"/>
          <p:cNvSpPr>
            <a:spLocks noGrp="1" noRot="1" noChangeAspect="1" noMove="1" noResize="1" noEditPoints="1" noAdjustHandles="1" noChangeArrowheads="1" noChangeShapeType="1" noTextEdit="1"/>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6155" name="Straight Connector 6154"/>
          <p:cNvCxnSpPr>
            <a:cxnSpLocks noGrp="1" noRot="1" noChangeAspect="1" noMove="1" noResize="1" noEditPoints="1" noAdjustHandles="1" noChangeArrowheads="1" noChangeShapeType="1"/>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6157" name="Rectangle 6156"/>
          <p:cNvSpPr>
            <a:spLocks noGrp="1" noRot="1" noChangeAspect="1" noMove="1" noResize="1" noEditPoints="1" noAdjustHandles="1" noChangeArrowheads="1" noChangeShapeType="1" noTextEdit="1"/>
          </p:cNvSpPr>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41110" y="639098"/>
            <a:ext cx="3401961" cy="3494790"/>
          </a:xfrm>
        </p:spPr>
        <p:txBody>
          <a:bodyPr vert="horz" lIns="91440" tIns="45720" rIns="91440" bIns="45720" rtlCol="0" anchor="b">
            <a:normAutofit/>
          </a:bodyPr>
          <a:lstStyle/>
          <a:p>
            <a:r>
              <a:rPr lang="en-US" sz="5400" b="1" dirty="0">
                <a:solidFill>
                  <a:schemeClr val="tx1">
                    <a:lumMod val="85000"/>
                    <a:lumOff val="15000"/>
                  </a:schemeClr>
                </a:solidFill>
              </a:rPr>
              <a:t>Maslow</a:t>
            </a:r>
          </a:p>
        </p:txBody>
      </p:sp>
      <p:pic>
        <p:nvPicPr>
          <p:cNvPr id="6148" name="Picture 4" descr="Maslow's Hierarchy of Needs: How Leaders Motivate Their Teams"/>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33999" y="1231738"/>
            <a:ext cx="6912217" cy="3870841"/>
          </a:xfrm>
          <a:prstGeom prst="rect">
            <a:avLst/>
          </a:prstGeom>
          <a:noFill/>
          <a:extLst>
            <a:ext uri="{909E8E84-426E-40DD-AFC4-6F175D3DCCD1}">
              <a14:hiddenFill xmlns:a14="http://schemas.microsoft.com/office/drawing/2010/main">
                <a:solidFill>
                  <a:srgbClr val="FFFFFF"/>
                </a:solidFill>
              </a14:hiddenFill>
            </a:ext>
          </a:extLst>
        </p:spPr>
      </p:pic>
      <p:cxnSp>
        <p:nvCxnSpPr>
          <p:cNvPr id="6159" name="Straight Connector 6158"/>
          <p:cNvCxnSpPr>
            <a:cxnSpLocks noGrp="1" noRot="1" noChangeAspect="1" noMove="1" noResize="1" noEditPoints="1" noAdjustHandles="1" noChangeArrowheads="1" noChangeShapeType="1"/>
          </p:cNvCxnSpPr>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6161" name="Rectangle 6160"/>
          <p:cNvSpPr>
            <a:spLocks noGrp="1" noRot="1" noChangeAspect="1" noMove="1" noResize="1" noEditPoints="1" noAdjustHandles="1" noChangeArrowheads="1" noChangeShapeType="1" noTextEdit="1"/>
          </p:cNvSpPr>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p:cNvSpPr>
            <a:spLocks noGrp="1" noRot="1" noChangeAspect="1" noMove="1" noResize="1" noEditPoints="1" noAdjustHandles="1" noChangeArrowheads="1" noChangeShapeType="1" noTextEdit="1"/>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cxnSp>
        <p:nvCxnSpPr>
          <p:cNvPr id="7177" name="Straight Connector 7176"/>
          <p:cNvCxnSpPr>
            <a:cxnSpLocks noGrp="1" noRot="1" noChangeAspect="1" noMove="1" noResize="1" noEditPoints="1" noAdjustHandles="1" noChangeArrowheads="1" noChangeShapeType="1"/>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7179" name="Rectangle 7178"/>
          <p:cNvSpPr>
            <a:spLocks noGrp="1" noRot="1" noChangeAspect="1" noMove="1" noResize="1" noEditPoints="1" noAdjustHandles="1" noChangeArrowheads="1" noChangeShapeType="1" noTextEdit="1"/>
          </p:cNvSpPr>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41110" y="639098"/>
            <a:ext cx="3401961" cy="3494790"/>
          </a:xfrm>
        </p:spPr>
        <p:txBody>
          <a:bodyPr vert="horz" lIns="91440" tIns="45720" rIns="91440" bIns="45720" rtlCol="0" anchor="b">
            <a:normAutofit/>
          </a:bodyPr>
          <a:lstStyle/>
          <a:p>
            <a:r>
              <a:rPr lang="en-US" sz="5400" b="1" dirty="0">
                <a:solidFill>
                  <a:schemeClr val="tx1">
                    <a:lumMod val="85000"/>
                    <a:lumOff val="15000"/>
                  </a:schemeClr>
                </a:solidFill>
              </a:rPr>
              <a:t>Rogers </a:t>
            </a:r>
          </a:p>
        </p:txBody>
      </p:sp>
      <p:pic>
        <p:nvPicPr>
          <p:cNvPr id="7170" name="Picture 2" descr="Incongruence and Congruence – TOKYO MENTAL HEALTH"/>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3999" y="1435266"/>
            <a:ext cx="6912217" cy="3981682"/>
          </a:xfrm>
          <a:prstGeom prst="rect">
            <a:avLst/>
          </a:prstGeom>
          <a:noFill/>
          <a:extLst>
            <a:ext uri="{909E8E84-426E-40DD-AFC4-6F175D3DCCD1}">
              <a14:hiddenFill xmlns:a14="http://schemas.microsoft.com/office/drawing/2010/main">
                <a:solidFill>
                  <a:srgbClr val="FFFFFF"/>
                </a:solidFill>
              </a14:hiddenFill>
            </a:ext>
          </a:extLst>
        </p:spPr>
      </p:pic>
      <p:cxnSp>
        <p:nvCxnSpPr>
          <p:cNvPr id="7181" name="Straight Connector 7180"/>
          <p:cNvCxnSpPr>
            <a:cxnSpLocks noGrp="1" noRot="1" noChangeAspect="1" noMove="1" noResize="1" noEditPoints="1" noAdjustHandles="1" noChangeArrowheads="1" noChangeShapeType="1"/>
          </p:cNvCxnSpPr>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183" name="Rectangle 7182"/>
          <p:cNvSpPr>
            <a:spLocks noGrp="1" noRot="1" noChangeAspect="1" noMove="1" noResize="1" noEditPoints="1" noAdjustHandles="1" noChangeArrowheads="1" noChangeShapeType="1" noTextEdit="1"/>
          </p:cNvSpPr>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TextBox 11"/>
          <p:cNvSpPr txBox="1"/>
          <p:nvPr/>
        </p:nvSpPr>
        <p:spPr>
          <a:xfrm>
            <a:off x="523755" y="5703385"/>
            <a:ext cx="6094070" cy="369332"/>
          </a:xfrm>
          <a:prstGeom prst="rect">
            <a:avLst/>
          </a:prstGeom>
          <a:noFill/>
        </p:spPr>
        <p:txBody>
          <a:bodyPr wrap="square">
            <a:spAutoFit/>
          </a:bodyPr>
          <a:lstStyle/>
          <a:p>
            <a:r>
              <a:rPr lang="en-US" sz="1800" b="1" dirty="0">
                <a:solidFill>
                  <a:schemeClr val="tx1">
                    <a:lumMod val="85000"/>
                    <a:lumOff val="15000"/>
                  </a:schemeClr>
                </a:solidFill>
              </a:rPr>
              <a:t>Perceived self = </a:t>
            </a:r>
            <a:r>
              <a:rPr lang="en-US" sz="1800" b="1">
                <a:solidFill>
                  <a:schemeClr val="tx1">
                    <a:lumMod val="85000"/>
                    <a:lumOff val="15000"/>
                  </a:schemeClr>
                </a:solidFill>
              </a:rPr>
              <a:t>Actual self </a:t>
            </a:r>
            <a:endParaRPr lang="en-GB"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Criticisms </a:t>
            </a:r>
          </a:p>
        </p:txBody>
      </p:sp>
      <p:sp>
        <p:nvSpPr>
          <p:cNvPr id="3" name="Content Placeholder 2"/>
          <p:cNvSpPr>
            <a:spLocks noGrp="1"/>
          </p:cNvSpPr>
          <p:nvPr>
            <p:ph idx="1"/>
          </p:nvPr>
        </p:nvSpPr>
        <p:spPr/>
        <p:txBody>
          <a:bodyPr/>
          <a:lstStyle/>
          <a:p>
            <a:pPr marL="0" indent="0">
              <a:buNone/>
            </a:pPr>
            <a:r>
              <a:rPr lang="en-GB" dirty="0"/>
              <a:t>Concepts are difficult to test empirically.</a:t>
            </a:r>
          </a:p>
          <a:p>
            <a:pPr marL="0" indent="0">
              <a:buNone/>
            </a:pPr>
            <a:r>
              <a:rPr lang="en-GB" dirty="0"/>
              <a:t>Overly optimistic view of human nature.</a:t>
            </a:r>
          </a:p>
          <a:p>
            <a:pPr marL="0" indent="0">
              <a:buNone/>
            </a:pPr>
            <a:r>
              <a:rPr lang="en-GB" dirty="0"/>
              <a:t>Overemphasis on subjective experiences.</a:t>
            </a:r>
          </a:p>
          <a:p>
            <a:pPr marL="0" indent="0">
              <a:buNone/>
            </a:pPr>
            <a:endParaRPr lang="en-GB" dirty="0"/>
          </a:p>
          <a:p>
            <a:pPr marL="0" indent="0">
              <a:buNone/>
            </a:pPr>
            <a:endParaRPr lang="en-GB"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V – The Cognitive Approach</a:t>
            </a:r>
          </a:p>
        </p:txBody>
      </p:sp>
      <p:sp>
        <p:nvSpPr>
          <p:cNvPr id="3" name="Content Placeholder 2"/>
          <p:cNvSpPr>
            <a:spLocks noGrp="1"/>
          </p:cNvSpPr>
          <p:nvPr>
            <p:ph idx="1"/>
          </p:nvPr>
        </p:nvSpPr>
        <p:spPr/>
        <p:txBody>
          <a:bodyPr>
            <a:normAutofit fontScale="92500"/>
          </a:bodyPr>
          <a:lstStyle/>
          <a:p>
            <a:r>
              <a:rPr lang="en-GB" sz="2400" dirty="0"/>
              <a:t>Cognitive Psychology doesn’t have a unifying theory and, unlike other ‘brands’ of Psychology, it lacks an acknowledged figure: such as Watson, Freud and Rogers and their respective approaches (Wade and </a:t>
            </a:r>
            <a:r>
              <a:rPr lang="en-GB" sz="2400" dirty="0" err="1"/>
              <a:t>Tavris</a:t>
            </a:r>
            <a:r>
              <a:rPr lang="en-GB" sz="2400" dirty="0"/>
              <a:t>, 1990). </a:t>
            </a:r>
          </a:p>
          <a:p>
            <a:r>
              <a:rPr lang="en-GB" sz="2400" dirty="0"/>
              <a:t>It focuses on mental processes such as perception, memory, thinking, problem-solving, and decision-making. It views the mind as an information-processing system, akin to a computer, and emphasizes how people actively interpret and make sense of their experiences.</a:t>
            </a:r>
          </a:p>
          <a:p>
            <a:r>
              <a:rPr lang="en-GB" sz="2400" dirty="0"/>
              <a:t>E.g. Tolman and his cognitive maps</a:t>
            </a:r>
          </a:p>
          <a:p>
            <a:endParaRPr lang="en-GB"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Key theories, models and real life applications</a:t>
            </a:r>
          </a:p>
        </p:txBody>
      </p:sp>
      <p:sp>
        <p:nvSpPr>
          <p:cNvPr id="3" name="Content Placeholder 2"/>
          <p:cNvSpPr>
            <a:spLocks noGrp="1"/>
          </p:cNvSpPr>
          <p:nvPr>
            <p:ph idx="1"/>
          </p:nvPr>
        </p:nvSpPr>
        <p:spPr/>
        <p:txBody>
          <a:bodyPr/>
          <a:lstStyle/>
          <a:p>
            <a:r>
              <a:rPr lang="en-GB" sz="2400" dirty="0"/>
              <a:t>Memory Models: Atkinson and Shiffrin, and Baddeley (TBD later on)</a:t>
            </a:r>
          </a:p>
          <a:p>
            <a:r>
              <a:rPr lang="en-GB" sz="2400" dirty="0"/>
              <a:t>Cognitive Development: Piaget (TBD later on)</a:t>
            </a:r>
          </a:p>
          <a:p>
            <a:r>
              <a:rPr lang="en-GB" sz="2400" dirty="0"/>
              <a:t>Cognitive Behavioural Therapy: Beck (TBD later on)</a:t>
            </a:r>
          </a:p>
          <a:p>
            <a:r>
              <a:rPr lang="en-GB" sz="2400" dirty="0"/>
              <a:t>Rational Emotive Behaviour Therapy: Ellis (TBD later on)</a:t>
            </a:r>
          </a:p>
          <a:p>
            <a:r>
              <a:rPr lang="en-GB" sz="2400" dirty="0"/>
              <a:t>Artificial Intelligence</a:t>
            </a:r>
          </a:p>
          <a:p>
            <a:endParaRPr lang="en-GB" dirty="0"/>
          </a:p>
          <a:p>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Criticisms</a:t>
            </a:r>
          </a:p>
        </p:txBody>
      </p:sp>
      <p:sp>
        <p:nvSpPr>
          <p:cNvPr id="3" name="Content Placeholder 2"/>
          <p:cNvSpPr>
            <a:spLocks noGrp="1"/>
          </p:cNvSpPr>
          <p:nvPr>
            <p:ph idx="1"/>
          </p:nvPr>
        </p:nvSpPr>
        <p:spPr/>
        <p:txBody>
          <a:bodyPr/>
          <a:lstStyle/>
          <a:p>
            <a:r>
              <a:rPr lang="en-GB" sz="2400" dirty="0"/>
              <a:t>Overemphasis on Mental Processes</a:t>
            </a:r>
          </a:p>
          <a:p>
            <a:r>
              <a:rPr lang="en-GB" sz="2400" dirty="0"/>
              <a:t>The mind-as-computer metaphor oversimplifies human cognition, ignoring creativity, intuition, or subjective experiences that humanism prioritizes.</a:t>
            </a:r>
          </a:p>
          <a:p>
            <a:r>
              <a:rPr lang="en-GB" sz="2400" dirty="0"/>
              <a:t>Reductionist</a:t>
            </a:r>
          </a:p>
          <a:p>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VI – The Evolutionary Approach</a:t>
            </a:r>
          </a:p>
        </p:txBody>
      </p:sp>
      <p:sp>
        <p:nvSpPr>
          <p:cNvPr id="3" name="Content Placeholder 2"/>
          <p:cNvSpPr>
            <a:spLocks noGrp="1"/>
          </p:cNvSpPr>
          <p:nvPr>
            <p:ph idx="1"/>
          </p:nvPr>
        </p:nvSpPr>
        <p:spPr/>
        <p:txBody>
          <a:bodyPr>
            <a:normAutofit fontScale="92500" lnSpcReduction="10000"/>
          </a:bodyPr>
          <a:lstStyle/>
          <a:p>
            <a:r>
              <a:rPr lang="en-GB" dirty="0"/>
              <a:t>Evolutionary psychology is a theoretical approach to psychology that explains human mental and behavioural traits as adaptations shaped by natural selection to address survival and reproductive challenges in ancestral environments. It integrates principles from evolutionary biology, cognitive psychology, and anthropology, positing that the human mind consists of specialized cognitive mechanisms, or "modules," designed to solve specific adaptive problems like finding food or selecting mates. </a:t>
            </a:r>
          </a:p>
          <a:p>
            <a:r>
              <a:rPr lang="en-GB" dirty="0"/>
              <a:t>EP is, in general, about </a:t>
            </a:r>
            <a:r>
              <a:rPr lang="en-GB" i="1" dirty="0"/>
              <a:t>universal</a:t>
            </a:r>
            <a:r>
              <a:rPr lang="en-GB" dirty="0"/>
              <a:t> features of the mind. In so far as individual differences exist, the default assumption is that they’re expressions of the same universal human nature as it encounters different environments. </a:t>
            </a:r>
            <a:r>
              <a:rPr lang="en-GB" i="1" dirty="0"/>
              <a:t>Gender</a:t>
            </a:r>
            <a:r>
              <a:rPr lang="en-GB" dirty="0"/>
              <a:t> is the crucial exception to this rule. Natural selection has constructed the mental modules of men and women in very different ways as a result of their divergent reproductive roles .</a:t>
            </a:r>
          </a:p>
          <a:p>
            <a:endParaRPr lang="en-GB"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47124"/>
            <a:ext cx="10058400" cy="1450757"/>
          </a:xfrm>
        </p:spPr>
        <p:txBody>
          <a:bodyPr>
            <a:normAutofit fontScale="90000"/>
          </a:bodyPr>
          <a:lstStyle/>
          <a:p>
            <a:pPr algn="ctr"/>
            <a:r>
              <a:rPr lang="en-GB" b="1" dirty="0"/>
              <a:t>Evolutionary psychology principles applied to human behaviour</a:t>
            </a:r>
            <a:br>
              <a:rPr lang="en-GB" b="1" dirty="0"/>
            </a:br>
            <a:endParaRPr lang="en-GB" b="1" dirty="0"/>
          </a:p>
        </p:txBody>
      </p:sp>
      <p:sp>
        <p:nvSpPr>
          <p:cNvPr id="3" name="Content Placeholder 2"/>
          <p:cNvSpPr>
            <a:spLocks noGrp="1"/>
          </p:cNvSpPr>
          <p:nvPr>
            <p:ph idx="1"/>
          </p:nvPr>
        </p:nvSpPr>
        <p:spPr/>
        <p:txBody>
          <a:bodyPr>
            <a:normAutofit/>
          </a:bodyPr>
          <a:lstStyle/>
          <a:p>
            <a:r>
              <a:rPr lang="en-GB" b="1" dirty="0"/>
              <a:t>1. Mate Preferences and Sexual Selection </a:t>
            </a:r>
            <a:r>
              <a:rPr lang="en-GB" dirty="0"/>
              <a:t>- Evolutionary psychology suggests that mate preferences evolved to maximize reproductive success. Men and women developed distinct preferences.</a:t>
            </a:r>
          </a:p>
          <a:p>
            <a:r>
              <a:rPr lang="en-GB" dirty="0"/>
              <a:t>Men’s Preference for Physical Attractiveness &amp; Women’s Preference for Resources (Buss, 1989).</a:t>
            </a:r>
          </a:p>
          <a:p>
            <a:r>
              <a:rPr lang="en-GB" b="1" dirty="0"/>
              <a:t>2. Fear of Snakes and Spiders </a:t>
            </a:r>
            <a:r>
              <a:rPr lang="en-GB" dirty="0"/>
              <a:t>- Innate fears of certain animals may have evolved to protect humans from dangerous threats in the environment of evolutionary </a:t>
            </a:r>
            <a:r>
              <a:rPr lang="en-GB" dirty="0" err="1"/>
              <a:t>adaptedness</a:t>
            </a:r>
            <a:r>
              <a:rPr lang="en-GB" dirty="0"/>
              <a:t> (Öhman &amp; Mineka, 2001).</a:t>
            </a:r>
          </a:p>
          <a:p>
            <a:endParaRPr lang="en-GB" dirty="0"/>
          </a:p>
          <a:p>
            <a:endParaRPr lang="en-GB" dirty="0"/>
          </a:p>
          <a:p>
            <a:endParaRPr lang="en-GB" dirty="0"/>
          </a:p>
          <a:p>
            <a:endParaRPr lang="en-GB" dirty="0"/>
          </a:p>
          <a:p>
            <a:endParaRPr lang="en-GB" dirty="0"/>
          </a:p>
          <a:p>
            <a:endParaRPr lang="en-GB" dirty="0"/>
          </a:p>
          <a:p>
            <a:endParaRPr lang="en-GB"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8560" y="703798"/>
            <a:ext cx="10058400" cy="1450757"/>
          </a:xfrm>
        </p:spPr>
        <p:txBody>
          <a:bodyPr>
            <a:normAutofit fontScale="90000"/>
          </a:bodyPr>
          <a:lstStyle/>
          <a:p>
            <a:pPr algn="ctr"/>
            <a:r>
              <a:rPr lang="en-GB" b="1" dirty="0"/>
              <a:t>Evolutionary psychology principles applied to human behaviour</a:t>
            </a:r>
            <a:br>
              <a:rPr lang="en-GB" b="1" dirty="0"/>
            </a:br>
            <a:endParaRPr lang="en-GB" b="1" dirty="0"/>
          </a:p>
        </p:txBody>
      </p:sp>
      <p:sp>
        <p:nvSpPr>
          <p:cNvPr id="3" name="Content Placeholder 2"/>
          <p:cNvSpPr>
            <a:spLocks noGrp="1"/>
          </p:cNvSpPr>
          <p:nvPr>
            <p:ph idx="1"/>
          </p:nvPr>
        </p:nvSpPr>
        <p:spPr>
          <a:xfrm>
            <a:off x="1097280" y="1956122"/>
            <a:ext cx="10454254" cy="4444677"/>
          </a:xfrm>
        </p:spPr>
        <p:txBody>
          <a:bodyPr>
            <a:normAutofit fontScale="25000" lnSpcReduction="20000"/>
          </a:bodyPr>
          <a:lstStyle/>
          <a:p>
            <a:r>
              <a:rPr lang="en-GB" sz="7200" b="1" dirty="0"/>
              <a:t>3. Parental Investment and Attachment </a:t>
            </a:r>
            <a:r>
              <a:rPr lang="en-GB" sz="7200" dirty="0"/>
              <a:t>- Parents invest heavily in offspring to ensure their survival, but strategies differ due to biological costs. Mothers, with higher reproductive costs (pregnancy, nursing), tend to be more nurturing, while fathers may focus on resource provision. Mother-infant bonding is rapid and intense, driven by oxytocin release during childbirth and breastfeeding, fostering attachment to ensure infant survival. Fathers may show conditional investment based on paternity certainty (Bowlby, 1969). </a:t>
            </a:r>
            <a:r>
              <a:rPr lang="en-GB" sz="7200" b="1" dirty="0"/>
              <a:t>Mommy’s baby, daddy’s may be!</a:t>
            </a:r>
          </a:p>
          <a:p>
            <a:endParaRPr lang="en-GB" sz="6400" b="1" dirty="0"/>
          </a:p>
          <a:p>
            <a:r>
              <a:rPr lang="en-GB" sz="7200" b="1" dirty="0"/>
              <a:t>4. Jealousy as a Mate-Retention Strategy </a:t>
            </a:r>
            <a:r>
              <a:rPr lang="en-GB" sz="7200" dirty="0"/>
              <a:t>- Jealousy evolved to protect relationships from threats, ensuring reproductive success by preventing partner loss. Men are more distressed by sexual infidelity, while women are more concerned about emotional infidelity (Buss et al, 1992). </a:t>
            </a:r>
          </a:p>
          <a:p>
            <a:endParaRPr lang="en-GB" sz="3300" dirty="0"/>
          </a:p>
          <a:p>
            <a:endParaRPr lang="en-GB" sz="2400" dirty="0"/>
          </a:p>
          <a:p>
            <a:endParaRPr lang="en-GB" sz="2400" b="1" dirty="0"/>
          </a:p>
          <a:p>
            <a:endParaRPr lang="en-GB" sz="2400" dirty="0"/>
          </a:p>
          <a:p>
            <a:r>
              <a:rPr lang="en-GB" sz="2400" dirty="0"/>
              <a:t>	</a:t>
            </a:r>
          </a:p>
          <a:p>
            <a:endParaRPr lang="en-GB"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Criticisms </a:t>
            </a:r>
          </a:p>
        </p:txBody>
      </p:sp>
      <p:sp>
        <p:nvSpPr>
          <p:cNvPr id="3" name="Content Placeholder 2"/>
          <p:cNvSpPr>
            <a:spLocks noGrp="1"/>
          </p:cNvSpPr>
          <p:nvPr>
            <p:ph idx="1"/>
          </p:nvPr>
        </p:nvSpPr>
        <p:spPr/>
        <p:txBody>
          <a:bodyPr/>
          <a:lstStyle/>
          <a:p>
            <a:r>
              <a:rPr lang="en-GB" sz="2400" dirty="0"/>
              <a:t>Falsifiability </a:t>
            </a:r>
          </a:p>
          <a:p>
            <a:r>
              <a:rPr lang="en-GB" sz="2400" dirty="0"/>
              <a:t>Reductionism</a:t>
            </a:r>
          </a:p>
          <a:p>
            <a:r>
              <a:rPr lang="en-GB" sz="2400" dirty="0"/>
              <a:t>Misinterpretation (may be misused to justify social inequalities)</a:t>
            </a:r>
          </a:p>
          <a:p>
            <a:endParaRPr lang="en-GB"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a:off x="16" y="0"/>
            <a:ext cx="4648593"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92369" y="605896"/>
            <a:ext cx="3642309" cy="5646208"/>
          </a:xfrm>
        </p:spPr>
        <p:txBody>
          <a:bodyPr anchor="ctr">
            <a:normAutofit/>
          </a:bodyPr>
          <a:lstStyle/>
          <a:p>
            <a:r>
              <a:rPr lang="en-GB" b="1">
                <a:solidFill>
                  <a:srgbClr val="FFFFFF"/>
                </a:solidFill>
              </a:rPr>
              <a:t>Summary</a:t>
            </a:r>
          </a:p>
        </p:txBody>
      </p:sp>
      <p:sp>
        <p:nvSpPr>
          <p:cNvPr id="3" name="Content Placeholder 2"/>
          <p:cNvSpPr>
            <a:spLocks noGrp="1"/>
          </p:cNvSpPr>
          <p:nvPr>
            <p:ph idx="1"/>
          </p:nvPr>
        </p:nvSpPr>
        <p:spPr>
          <a:xfrm>
            <a:off x="5231958" y="605896"/>
            <a:ext cx="6666817" cy="6037972"/>
          </a:xfrm>
        </p:spPr>
        <p:txBody>
          <a:bodyPr anchor="ctr">
            <a:normAutofit/>
          </a:bodyPr>
          <a:lstStyle/>
          <a:p>
            <a:pPr>
              <a:lnSpc>
                <a:spcPct val="110000"/>
              </a:lnSpc>
              <a:buFont typeface="Arial" panose="020B0604020202020204" pitchFamily="34" charset="0"/>
              <a:buChar char="•"/>
            </a:pPr>
            <a:r>
              <a:rPr lang="en-GB" sz="1600" dirty="0"/>
              <a:t>Different theoretical approaches are based on different models of the nature of  human beings.</a:t>
            </a:r>
          </a:p>
          <a:p>
            <a:pPr>
              <a:lnSpc>
                <a:spcPct val="110000"/>
              </a:lnSpc>
              <a:buFont typeface="Arial" panose="020B0604020202020204" pitchFamily="34" charset="0"/>
              <a:buChar char="•"/>
            </a:pPr>
            <a:r>
              <a:rPr lang="en-GB" sz="1600" dirty="0"/>
              <a:t>Biopsychological approach attempt to quantify how much of the variability of any given trait can be  attributed to heritability, shared environments or non-shared environments.</a:t>
            </a:r>
          </a:p>
          <a:p>
            <a:pPr>
              <a:lnSpc>
                <a:spcPct val="110000"/>
              </a:lnSpc>
              <a:buFont typeface="Arial" panose="020B0604020202020204" pitchFamily="34" charset="0"/>
              <a:buChar char="•"/>
            </a:pPr>
            <a:r>
              <a:rPr lang="en-GB" sz="1600" dirty="0"/>
              <a:t>The Behaviourist approach stresses the role of environmental influences (learning), especially classical and operant conditioning. Psychology’s aim is to predict and control behaviour.</a:t>
            </a:r>
          </a:p>
          <a:p>
            <a:pPr>
              <a:lnSpc>
                <a:spcPct val="110000"/>
              </a:lnSpc>
              <a:buFont typeface="Arial" panose="020B0604020202020204" pitchFamily="34" charset="0"/>
              <a:buChar char="•"/>
            </a:pPr>
            <a:r>
              <a:rPr lang="en-GB" sz="1600" dirty="0"/>
              <a:t>The Psychodynamic approach is based on Freud’s psychoanalytic theory, which stresses the unconscious (especially repression), infantile sexuality and the impact of early experience.</a:t>
            </a:r>
          </a:p>
          <a:p>
            <a:pPr>
              <a:lnSpc>
                <a:spcPct val="110000"/>
              </a:lnSpc>
              <a:buFont typeface="Arial" panose="020B0604020202020204" pitchFamily="34" charset="0"/>
              <a:buChar char="•"/>
            </a:pPr>
            <a:r>
              <a:rPr lang="en-GB" sz="1600" dirty="0"/>
              <a:t>Humanistic approach believes in free will and stresses the importance of positive aspects of human development.</a:t>
            </a:r>
          </a:p>
          <a:p>
            <a:pPr>
              <a:lnSpc>
                <a:spcPct val="110000"/>
              </a:lnSpc>
              <a:buFont typeface="Arial" panose="020B0604020202020204" pitchFamily="34" charset="0"/>
              <a:buChar char="•"/>
            </a:pPr>
            <a:r>
              <a:rPr lang="en-GB" sz="1600" dirty="0"/>
              <a:t>The Cognitive approach analogies and metaphors when trying to describe what’s going on inside the brain, in particular the computer analogy and the view of people as information processors.</a:t>
            </a:r>
          </a:p>
          <a:p>
            <a:pPr>
              <a:lnSpc>
                <a:spcPct val="110000"/>
              </a:lnSpc>
              <a:buFont typeface="Arial" panose="020B0604020202020204" pitchFamily="34" charset="0"/>
              <a:buChar char="•"/>
            </a:pPr>
            <a:r>
              <a:rPr lang="en-GB" sz="1600" dirty="0"/>
              <a:t>Evolutionary approach mentions mechanism or modules which are believed to be fixed and universal.</a:t>
            </a:r>
          </a:p>
          <a:p>
            <a:pPr>
              <a:lnSpc>
                <a:spcPct val="110000"/>
              </a:lnSpc>
            </a:pPr>
            <a:endParaRPr lang="en-GB" sz="1300" dirty="0"/>
          </a:p>
        </p:txBody>
      </p:sp>
    </p:spTree>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Sagona Extra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agona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1948</Words>
  <Application>Microsoft Office PowerPoint</Application>
  <PresentationFormat>Widescreen</PresentationFormat>
  <Paragraphs>160</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Sagona Book</vt:lpstr>
      <vt:lpstr>Sagona ExtraLight</vt:lpstr>
      <vt:lpstr>RetrospectVTI</vt:lpstr>
      <vt:lpstr>PSYC100 GENERAL PSYCHOLOGY</vt:lpstr>
      <vt:lpstr>Learning Outcomes</vt:lpstr>
      <vt:lpstr>I - The Biopsychological Approach</vt:lpstr>
      <vt:lpstr>The Biopsychological Approach</vt:lpstr>
      <vt:lpstr>The Biopsychological Approach</vt:lpstr>
      <vt:lpstr>Twin studies</vt:lpstr>
      <vt:lpstr>Twin studies</vt:lpstr>
      <vt:lpstr>Adoption studies</vt:lpstr>
      <vt:lpstr>Criticisms</vt:lpstr>
      <vt:lpstr>II - The Behaviourist Approach</vt:lpstr>
      <vt:lpstr>The Behaviourist Approach</vt:lpstr>
      <vt:lpstr>PowerPoint Presentation</vt:lpstr>
      <vt:lpstr>The Behaviourist Approach</vt:lpstr>
      <vt:lpstr>The Behaviourist Approach</vt:lpstr>
      <vt:lpstr>7 key assumptions</vt:lpstr>
      <vt:lpstr>Criticisms</vt:lpstr>
      <vt:lpstr>III – The Psychodynamic Approach </vt:lpstr>
      <vt:lpstr>Sigmund Freud</vt:lpstr>
      <vt:lpstr>PowerPoint Presentation</vt:lpstr>
      <vt:lpstr>Psychosexual Stages of Development</vt:lpstr>
      <vt:lpstr>Defense mechanisms</vt:lpstr>
      <vt:lpstr>Criticisms</vt:lpstr>
      <vt:lpstr>IV – The Humanistic Perspective</vt:lpstr>
      <vt:lpstr>Comparison of Maslow and Rogers</vt:lpstr>
      <vt:lpstr>Maslow</vt:lpstr>
      <vt:lpstr>Rogers </vt:lpstr>
      <vt:lpstr>Criticisms </vt:lpstr>
      <vt:lpstr>V – The Cognitive Approach</vt:lpstr>
      <vt:lpstr>Key theories, models and real life applications</vt:lpstr>
      <vt:lpstr>Criticisms</vt:lpstr>
      <vt:lpstr>VI – The Evolutionary Approach</vt:lpstr>
      <vt:lpstr>Evolutionary psychology principles applied to human behaviour </vt:lpstr>
      <vt:lpstr>Evolutionary psychology principles applied to human behaviour </vt:lpstr>
      <vt:lpstr>Criticisms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PSYC100 GENERAL PSYCHOLOGY</dc:title>
  <dc:creator>Asli Niyazi</dc:creator>
  <cp:lastModifiedBy>aslı</cp:lastModifiedBy>
  <cp:revision>4</cp:revision>
  <dcterms:created xsi:type="dcterms:W3CDTF">2025-09-08T08:11:00Z</dcterms:created>
  <dcterms:modified xsi:type="dcterms:W3CDTF">2025-10-01T08:05:07Z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AB3EAFB010594CA7BFC3137527F27091_12</vt:lpwstr>
  </property>
  <property fmtid="{D5CDD505-2E9C-101B-9397-08002B2CF9AE}" pid="3" name="KSOProductBuildVer">
    <vt:lpwstr>2057-12.2.0.22549</vt:lpwstr>
  </property>
</Properties>
</file>