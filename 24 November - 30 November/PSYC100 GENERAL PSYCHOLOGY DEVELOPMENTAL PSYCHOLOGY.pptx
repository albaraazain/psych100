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61" r:id="rId2"/>
  </p:sldMasterIdLst>
  <p:sldIdLst>
    <p:sldId id="257" r:id="rId3"/>
    <p:sldId id="258" r:id="rId4"/>
    <p:sldId id="259" r:id="rId5"/>
    <p:sldId id="260" r:id="rId6"/>
    <p:sldId id="266" r:id="rId7"/>
    <p:sldId id="261" r:id="rId8"/>
    <p:sldId id="267" r:id="rId9"/>
    <p:sldId id="262" r:id="rId10"/>
    <p:sldId id="263" r:id="rId11"/>
    <p:sldId id="265" r:id="rId12"/>
    <p:sldId id="264" r:id="rId13"/>
    <p:sldId id="268" r:id="rId14"/>
    <p:sldId id="269" r:id="rId15"/>
    <p:sldId id="292" r:id="rId16"/>
    <p:sldId id="291" r:id="rId17"/>
    <p:sldId id="270" r:id="rId18"/>
    <p:sldId id="271" r:id="rId19"/>
    <p:sldId id="272" r:id="rId20"/>
    <p:sldId id="273" r:id="rId21"/>
    <p:sldId id="274" r:id="rId22"/>
    <p:sldId id="275" r:id="rId23"/>
    <p:sldId id="276" r:id="rId24"/>
    <p:sldId id="278" r:id="rId25"/>
    <p:sldId id="279" r:id="rId26"/>
    <p:sldId id="280" r:id="rId27"/>
    <p:sldId id="281" r:id="rId28"/>
    <p:sldId id="282" r:id="rId29"/>
    <p:sldId id="283" r:id="rId30"/>
    <p:sldId id="284" r:id="rId31"/>
    <p:sldId id="285" r:id="rId32"/>
    <p:sldId id="286" r:id="rId33"/>
    <p:sldId id="287" r:id="rId34"/>
    <p:sldId id="288" r:id="rId35"/>
    <p:sldId id="290" r:id="rId36"/>
    <p:sldId id="289"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4529"/>
    <a:srgbClr val="2B3922"/>
    <a:srgbClr val="2E3722"/>
    <a:srgbClr val="FCF7F1"/>
    <a:srgbClr val="B8D233"/>
    <a:srgbClr val="5CC6D6"/>
    <a:srgbClr val="F8D22F"/>
    <a:srgbClr val="F03F2B"/>
    <a:srgbClr val="3488A0"/>
    <a:srgbClr val="5790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4" d="100"/>
          <a:sy n="64" d="100"/>
        </p:scale>
        <p:origin x="78" y="2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11/26/2025</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dirty="0"/>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345"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11/26/2025</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11/26/2025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11/26/2025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11/26/2025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11/26/2025</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t>11/26/2025</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a:p>
        </p:txBody>
      </p:sp>
      <p:sp>
        <p:nvSpPr>
          <p:cNvPr id="12" name="Rectangle 11"/>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6FA2B21-3FCD-4721-B95C-427943F61125}" type="datetime1">
              <a:rPr lang="en-US" smtClean="0"/>
              <a:t>11/26/2025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lvl1pPr>
              <a:defRPr b="1"/>
            </a:lvl1p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b="1"/>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eaLnBrk="0" hangingPunct="0">
              <a:defRPr b="1">
                <a:ea typeface="MS PGothic" panose="020B0600070205080204" pitchFamily="34" charset="-128"/>
              </a:defRPr>
            </a:lvl1pPr>
          </a:lstStyle>
          <a:p>
            <a:pPr fontAlgn="base">
              <a:spcBef>
                <a:spcPct val="0"/>
              </a:spcBef>
              <a:spcAft>
                <a:spcPct val="0"/>
              </a:spcAft>
              <a:defRPr/>
            </a:pPr>
            <a:endParaRPr lang="en-GB"/>
          </a:p>
        </p:txBody>
      </p:sp>
      <p:sp>
        <p:nvSpPr>
          <p:cNvPr id="5" name="Footer Placeholder 4"/>
          <p:cNvSpPr>
            <a:spLocks noGrp="1"/>
          </p:cNvSpPr>
          <p:nvPr>
            <p:ph type="ftr" sz="quarter" idx="11"/>
          </p:nvPr>
        </p:nvSpPr>
        <p:spPr/>
        <p:txBody>
          <a:bodyPr/>
          <a:lstStyle>
            <a:lvl1pPr eaLnBrk="0" hangingPunct="0">
              <a:defRPr b="1">
                <a:ea typeface="MS PGothic" panose="020B0600070205080204" pitchFamily="34" charset="-128"/>
              </a:defRPr>
            </a:lvl1pPr>
          </a:lstStyle>
          <a:p>
            <a:pPr fontAlgn="base">
              <a:spcBef>
                <a:spcPct val="0"/>
              </a:spcBef>
              <a:spcAft>
                <a:spcPct val="0"/>
              </a:spcAft>
              <a:defRPr/>
            </a:pPr>
            <a:endParaRPr lang="en-GB"/>
          </a:p>
        </p:txBody>
      </p:sp>
      <p:sp>
        <p:nvSpPr>
          <p:cNvPr id="6" name="Slide Number Placeholder 5"/>
          <p:cNvSpPr>
            <a:spLocks noGrp="1"/>
          </p:cNvSpPr>
          <p:nvPr>
            <p:ph type="sldNum" sz="quarter" idx="12"/>
          </p:nvPr>
        </p:nvSpPr>
        <p:spPr/>
        <p:txBody>
          <a:bodyPr/>
          <a:lstStyle>
            <a:lvl1pPr eaLnBrk="0" hangingPunct="0">
              <a:defRPr b="1"/>
            </a:lvl1pPr>
          </a:lstStyle>
          <a:p>
            <a:pPr fontAlgn="base">
              <a:spcBef>
                <a:spcPct val="0"/>
              </a:spcBef>
              <a:spcAft>
                <a:spcPct val="0"/>
              </a:spcAft>
              <a:defRPr/>
            </a:pPr>
            <a:fld id="{7003DC47-9C45-43CC-8797-07C5C661A54D}" type="slidenum">
              <a:rPr lang="en-GB" altLang="en-US" smtClean="0">
                <a:ea typeface="MS PGothic" panose="020B0600070205080204" pitchFamily="34" charset="-128"/>
              </a:rPr>
              <a:t>‹#›</a:t>
            </a:fld>
            <a:endParaRPr lang="en-GB" altLang="en-US">
              <a:ea typeface="MS PGothic" panose="020B0600070205080204" pitchFamily="34" charset="-128"/>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eaLnBrk="0" hangingPunct="0">
              <a:defRPr>
                <a:ea typeface="MS PGothic" panose="020B0600070205080204" pitchFamily="34" charset="-128"/>
              </a:defRPr>
            </a:lvl1pPr>
          </a:lstStyle>
          <a:p>
            <a:pPr fontAlgn="base">
              <a:spcBef>
                <a:spcPct val="0"/>
              </a:spcBef>
              <a:spcAft>
                <a:spcPct val="0"/>
              </a:spcAft>
              <a:defRPr/>
            </a:pPr>
            <a:endParaRPr lang="en-GB"/>
          </a:p>
        </p:txBody>
      </p:sp>
      <p:sp>
        <p:nvSpPr>
          <p:cNvPr id="5" name="Footer Placeholder 4"/>
          <p:cNvSpPr>
            <a:spLocks noGrp="1"/>
          </p:cNvSpPr>
          <p:nvPr>
            <p:ph type="ftr" sz="quarter" idx="11"/>
          </p:nvPr>
        </p:nvSpPr>
        <p:spPr/>
        <p:txBody>
          <a:bodyPr/>
          <a:lstStyle>
            <a:lvl1pPr eaLnBrk="0" hangingPunct="0">
              <a:defRPr>
                <a:ea typeface="MS PGothic" panose="020B0600070205080204" pitchFamily="34" charset="-128"/>
              </a:defRPr>
            </a:lvl1pPr>
          </a:lstStyle>
          <a:p>
            <a:pPr fontAlgn="base">
              <a:spcBef>
                <a:spcPct val="0"/>
              </a:spcBef>
              <a:spcAft>
                <a:spcPct val="0"/>
              </a:spcAft>
              <a:defRPr/>
            </a:pPr>
            <a:endParaRPr lang="en-GB"/>
          </a:p>
        </p:txBody>
      </p:sp>
      <p:sp>
        <p:nvSpPr>
          <p:cNvPr id="6" name="Slide Number Placeholder 5"/>
          <p:cNvSpPr>
            <a:spLocks noGrp="1"/>
          </p:cNvSpPr>
          <p:nvPr>
            <p:ph type="sldNum" sz="quarter" idx="12"/>
          </p:nvPr>
        </p:nvSpPr>
        <p:spPr/>
        <p:txBody>
          <a:bodyPr/>
          <a:lstStyle>
            <a:lvl1pPr eaLnBrk="0" hangingPunct="0">
              <a:defRPr/>
            </a:lvl1pPr>
          </a:lstStyle>
          <a:p>
            <a:pPr fontAlgn="base">
              <a:spcBef>
                <a:spcPct val="0"/>
              </a:spcBef>
              <a:spcAft>
                <a:spcPct val="0"/>
              </a:spcAft>
              <a:defRPr/>
            </a:pPr>
            <a:fld id="{8A5FEAE0-FF4B-4533-8CD6-9C9CC5693A38}" type="slidenum">
              <a:rPr lang="en-GB" altLang="en-US" smtClean="0">
                <a:ea typeface="MS PGothic" panose="020B0600070205080204" pitchFamily="34" charset="-128"/>
              </a:rPr>
              <a:t>‹#›</a:t>
            </a:fld>
            <a:endParaRPr lang="en-GB" altLang="en-US">
              <a:ea typeface="MS PGothic" panose="020B0600070205080204" pitchFamily="34" charset="-128"/>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eaLnBrk="0" hangingPunct="0">
              <a:defRPr>
                <a:ea typeface="MS PGothic" panose="020B0600070205080204" pitchFamily="34" charset="-128"/>
              </a:defRPr>
            </a:lvl1pPr>
          </a:lstStyle>
          <a:p>
            <a:pPr fontAlgn="base">
              <a:spcBef>
                <a:spcPct val="0"/>
              </a:spcBef>
              <a:spcAft>
                <a:spcPct val="0"/>
              </a:spcAft>
              <a:defRPr/>
            </a:pPr>
            <a:endParaRPr lang="en-GB"/>
          </a:p>
        </p:txBody>
      </p:sp>
      <p:sp>
        <p:nvSpPr>
          <p:cNvPr id="5" name="Footer Placeholder 4"/>
          <p:cNvSpPr>
            <a:spLocks noGrp="1"/>
          </p:cNvSpPr>
          <p:nvPr>
            <p:ph type="ftr" sz="quarter" idx="11"/>
          </p:nvPr>
        </p:nvSpPr>
        <p:spPr/>
        <p:txBody>
          <a:bodyPr/>
          <a:lstStyle>
            <a:lvl1pPr eaLnBrk="0" hangingPunct="0">
              <a:defRPr>
                <a:ea typeface="MS PGothic" panose="020B0600070205080204" pitchFamily="34" charset="-128"/>
              </a:defRPr>
            </a:lvl1pPr>
          </a:lstStyle>
          <a:p>
            <a:pPr fontAlgn="base">
              <a:spcBef>
                <a:spcPct val="0"/>
              </a:spcBef>
              <a:spcAft>
                <a:spcPct val="0"/>
              </a:spcAft>
              <a:defRPr/>
            </a:pPr>
            <a:endParaRPr lang="en-GB"/>
          </a:p>
        </p:txBody>
      </p:sp>
      <p:sp>
        <p:nvSpPr>
          <p:cNvPr id="6" name="Slide Number Placeholder 5"/>
          <p:cNvSpPr>
            <a:spLocks noGrp="1"/>
          </p:cNvSpPr>
          <p:nvPr>
            <p:ph type="sldNum" sz="quarter" idx="12"/>
          </p:nvPr>
        </p:nvSpPr>
        <p:spPr/>
        <p:txBody>
          <a:bodyPr/>
          <a:lstStyle>
            <a:lvl1pPr eaLnBrk="0" hangingPunct="0">
              <a:defRPr/>
            </a:lvl1pPr>
          </a:lstStyle>
          <a:p>
            <a:pPr fontAlgn="base">
              <a:spcBef>
                <a:spcPct val="0"/>
              </a:spcBef>
              <a:spcAft>
                <a:spcPct val="0"/>
              </a:spcAft>
              <a:defRPr/>
            </a:pPr>
            <a:fld id="{87F30D87-DFA4-4DC3-B898-08B437D39672}" type="slidenum">
              <a:rPr lang="en-GB" altLang="en-US" smtClean="0">
                <a:ea typeface="MS PGothic" panose="020B0600070205080204" pitchFamily="34" charset="-128"/>
              </a:rPr>
              <a:t>‹#›</a:t>
            </a:fld>
            <a:endParaRPr lang="en-GB" altLang="en-US">
              <a:ea typeface="MS PGothic" panose="020B0600070205080204" pitchFamily="34" charset="-128"/>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eaLnBrk="0" hangingPunct="0">
              <a:defRPr>
                <a:ea typeface="MS PGothic" panose="020B0600070205080204" pitchFamily="34" charset="-128"/>
              </a:defRPr>
            </a:lvl1pPr>
          </a:lstStyle>
          <a:p>
            <a:pPr fontAlgn="base">
              <a:spcBef>
                <a:spcPct val="0"/>
              </a:spcBef>
              <a:spcAft>
                <a:spcPct val="0"/>
              </a:spcAft>
              <a:defRPr/>
            </a:pPr>
            <a:endParaRPr lang="en-GB"/>
          </a:p>
        </p:txBody>
      </p:sp>
      <p:sp>
        <p:nvSpPr>
          <p:cNvPr id="6" name="Footer Placeholder 5"/>
          <p:cNvSpPr>
            <a:spLocks noGrp="1"/>
          </p:cNvSpPr>
          <p:nvPr>
            <p:ph type="ftr" sz="quarter" idx="11"/>
          </p:nvPr>
        </p:nvSpPr>
        <p:spPr/>
        <p:txBody>
          <a:bodyPr/>
          <a:lstStyle>
            <a:lvl1pPr eaLnBrk="0" hangingPunct="0">
              <a:defRPr>
                <a:ea typeface="MS PGothic" panose="020B0600070205080204" pitchFamily="34" charset="-128"/>
              </a:defRPr>
            </a:lvl1pPr>
          </a:lstStyle>
          <a:p>
            <a:pPr fontAlgn="base">
              <a:spcBef>
                <a:spcPct val="0"/>
              </a:spcBef>
              <a:spcAft>
                <a:spcPct val="0"/>
              </a:spcAft>
              <a:defRPr/>
            </a:pPr>
            <a:endParaRPr lang="en-GB"/>
          </a:p>
        </p:txBody>
      </p:sp>
      <p:sp>
        <p:nvSpPr>
          <p:cNvPr id="7" name="Slide Number Placeholder 6"/>
          <p:cNvSpPr>
            <a:spLocks noGrp="1"/>
          </p:cNvSpPr>
          <p:nvPr>
            <p:ph type="sldNum" sz="quarter" idx="12"/>
          </p:nvPr>
        </p:nvSpPr>
        <p:spPr/>
        <p:txBody>
          <a:bodyPr/>
          <a:lstStyle>
            <a:lvl1pPr eaLnBrk="0" hangingPunct="0">
              <a:defRPr/>
            </a:lvl1pPr>
          </a:lstStyle>
          <a:p>
            <a:pPr fontAlgn="base">
              <a:spcBef>
                <a:spcPct val="0"/>
              </a:spcBef>
              <a:spcAft>
                <a:spcPct val="0"/>
              </a:spcAft>
              <a:defRPr/>
            </a:pPr>
            <a:fld id="{619A2BAA-CA4B-45F9-8939-8000D9558555}" type="slidenum">
              <a:rPr lang="en-GB" altLang="en-US" smtClean="0">
                <a:ea typeface="MS PGothic" panose="020B0600070205080204" pitchFamily="34" charset="-128"/>
              </a:rPr>
              <a:t>‹#›</a:t>
            </a:fld>
            <a:endParaRPr lang="en-GB" altLang="en-US">
              <a:ea typeface="MS PGothic" panose="020B0600070205080204" pitchFamily="34" charset="-128"/>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eaLnBrk="0" hangingPunct="0">
              <a:defRPr>
                <a:ea typeface="MS PGothic" panose="020B0600070205080204" pitchFamily="34" charset="-128"/>
              </a:defRPr>
            </a:lvl1pPr>
          </a:lstStyle>
          <a:p>
            <a:pPr fontAlgn="base">
              <a:spcBef>
                <a:spcPct val="0"/>
              </a:spcBef>
              <a:spcAft>
                <a:spcPct val="0"/>
              </a:spcAft>
              <a:defRPr/>
            </a:pPr>
            <a:endParaRPr lang="en-GB"/>
          </a:p>
        </p:txBody>
      </p:sp>
      <p:sp>
        <p:nvSpPr>
          <p:cNvPr id="8" name="Footer Placeholder 7"/>
          <p:cNvSpPr>
            <a:spLocks noGrp="1"/>
          </p:cNvSpPr>
          <p:nvPr>
            <p:ph type="ftr" sz="quarter" idx="11"/>
          </p:nvPr>
        </p:nvSpPr>
        <p:spPr/>
        <p:txBody>
          <a:bodyPr/>
          <a:lstStyle>
            <a:lvl1pPr eaLnBrk="0" hangingPunct="0">
              <a:defRPr>
                <a:ea typeface="MS PGothic" panose="020B0600070205080204" pitchFamily="34" charset="-128"/>
              </a:defRPr>
            </a:lvl1pPr>
          </a:lstStyle>
          <a:p>
            <a:pPr fontAlgn="base">
              <a:spcBef>
                <a:spcPct val="0"/>
              </a:spcBef>
              <a:spcAft>
                <a:spcPct val="0"/>
              </a:spcAft>
              <a:defRPr/>
            </a:pPr>
            <a:endParaRPr lang="en-GB"/>
          </a:p>
        </p:txBody>
      </p:sp>
      <p:sp>
        <p:nvSpPr>
          <p:cNvPr id="9" name="Slide Number Placeholder 8"/>
          <p:cNvSpPr>
            <a:spLocks noGrp="1"/>
          </p:cNvSpPr>
          <p:nvPr>
            <p:ph type="sldNum" sz="quarter" idx="12"/>
          </p:nvPr>
        </p:nvSpPr>
        <p:spPr/>
        <p:txBody>
          <a:bodyPr/>
          <a:lstStyle>
            <a:lvl1pPr eaLnBrk="0" hangingPunct="0">
              <a:defRPr/>
            </a:lvl1pPr>
          </a:lstStyle>
          <a:p>
            <a:pPr fontAlgn="base">
              <a:spcBef>
                <a:spcPct val="0"/>
              </a:spcBef>
              <a:spcAft>
                <a:spcPct val="0"/>
              </a:spcAft>
              <a:defRPr/>
            </a:pPr>
            <a:fld id="{29FE8917-0A91-45F2-96AF-560AAD5B7D92}" type="slidenum">
              <a:rPr lang="en-GB" altLang="en-US" smtClean="0">
                <a:ea typeface="MS PGothic" panose="020B0600070205080204" pitchFamily="34" charset="-128"/>
              </a:rPr>
              <a:t>‹#›</a:t>
            </a:fld>
            <a:endParaRPr lang="en-GB" altLang="en-US">
              <a:ea typeface="MS PGothic" panose="020B0600070205080204" pitchFamily="34" charset="-128"/>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eaLnBrk="0" hangingPunct="0">
              <a:defRPr>
                <a:ea typeface="MS PGothic" panose="020B0600070205080204" pitchFamily="34" charset="-128"/>
              </a:defRPr>
            </a:lvl1pPr>
          </a:lstStyle>
          <a:p>
            <a:pPr fontAlgn="base">
              <a:spcBef>
                <a:spcPct val="0"/>
              </a:spcBef>
              <a:spcAft>
                <a:spcPct val="0"/>
              </a:spcAft>
              <a:defRPr/>
            </a:pPr>
            <a:endParaRPr lang="en-GB"/>
          </a:p>
        </p:txBody>
      </p:sp>
      <p:sp>
        <p:nvSpPr>
          <p:cNvPr id="4" name="Footer Placeholder 3"/>
          <p:cNvSpPr>
            <a:spLocks noGrp="1"/>
          </p:cNvSpPr>
          <p:nvPr>
            <p:ph type="ftr" sz="quarter" idx="11"/>
          </p:nvPr>
        </p:nvSpPr>
        <p:spPr/>
        <p:txBody>
          <a:bodyPr/>
          <a:lstStyle>
            <a:lvl1pPr eaLnBrk="0" hangingPunct="0">
              <a:defRPr>
                <a:ea typeface="MS PGothic" panose="020B0600070205080204" pitchFamily="34" charset="-128"/>
              </a:defRPr>
            </a:lvl1pPr>
          </a:lstStyle>
          <a:p>
            <a:pPr fontAlgn="base">
              <a:spcBef>
                <a:spcPct val="0"/>
              </a:spcBef>
              <a:spcAft>
                <a:spcPct val="0"/>
              </a:spcAft>
              <a:defRPr/>
            </a:pPr>
            <a:endParaRPr lang="en-GB"/>
          </a:p>
        </p:txBody>
      </p:sp>
      <p:sp>
        <p:nvSpPr>
          <p:cNvPr id="5" name="Slide Number Placeholder 4"/>
          <p:cNvSpPr>
            <a:spLocks noGrp="1"/>
          </p:cNvSpPr>
          <p:nvPr>
            <p:ph type="sldNum" sz="quarter" idx="12"/>
          </p:nvPr>
        </p:nvSpPr>
        <p:spPr/>
        <p:txBody>
          <a:bodyPr/>
          <a:lstStyle>
            <a:lvl1pPr eaLnBrk="0" hangingPunct="0">
              <a:defRPr/>
            </a:lvl1pPr>
          </a:lstStyle>
          <a:p>
            <a:pPr fontAlgn="base">
              <a:spcBef>
                <a:spcPct val="0"/>
              </a:spcBef>
              <a:spcAft>
                <a:spcPct val="0"/>
              </a:spcAft>
              <a:defRPr/>
            </a:pPr>
            <a:fld id="{81BFACA0-6B98-4081-B2C4-AFC1DBF88939}" type="slidenum">
              <a:rPr lang="en-GB" altLang="en-US" smtClean="0">
                <a:ea typeface="MS PGothic" panose="020B0600070205080204" pitchFamily="34" charset="-128"/>
              </a:rPr>
              <a:t>‹#›</a:t>
            </a:fld>
            <a:endParaRPr lang="en-GB" altLang="en-US">
              <a:ea typeface="MS PGothic" panose="020B0600070205080204" pitchFamily="34" charset="-128"/>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eaLnBrk="0" hangingPunct="0">
              <a:defRPr>
                <a:ea typeface="MS PGothic" panose="020B0600070205080204" pitchFamily="34" charset="-128"/>
              </a:defRPr>
            </a:lvl1pPr>
          </a:lstStyle>
          <a:p>
            <a:pPr fontAlgn="base">
              <a:spcBef>
                <a:spcPct val="0"/>
              </a:spcBef>
              <a:spcAft>
                <a:spcPct val="0"/>
              </a:spcAft>
              <a:defRPr/>
            </a:pPr>
            <a:endParaRPr lang="en-GB"/>
          </a:p>
        </p:txBody>
      </p:sp>
      <p:sp>
        <p:nvSpPr>
          <p:cNvPr id="3" name="Footer Placeholder 2"/>
          <p:cNvSpPr>
            <a:spLocks noGrp="1"/>
          </p:cNvSpPr>
          <p:nvPr>
            <p:ph type="ftr" sz="quarter" idx="11"/>
          </p:nvPr>
        </p:nvSpPr>
        <p:spPr/>
        <p:txBody>
          <a:bodyPr/>
          <a:lstStyle>
            <a:lvl1pPr eaLnBrk="0" hangingPunct="0">
              <a:defRPr>
                <a:ea typeface="MS PGothic" panose="020B0600070205080204" pitchFamily="34" charset="-128"/>
              </a:defRPr>
            </a:lvl1pPr>
          </a:lstStyle>
          <a:p>
            <a:pPr fontAlgn="base">
              <a:spcBef>
                <a:spcPct val="0"/>
              </a:spcBef>
              <a:spcAft>
                <a:spcPct val="0"/>
              </a:spcAft>
              <a:defRPr/>
            </a:pPr>
            <a:endParaRPr lang="en-GB"/>
          </a:p>
        </p:txBody>
      </p:sp>
      <p:sp>
        <p:nvSpPr>
          <p:cNvPr id="4" name="Slide Number Placeholder 3"/>
          <p:cNvSpPr>
            <a:spLocks noGrp="1"/>
          </p:cNvSpPr>
          <p:nvPr>
            <p:ph type="sldNum" sz="quarter" idx="12"/>
          </p:nvPr>
        </p:nvSpPr>
        <p:spPr/>
        <p:txBody>
          <a:bodyPr/>
          <a:lstStyle>
            <a:lvl1pPr eaLnBrk="0" hangingPunct="0">
              <a:defRPr/>
            </a:lvl1pPr>
          </a:lstStyle>
          <a:p>
            <a:pPr fontAlgn="base">
              <a:spcBef>
                <a:spcPct val="0"/>
              </a:spcBef>
              <a:spcAft>
                <a:spcPct val="0"/>
              </a:spcAft>
              <a:defRPr/>
            </a:pPr>
            <a:fld id="{9924E3C6-3B68-42FE-8DFA-5F72EC094994}" type="slidenum">
              <a:rPr lang="en-GB" altLang="en-US" smtClean="0">
                <a:ea typeface="MS PGothic" panose="020B0600070205080204" pitchFamily="34" charset="-128"/>
              </a:rPr>
              <a:t>‹#›</a:t>
            </a:fld>
            <a:endParaRPr lang="en-GB" altLang="en-US">
              <a:ea typeface="MS PGothic" panose="020B0600070205080204" pitchFamily="34" charset="-128"/>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eaLnBrk="0" hangingPunct="0">
              <a:defRPr>
                <a:ea typeface="MS PGothic" panose="020B0600070205080204" pitchFamily="34" charset="-128"/>
              </a:defRPr>
            </a:lvl1pPr>
          </a:lstStyle>
          <a:p>
            <a:pPr fontAlgn="base">
              <a:spcBef>
                <a:spcPct val="0"/>
              </a:spcBef>
              <a:spcAft>
                <a:spcPct val="0"/>
              </a:spcAft>
              <a:defRPr/>
            </a:pPr>
            <a:endParaRPr lang="en-GB"/>
          </a:p>
        </p:txBody>
      </p:sp>
      <p:sp>
        <p:nvSpPr>
          <p:cNvPr id="6" name="Footer Placeholder 5"/>
          <p:cNvSpPr>
            <a:spLocks noGrp="1"/>
          </p:cNvSpPr>
          <p:nvPr>
            <p:ph type="ftr" sz="quarter" idx="11"/>
          </p:nvPr>
        </p:nvSpPr>
        <p:spPr/>
        <p:txBody>
          <a:bodyPr/>
          <a:lstStyle>
            <a:lvl1pPr eaLnBrk="0" hangingPunct="0">
              <a:defRPr>
                <a:ea typeface="MS PGothic" panose="020B0600070205080204" pitchFamily="34" charset="-128"/>
              </a:defRPr>
            </a:lvl1pPr>
          </a:lstStyle>
          <a:p>
            <a:pPr fontAlgn="base">
              <a:spcBef>
                <a:spcPct val="0"/>
              </a:spcBef>
              <a:spcAft>
                <a:spcPct val="0"/>
              </a:spcAft>
              <a:defRPr/>
            </a:pPr>
            <a:endParaRPr lang="en-GB"/>
          </a:p>
        </p:txBody>
      </p:sp>
      <p:sp>
        <p:nvSpPr>
          <p:cNvPr id="7" name="Slide Number Placeholder 6"/>
          <p:cNvSpPr>
            <a:spLocks noGrp="1"/>
          </p:cNvSpPr>
          <p:nvPr>
            <p:ph type="sldNum" sz="quarter" idx="12"/>
          </p:nvPr>
        </p:nvSpPr>
        <p:spPr/>
        <p:txBody>
          <a:bodyPr/>
          <a:lstStyle>
            <a:lvl1pPr eaLnBrk="0" hangingPunct="0">
              <a:defRPr/>
            </a:lvl1pPr>
          </a:lstStyle>
          <a:p>
            <a:pPr fontAlgn="base">
              <a:spcBef>
                <a:spcPct val="0"/>
              </a:spcBef>
              <a:spcAft>
                <a:spcPct val="0"/>
              </a:spcAft>
              <a:defRPr/>
            </a:pPr>
            <a:fld id="{C4CD0D8D-F382-4032-BA9D-62A827752568}" type="slidenum">
              <a:rPr lang="en-GB" altLang="en-US" smtClean="0">
                <a:ea typeface="MS PGothic" panose="020B0600070205080204" pitchFamily="34" charset="-128"/>
              </a:rPr>
              <a:t>‹#›</a:t>
            </a:fld>
            <a:endParaRPr lang="en-GB" altLang="en-US">
              <a:ea typeface="MS PGothic" panose="020B0600070205080204" pitchFamily="34" charset="-128"/>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eaLnBrk="0" hangingPunct="0">
              <a:defRPr>
                <a:ea typeface="MS PGothic" panose="020B0600070205080204" pitchFamily="34" charset="-128"/>
              </a:defRPr>
            </a:lvl1pPr>
          </a:lstStyle>
          <a:p>
            <a:pPr fontAlgn="base">
              <a:spcBef>
                <a:spcPct val="0"/>
              </a:spcBef>
              <a:spcAft>
                <a:spcPct val="0"/>
              </a:spcAft>
              <a:defRPr/>
            </a:pPr>
            <a:endParaRPr lang="en-GB"/>
          </a:p>
        </p:txBody>
      </p:sp>
      <p:sp>
        <p:nvSpPr>
          <p:cNvPr id="6" name="Footer Placeholder 5"/>
          <p:cNvSpPr>
            <a:spLocks noGrp="1"/>
          </p:cNvSpPr>
          <p:nvPr>
            <p:ph type="ftr" sz="quarter" idx="11"/>
          </p:nvPr>
        </p:nvSpPr>
        <p:spPr/>
        <p:txBody>
          <a:bodyPr/>
          <a:lstStyle>
            <a:lvl1pPr eaLnBrk="0" hangingPunct="0">
              <a:defRPr>
                <a:ea typeface="MS PGothic" panose="020B0600070205080204" pitchFamily="34" charset="-128"/>
              </a:defRPr>
            </a:lvl1pPr>
          </a:lstStyle>
          <a:p>
            <a:pPr fontAlgn="base">
              <a:spcBef>
                <a:spcPct val="0"/>
              </a:spcBef>
              <a:spcAft>
                <a:spcPct val="0"/>
              </a:spcAft>
              <a:defRPr/>
            </a:pPr>
            <a:endParaRPr lang="en-GB"/>
          </a:p>
        </p:txBody>
      </p:sp>
      <p:sp>
        <p:nvSpPr>
          <p:cNvPr id="7" name="Slide Number Placeholder 6"/>
          <p:cNvSpPr>
            <a:spLocks noGrp="1"/>
          </p:cNvSpPr>
          <p:nvPr>
            <p:ph type="sldNum" sz="quarter" idx="12"/>
          </p:nvPr>
        </p:nvSpPr>
        <p:spPr/>
        <p:txBody>
          <a:bodyPr/>
          <a:lstStyle>
            <a:lvl1pPr eaLnBrk="0" hangingPunct="0">
              <a:defRPr/>
            </a:lvl1pPr>
          </a:lstStyle>
          <a:p>
            <a:pPr fontAlgn="base">
              <a:spcBef>
                <a:spcPct val="0"/>
              </a:spcBef>
              <a:spcAft>
                <a:spcPct val="0"/>
              </a:spcAft>
              <a:defRPr/>
            </a:pPr>
            <a:fld id="{EBC07F42-1EA8-40B5-B2D8-5ABF86FB4CCD}" type="slidenum">
              <a:rPr lang="en-GB" altLang="en-US" smtClean="0">
                <a:ea typeface="MS PGothic" panose="020B0600070205080204" pitchFamily="34" charset="-128"/>
              </a:rPr>
              <a:t>‹#›</a:t>
            </a:fld>
            <a:endParaRPr lang="en-GB" altLang="en-US">
              <a:ea typeface="MS PGothic" panose="020B0600070205080204" pitchFamily="34" charset="-128"/>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eaLnBrk="0" hangingPunct="0">
              <a:defRPr>
                <a:ea typeface="MS PGothic" panose="020B0600070205080204" pitchFamily="34" charset="-128"/>
              </a:defRPr>
            </a:lvl1pPr>
          </a:lstStyle>
          <a:p>
            <a:pPr fontAlgn="base">
              <a:spcBef>
                <a:spcPct val="0"/>
              </a:spcBef>
              <a:spcAft>
                <a:spcPct val="0"/>
              </a:spcAft>
              <a:defRPr/>
            </a:pPr>
            <a:endParaRPr lang="en-GB"/>
          </a:p>
        </p:txBody>
      </p:sp>
      <p:sp>
        <p:nvSpPr>
          <p:cNvPr id="5" name="Footer Placeholder 4"/>
          <p:cNvSpPr>
            <a:spLocks noGrp="1"/>
          </p:cNvSpPr>
          <p:nvPr>
            <p:ph type="ftr" sz="quarter" idx="11"/>
          </p:nvPr>
        </p:nvSpPr>
        <p:spPr/>
        <p:txBody>
          <a:bodyPr/>
          <a:lstStyle>
            <a:lvl1pPr eaLnBrk="0" hangingPunct="0">
              <a:defRPr>
                <a:ea typeface="MS PGothic" panose="020B0600070205080204" pitchFamily="34" charset="-128"/>
              </a:defRPr>
            </a:lvl1pPr>
          </a:lstStyle>
          <a:p>
            <a:pPr fontAlgn="base">
              <a:spcBef>
                <a:spcPct val="0"/>
              </a:spcBef>
              <a:spcAft>
                <a:spcPct val="0"/>
              </a:spcAft>
              <a:defRPr/>
            </a:pPr>
            <a:endParaRPr lang="en-GB"/>
          </a:p>
        </p:txBody>
      </p:sp>
      <p:sp>
        <p:nvSpPr>
          <p:cNvPr id="6" name="Slide Number Placeholder 5"/>
          <p:cNvSpPr>
            <a:spLocks noGrp="1"/>
          </p:cNvSpPr>
          <p:nvPr>
            <p:ph type="sldNum" sz="quarter" idx="12"/>
          </p:nvPr>
        </p:nvSpPr>
        <p:spPr/>
        <p:txBody>
          <a:bodyPr/>
          <a:lstStyle>
            <a:lvl1pPr eaLnBrk="0" hangingPunct="0">
              <a:defRPr/>
            </a:lvl1pPr>
          </a:lstStyle>
          <a:p>
            <a:pPr fontAlgn="base">
              <a:spcBef>
                <a:spcPct val="0"/>
              </a:spcBef>
              <a:spcAft>
                <a:spcPct val="0"/>
              </a:spcAft>
              <a:defRPr/>
            </a:pPr>
            <a:fld id="{217D8168-3456-4323-9878-417E7387549B}" type="slidenum">
              <a:rPr lang="en-GB" altLang="en-US" smtClean="0">
                <a:ea typeface="MS PGothic" panose="020B0600070205080204" pitchFamily="34" charset="-128"/>
              </a:rPr>
              <a:t>‹#›</a:t>
            </a:fld>
            <a:endParaRPr lang="en-GB" altLang="en-US">
              <a:ea typeface="MS PGothic" panose="020B0600070205080204" pitchFamily="34" charset="-128"/>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eaLnBrk="0" hangingPunct="0">
              <a:defRPr>
                <a:ea typeface="MS PGothic" panose="020B0600070205080204" pitchFamily="34" charset="-128"/>
              </a:defRPr>
            </a:lvl1pPr>
          </a:lstStyle>
          <a:p>
            <a:pPr fontAlgn="base">
              <a:spcBef>
                <a:spcPct val="0"/>
              </a:spcBef>
              <a:spcAft>
                <a:spcPct val="0"/>
              </a:spcAft>
              <a:defRPr/>
            </a:pPr>
            <a:endParaRPr lang="en-GB"/>
          </a:p>
        </p:txBody>
      </p:sp>
      <p:sp>
        <p:nvSpPr>
          <p:cNvPr id="5" name="Footer Placeholder 4"/>
          <p:cNvSpPr>
            <a:spLocks noGrp="1"/>
          </p:cNvSpPr>
          <p:nvPr>
            <p:ph type="ftr" sz="quarter" idx="11"/>
          </p:nvPr>
        </p:nvSpPr>
        <p:spPr/>
        <p:txBody>
          <a:bodyPr/>
          <a:lstStyle>
            <a:lvl1pPr eaLnBrk="0" hangingPunct="0">
              <a:defRPr>
                <a:ea typeface="MS PGothic" panose="020B0600070205080204" pitchFamily="34" charset="-128"/>
              </a:defRPr>
            </a:lvl1pPr>
          </a:lstStyle>
          <a:p>
            <a:pPr fontAlgn="base">
              <a:spcBef>
                <a:spcPct val="0"/>
              </a:spcBef>
              <a:spcAft>
                <a:spcPct val="0"/>
              </a:spcAft>
              <a:defRPr/>
            </a:pPr>
            <a:endParaRPr lang="en-GB"/>
          </a:p>
        </p:txBody>
      </p:sp>
      <p:sp>
        <p:nvSpPr>
          <p:cNvPr id="6" name="Slide Number Placeholder 5"/>
          <p:cNvSpPr>
            <a:spLocks noGrp="1"/>
          </p:cNvSpPr>
          <p:nvPr>
            <p:ph type="sldNum" sz="quarter" idx="12"/>
          </p:nvPr>
        </p:nvSpPr>
        <p:spPr/>
        <p:txBody>
          <a:bodyPr/>
          <a:lstStyle>
            <a:lvl1pPr eaLnBrk="0" hangingPunct="0">
              <a:defRPr/>
            </a:lvl1pPr>
          </a:lstStyle>
          <a:p>
            <a:pPr fontAlgn="base">
              <a:spcBef>
                <a:spcPct val="0"/>
              </a:spcBef>
              <a:spcAft>
                <a:spcPct val="0"/>
              </a:spcAft>
              <a:defRPr/>
            </a:pPr>
            <a:fld id="{00CD5746-5C3E-4D6C-87ED-E88FD49D0763}" type="slidenum">
              <a:rPr lang="en-GB" altLang="en-US" smtClean="0">
                <a:ea typeface="MS PGothic" panose="020B0600070205080204" pitchFamily="34" charset="-128"/>
              </a:rPr>
              <a:t>‹#›</a:t>
            </a:fld>
            <a:endParaRPr lang="en-GB" altLang="en-US">
              <a:ea typeface="MS PGothic" panose="020B0600070205080204" pitchFamily="34" charset="-128"/>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11/26/2025</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anose="02020404030301010803"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200" kern="1200">
          <a:solidFill>
            <a:schemeClr val="tx1"/>
          </a:solidFill>
          <a:latin typeface="+mn-lt"/>
          <a:ea typeface="+mn-ea"/>
          <a:cs typeface="+mn-cs"/>
        </a:defRPr>
      </a:lvl5pPr>
      <a:lvl6pPr marL="1600200" indent="-22860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400" kern="1200">
          <a:solidFill>
            <a:schemeClr val="tx1"/>
          </a:solidFill>
          <a:latin typeface="+mn-lt"/>
          <a:ea typeface="+mn-ea"/>
          <a:cs typeface="+mn-cs"/>
        </a:defRPr>
      </a:lvl6pPr>
      <a:lvl7pPr marL="1899920" indent="-22860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400" kern="1200">
          <a:solidFill>
            <a:schemeClr val="tx1"/>
          </a:solidFill>
          <a:latin typeface="+mn-lt"/>
          <a:ea typeface="+mn-ea"/>
          <a:cs typeface="+mn-cs"/>
        </a:defRPr>
      </a:lvl7pPr>
      <a:lvl8pPr marL="2200275" indent="-22860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400" kern="1200">
          <a:solidFill>
            <a:schemeClr val="tx1"/>
          </a:solidFill>
          <a:latin typeface="+mn-lt"/>
          <a:ea typeface="+mn-ea"/>
          <a:cs typeface="+mn-cs"/>
        </a:defRPr>
      </a:lvl8pPr>
      <a:lvl9pPr marL="2499995" indent="-22860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GB" altLang="en-US"/>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a:noFill/>
          </a:ln>
          <a:effectLst/>
        </p:spPr>
        <p:txBody>
          <a:bodyPr vert="horz" wrap="square" lIns="91440" tIns="45720" rIns="91440" bIns="45720" numCol="1" anchor="t" anchorCtr="0" compatLnSpc="1"/>
          <a:lstStyle>
            <a:lvl1pPr eaLnBrk="1" hangingPunct="1">
              <a:defRPr sz="1400">
                <a:solidFill>
                  <a:srgbClr val="000000"/>
                </a:solidFill>
                <a:latin typeface="Arial" panose="020B0604020202020204" pitchFamily="34" charset="0"/>
                <a:ea typeface="+mn-ea"/>
              </a:defRPr>
            </a:lvl1pPr>
          </a:lstStyle>
          <a:p>
            <a:pPr fontAlgn="base">
              <a:spcBef>
                <a:spcPct val="0"/>
              </a:spcBef>
              <a:spcAft>
                <a:spcPct val="0"/>
              </a:spcAft>
              <a:defRPr/>
            </a:pPr>
            <a:endParaRPr lang="en-GB"/>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a:noFill/>
          </a:ln>
          <a:effectLst/>
        </p:spPr>
        <p:txBody>
          <a:bodyPr vert="horz" wrap="square" lIns="91440" tIns="45720" rIns="91440" bIns="45720" numCol="1" anchor="t" anchorCtr="0" compatLnSpc="1"/>
          <a:lstStyle>
            <a:lvl1pPr algn="ctr" eaLnBrk="1" hangingPunct="1">
              <a:defRPr sz="1400">
                <a:solidFill>
                  <a:srgbClr val="000000"/>
                </a:solidFill>
                <a:latin typeface="Arial" panose="020B0604020202020204" pitchFamily="34" charset="0"/>
                <a:ea typeface="+mn-ea"/>
              </a:defRPr>
            </a:lvl1pPr>
          </a:lstStyle>
          <a:p>
            <a:pPr fontAlgn="base">
              <a:spcBef>
                <a:spcPct val="0"/>
              </a:spcBef>
              <a:spcAft>
                <a:spcPct val="0"/>
              </a:spcAft>
              <a:defRPr/>
            </a:pPr>
            <a:endParaRPr lang="en-GB"/>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a:effectLst/>
        </p:spPr>
        <p:txBody>
          <a:bodyPr vert="horz" wrap="square" lIns="91440" tIns="45720" rIns="91440" bIns="45720" numCol="1" anchor="t" anchorCtr="0" compatLnSpc="1"/>
          <a:lstStyle>
            <a:lvl1pPr algn="r" eaLnBrk="1" hangingPunct="1">
              <a:defRPr sz="1400">
                <a:solidFill>
                  <a:srgbClr val="000000"/>
                </a:solidFill>
              </a:defRPr>
            </a:lvl1pPr>
          </a:lstStyle>
          <a:p>
            <a:pPr fontAlgn="base">
              <a:spcBef>
                <a:spcPct val="0"/>
              </a:spcBef>
              <a:spcAft>
                <a:spcPct val="0"/>
              </a:spcAft>
              <a:defRPr/>
            </a:pPr>
            <a:fld id="{CC9FAF1D-31CE-4422-B0CA-95C6F84571F0}" type="slidenum">
              <a:rPr lang="en-GB" altLang="en-US" smtClean="0">
                <a:ea typeface="MS PGothic" panose="020B0600070205080204" pitchFamily="34" charset="-128"/>
              </a:rPr>
              <a:t>‹#›</a:t>
            </a:fld>
            <a:endParaRPr lang="en-GB" altLang="en-US">
              <a:ea typeface="MS PGothic" panose="020B0600070205080204" pitchFamily="34" charset="-128"/>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20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7">
                                            <p:txEl>
                                              <p:pRg st="0" end="0"/>
                                            </p:txEl>
                                          </p:spTgt>
                                        </p:tgtEl>
                                        <p:attrNameLst>
                                          <p:attrName>style.visibility</p:attrName>
                                        </p:attrNameLst>
                                      </p:cBhvr>
                                      <p:to>
                                        <p:strVal val="visible"/>
                                      </p:to>
                                    </p:set>
                                    <p:animEffect transition="in" filter="wipe(left)">
                                      <p:cBhvr>
                                        <p:cTn id="12" dur="500"/>
                                        <p:tgtEl>
                                          <p:spTgt spid="1027">
                                            <p:txEl>
                                              <p:pRg st="0" end="0"/>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027">
                                            <p:txEl>
                                              <p:pRg st="1" end="1"/>
                                            </p:txEl>
                                          </p:spTgt>
                                        </p:tgtEl>
                                        <p:attrNameLst>
                                          <p:attrName>style.visibility</p:attrName>
                                        </p:attrNameLst>
                                      </p:cBhvr>
                                      <p:to>
                                        <p:strVal val="visible"/>
                                      </p:to>
                                    </p:set>
                                    <p:animEffect transition="in" filter="wipe(left)">
                                      <p:cBhvr>
                                        <p:cTn id="15" dur="500"/>
                                        <p:tgtEl>
                                          <p:spTgt spid="1027">
                                            <p:txEl>
                                              <p:pRg st="1" end="1"/>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027">
                                            <p:txEl>
                                              <p:pRg st="2" end="2"/>
                                            </p:txEl>
                                          </p:spTgt>
                                        </p:tgtEl>
                                        <p:attrNameLst>
                                          <p:attrName>style.visibility</p:attrName>
                                        </p:attrNameLst>
                                      </p:cBhvr>
                                      <p:to>
                                        <p:strVal val="visible"/>
                                      </p:to>
                                    </p:set>
                                    <p:animEffect transition="in" filter="wipe(left)">
                                      <p:cBhvr>
                                        <p:cTn id="18" dur="500"/>
                                        <p:tgtEl>
                                          <p:spTgt spid="1027">
                                            <p:txEl>
                                              <p:pRg st="2" end="2"/>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027">
                                            <p:txEl>
                                              <p:pRg st="3" end="3"/>
                                            </p:txEl>
                                          </p:spTgt>
                                        </p:tgtEl>
                                        <p:attrNameLst>
                                          <p:attrName>style.visibility</p:attrName>
                                        </p:attrNameLst>
                                      </p:cBhvr>
                                      <p:to>
                                        <p:strVal val="visible"/>
                                      </p:to>
                                    </p:set>
                                    <p:animEffect transition="in" filter="wipe(left)">
                                      <p:cBhvr>
                                        <p:cTn id="21" dur="500"/>
                                        <p:tgtEl>
                                          <p:spTgt spid="1027">
                                            <p:txEl>
                                              <p:pRg st="3" end="3"/>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027">
                                            <p:txEl>
                                              <p:pRg st="4" end="4"/>
                                            </p:txEl>
                                          </p:spTgt>
                                        </p:tgtEl>
                                        <p:attrNameLst>
                                          <p:attrName>style.visibility</p:attrName>
                                        </p:attrNameLst>
                                      </p:cBhvr>
                                      <p:to>
                                        <p:strVal val="visible"/>
                                      </p:to>
                                    </p:set>
                                    <p:animEffect transition="in" filter="wipe(left)">
                                      <p:cBhvr>
                                        <p:cTn id="24"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p:bldP spid="1027" grpId="0" build="p">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Qi7txH1KzY" TargetMode="Externa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3.png"/><Relationship Id="rId4" Type="http://schemas.openxmlformats.org/officeDocument/2006/relationships/hyperlink" Target="https://www.youtube.com/watch?v=OrNBEhzjg8I"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youtube.com/watch?v=f1Jw0-LExyc"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www.youtube.com/watch?v=QTsewNrHUHU"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close up of a logo&#10;&#10;Description automatically generated"/>
          <p:cNvPicPr>
            <a:picLocks noChangeAspect="1"/>
          </p:cNvPicPr>
          <p:nvPr/>
        </p:nvPicPr>
        <p:blipFill rotWithShape="1">
          <a:blip r:embed="rId2">
            <a:extLst>
              <a:ext uri="{28A0092B-C50C-407E-A947-70E740481C1C}">
                <a14:useLocalDpi xmlns:a14="http://schemas.microsoft.com/office/drawing/2010/main" val="0"/>
              </a:ext>
            </a:extLst>
          </a:blip>
          <a:srcRect r="-1"/>
          <a:stretch>
            <a:fillRect/>
          </a:stretch>
        </p:blipFill>
        <p:spPr>
          <a:xfrm>
            <a:off x="20" y="10"/>
            <a:ext cx="12191979" cy="6857990"/>
          </a:xfrm>
          <a:prstGeom prst="rect">
            <a:avLst/>
          </a:prstGeom>
        </p:spPr>
      </p:pic>
      <p:sp>
        <p:nvSpPr>
          <p:cNvPr id="82" name="Rectangle 81"/>
          <p:cNvSpPr>
            <a:spLocks noGrp="1" noRot="1" noChangeAspect="1" noMove="1" noResize="1" noEditPoints="1" noAdjustHandles="1" noChangeArrowheads="1" noChangeShapeType="1" noTextEdit="1"/>
          </p:cNvSpPr>
          <p:nvPr/>
        </p:nvSpPr>
        <p:spPr>
          <a:xfrm>
            <a:off x="5695067" y="1808532"/>
            <a:ext cx="5452527" cy="3240936"/>
          </a:xfrm>
          <a:prstGeom prst="rect">
            <a:avLst/>
          </a:prstGeom>
          <a:solidFill>
            <a:schemeClr val="bg1">
              <a:lumMod val="75000"/>
              <a:lumOff val="25000"/>
            </a:schemeClr>
          </a:solidFill>
          <a:ln w="6350" cap="sq" cmpd="sng" algn="ctr">
            <a:noFill/>
            <a:prstDash val="solid"/>
            <a:miter lim="800000"/>
          </a:ln>
          <a:effectLst/>
        </p:spPr>
      </p:sp>
      <p:sp>
        <p:nvSpPr>
          <p:cNvPr id="84" name="Rectangle 83"/>
          <p:cNvSpPr>
            <a:spLocks noGrp="1" noRot="1" noChangeAspect="1" noMove="1" noResize="1" noEditPoints="1" noAdjustHandles="1" noChangeArrowheads="1" noChangeShapeType="1" noTextEdit="1"/>
          </p:cNvSpPr>
          <p:nvPr/>
        </p:nvSpPr>
        <p:spPr>
          <a:xfrm>
            <a:off x="5861010" y="1975104"/>
            <a:ext cx="5120640" cy="2907792"/>
          </a:xfrm>
          <a:prstGeom prst="rect">
            <a:avLst/>
          </a:prstGeom>
          <a:noFill/>
          <a:ln w="6350" cap="sq" cmpd="sng" algn="ctr">
            <a:solidFill>
              <a:schemeClr val="tx1"/>
            </a:solidFill>
            <a:prstDash val="solid"/>
            <a:miter lim="800000"/>
          </a:ln>
          <a:effectLst>
            <a:softEdge rad="0"/>
          </a:effectLst>
        </p:spPr>
      </p:sp>
      <p:sp>
        <p:nvSpPr>
          <p:cNvPr id="2" name="Title 1"/>
          <p:cNvSpPr>
            <a:spLocks noGrp="1"/>
          </p:cNvSpPr>
          <p:nvPr>
            <p:ph type="ctrTitle"/>
          </p:nvPr>
        </p:nvSpPr>
        <p:spPr>
          <a:xfrm>
            <a:off x="6033793" y="2355458"/>
            <a:ext cx="4775075" cy="1630907"/>
          </a:xfrm>
        </p:spPr>
        <p:txBody>
          <a:bodyPr>
            <a:normAutofit fontScale="90000"/>
          </a:bodyPr>
          <a:lstStyle/>
          <a:p>
            <a:r>
              <a:rPr lang="en-US" sz="4400" dirty="0"/>
              <a:t>PSYC100 GENERAL PSYCHOLOGY</a:t>
            </a:r>
          </a:p>
        </p:txBody>
      </p:sp>
      <p:sp>
        <p:nvSpPr>
          <p:cNvPr id="3" name="Subtitle 2"/>
          <p:cNvSpPr>
            <a:spLocks noGrp="1"/>
          </p:cNvSpPr>
          <p:nvPr>
            <p:ph type="subTitle" idx="1"/>
          </p:nvPr>
        </p:nvSpPr>
        <p:spPr>
          <a:xfrm>
            <a:off x="6033793" y="3995988"/>
            <a:ext cx="4775075" cy="559656"/>
          </a:xfrm>
        </p:spPr>
        <p:txBody>
          <a:bodyPr>
            <a:normAutofit/>
          </a:bodyPr>
          <a:lstStyle/>
          <a:p>
            <a:pPr>
              <a:spcAft>
                <a:spcPts val="600"/>
              </a:spcAft>
            </a:pPr>
            <a:r>
              <a:rPr lang="en-US" b="1" dirty="0">
                <a:solidFill>
                  <a:schemeClr val="tx1"/>
                </a:solidFill>
              </a:rPr>
              <a:t>DEVELOPMENTAL PSYCHOLOGY</a:t>
            </a:r>
          </a:p>
        </p:txBody>
      </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OUTCOMES</a:t>
            </a:r>
          </a:p>
        </p:txBody>
      </p:sp>
      <p:sp>
        <p:nvSpPr>
          <p:cNvPr id="3" name="Content Placeholder 2"/>
          <p:cNvSpPr>
            <a:spLocks noGrp="1"/>
          </p:cNvSpPr>
          <p:nvPr>
            <p:ph idx="1"/>
          </p:nvPr>
        </p:nvSpPr>
        <p:spPr/>
        <p:txBody>
          <a:bodyPr/>
          <a:lstStyle/>
          <a:p>
            <a:r>
              <a:rPr lang="en-US" sz="2400" dirty="0"/>
              <a:t>Early experiences and attachment</a:t>
            </a:r>
          </a:p>
          <a:p>
            <a:r>
              <a:rPr lang="en-US" sz="2400" dirty="0"/>
              <a:t>Development of self concept</a:t>
            </a:r>
          </a:p>
          <a:p>
            <a:r>
              <a:rPr lang="en-US" sz="2400" dirty="0"/>
              <a:t>Cognitive development and Piaget’s Theory</a:t>
            </a:r>
          </a:p>
          <a:p>
            <a:r>
              <a:rPr lang="en-GB" altLang="en-US" sz="2400" dirty="0"/>
              <a:t>Zone of Proximal Development - Vygotsky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 - What is attachment?</a:t>
            </a:r>
          </a:p>
        </p:txBody>
      </p:sp>
      <p:sp>
        <p:nvSpPr>
          <p:cNvPr id="3" name="Content Placeholder 2"/>
          <p:cNvSpPr>
            <a:spLocks noGrp="1"/>
          </p:cNvSpPr>
          <p:nvPr>
            <p:ph idx="1"/>
          </p:nvPr>
        </p:nvSpPr>
        <p:spPr/>
        <p:txBody>
          <a:bodyPr>
            <a:normAutofit/>
          </a:bodyPr>
          <a:lstStyle/>
          <a:p>
            <a:r>
              <a:rPr lang="en-US" sz="2000" dirty="0"/>
              <a:t>According to Kagan </a:t>
            </a:r>
            <a:r>
              <a:rPr lang="en-US" sz="2000" i="1" dirty="0"/>
              <a:t>et al</a:t>
            </a:r>
            <a:r>
              <a:rPr lang="en-US" sz="2000" dirty="0"/>
              <a:t>. (1978), an attachment is: </a:t>
            </a:r>
            <a:r>
              <a:rPr lang="en-US" sz="2000" i="1" dirty="0"/>
              <a:t>... an intense emotional relationship that is specific to two people, that endures over time, and in which prolonged separation from the partner is accompanied by stress and sorrow.</a:t>
            </a:r>
          </a:p>
          <a:p>
            <a:r>
              <a:rPr lang="en-US" sz="2000" dirty="0"/>
              <a:t>Our first attachment acts as a </a:t>
            </a:r>
            <a:r>
              <a:rPr lang="en-US" sz="2000" i="1" dirty="0"/>
              <a:t>prototype </a:t>
            </a:r>
            <a:r>
              <a:rPr lang="en-US" sz="2000" dirty="0"/>
              <a:t>(or model) for all later relationships.</a:t>
            </a:r>
          </a:p>
          <a:p>
            <a:r>
              <a:rPr lang="en-US" sz="2000" dirty="0"/>
              <a:t>Harlow’s experiments with monkeys</a:t>
            </a:r>
          </a:p>
          <a:p>
            <a:r>
              <a:rPr lang="en-US" sz="2000" dirty="0"/>
              <a:t>John Bowlby</a:t>
            </a:r>
          </a:p>
          <a:p>
            <a:r>
              <a:rPr lang="en-US" sz="2000" dirty="0"/>
              <a:t>Mary Ainsworth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Harlow’s monkey experiments</a:t>
            </a:r>
          </a:p>
        </p:txBody>
      </p:sp>
      <p:sp>
        <p:nvSpPr>
          <p:cNvPr id="3" name="Content Placeholder 2"/>
          <p:cNvSpPr>
            <a:spLocks noGrp="1"/>
          </p:cNvSpPr>
          <p:nvPr>
            <p:ph idx="1"/>
          </p:nvPr>
        </p:nvSpPr>
        <p:spPr/>
        <p:txBody>
          <a:bodyPr/>
          <a:lstStyle/>
          <a:p>
            <a:r>
              <a:rPr lang="en-US" dirty="0"/>
              <a:t>To study whether attachment in infants is based on </a:t>
            </a:r>
            <a:r>
              <a:rPr lang="en-US" b="1" dirty="0"/>
              <a:t>biological needs (feeding)</a:t>
            </a:r>
            <a:r>
              <a:rPr lang="en-US" dirty="0"/>
              <a:t> or </a:t>
            </a:r>
            <a:r>
              <a:rPr lang="en-US" b="1" dirty="0"/>
              <a:t>emotional comfort (contact and security)</a:t>
            </a:r>
            <a:r>
              <a:rPr lang="en-US" dirty="0"/>
              <a:t>.</a:t>
            </a:r>
          </a:p>
          <a:p>
            <a:r>
              <a:rPr lang="en-US" altLang="en-GB" dirty="0">
                <a:hlinkClick r:id="rId3"/>
              </a:rPr>
              <a:t>https://www.youtube.com/watch?v=-Qi7txH1KzY</a:t>
            </a:r>
            <a:endParaRPr lang="en-US" altLang="en-GB" dirty="0"/>
          </a:p>
          <a:p>
            <a:r>
              <a:rPr lang="en-US" altLang="en-GB" dirty="0">
                <a:hlinkClick r:id="rId4"/>
              </a:rPr>
              <a:t>https://www.youtube.com/watch?v=OrNBEhzjg8I</a:t>
            </a:r>
            <a:endParaRPr lang="en-US" altLang="en-GB" dirty="0"/>
          </a:p>
          <a:p>
            <a:r>
              <a:rPr lang="en-US" b="1" dirty="0"/>
              <a:t>Monkeys overwhelmingly preferred the cloth mother</a:t>
            </a:r>
            <a:r>
              <a:rPr lang="en-US" dirty="0"/>
              <a:t>, even though she provided </a:t>
            </a:r>
            <a:r>
              <a:rPr lang="en-US" b="1" dirty="0"/>
              <a:t>no food</a:t>
            </a:r>
            <a:r>
              <a:rPr lang="en-US" dirty="0"/>
              <a:t>.</a:t>
            </a:r>
          </a:p>
          <a:p>
            <a:r>
              <a:rPr lang="en-US" dirty="0"/>
              <a:t>They only went to the wire mother briefly </a:t>
            </a:r>
            <a:r>
              <a:rPr lang="en-US" b="1" dirty="0"/>
              <a:t>to feed</a:t>
            </a:r>
            <a:r>
              <a:rPr lang="en-US" dirty="0"/>
              <a:t>, then immediately returned to the cloth mother.</a:t>
            </a:r>
          </a:p>
          <a:p>
            <a:endParaRPr lang="en-US" dirty="0"/>
          </a:p>
          <a:p>
            <a:endParaRPr lang="en-US" dirty="0"/>
          </a:p>
        </p:txBody>
      </p:sp>
      <p:graphicFrame>
        <p:nvGraphicFramePr>
          <p:cNvPr id="4" name="Table 3"/>
          <p:cNvGraphicFramePr>
            <a:graphicFrameLocks noGrp="1"/>
          </p:cNvGraphicFramePr>
          <p:nvPr>
            <p:custDataLst>
              <p:tags r:id="rId1"/>
            </p:custDataLst>
          </p:nvPr>
        </p:nvGraphicFramePr>
        <p:xfrm>
          <a:off x="1850390" y="4357370"/>
          <a:ext cx="4958080" cy="2468880"/>
        </p:xfrm>
        <a:graphic>
          <a:graphicData uri="http://schemas.openxmlformats.org/drawingml/2006/table">
            <a:tbl>
              <a:tblPr/>
              <a:tblGrid>
                <a:gridCol w="1652905">
                  <a:extLst>
                    <a:ext uri="{9D8B030D-6E8A-4147-A177-3AD203B41FA5}">
                      <a16:colId xmlns:a16="http://schemas.microsoft.com/office/drawing/2014/main" val="20000"/>
                    </a:ext>
                  </a:extLst>
                </a:gridCol>
                <a:gridCol w="1652270">
                  <a:extLst>
                    <a:ext uri="{9D8B030D-6E8A-4147-A177-3AD203B41FA5}">
                      <a16:colId xmlns:a16="http://schemas.microsoft.com/office/drawing/2014/main" val="20001"/>
                    </a:ext>
                  </a:extLst>
                </a:gridCol>
                <a:gridCol w="1652905">
                  <a:extLst>
                    <a:ext uri="{9D8B030D-6E8A-4147-A177-3AD203B41FA5}">
                      <a16:colId xmlns:a16="http://schemas.microsoft.com/office/drawing/2014/main" val="20002"/>
                    </a:ext>
                  </a:extLst>
                </a:gridCol>
              </a:tblGrid>
              <a:tr h="223520">
                <a:tc>
                  <a:txBody>
                    <a:bodyPr/>
                    <a:lstStyle/>
                    <a:p>
                      <a:r>
                        <a:rPr lang="en-US"/>
                        <a:t>Surrogate Mother</a:t>
                      </a:r>
                    </a:p>
                  </a:txBody>
                  <a:tcPr anchor="ctr">
                    <a:lnL>
                      <a:noFill/>
                    </a:lnL>
                    <a:lnR>
                      <a:noFill/>
                    </a:lnR>
                    <a:lnT>
                      <a:noFill/>
                    </a:lnT>
                    <a:lnB>
                      <a:noFill/>
                    </a:lnB>
                  </a:tcPr>
                </a:tc>
                <a:tc>
                  <a:txBody>
                    <a:bodyPr/>
                    <a:lstStyle/>
                    <a:p>
                      <a:r>
                        <a:rPr lang="en-US"/>
                        <a:t>Description</a:t>
                      </a:r>
                    </a:p>
                  </a:txBody>
                  <a:tcPr anchor="ctr">
                    <a:lnL>
                      <a:noFill/>
                    </a:lnL>
                    <a:lnR>
                      <a:noFill/>
                    </a:lnR>
                    <a:lnT>
                      <a:noFill/>
                    </a:lnT>
                    <a:lnB>
                      <a:noFill/>
                    </a:lnB>
                  </a:tcPr>
                </a:tc>
                <a:tc>
                  <a:txBody>
                    <a:bodyPr/>
                    <a:lstStyle/>
                    <a:p>
                      <a:r>
                        <a:rPr lang="en-US"/>
                        <a:t>Provided Milk?</a:t>
                      </a:r>
                    </a:p>
                  </a:txBody>
                  <a:tcPr anchor="ctr">
                    <a:lnL>
                      <a:noFill/>
                    </a:lnL>
                    <a:lnR>
                      <a:noFill/>
                    </a:lnR>
                    <a:lnT>
                      <a:noFill/>
                    </a:lnT>
                    <a:lnB>
                      <a:noFill/>
                    </a:lnB>
                  </a:tcPr>
                </a:tc>
                <a:extLst>
                  <a:ext uri="{0D108BD9-81ED-4DB2-BD59-A6C34878D82A}">
                    <a16:rowId xmlns:a16="http://schemas.microsoft.com/office/drawing/2014/main" val="10000"/>
                  </a:ext>
                </a:extLst>
              </a:tr>
              <a:tr h="640080">
                <a:tc>
                  <a:txBody>
                    <a:bodyPr/>
                    <a:lstStyle/>
                    <a:p>
                      <a:r>
                        <a:rPr lang="en-US" b="1"/>
                        <a:t>Wire Mother</a:t>
                      </a:r>
                      <a:endParaRPr lang="en-US"/>
                    </a:p>
                  </a:txBody>
                  <a:tcPr anchor="ctr">
                    <a:lnL>
                      <a:noFill/>
                    </a:lnL>
                    <a:lnR>
                      <a:noFill/>
                    </a:lnR>
                    <a:lnT>
                      <a:noFill/>
                    </a:lnT>
                    <a:lnB>
                      <a:noFill/>
                    </a:lnB>
                  </a:tcPr>
                </a:tc>
                <a:tc>
                  <a:txBody>
                    <a:bodyPr/>
                    <a:lstStyle/>
                    <a:p>
                      <a:r>
                        <a:rPr lang="en-US"/>
                        <a:t>Bare wire frame</a:t>
                      </a:r>
                    </a:p>
                  </a:txBody>
                  <a:tcPr anchor="ctr">
                    <a:lnL>
                      <a:noFill/>
                    </a:lnL>
                    <a:lnR>
                      <a:noFill/>
                    </a:lnR>
                    <a:lnT>
                      <a:noFill/>
                    </a:lnT>
                    <a:lnB>
                      <a:noFill/>
                    </a:lnB>
                  </a:tcPr>
                </a:tc>
                <a:tc>
                  <a:txBody>
                    <a:bodyPr/>
                    <a:lstStyle/>
                    <a:p>
                      <a:r>
                        <a:rPr lang="en-US"/>
                        <a:t>✅ Yes (bottle attached)</a:t>
                      </a:r>
                    </a:p>
                  </a:txBody>
                  <a:tcPr anchor="ctr">
                    <a:lnL>
                      <a:noFill/>
                    </a:lnL>
                    <a:lnR>
                      <a:noFill/>
                    </a:lnR>
                    <a:lnT>
                      <a:noFill/>
                    </a:lnT>
                    <a:lnB>
                      <a:noFill/>
                    </a:lnB>
                  </a:tcPr>
                </a:tc>
                <a:extLst>
                  <a:ext uri="{0D108BD9-81ED-4DB2-BD59-A6C34878D82A}">
                    <a16:rowId xmlns:a16="http://schemas.microsoft.com/office/drawing/2014/main" val="10001"/>
                  </a:ext>
                </a:extLst>
              </a:tr>
              <a:tr h="914400">
                <a:tc>
                  <a:txBody>
                    <a:bodyPr/>
                    <a:lstStyle/>
                    <a:p>
                      <a:r>
                        <a:rPr lang="en-US" b="1"/>
                        <a:t>Cloth Mother</a:t>
                      </a:r>
                      <a:endParaRPr lang="en-US"/>
                    </a:p>
                  </a:txBody>
                  <a:tcPr anchor="ctr">
                    <a:lnL>
                      <a:noFill/>
                    </a:lnL>
                    <a:lnR>
                      <a:noFill/>
                    </a:lnR>
                    <a:lnT>
                      <a:noFill/>
                    </a:lnT>
                    <a:lnB>
                      <a:noFill/>
                    </a:lnB>
                  </a:tcPr>
                </a:tc>
                <a:tc>
                  <a:txBody>
                    <a:bodyPr/>
                    <a:lstStyle/>
                    <a:p>
                      <a:r>
                        <a:rPr lang="en-US" dirty="0"/>
                        <a:t>Covered in soft terry cloth</a:t>
                      </a:r>
                    </a:p>
                  </a:txBody>
                  <a:tcPr anchor="ctr">
                    <a:lnL>
                      <a:noFill/>
                    </a:lnL>
                    <a:lnR>
                      <a:noFill/>
                    </a:lnR>
                    <a:lnT>
                      <a:noFill/>
                    </a:lnT>
                    <a:lnB>
                      <a:noFill/>
                    </a:lnB>
                  </a:tcPr>
                </a:tc>
                <a:tc>
                  <a:txBody>
                    <a:bodyPr/>
                    <a:lstStyle/>
                    <a:p>
                      <a:r>
                        <a:rPr lang="en-US" dirty="0"/>
                        <a:t>❌ No (no milk)</a:t>
                      </a:r>
                    </a:p>
                  </a:txBody>
                  <a:tcPr anchor="ctr">
                    <a:lnL>
                      <a:noFill/>
                    </a:lnL>
                    <a:lnR>
                      <a:noFill/>
                    </a:lnR>
                    <a:lnT>
                      <a:noFill/>
                    </a:lnT>
                    <a:lnB>
                      <a:noFill/>
                    </a:lnB>
                  </a:tcPr>
                </a:tc>
                <a:extLst>
                  <a:ext uri="{0D108BD9-81ED-4DB2-BD59-A6C34878D82A}">
                    <a16:rowId xmlns:a16="http://schemas.microsoft.com/office/drawing/2014/main" val="10002"/>
                  </a:ext>
                </a:extLst>
              </a:tr>
            </a:tbl>
          </a:graphicData>
        </a:graphic>
      </p:graphicFrame>
      <p:pic>
        <p:nvPicPr>
          <p:cNvPr id="5" name="Picture 4"/>
          <p:cNvPicPr>
            <a:picLocks noChangeAspect="1"/>
          </p:cNvPicPr>
          <p:nvPr/>
        </p:nvPicPr>
        <p:blipFill>
          <a:blip r:embed="rId5"/>
          <a:stretch>
            <a:fillRect/>
          </a:stretch>
        </p:blipFill>
        <p:spPr>
          <a:xfrm>
            <a:off x="8136584" y="4357345"/>
            <a:ext cx="3597112" cy="212490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Harlow’s follow-up studies</a:t>
            </a:r>
          </a:p>
        </p:txBody>
      </p:sp>
      <p:sp>
        <p:nvSpPr>
          <p:cNvPr id="3" name="Content Placeholder 2"/>
          <p:cNvSpPr>
            <a:spLocks noGrp="1"/>
          </p:cNvSpPr>
          <p:nvPr>
            <p:ph idx="1"/>
          </p:nvPr>
        </p:nvSpPr>
        <p:spPr/>
        <p:txBody>
          <a:bodyPr/>
          <a:lstStyle/>
          <a:p>
            <a:pPr marL="342900" indent="-342900">
              <a:buAutoNum type="arabicPeriod"/>
            </a:pPr>
            <a:r>
              <a:rPr lang="en-US" dirty="0"/>
              <a:t>Isolation studies: Monkeys raised in total isolation (no mother, no peers) became </a:t>
            </a:r>
            <a:r>
              <a:rPr lang="en-US" b="1" dirty="0"/>
              <a:t>emotionally disturbed</a:t>
            </a:r>
            <a:r>
              <a:rPr lang="en-US" dirty="0"/>
              <a:t>, </a:t>
            </a:r>
            <a:r>
              <a:rPr lang="en-US" b="1" dirty="0"/>
              <a:t>socially withdrawn</a:t>
            </a:r>
            <a:r>
              <a:rPr lang="en-US" dirty="0"/>
              <a:t>, and often </a:t>
            </a:r>
            <a:r>
              <a:rPr lang="en-US" b="1" dirty="0"/>
              <a:t>self-harming</a:t>
            </a:r>
            <a:r>
              <a:rPr lang="en-US" dirty="0"/>
              <a:t>; When reintroduced to others, they were fearful or aggressive and struggled to mate or care for offspring.</a:t>
            </a:r>
          </a:p>
          <a:p>
            <a:pPr marL="342900" indent="-342900">
              <a:buAutoNum type="arabicPeriod"/>
            </a:pPr>
            <a:r>
              <a:rPr lang="en-US" dirty="0"/>
              <a:t>Partial isolation studies: Monkeys could see and hear others but not touch them; Still developed </a:t>
            </a:r>
            <a:r>
              <a:rPr lang="en-US" b="1" dirty="0"/>
              <a:t>abnormal behaviors</a:t>
            </a:r>
            <a:r>
              <a:rPr lang="en-US" dirty="0"/>
              <a:t>, showing that </a:t>
            </a:r>
            <a:r>
              <a:rPr lang="en-US" b="1" dirty="0"/>
              <a:t>physical affection and social contact</a:t>
            </a:r>
            <a:r>
              <a:rPr lang="en-US" dirty="0"/>
              <a:t> are crucial.</a:t>
            </a:r>
          </a:p>
          <a:p>
            <a:pPr marL="342900" indent="-342900">
              <a:buAutoNum type="arabicPeriod"/>
            </a:pPr>
            <a:endParaRPr lang="en-US" dirty="0"/>
          </a:p>
          <a:p>
            <a:pPr marL="342900" indent="-342900">
              <a:buAutoNum type="arabicPeriod"/>
            </a:pPr>
            <a:endParaRPr lang="en-US" dirty="0"/>
          </a:p>
          <a:p>
            <a:pPr marL="0" indent="0">
              <a:buNone/>
            </a:pPr>
            <a:r>
              <a:rPr lang="en-US" b="1" dirty="0"/>
              <a:t>CONCLUSIONS: </a:t>
            </a:r>
          </a:p>
          <a:p>
            <a:pPr>
              <a:buFontTx/>
              <a:buChar char="-"/>
            </a:pPr>
            <a:r>
              <a:rPr lang="en-US" dirty="0"/>
              <a:t>Attachment is not just about feeding — it’s about security, comfort, and love.</a:t>
            </a:r>
          </a:p>
          <a:p>
            <a:pPr>
              <a:buFontTx/>
              <a:buChar char="-"/>
            </a:pPr>
            <a:r>
              <a:rPr lang="en-US" dirty="0"/>
              <a:t>Touch and emotional warmth are essential for healthy psychological development.</a:t>
            </a:r>
          </a:p>
          <a:p>
            <a:pPr>
              <a:buFontTx/>
              <a:buChar char="-"/>
            </a:pPr>
            <a:r>
              <a:rPr lang="en-US" dirty="0"/>
              <a:t>Lack of attachment can lead to severe long-term emotional damage.</a:t>
            </a:r>
          </a:p>
          <a:p>
            <a:pPr marL="342900" indent="-342900">
              <a:buAutoNum type="arabicPeriod"/>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John Bowlby (1950s-60s)</a:t>
            </a:r>
          </a:p>
        </p:txBody>
      </p:sp>
      <p:sp>
        <p:nvSpPr>
          <p:cNvPr id="4" name="Rectangle 1"/>
          <p:cNvSpPr>
            <a:spLocks noGrp="1" noChangeArrowheads="1"/>
          </p:cNvSpPr>
          <p:nvPr>
            <p:ph idx="1"/>
          </p:nvPr>
        </p:nvSpPr>
        <p:spPr bwMode="auto">
          <a:xfrm>
            <a:off x="912976" y="1964353"/>
            <a:ext cx="9398511"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mj-lt"/>
              </a:rPr>
              <a:t>Bowlby, a British psychologist, was the first to propose that </a:t>
            </a:r>
            <a:r>
              <a:rPr kumimoji="0" lang="en-US" altLang="en-US" sz="2400" i="0" u="none" strike="noStrike" cap="none" normalizeH="0" baseline="0" dirty="0">
                <a:ln>
                  <a:noFill/>
                </a:ln>
                <a:solidFill>
                  <a:schemeClr val="tx1"/>
                </a:solidFill>
                <a:effectLst/>
                <a:latin typeface="+mj-lt"/>
              </a:rPr>
              <a:t>attachment is </a:t>
            </a:r>
            <a:r>
              <a:rPr kumimoji="0" lang="en-US" altLang="en-US" sz="2400" b="0" i="0" u="none" strike="noStrike" cap="none" normalizeH="0" baseline="0" dirty="0">
                <a:ln>
                  <a:noFill/>
                </a:ln>
                <a:solidFill>
                  <a:schemeClr val="tx1"/>
                </a:solidFill>
                <a:effectLst/>
                <a:latin typeface="+mj-lt"/>
              </a:rPr>
              <a:t>an </a:t>
            </a:r>
            <a:r>
              <a:rPr kumimoji="0" lang="en-US" altLang="en-US" sz="2400" b="1" i="0" u="none" strike="noStrike" cap="none" normalizeH="0" baseline="0" dirty="0">
                <a:ln>
                  <a:noFill/>
                </a:ln>
                <a:solidFill>
                  <a:schemeClr val="tx1"/>
                </a:solidFill>
                <a:effectLst/>
                <a:latin typeface="+mj-lt"/>
              </a:rPr>
              <a:t>innate biological system</a:t>
            </a:r>
            <a:r>
              <a:rPr kumimoji="0" lang="en-US" altLang="en-US" sz="2400" b="0" i="0" u="none" strike="noStrike" cap="none" normalizeH="0" baseline="0" dirty="0">
                <a:ln>
                  <a:noFill/>
                </a:ln>
                <a:solidFill>
                  <a:schemeClr val="tx1"/>
                </a:solidFill>
                <a:effectLst/>
                <a:latin typeface="+mj-lt"/>
              </a:rPr>
              <a:t> that evolved to ensure survival (evolutionary).</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mj-lt"/>
              </a:rPr>
              <a:t>He argued that children are born with an instinct to seek closeness to a caregiver when they feel threatened, frightened, or ill.</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mj-lt"/>
              </a:rPr>
              <a:t>The caregiver provides a </a:t>
            </a:r>
            <a:r>
              <a:rPr kumimoji="0" lang="en-US" altLang="en-US" sz="2400" b="1" i="0" u="none" strike="noStrike" cap="none" normalizeH="0" baseline="0" dirty="0">
                <a:ln>
                  <a:noFill/>
                </a:ln>
                <a:solidFill>
                  <a:schemeClr val="tx1"/>
                </a:solidFill>
                <a:effectLst/>
                <a:latin typeface="+mj-lt"/>
              </a:rPr>
              <a:t>secure base</a:t>
            </a:r>
            <a:r>
              <a:rPr kumimoji="0" lang="en-US" altLang="en-US" sz="2400" b="0" i="0" u="none" strike="noStrike" cap="none" normalizeH="0" baseline="0" dirty="0">
                <a:ln>
                  <a:noFill/>
                </a:ln>
                <a:solidFill>
                  <a:schemeClr val="tx1"/>
                </a:solidFill>
                <a:effectLst/>
                <a:latin typeface="+mj-lt"/>
              </a:rPr>
              <a:t> from which the child can explore the world and a </a:t>
            </a:r>
            <a:r>
              <a:rPr kumimoji="0" lang="en-US" altLang="en-US" sz="2400" b="1" i="0" u="none" strike="noStrike" cap="none" normalizeH="0" baseline="0" dirty="0">
                <a:ln>
                  <a:noFill/>
                </a:ln>
                <a:solidFill>
                  <a:schemeClr val="tx1"/>
                </a:solidFill>
                <a:effectLst/>
                <a:latin typeface="+mj-lt"/>
              </a:rPr>
              <a:t>safe haven </a:t>
            </a:r>
            <a:r>
              <a:rPr kumimoji="0" lang="en-US" altLang="en-US" sz="2400" b="0" i="0" u="none" strike="noStrike" cap="none" normalizeH="0" baseline="0" dirty="0">
                <a:ln>
                  <a:noFill/>
                </a:ln>
                <a:solidFill>
                  <a:schemeClr val="tx1"/>
                </a:solidFill>
                <a:effectLst/>
                <a:latin typeface="+mj-lt"/>
              </a:rPr>
              <a:t>for comfort.</a:t>
            </a:r>
          </a:p>
          <a:p>
            <a:pPr marL="0" lvl="0" indent="0" eaLnBrk="0" fontAlgn="base" hangingPunct="0">
              <a:lnSpc>
                <a:spcPct val="100000"/>
              </a:lnSpc>
              <a:spcBef>
                <a:spcPct val="0"/>
              </a:spcBef>
              <a:spcAft>
                <a:spcPct val="0"/>
              </a:spcAft>
              <a:buClrTx/>
              <a:buFontTx/>
              <a:buChar char="•"/>
            </a:pPr>
            <a:r>
              <a:rPr lang="en-US" sz="2400" dirty="0"/>
              <a:t>The critical period for forming primary attachment according to Bowlby is roughly from birth to about </a:t>
            </a:r>
            <a:r>
              <a:rPr lang="en-US" sz="2400" b="1" dirty="0"/>
              <a:t>3 years of age</a:t>
            </a:r>
          </a:p>
          <a:p>
            <a:pPr marL="0" indent="0" eaLnBrk="0" fontAlgn="base" hangingPunct="0">
              <a:lnSpc>
                <a:spcPct val="100000"/>
              </a:lnSpc>
              <a:spcBef>
                <a:spcPct val="0"/>
              </a:spcBef>
              <a:spcAft>
                <a:spcPct val="0"/>
              </a:spcAft>
              <a:buClrTx/>
              <a:buFontTx/>
              <a:buChar char="•"/>
            </a:pPr>
            <a:r>
              <a:rPr lang="en-GB" altLang="en-US" sz="2400" dirty="0">
                <a:hlinkClick r:id="rId2"/>
              </a:rPr>
              <a:t>https://www.youtube.com/watch?v=f1Jw0-LExyc</a:t>
            </a:r>
            <a:endParaRPr lang="en-GB" altLang="en-US" sz="2400" dirty="0"/>
          </a:p>
          <a:p>
            <a:pPr marL="0" indent="0" eaLnBrk="0" fontAlgn="base" hangingPunct="0">
              <a:lnSpc>
                <a:spcPct val="100000"/>
              </a:lnSpc>
              <a:spcBef>
                <a:spcPct val="0"/>
              </a:spcBef>
              <a:spcAft>
                <a:spcPct val="0"/>
              </a:spcAft>
              <a:buClrTx/>
              <a:buFontTx/>
              <a:buChar char="•"/>
            </a:pPr>
            <a:endParaRPr lang="en-GB" altLang="en-US" sz="2400" dirty="0"/>
          </a:p>
          <a:p>
            <a:pPr marL="0" lvl="0" indent="0" eaLnBrk="0" fontAlgn="base" hangingPunct="0">
              <a:lnSpc>
                <a:spcPct val="100000"/>
              </a:lnSpc>
              <a:spcBef>
                <a:spcPct val="0"/>
              </a:spcBef>
              <a:spcAft>
                <a:spcPct val="0"/>
              </a:spcAft>
              <a:buClrTx/>
              <a:buFontTx/>
              <a:buChar char="•"/>
            </a:pPr>
            <a:endParaRPr kumimoji="0" lang="en-US" altLang="en-US" sz="2400" b="1" i="0" u="none" strike="noStrike" cap="none" normalizeH="0" baseline="0" dirty="0">
              <a:ln>
                <a:noFill/>
              </a:ln>
              <a:solidFill>
                <a:schemeClr val="tx1"/>
              </a:solidFill>
              <a:effectLst/>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John Bowlby (1950s-60s)</a:t>
            </a:r>
          </a:p>
        </p:txBody>
      </p:sp>
      <p:sp>
        <p:nvSpPr>
          <p:cNvPr id="3" name="Content Placeholder 2"/>
          <p:cNvSpPr>
            <a:spLocks noGrp="1"/>
          </p:cNvSpPr>
          <p:nvPr>
            <p:ph idx="1"/>
          </p:nvPr>
        </p:nvSpPr>
        <p:spPr/>
        <p:txBody>
          <a:bodyPr>
            <a:normAutofit/>
          </a:bodyPr>
          <a:lstStyle/>
          <a:p>
            <a:r>
              <a:rPr lang="en-US" sz="2000" dirty="0"/>
              <a:t>Bowlby believed that infants display a strong innate tendency to become attached to one particular adult female (not necessarily the natural mother).</a:t>
            </a:r>
          </a:p>
          <a:p>
            <a:r>
              <a:rPr lang="en-US" sz="2000" dirty="0"/>
              <a:t>For Bowlby (1951): </a:t>
            </a:r>
            <a:r>
              <a:rPr lang="en-US" sz="2000" i="1" dirty="0"/>
              <a:t>Mother love in infancy is as important for mental health as are vitamins and proteins for physical health.</a:t>
            </a:r>
          </a:p>
          <a:p>
            <a:r>
              <a:rPr lang="en-US" sz="2000" dirty="0"/>
              <a:t>Although Bowlby didn’t deny that children form multiple attachments, he saw attachment to the mother as being </a:t>
            </a:r>
            <a:r>
              <a:rPr lang="en-US" sz="2000" i="1" dirty="0"/>
              <a:t>unique</a:t>
            </a:r>
            <a:r>
              <a:rPr lang="en-US" sz="2000" dirty="0"/>
              <a:t>: it’s the first to develop and is the strongest of all.</a:t>
            </a:r>
          </a:p>
          <a:p>
            <a:r>
              <a:rPr lang="en-US" sz="2000" dirty="0"/>
              <a:t>However, Schaffer and Emerson showed that multiple attachments seem to be the rule rather than the  exception. FATHERS!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Mary Ainsworth (1970s)</a:t>
            </a:r>
          </a:p>
        </p:txBody>
      </p:sp>
      <p:sp>
        <p:nvSpPr>
          <p:cNvPr id="3" name="Content Placeholder 2"/>
          <p:cNvSpPr>
            <a:spLocks noGrp="1"/>
          </p:cNvSpPr>
          <p:nvPr>
            <p:ph idx="1"/>
          </p:nvPr>
        </p:nvSpPr>
        <p:spPr/>
        <p:txBody>
          <a:bodyPr>
            <a:normAutofit/>
          </a:bodyPr>
          <a:lstStyle/>
          <a:p>
            <a:r>
              <a:rPr lang="en-US" sz="2400" dirty="0"/>
              <a:t>Ainsworth expanded Bowlby’s theory with her </a:t>
            </a:r>
            <a:r>
              <a:rPr lang="en-US" sz="2400" b="1" dirty="0"/>
              <a:t>“Strange Situation”</a:t>
            </a:r>
            <a:r>
              <a:rPr lang="en-US" sz="2400" dirty="0"/>
              <a:t> experiment (1970s), which observed how infants reacted to separations and reunions with their mothers.</a:t>
            </a:r>
          </a:p>
          <a:p>
            <a:r>
              <a:rPr lang="en-US" sz="2400" dirty="0"/>
              <a:t>Studied how infants (12-18 months old) form attachments and react to separation and reunion with their caregiver.</a:t>
            </a:r>
          </a:p>
          <a:p>
            <a:r>
              <a:rPr lang="en-US" sz="2400" dirty="0"/>
              <a:t>Identified 4 main attachment styles.</a:t>
            </a:r>
          </a:p>
          <a:p>
            <a:endParaRPr lang="en-US" altLang="en-GB" sz="2400" dirty="0"/>
          </a:p>
          <a:p>
            <a:endParaRPr lang="en-US" altLang="en-GB"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172971" y="1126597"/>
          <a:ext cx="9774192" cy="4564901"/>
        </p:xfrm>
        <a:graphic>
          <a:graphicData uri="http://schemas.openxmlformats.org/drawingml/2006/table">
            <a:tbl>
              <a:tblPr/>
              <a:tblGrid>
                <a:gridCol w="2443548">
                  <a:extLst>
                    <a:ext uri="{9D8B030D-6E8A-4147-A177-3AD203B41FA5}">
                      <a16:colId xmlns:a16="http://schemas.microsoft.com/office/drawing/2014/main" val="20000"/>
                    </a:ext>
                  </a:extLst>
                </a:gridCol>
                <a:gridCol w="2443548">
                  <a:extLst>
                    <a:ext uri="{9D8B030D-6E8A-4147-A177-3AD203B41FA5}">
                      <a16:colId xmlns:a16="http://schemas.microsoft.com/office/drawing/2014/main" val="20001"/>
                    </a:ext>
                  </a:extLst>
                </a:gridCol>
                <a:gridCol w="2443548">
                  <a:extLst>
                    <a:ext uri="{9D8B030D-6E8A-4147-A177-3AD203B41FA5}">
                      <a16:colId xmlns:a16="http://schemas.microsoft.com/office/drawing/2014/main" val="20002"/>
                    </a:ext>
                  </a:extLst>
                </a:gridCol>
                <a:gridCol w="2443548">
                  <a:extLst>
                    <a:ext uri="{9D8B030D-6E8A-4147-A177-3AD203B41FA5}">
                      <a16:colId xmlns:a16="http://schemas.microsoft.com/office/drawing/2014/main" val="20003"/>
                    </a:ext>
                  </a:extLst>
                </a:gridCol>
              </a:tblGrid>
              <a:tr h="463254">
                <a:tc>
                  <a:txBody>
                    <a:bodyPr/>
                    <a:lstStyle/>
                    <a:p>
                      <a:r>
                        <a:rPr lang="en-US" sz="1100"/>
                        <a:t>Step</a:t>
                      </a:r>
                    </a:p>
                  </a:txBody>
                  <a:tcPr marL="55793" marR="55793" marT="27896" marB="27896" anchor="ctr">
                    <a:lnL>
                      <a:noFill/>
                    </a:lnL>
                    <a:lnR>
                      <a:noFill/>
                    </a:lnR>
                    <a:lnT>
                      <a:noFill/>
                    </a:lnT>
                    <a:lnB>
                      <a:noFill/>
                    </a:lnB>
                  </a:tcPr>
                </a:tc>
                <a:tc>
                  <a:txBody>
                    <a:bodyPr/>
                    <a:lstStyle/>
                    <a:p>
                      <a:r>
                        <a:rPr lang="en-US" sz="1100"/>
                        <a:t>Who’s in the room</a:t>
                      </a:r>
                    </a:p>
                  </a:txBody>
                  <a:tcPr marL="55793" marR="55793" marT="27896" marB="27896" anchor="ctr">
                    <a:lnL>
                      <a:noFill/>
                    </a:lnL>
                    <a:lnR>
                      <a:noFill/>
                    </a:lnR>
                    <a:lnT>
                      <a:noFill/>
                    </a:lnT>
                    <a:lnB>
                      <a:noFill/>
                    </a:lnB>
                  </a:tcPr>
                </a:tc>
                <a:tc>
                  <a:txBody>
                    <a:bodyPr/>
                    <a:lstStyle/>
                    <a:p>
                      <a:r>
                        <a:rPr lang="en-US" sz="1100"/>
                        <a:t>What happens</a:t>
                      </a:r>
                    </a:p>
                  </a:txBody>
                  <a:tcPr marL="55793" marR="55793" marT="27896" marB="27896" anchor="ctr">
                    <a:lnL>
                      <a:noFill/>
                    </a:lnL>
                    <a:lnR>
                      <a:noFill/>
                    </a:lnR>
                    <a:lnT>
                      <a:noFill/>
                    </a:lnT>
                    <a:lnB>
                      <a:noFill/>
                    </a:lnB>
                  </a:tcPr>
                </a:tc>
                <a:tc>
                  <a:txBody>
                    <a:bodyPr/>
                    <a:lstStyle/>
                    <a:p>
                      <a:r>
                        <a:rPr lang="en-US" sz="1100"/>
                        <a:t>What psychologists observe</a:t>
                      </a:r>
                    </a:p>
                  </a:txBody>
                  <a:tcPr marL="55793" marR="55793" marT="27896" marB="27896" anchor="ctr">
                    <a:lnL>
                      <a:noFill/>
                    </a:lnL>
                    <a:lnR>
                      <a:noFill/>
                    </a:lnR>
                    <a:lnT>
                      <a:noFill/>
                    </a:lnT>
                    <a:lnB>
                      <a:noFill/>
                    </a:lnB>
                  </a:tcPr>
                </a:tc>
                <a:extLst>
                  <a:ext uri="{0D108BD9-81ED-4DB2-BD59-A6C34878D82A}">
                    <a16:rowId xmlns:a16="http://schemas.microsoft.com/office/drawing/2014/main" val="10000"/>
                  </a:ext>
                </a:extLst>
              </a:tr>
              <a:tr h="463254">
                <a:tc>
                  <a:txBody>
                    <a:bodyPr/>
                    <a:lstStyle/>
                    <a:p>
                      <a:r>
                        <a:rPr lang="en-US" sz="1100"/>
                        <a:t>1</a:t>
                      </a:r>
                    </a:p>
                  </a:txBody>
                  <a:tcPr marL="55793" marR="55793" marT="27896" marB="27896" anchor="ctr">
                    <a:lnL>
                      <a:noFill/>
                    </a:lnL>
                    <a:lnR>
                      <a:noFill/>
                    </a:lnR>
                    <a:lnT>
                      <a:noFill/>
                    </a:lnT>
                    <a:lnB>
                      <a:noFill/>
                    </a:lnB>
                  </a:tcPr>
                </a:tc>
                <a:tc>
                  <a:txBody>
                    <a:bodyPr/>
                    <a:lstStyle/>
                    <a:p>
                      <a:r>
                        <a:rPr lang="en-US" sz="1100"/>
                        <a:t>Parent + baby</a:t>
                      </a:r>
                    </a:p>
                  </a:txBody>
                  <a:tcPr marL="55793" marR="55793" marT="27896" marB="27896" anchor="ctr">
                    <a:lnL>
                      <a:noFill/>
                    </a:lnL>
                    <a:lnR>
                      <a:noFill/>
                    </a:lnR>
                    <a:lnT>
                      <a:noFill/>
                    </a:lnT>
                    <a:lnB>
                      <a:noFill/>
                    </a:lnB>
                  </a:tcPr>
                </a:tc>
                <a:tc>
                  <a:txBody>
                    <a:bodyPr/>
                    <a:lstStyle/>
                    <a:p>
                      <a:r>
                        <a:rPr lang="en-US" sz="1100"/>
                        <a:t>Parent and baby enter room.</a:t>
                      </a:r>
                    </a:p>
                  </a:txBody>
                  <a:tcPr marL="55793" marR="55793" marT="27896" marB="27896" anchor="ctr">
                    <a:lnL>
                      <a:noFill/>
                    </a:lnL>
                    <a:lnR>
                      <a:noFill/>
                    </a:lnR>
                    <a:lnT>
                      <a:noFill/>
                    </a:lnT>
                    <a:lnB>
                      <a:noFill/>
                    </a:lnB>
                  </a:tcPr>
                </a:tc>
                <a:tc>
                  <a:txBody>
                    <a:bodyPr/>
                    <a:lstStyle/>
                    <a:p>
                      <a:r>
                        <a:rPr lang="en-US" sz="1100"/>
                        <a:t>Infant’s willingness to explore.</a:t>
                      </a:r>
                    </a:p>
                  </a:txBody>
                  <a:tcPr marL="55793" marR="55793" marT="27896" marB="27896" anchor="ctr">
                    <a:lnL>
                      <a:noFill/>
                    </a:lnL>
                    <a:lnR>
                      <a:noFill/>
                    </a:lnR>
                    <a:lnT>
                      <a:noFill/>
                    </a:lnT>
                    <a:lnB>
                      <a:noFill/>
                    </a:lnB>
                  </a:tcPr>
                </a:tc>
                <a:extLst>
                  <a:ext uri="{0D108BD9-81ED-4DB2-BD59-A6C34878D82A}">
                    <a16:rowId xmlns:a16="http://schemas.microsoft.com/office/drawing/2014/main" val="10001"/>
                  </a:ext>
                </a:extLst>
              </a:tr>
              <a:tr h="463254">
                <a:tc>
                  <a:txBody>
                    <a:bodyPr/>
                    <a:lstStyle/>
                    <a:p>
                      <a:r>
                        <a:rPr lang="en-US" sz="1100"/>
                        <a:t>2</a:t>
                      </a:r>
                    </a:p>
                  </a:txBody>
                  <a:tcPr marL="55793" marR="55793" marT="27896" marB="27896" anchor="ctr">
                    <a:lnL>
                      <a:noFill/>
                    </a:lnL>
                    <a:lnR>
                      <a:noFill/>
                    </a:lnR>
                    <a:lnT>
                      <a:noFill/>
                    </a:lnT>
                    <a:lnB>
                      <a:noFill/>
                    </a:lnB>
                  </a:tcPr>
                </a:tc>
                <a:tc>
                  <a:txBody>
                    <a:bodyPr/>
                    <a:lstStyle/>
                    <a:p>
                      <a:r>
                        <a:rPr lang="en-US" sz="1100"/>
                        <a:t>Parent + baby</a:t>
                      </a:r>
                    </a:p>
                  </a:txBody>
                  <a:tcPr marL="55793" marR="55793" marT="27896" marB="27896" anchor="ctr">
                    <a:lnL>
                      <a:noFill/>
                    </a:lnL>
                    <a:lnR>
                      <a:noFill/>
                    </a:lnR>
                    <a:lnT>
                      <a:noFill/>
                    </a:lnT>
                    <a:lnB>
                      <a:noFill/>
                    </a:lnB>
                  </a:tcPr>
                </a:tc>
                <a:tc>
                  <a:txBody>
                    <a:bodyPr/>
                    <a:lstStyle/>
                    <a:p>
                      <a:r>
                        <a:rPr lang="en-US" sz="1100"/>
                        <a:t>Baby explores with parent nearby.</a:t>
                      </a:r>
                    </a:p>
                  </a:txBody>
                  <a:tcPr marL="55793" marR="55793" marT="27896" marB="27896" anchor="ctr">
                    <a:lnL>
                      <a:noFill/>
                    </a:lnL>
                    <a:lnR>
                      <a:noFill/>
                    </a:lnR>
                    <a:lnT>
                      <a:noFill/>
                    </a:lnT>
                    <a:lnB>
                      <a:noFill/>
                    </a:lnB>
                  </a:tcPr>
                </a:tc>
                <a:tc>
                  <a:txBody>
                    <a:bodyPr/>
                    <a:lstStyle/>
                    <a:p>
                      <a:r>
                        <a:rPr lang="en-US" sz="1100"/>
                        <a:t>Use of parent as a secure base.</a:t>
                      </a:r>
                    </a:p>
                  </a:txBody>
                  <a:tcPr marL="55793" marR="55793" marT="27896" marB="27896" anchor="ctr">
                    <a:lnL>
                      <a:noFill/>
                    </a:lnL>
                    <a:lnR>
                      <a:noFill/>
                    </a:lnR>
                    <a:lnT>
                      <a:noFill/>
                    </a:lnT>
                    <a:lnB>
                      <a:noFill/>
                    </a:lnB>
                  </a:tcPr>
                </a:tc>
                <a:extLst>
                  <a:ext uri="{0D108BD9-81ED-4DB2-BD59-A6C34878D82A}">
                    <a16:rowId xmlns:a16="http://schemas.microsoft.com/office/drawing/2014/main" val="10002"/>
                  </a:ext>
                </a:extLst>
              </a:tr>
              <a:tr h="661837">
                <a:tc>
                  <a:txBody>
                    <a:bodyPr/>
                    <a:lstStyle/>
                    <a:p>
                      <a:r>
                        <a:rPr lang="en-US" sz="1100"/>
                        <a:t>3</a:t>
                      </a:r>
                    </a:p>
                  </a:txBody>
                  <a:tcPr marL="55793" marR="55793" marT="27896" marB="27896" anchor="ctr">
                    <a:lnL>
                      <a:noFill/>
                    </a:lnL>
                    <a:lnR>
                      <a:noFill/>
                    </a:lnR>
                    <a:lnT>
                      <a:noFill/>
                    </a:lnT>
                    <a:lnB>
                      <a:noFill/>
                    </a:lnB>
                  </a:tcPr>
                </a:tc>
                <a:tc>
                  <a:txBody>
                    <a:bodyPr/>
                    <a:lstStyle/>
                    <a:p>
                      <a:r>
                        <a:rPr lang="en-US" sz="1100"/>
                        <a:t>Parent + baby + stranger</a:t>
                      </a:r>
                    </a:p>
                  </a:txBody>
                  <a:tcPr marL="55793" marR="55793" marT="27896" marB="27896" anchor="ctr">
                    <a:lnL>
                      <a:noFill/>
                    </a:lnL>
                    <a:lnR>
                      <a:noFill/>
                    </a:lnR>
                    <a:lnT>
                      <a:noFill/>
                    </a:lnT>
                    <a:lnB>
                      <a:noFill/>
                    </a:lnB>
                  </a:tcPr>
                </a:tc>
                <a:tc>
                  <a:txBody>
                    <a:bodyPr/>
                    <a:lstStyle/>
                    <a:p>
                      <a:r>
                        <a:rPr lang="en-US" sz="1100"/>
                        <a:t>Stranger enters, talks to parent, then approaches baby.</a:t>
                      </a:r>
                    </a:p>
                  </a:txBody>
                  <a:tcPr marL="55793" marR="55793" marT="27896" marB="27896" anchor="ctr">
                    <a:lnL>
                      <a:noFill/>
                    </a:lnL>
                    <a:lnR>
                      <a:noFill/>
                    </a:lnR>
                    <a:lnT>
                      <a:noFill/>
                    </a:lnT>
                    <a:lnB>
                      <a:noFill/>
                    </a:lnB>
                  </a:tcPr>
                </a:tc>
                <a:tc>
                  <a:txBody>
                    <a:bodyPr/>
                    <a:lstStyle/>
                    <a:p>
                      <a:r>
                        <a:rPr lang="en-US" sz="1100"/>
                        <a:t>Reaction to stranger.</a:t>
                      </a:r>
                    </a:p>
                  </a:txBody>
                  <a:tcPr marL="55793" marR="55793" marT="27896" marB="27896" anchor="ctr">
                    <a:lnL>
                      <a:noFill/>
                    </a:lnL>
                    <a:lnR>
                      <a:noFill/>
                    </a:lnR>
                    <a:lnT>
                      <a:noFill/>
                    </a:lnT>
                    <a:lnB>
                      <a:noFill/>
                    </a:lnB>
                  </a:tcPr>
                </a:tc>
                <a:extLst>
                  <a:ext uri="{0D108BD9-81ED-4DB2-BD59-A6C34878D82A}">
                    <a16:rowId xmlns:a16="http://schemas.microsoft.com/office/drawing/2014/main" val="10003"/>
                  </a:ext>
                </a:extLst>
              </a:tr>
              <a:tr h="462634">
                <a:tc>
                  <a:txBody>
                    <a:bodyPr/>
                    <a:lstStyle/>
                    <a:p>
                      <a:r>
                        <a:rPr lang="en-US" sz="1100"/>
                        <a:t>4</a:t>
                      </a:r>
                    </a:p>
                  </a:txBody>
                  <a:tcPr marL="55793" marR="55793" marT="27896" marB="27896" anchor="ctr">
                    <a:lnL>
                      <a:noFill/>
                    </a:lnL>
                    <a:lnR>
                      <a:noFill/>
                    </a:lnR>
                    <a:lnT>
                      <a:noFill/>
                    </a:lnT>
                    <a:lnB>
                      <a:noFill/>
                    </a:lnB>
                  </a:tcPr>
                </a:tc>
                <a:tc>
                  <a:txBody>
                    <a:bodyPr/>
                    <a:lstStyle/>
                    <a:p>
                      <a:r>
                        <a:rPr lang="en-US" sz="1100"/>
                        <a:t>Baby + stranger</a:t>
                      </a:r>
                    </a:p>
                  </a:txBody>
                  <a:tcPr marL="55793" marR="55793" marT="27896" marB="27896" anchor="ctr">
                    <a:lnL>
                      <a:noFill/>
                    </a:lnL>
                    <a:lnR>
                      <a:noFill/>
                    </a:lnR>
                    <a:lnT>
                      <a:noFill/>
                    </a:lnT>
                    <a:lnB>
                      <a:noFill/>
                    </a:lnB>
                  </a:tcPr>
                </a:tc>
                <a:tc>
                  <a:txBody>
                    <a:bodyPr/>
                    <a:lstStyle/>
                    <a:p>
                      <a:r>
                        <a:rPr lang="en-US" sz="1100"/>
                        <a:t>Parent quietly leaves.</a:t>
                      </a:r>
                    </a:p>
                  </a:txBody>
                  <a:tcPr marL="55793" marR="55793" marT="27896" marB="27896" anchor="ctr">
                    <a:lnL>
                      <a:noFill/>
                    </a:lnL>
                    <a:lnR>
                      <a:noFill/>
                    </a:lnR>
                    <a:lnT>
                      <a:noFill/>
                    </a:lnT>
                    <a:lnB>
                      <a:noFill/>
                    </a:lnB>
                  </a:tcPr>
                </a:tc>
                <a:tc>
                  <a:txBody>
                    <a:bodyPr/>
                    <a:lstStyle/>
                    <a:p>
                      <a:r>
                        <a:rPr lang="en-US" sz="1100"/>
                        <a:t>Separation anxiety.</a:t>
                      </a:r>
                    </a:p>
                  </a:txBody>
                  <a:tcPr marL="55793" marR="55793" marT="27896" marB="27896" anchor="ctr">
                    <a:lnL>
                      <a:noFill/>
                    </a:lnL>
                    <a:lnR>
                      <a:noFill/>
                    </a:lnR>
                    <a:lnT>
                      <a:noFill/>
                    </a:lnT>
                    <a:lnB>
                      <a:noFill/>
                    </a:lnB>
                  </a:tcPr>
                </a:tc>
                <a:extLst>
                  <a:ext uri="{0D108BD9-81ED-4DB2-BD59-A6C34878D82A}">
                    <a16:rowId xmlns:a16="http://schemas.microsoft.com/office/drawing/2014/main" val="10004"/>
                  </a:ext>
                </a:extLst>
              </a:tr>
              <a:tr h="660906">
                <a:tc>
                  <a:txBody>
                    <a:bodyPr/>
                    <a:lstStyle/>
                    <a:p>
                      <a:r>
                        <a:rPr lang="en-US" sz="1100"/>
                        <a:t>5</a:t>
                      </a:r>
                    </a:p>
                  </a:txBody>
                  <a:tcPr marL="55793" marR="55793" marT="27896" marB="27896" anchor="ctr">
                    <a:lnL>
                      <a:noFill/>
                    </a:lnL>
                    <a:lnR>
                      <a:noFill/>
                    </a:lnR>
                    <a:lnT>
                      <a:noFill/>
                    </a:lnT>
                    <a:lnB>
                      <a:noFill/>
                    </a:lnB>
                  </a:tcPr>
                </a:tc>
                <a:tc>
                  <a:txBody>
                    <a:bodyPr/>
                    <a:lstStyle/>
                    <a:p>
                      <a:r>
                        <a:rPr lang="en-US" sz="1100"/>
                        <a:t>Parent + baby</a:t>
                      </a:r>
                    </a:p>
                  </a:txBody>
                  <a:tcPr marL="55793" marR="55793" marT="27896" marB="27896" anchor="ctr">
                    <a:lnL>
                      <a:noFill/>
                    </a:lnL>
                    <a:lnR>
                      <a:noFill/>
                    </a:lnR>
                    <a:lnT>
                      <a:noFill/>
                    </a:lnT>
                    <a:lnB>
                      <a:noFill/>
                    </a:lnB>
                  </a:tcPr>
                </a:tc>
                <a:tc>
                  <a:txBody>
                    <a:bodyPr/>
                    <a:lstStyle/>
                    <a:p>
                      <a:r>
                        <a:rPr lang="en-US" sz="1100"/>
                        <a:t>Parent returns, comforts baby; stranger leaves.</a:t>
                      </a:r>
                    </a:p>
                  </a:txBody>
                  <a:tcPr marL="55793" marR="55793" marT="27896" marB="27896" anchor="ctr">
                    <a:lnL>
                      <a:noFill/>
                    </a:lnL>
                    <a:lnR>
                      <a:noFill/>
                    </a:lnR>
                    <a:lnT>
                      <a:noFill/>
                    </a:lnT>
                    <a:lnB>
                      <a:noFill/>
                    </a:lnB>
                  </a:tcPr>
                </a:tc>
                <a:tc>
                  <a:txBody>
                    <a:bodyPr/>
                    <a:lstStyle/>
                    <a:p>
                      <a:r>
                        <a:rPr lang="en-US" sz="1100"/>
                        <a:t>Reaction to reunion.</a:t>
                      </a:r>
                    </a:p>
                  </a:txBody>
                  <a:tcPr marL="55793" marR="55793" marT="27896" marB="27896" anchor="ctr">
                    <a:lnL>
                      <a:noFill/>
                    </a:lnL>
                    <a:lnR>
                      <a:noFill/>
                    </a:lnR>
                    <a:lnT>
                      <a:noFill/>
                    </a:lnT>
                    <a:lnB>
                      <a:noFill/>
                    </a:lnB>
                  </a:tcPr>
                </a:tc>
                <a:extLst>
                  <a:ext uri="{0D108BD9-81ED-4DB2-BD59-A6C34878D82A}">
                    <a16:rowId xmlns:a16="http://schemas.microsoft.com/office/drawing/2014/main" val="10005"/>
                  </a:ext>
                </a:extLst>
              </a:tr>
              <a:tr h="463254">
                <a:tc>
                  <a:txBody>
                    <a:bodyPr/>
                    <a:lstStyle/>
                    <a:p>
                      <a:r>
                        <a:rPr lang="en-US" sz="1100"/>
                        <a:t>6</a:t>
                      </a:r>
                    </a:p>
                  </a:txBody>
                  <a:tcPr marL="55793" marR="55793" marT="27896" marB="27896" anchor="ctr">
                    <a:lnL>
                      <a:noFill/>
                    </a:lnL>
                    <a:lnR>
                      <a:noFill/>
                    </a:lnR>
                    <a:lnT>
                      <a:noFill/>
                    </a:lnT>
                    <a:lnB>
                      <a:noFill/>
                    </a:lnB>
                  </a:tcPr>
                </a:tc>
                <a:tc>
                  <a:txBody>
                    <a:bodyPr/>
                    <a:lstStyle/>
                    <a:p>
                      <a:r>
                        <a:rPr lang="en-US" sz="1100"/>
                        <a:t>Baby alone</a:t>
                      </a:r>
                    </a:p>
                  </a:txBody>
                  <a:tcPr marL="55793" marR="55793" marT="27896" marB="27896" anchor="ctr">
                    <a:lnL>
                      <a:noFill/>
                    </a:lnL>
                    <a:lnR>
                      <a:noFill/>
                    </a:lnR>
                    <a:lnT>
                      <a:noFill/>
                    </a:lnT>
                    <a:lnB>
                      <a:noFill/>
                    </a:lnB>
                  </a:tcPr>
                </a:tc>
                <a:tc>
                  <a:txBody>
                    <a:bodyPr/>
                    <a:lstStyle/>
                    <a:p>
                      <a:r>
                        <a:rPr lang="en-US" sz="1100"/>
                        <a:t>Parent leaves baby completely alone.</a:t>
                      </a:r>
                    </a:p>
                  </a:txBody>
                  <a:tcPr marL="55793" marR="55793" marT="27896" marB="27896" anchor="ctr">
                    <a:lnL>
                      <a:noFill/>
                    </a:lnL>
                    <a:lnR>
                      <a:noFill/>
                    </a:lnR>
                    <a:lnT>
                      <a:noFill/>
                    </a:lnT>
                    <a:lnB>
                      <a:noFill/>
                    </a:lnB>
                  </a:tcPr>
                </a:tc>
                <a:tc>
                  <a:txBody>
                    <a:bodyPr/>
                    <a:lstStyle/>
                    <a:p>
                      <a:r>
                        <a:rPr lang="en-US" sz="1100"/>
                        <a:t>Separation distress.</a:t>
                      </a:r>
                    </a:p>
                  </a:txBody>
                  <a:tcPr marL="55793" marR="55793" marT="27896" marB="27896" anchor="ctr">
                    <a:lnL>
                      <a:noFill/>
                    </a:lnL>
                    <a:lnR>
                      <a:noFill/>
                    </a:lnR>
                    <a:lnT>
                      <a:noFill/>
                    </a:lnT>
                    <a:lnB>
                      <a:noFill/>
                    </a:lnB>
                  </a:tcPr>
                </a:tc>
                <a:extLst>
                  <a:ext uri="{0D108BD9-81ED-4DB2-BD59-A6C34878D82A}">
                    <a16:rowId xmlns:a16="http://schemas.microsoft.com/office/drawing/2014/main" val="10006"/>
                  </a:ext>
                </a:extLst>
              </a:tr>
              <a:tr h="463254">
                <a:tc>
                  <a:txBody>
                    <a:bodyPr/>
                    <a:lstStyle/>
                    <a:p>
                      <a:r>
                        <a:rPr lang="en-US" sz="1100"/>
                        <a:t>7</a:t>
                      </a:r>
                    </a:p>
                  </a:txBody>
                  <a:tcPr marL="55793" marR="55793" marT="27896" marB="27896" anchor="ctr">
                    <a:lnL>
                      <a:noFill/>
                    </a:lnL>
                    <a:lnR>
                      <a:noFill/>
                    </a:lnR>
                    <a:lnT>
                      <a:noFill/>
                    </a:lnT>
                    <a:lnB>
                      <a:noFill/>
                    </a:lnB>
                  </a:tcPr>
                </a:tc>
                <a:tc>
                  <a:txBody>
                    <a:bodyPr/>
                    <a:lstStyle/>
                    <a:p>
                      <a:r>
                        <a:rPr lang="en-US" sz="1100"/>
                        <a:t>Baby + stranger</a:t>
                      </a:r>
                    </a:p>
                  </a:txBody>
                  <a:tcPr marL="55793" marR="55793" marT="27896" marB="27896" anchor="ctr">
                    <a:lnL>
                      <a:noFill/>
                    </a:lnL>
                    <a:lnR>
                      <a:noFill/>
                    </a:lnR>
                    <a:lnT>
                      <a:noFill/>
                    </a:lnT>
                    <a:lnB>
                      <a:noFill/>
                    </a:lnB>
                  </a:tcPr>
                </a:tc>
                <a:tc>
                  <a:txBody>
                    <a:bodyPr/>
                    <a:lstStyle/>
                    <a:p>
                      <a:r>
                        <a:rPr lang="en-US" sz="1100"/>
                        <a:t>Stranger re-enters, offers comfort.</a:t>
                      </a:r>
                    </a:p>
                  </a:txBody>
                  <a:tcPr marL="55793" marR="55793" marT="27896" marB="27896" anchor="ctr">
                    <a:lnL>
                      <a:noFill/>
                    </a:lnL>
                    <a:lnR>
                      <a:noFill/>
                    </a:lnR>
                    <a:lnT>
                      <a:noFill/>
                    </a:lnT>
                    <a:lnB>
                      <a:noFill/>
                    </a:lnB>
                  </a:tcPr>
                </a:tc>
                <a:tc>
                  <a:txBody>
                    <a:bodyPr/>
                    <a:lstStyle/>
                    <a:p>
                      <a:r>
                        <a:rPr lang="en-US" sz="1100"/>
                        <a:t>Ability to be soothed by stranger.</a:t>
                      </a:r>
                    </a:p>
                  </a:txBody>
                  <a:tcPr marL="55793" marR="55793" marT="27896" marB="27896" anchor="ctr">
                    <a:lnL>
                      <a:noFill/>
                    </a:lnL>
                    <a:lnR>
                      <a:noFill/>
                    </a:lnR>
                    <a:lnT>
                      <a:noFill/>
                    </a:lnT>
                    <a:lnB>
                      <a:noFill/>
                    </a:lnB>
                  </a:tcPr>
                </a:tc>
                <a:extLst>
                  <a:ext uri="{0D108BD9-81ED-4DB2-BD59-A6C34878D82A}">
                    <a16:rowId xmlns:a16="http://schemas.microsoft.com/office/drawing/2014/main" val="10007"/>
                  </a:ext>
                </a:extLst>
              </a:tr>
              <a:tr h="463254">
                <a:tc>
                  <a:txBody>
                    <a:bodyPr/>
                    <a:lstStyle/>
                    <a:p>
                      <a:r>
                        <a:rPr lang="en-US" sz="1100"/>
                        <a:t>8</a:t>
                      </a:r>
                    </a:p>
                  </a:txBody>
                  <a:tcPr marL="55793" marR="55793" marT="27896" marB="27896" anchor="ctr">
                    <a:lnL>
                      <a:noFill/>
                    </a:lnL>
                    <a:lnR>
                      <a:noFill/>
                    </a:lnR>
                    <a:lnT>
                      <a:noFill/>
                    </a:lnT>
                    <a:lnB>
                      <a:noFill/>
                    </a:lnB>
                  </a:tcPr>
                </a:tc>
                <a:tc>
                  <a:txBody>
                    <a:bodyPr/>
                    <a:lstStyle/>
                    <a:p>
                      <a:r>
                        <a:rPr lang="en-US" sz="1100"/>
                        <a:t>Parent + baby</a:t>
                      </a:r>
                    </a:p>
                  </a:txBody>
                  <a:tcPr marL="55793" marR="55793" marT="27896" marB="27896" anchor="ctr">
                    <a:lnL>
                      <a:noFill/>
                    </a:lnL>
                    <a:lnR>
                      <a:noFill/>
                    </a:lnR>
                    <a:lnT>
                      <a:noFill/>
                    </a:lnT>
                    <a:lnB>
                      <a:noFill/>
                    </a:lnB>
                  </a:tcPr>
                </a:tc>
                <a:tc>
                  <a:txBody>
                    <a:bodyPr/>
                    <a:lstStyle/>
                    <a:p>
                      <a:r>
                        <a:rPr lang="en-US" sz="1100"/>
                        <a:t>Parent returns again.</a:t>
                      </a:r>
                    </a:p>
                  </a:txBody>
                  <a:tcPr marL="55793" marR="55793" marT="27896" marB="27896" anchor="ctr">
                    <a:lnL>
                      <a:noFill/>
                    </a:lnL>
                    <a:lnR>
                      <a:noFill/>
                    </a:lnR>
                    <a:lnT>
                      <a:noFill/>
                    </a:lnT>
                    <a:lnB>
                      <a:noFill/>
                    </a:lnB>
                  </a:tcPr>
                </a:tc>
                <a:tc>
                  <a:txBody>
                    <a:bodyPr/>
                    <a:lstStyle/>
                    <a:p>
                      <a:r>
                        <a:rPr lang="en-US" sz="1100" dirty="0"/>
                        <a:t>Second reunion response.</a:t>
                      </a:r>
                    </a:p>
                  </a:txBody>
                  <a:tcPr marL="55793" marR="55793" marT="27896" marB="27896" anchor="ctr">
                    <a:lnL>
                      <a:noFill/>
                    </a:lnL>
                    <a:lnR>
                      <a:noFill/>
                    </a:lnR>
                    <a:lnT>
                      <a:noFill/>
                    </a:lnT>
                    <a:lnB>
                      <a:noFill/>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Findings of SSE</a:t>
            </a:r>
          </a:p>
        </p:txBody>
      </p:sp>
      <p:graphicFrame>
        <p:nvGraphicFramePr>
          <p:cNvPr id="4" name="Content Placeholder 3"/>
          <p:cNvGraphicFramePr>
            <a:graphicFrameLocks noGrp="1"/>
          </p:cNvGraphicFramePr>
          <p:nvPr>
            <p:ph idx="1"/>
          </p:nvPr>
        </p:nvGraphicFramePr>
        <p:xfrm>
          <a:off x="1170774" y="2103438"/>
          <a:ext cx="8340270" cy="3849687"/>
        </p:xfrm>
        <a:graphic>
          <a:graphicData uri="http://schemas.openxmlformats.org/drawingml/2006/table">
            <a:tbl>
              <a:tblPr/>
              <a:tblGrid>
                <a:gridCol w="2780090">
                  <a:extLst>
                    <a:ext uri="{9D8B030D-6E8A-4147-A177-3AD203B41FA5}">
                      <a16:colId xmlns:a16="http://schemas.microsoft.com/office/drawing/2014/main" val="20000"/>
                    </a:ext>
                  </a:extLst>
                </a:gridCol>
                <a:gridCol w="2780090">
                  <a:extLst>
                    <a:ext uri="{9D8B030D-6E8A-4147-A177-3AD203B41FA5}">
                      <a16:colId xmlns:a16="http://schemas.microsoft.com/office/drawing/2014/main" val="20001"/>
                    </a:ext>
                  </a:extLst>
                </a:gridCol>
                <a:gridCol w="2780090">
                  <a:extLst>
                    <a:ext uri="{9D8B030D-6E8A-4147-A177-3AD203B41FA5}">
                      <a16:colId xmlns:a16="http://schemas.microsoft.com/office/drawing/2014/main" val="20002"/>
                    </a:ext>
                  </a:extLst>
                </a:gridCol>
              </a:tblGrid>
              <a:tr h="248367">
                <a:tc>
                  <a:txBody>
                    <a:bodyPr/>
                    <a:lstStyle/>
                    <a:p>
                      <a:r>
                        <a:rPr lang="en-US" sz="1200"/>
                        <a:t>Attachment Type</a:t>
                      </a:r>
                    </a:p>
                  </a:txBody>
                  <a:tcPr marL="62092" marR="62092" marT="31046" marB="31046" anchor="ctr">
                    <a:lnL>
                      <a:noFill/>
                    </a:lnL>
                    <a:lnR>
                      <a:noFill/>
                    </a:lnR>
                    <a:lnT>
                      <a:noFill/>
                    </a:lnT>
                    <a:lnB>
                      <a:noFill/>
                    </a:lnB>
                  </a:tcPr>
                </a:tc>
                <a:tc>
                  <a:txBody>
                    <a:bodyPr/>
                    <a:lstStyle/>
                    <a:p>
                      <a:r>
                        <a:rPr lang="en-US" sz="1200"/>
                        <a:t>% of Infants</a:t>
                      </a:r>
                    </a:p>
                  </a:txBody>
                  <a:tcPr marL="62092" marR="62092" marT="31046" marB="31046" anchor="ctr">
                    <a:lnL>
                      <a:noFill/>
                    </a:lnL>
                    <a:lnR>
                      <a:noFill/>
                    </a:lnR>
                    <a:lnT>
                      <a:noFill/>
                    </a:lnT>
                    <a:lnB>
                      <a:noFill/>
                    </a:lnB>
                  </a:tcPr>
                </a:tc>
                <a:tc>
                  <a:txBody>
                    <a:bodyPr/>
                    <a:lstStyle/>
                    <a:p>
                      <a:r>
                        <a:rPr lang="en-US" sz="1200"/>
                        <a:t>Key Behaviors</a:t>
                      </a:r>
                    </a:p>
                  </a:txBody>
                  <a:tcPr marL="62092" marR="62092" marT="31046" marB="31046" anchor="ctr">
                    <a:lnL>
                      <a:noFill/>
                    </a:lnL>
                    <a:lnR>
                      <a:noFill/>
                    </a:lnR>
                    <a:lnT>
                      <a:noFill/>
                    </a:lnT>
                    <a:lnB>
                      <a:noFill/>
                    </a:lnB>
                  </a:tcPr>
                </a:tc>
                <a:extLst>
                  <a:ext uri="{0D108BD9-81ED-4DB2-BD59-A6C34878D82A}">
                    <a16:rowId xmlns:a16="http://schemas.microsoft.com/office/drawing/2014/main" val="10000"/>
                  </a:ext>
                </a:extLst>
              </a:tr>
              <a:tr h="993468">
                <a:tc>
                  <a:txBody>
                    <a:bodyPr/>
                    <a:lstStyle/>
                    <a:p>
                      <a:r>
                        <a:rPr lang="en-US" sz="1200" b="1"/>
                        <a:t>Secure</a:t>
                      </a:r>
                      <a:endParaRPr lang="en-US" sz="1200"/>
                    </a:p>
                  </a:txBody>
                  <a:tcPr marL="62092" marR="62092" marT="31046" marB="31046" anchor="ctr">
                    <a:lnL>
                      <a:noFill/>
                    </a:lnL>
                    <a:lnR>
                      <a:noFill/>
                    </a:lnR>
                    <a:lnT>
                      <a:noFill/>
                    </a:lnT>
                    <a:lnB>
                      <a:noFill/>
                    </a:lnB>
                  </a:tcPr>
                </a:tc>
                <a:tc>
                  <a:txBody>
                    <a:bodyPr/>
                    <a:lstStyle/>
                    <a:p>
                      <a:r>
                        <a:rPr lang="en-US" sz="1200"/>
                        <a:t>~65%</a:t>
                      </a:r>
                    </a:p>
                  </a:txBody>
                  <a:tcPr marL="62092" marR="62092" marT="31046" marB="31046" anchor="ctr">
                    <a:lnL>
                      <a:noFill/>
                    </a:lnL>
                    <a:lnR>
                      <a:noFill/>
                    </a:lnR>
                    <a:lnT>
                      <a:noFill/>
                    </a:lnT>
                    <a:lnB>
                      <a:noFill/>
                    </a:lnB>
                  </a:tcPr>
                </a:tc>
                <a:tc>
                  <a:txBody>
                    <a:bodyPr/>
                    <a:lstStyle/>
                    <a:p>
                      <a:r>
                        <a:rPr lang="en-US" sz="1200"/>
                        <a:t>Explores freely with caregiver as secure base; distressed when caregiver leaves; easily comforted upon return.</a:t>
                      </a:r>
                    </a:p>
                  </a:txBody>
                  <a:tcPr marL="62092" marR="62092" marT="31046" marB="31046" anchor="ctr">
                    <a:lnL>
                      <a:noFill/>
                    </a:lnL>
                    <a:lnR>
                      <a:noFill/>
                    </a:lnR>
                    <a:lnT>
                      <a:noFill/>
                    </a:lnT>
                    <a:lnB>
                      <a:noFill/>
                    </a:lnB>
                  </a:tcPr>
                </a:tc>
                <a:extLst>
                  <a:ext uri="{0D108BD9-81ED-4DB2-BD59-A6C34878D82A}">
                    <a16:rowId xmlns:a16="http://schemas.microsoft.com/office/drawing/2014/main" val="10001"/>
                  </a:ext>
                </a:extLst>
              </a:tr>
              <a:tr h="807192">
                <a:tc>
                  <a:txBody>
                    <a:bodyPr/>
                    <a:lstStyle/>
                    <a:p>
                      <a:r>
                        <a:rPr lang="en-US" sz="1200" b="1"/>
                        <a:t>Insecure-Avoidant</a:t>
                      </a:r>
                      <a:endParaRPr lang="en-US" sz="1200"/>
                    </a:p>
                  </a:txBody>
                  <a:tcPr marL="62092" marR="62092" marT="31046" marB="31046" anchor="ctr">
                    <a:lnL>
                      <a:noFill/>
                    </a:lnL>
                    <a:lnR>
                      <a:noFill/>
                    </a:lnR>
                    <a:lnT>
                      <a:noFill/>
                    </a:lnT>
                    <a:lnB>
                      <a:noFill/>
                    </a:lnB>
                  </a:tcPr>
                </a:tc>
                <a:tc>
                  <a:txBody>
                    <a:bodyPr/>
                    <a:lstStyle/>
                    <a:p>
                      <a:r>
                        <a:rPr lang="en-US" sz="1200"/>
                        <a:t>~20%</a:t>
                      </a:r>
                    </a:p>
                  </a:txBody>
                  <a:tcPr marL="62092" marR="62092" marT="31046" marB="31046" anchor="ctr">
                    <a:lnL>
                      <a:noFill/>
                    </a:lnL>
                    <a:lnR>
                      <a:noFill/>
                    </a:lnR>
                    <a:lnT>
                      <a:noFill/>
                    </a:lnT>
                    <a:lnB>
                      <a:noFill/>
                    </a:lnB>
                  </a:tcPr>
                </a:tc>
                <a:tc>
                  <a:txBody>
                    <a:bodyPr/>
                    <a:lstStyle/>
                    <a:p>
                      <a:r>
                        <a:rPr lang="en-US" sz="1200"/>
                        <a:t>Explores freely; shows little distress when caregiver leaves; avoids or ignores caregiver upon return.</a:t>
                      </a:r>
                    </a:p>
                  </a:txBody>
                  <a:tcPr marL="62092" marR="62092" marT="31046" marB="31046" anchor="ctr">
                    <a:lnL>
                      <a:noFill/>
                    </a:lnL>
                    <a:lnR>
                      <a:noFill/>
                    </a:lnR>
                    <a:lnT>
                      <a:noFill/>
                    </a:lnT>
                    <a:lnB>
                      <a:noFill/>
                    </a:lnB>
                  </a:tcPr>
                </a:tc>
                <a:extLst>
                  <a:ext uri="{0D108BD9-81ED-4DB2-BD59-A6C34878D82A}">
                    <a16:rowId xmlns:a16="http://schemas.microsoft.com/office/drawing/2014/main" val="10002"/>
                  </a:ext>
                </a:extLst>
              </a:tr>
              <a:tr h="993468">
                <a:tc>
                  <a:txBody>
                    <a:bodyPr/>
                    <a:lstStyle/>
                    <a:p>
                      <a:r>
                        <a:rPr lang="en-US" sz="1200" b="1"/>
                        <a:t>Insecure-Resistant (Ambivalent)</a:t>
                      </a:r>
                      <a:endParaRPr lang="en-US" sz="1200"/>
                    </a:p>
                  </a:txBody>
                  <a:tcPr marL="62092" marR="62092" marT="31046" marB="31046" anchor="ctr">
                    <a:lnL>
                      <a:noFill/>
                    </a:lnL>
                    <a:lnR>
                      <a:noFill/>
                    </a:lnR>
                    <a:lnT>
                      <a:noFill/>
                    </a:lnT>
                    <a:lnB>
                      <a:noFill/>
                    </a:lnB>
                  </a:tcPr>
                </a:tc>
                <a:tc>
                  <a:txBody>
                    <a:bodyPr/>
                    <a:lstStyle/>
                    <a:p>
                      <a:r>
                        <a:rPr lang="en-US" sz="1200"/>
                        <a:t>~10–15%</a:t>
                      </a:r>
                    </a:p>
                  </a:txBody>
                  <a:tcPr marL="62092" marR="62092" marT="31046" marB="31046" anchor="ctr">
                    <a:lnL>
                      <a:noFill/>
                    </a:lnL>
                    <a:lnR>
                      <a:noFill/>
                    </a:lnR>
                    <a:lnT>
                      <a:noFill/>
                    </a:lnT>
                    <a:lnB>
                      <a:noFill/>
                    </a:lnB>
                  </a:tcPr>
                </a:tc>
                <a:tc>
                  <a:txBody>
                    <a:bodyPr/>
                    <a:lstStyle/>
                    <a:p>
                      <a:r>
                        <a:rPr lang="en-US" sz="1200"/>
                        <a:t>Clings to caregiver, little exploration; highly distressed when caregiver leaves; seeks comfort but also resists it upon return.</a:t>
                      </a:r>
                    </a:p>
                  </a:txBody>
                  <a:tcPr marL="62092" marR="62092" marT="31046" marB="31046" anchor="ctr">
                    <a:lnL>
                      <a:noFill/>
                    </a:lnL>
                    <a:lnR>
                      <a:noFill/>
                    </a:lnR>
                    <a:lnT>
                      <a:noFill/>
                    </a:lnT>
                    <a:lnB>
                      <a:noFill/>
                    </a:lnB>
                  </a:tcPr>
                </a:tc>
                <a:extLst>
                  <a:ext uri="{0D108BD9-81ED-4DB2-BD59-A6C34878D82A}">
                    <a16:rowId xmlns:a16="http://schemas.microsoft.com/office/drawing/2014/main" val="10003"/>
                  </a:ext>
                </a:extLst>
              </a:tr>
              <a:tr h="807192">
                <a:tc>
                  <a:txBody>
                    <a:bodyPr/>
                    <a:lstStyle/>
                    <a:p>
                      <a:r>
                        <a:rPr lang="en-US" sz="1200" b="1"/>
                        <a:t>Disorganized</a:t>
                      </a:r>
                      <a:r>
                        <a:rPr lang="en-US" sz="1200"/>
                        <a:t> </a:t>
                      </a:r>
                      <a:r>
                        <a:rPr lang="en-US" sz="1200" i="1"/>
                        <a:t>(added later)</a:t>
                      </a:r>
                      <a:endParaRPr lang="en-US" sz="1200"/>
                    </a:p>
                  </a:txBody>
                  <a:tcPr marL="62092" marR="62092" marT="31046" marB="31046" anchor="ctr">
                    <a:lnL>
                      <a:noFill/>
                    </a:lnL>
                    <a:lnR>
                      <a:noFill/>
                    </a:lnR>
                    <a:lnT>
                      <a:noFill/>
                    </a:lnT>
                    <a:lnB>
                      <a:noFill/>
                    </a:lnB>
                  </a:tcPr>
                </a:tc>
                <a:tc>
                  <a:txBody>
                    <a:bodyPr/>
                    <a:lstStyle/>
                    <a:p>
                      <a:r>
                        <a:rPr lang="en-US" sz="1200"/>
                        <a:t>~5–10%</a:t>
                      </a:r>
                    </a:p>
                  </a:txBody>
                  <a:tcPr marL="62092" marR="62092" marT="31046" marB="31046" anchor="ctr">
                    <a:lnL>
                      <a:noFill/>
                    </a:lnL>
                    <a:lnR>
                      <a:noFill/>
                    </a:lnR>
                    <a:lnT>
                      <a:noFill/>
                    </a:lnT>
                    <a:lnB>
                      <a:noFill/>
                    </a:lnB>
                  </a:tcPr>
                </a:tc>
                <a:tc>
                  <a:txBody>
                    <a:bodyPr/>
                    <a:lstStyle/>
                    <a:p>
                      <a:r>
                        <a:rPr lang="en-US" sz="1200" dirty="0"/>
                        <a:t>Contradictory or confused behavior (e.g., approaching but looking away); often linked to trauma or neglect.</a:t>
                      </a:r>
                    </a:p>
                  </a:txBody>
                  <a:tcPr marL="62092" marR="62092" marT="31046" marB="31046" anchor="ctr">
                    <a:lnL>
                      <a:noFill/>
                    </a:lnL>
                    <a:lnR>
                      <a:noFill/>
                    </a:lnR>
                    <a:lnT>
                      <a:noFill/>
                    </a:lnT>
                    <a:lnB>
                      <a:noFill/>
                    </a:lnB>
                  </a:tcPr>
                </a:tc>
                <a:extLst>
                  <a:ext uri="{0D108BD9-81ED-4DB2-BD59-A6C34878D82A}">
                    <a16:rowId xmlns:a16="http://schemas.microsoft.com/office/drawing/2014/main" val="10004"/>
                  </a:ext>
                </a:extLst>
              </a:tr>
            </a:tbl>
          </a:graphicData>
        </a:graphic>
      </p:graphicFrame>
      <p:sp>
        <p:nvSpPr>
          <p:cNvPr id="3" name="Rectangle 2"/>
          <p:cNvSpPr/>
          <p:nvPr/>
        </p:nvSpPr>
        <p:spPr>
          <a:xfrm>
            <a:off x="1066800" y="5953125"/>
            <a:ext cx="5969904" cy="369332"/>
          </a:xfrm>
          <a:prstGeom prst="rect">
            <a:avLst/>
          </a:prstGeom>
        </p:spPr>
        <p:txBody>
          <a:bodyPr wrap="none">
            <a:spAutoFit/>
          </a:bodyPr>
          <a:lstStyle/>
          <a:p>
            <a:r>
              <a:rPr lang="en-US" altLang="en-GB" dirty="0">
                <a:hlinkClick r:id="rId2"/>
              </a:rPr>
              <a:t>https://www.youtube.com/watch?v=QTsewNrHUHU</a:t>
            </a:r>
            <a:endParaRPr lang="en-US" altLang="en-GB"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Four attachment styles</a:t>
            </a:r>
          </a:p>
        </p:txBody>
      </p:sp>
      <p:graphicFrame>
        <p:nvGraphicFramePr>
          <p:cNvPr id="4" name="Content Placeholder 3"/>
          <p:cNvGraphicFramePr>
            <a:graphicFrameLocks noGrp="1"/>
          </p:cNvGraphicFramePr>
          <p:nvPr>
            <p:ph idx="1"/>
          </p:nvPr>
        </p:nvGraphicFramePr>
        <p:xfrm>
          <a:off x="1066800" y="2153761"/>
          <a:ext cx="10058400" cy="3749040"/>
        </p:xfrm>
        <a:graphic>
          <a:graphicData uri="http://schemas.openxmlformats.org/drawingml/2006/table">
            <a:tbl>
              <a:tblPr/>
              <a:tblGrid>
                <a:gridCol w="3352800">
                  <a:extLst>
                    <a:ext uri="{9D8B030D-6E8A-4147-A177-3AD203B41FA5}">
                      <a16:colId xmlns:a16="http://schemas.microsoft.com/office/drawing/2014/main" val="20000"/>
                    </a:ext>
                  </a:extLst>
                </a:gridCol>
                <a:gridCol w="3352800">
                  <a:extLst>
                    <a:ext uri="{9D8B030D-6E8A-4147-A177-3AD203B41FA5}">
                      <a16:colId xmlns:a16="http://schemas.microsoft.com/office/drawing/2014/main" val="20001"/>
                    </a:ext>
                  </a:extLst>
                </a:gridCol>
                <a:gridCol w="3352800">
                  <a:extLst>
                    <a:ext uri="{9D8B030D-6E8A-4147-A177-3AD203B41FA5}">
                      <a16:colId xmlns:a16="http://schemas.microsoft.com/office/drawing/2014/main" val="20002"/>
                    </a:ext>
                  </a:extLst>
                </a:gridCol>
              </a:tblGrid>
              <a:tr h="0">
                <a:tc>
                  <a:txBody>
                    <a:bodyPr/>
                    <a:lstStyle/>
                    <a:p>
                      <a:r>
                        <a:rPr lang="en-US"/>
                        <a:t>Attachment Style</a:t>
                      </a:r>
                    </a:p>
                  </a:txBody>
                  <a:tcPr anchor="ctr">
                    <a:lnL>
                      <a:noFill/>
                    </a:lnL>
                    <a:lnR>
                      <a:noFill/>
                    </a:lnR>
                    <a:lnT>
                      <a:noFill/>
                    </a:lnT>
                    <a:lnB>
                      <a:noFill/>
                    </a:lnB>
                  </a:tcPr>
                </a:tc>
                <a:tc>
                  <a:txBody>
                    <a:bodyPr/>
                    <a:lstStyle/>
                    <a:p>
                      <a:r>
                        <a:rPr lang="en-US"/>
                        <a:t>Child Behavior</a:t>
                      </a:r>
                    </a:p>
                  </a:txBody>
                  <a:tcPr anchor="ctr">
                    <a:lnL>
                      <a:noFill/>
                    </a:lnL>
                    <a:lnR>
                      <a:noFill/>
                    </a:lnR>
                    <a:lnT>
                      <a:noFill/>
                    </a:lnT>
                    <a:lnB>
                      <a:noFill/>
                    </a:lnB>
                  </a:tcPr>
                </a:tc>
                <a:tc>
                  <a:txBody>
                    <a:bodyPr/>
                    <a:lstStyle/>
                    <a:p>
                      <a:r>
                        <a:rPr lang="en-US"/>
                        <a:t>Later Adult Traits</a:t>
                      </a:r>
                    </a:p>
                  </a:txBody>
                  <a:tcPr anchor="ctr">
                    <a:lnL>
                      <a:noFill/>
                    </a:lnL>
                    <a:lnR>
                      <a:noFill/>
                    </a:lnR>
                    <a:lnT>
                      <a:noFill/>
                    </a:lnT>
                    <a:lnB>
                      <a:noFill/>
                    </a:lnB>
                  </a:tcPr>
                </a:tc>
                <a:extLst>
                  <a:ext uri="{0D108BD9-81ED-4DB2-BD59-A6C34878D82A}">
                    <a16:rowId xmlns:a16="http://schemas.microsoft.com/office/drawing/2014/main" val="10000"/>
                  </a:ext>
                </a:extLst>
              </a:tr>
              <a:tr h="0">
                <a:tc>
                  <a:txBody>
                    <a:bodyPr/>
                    <a:lstStyle/>
                    <a:p>
                      <a:r>
                        <a:rPr lang="en-US" b="1"/>
                        <a:t>Secure</a:t>
                      </a:r>
                      <a:endParaRPr lang="en-US"/>
                    </a:p>
                  </a:txBody>
                  <a:tcPr anchor="ctr">
                    <a:lnL>
                      <a:noFill/>
                    </a:lnL>
                    <a:lnR>
                      <a:noFill/>
                    </a:lnR>
                    <a:lnT>
                      <a:noFill/>
                    </a:lnT>
                    <a:lnB>
                      <a:noFill/>
                    </a:lnB>
                  </a:tcPr>
                </a:tc>
                <a:tc>
                  <a:txBody>
                    <a:bodyPr/>
                    <a:lstStyle/>
                    <a:p>
                      <a:r>
                        <a:rPr lang="en-US"/>
                        <a:t>Distressed when caregiver leaves, comforted when they return</a:t>
                      </a:r>
                    </a:p>
                  </a:txBody>
                  <a:tcPr anchor="ctr">
                    <a:lnL>
                      <a:noFill/>
                    </a:lnL>
                    <a:lnR>
                      <a:noFill/>
                    </a:lnR>
                    <a:lnT>
                      <a:noFill/>
                    </a:lnT>
                    <a:lnB>
                      <a:noFill/>
                    </a:lnB>
                  </a:tcPr>
                </a:tc>
                <a:tc>
                  <a:txBody>
                    <a:bodyPr/>
                    <a:lstStyle/>
                    <a:p>
                      <a:r>
                        <a:rPr lang="en-US"/>
                        <a:t>Trusting, emotionally stable, comfortable with intimacy</a:t>
                      </a:r>
                    </a:p>
                  </a:txBody>
                  <a:tcPr anchor="ctr">
                    <a:lnL>
                      <a:noFill/>
                    </a:lnL>
                    <a:lnR>
                      <a:noFill/>
                    </a:lnR>
                    <a:lnT>
                      <a:noFill/>
                    </a:lnT>
                    <a:lnB>
                      <a:noFill/>
                    </a:lnB>
                  </a:tcPr>
                </a:tc>
                <a:extLst>
                  <a:ext uri="{0D108BD9-81ED-4DB2-BD59-A6C34878D82A}">
                    <a16:rowId xmlns:a16="http://schemas.microsoft.com/office/drawing/2014/main" val="10001"/>
                  </a:ext>
                </a:extLst>
              </a:tr>
              <a:tr h="0">
                <a:tc>
                  <a:txBody>
                    <a:bodyPr/>
                    <a:lstStyle/>
                    <a:p>
                      <a:r>
                        <a:rPr lang="en-US" b="1"/>
                        <a:t>Avoidant (Insecure-avoidant)</a:t>
                      </a:r>
                      <a:endParaRPr lang="en-US"/>
                    </a:p>
                  </a:txBody>
                  <a:tcPr anchor="ctr">
                    <a:lnL>
                      <a:noFill/>
                    </a:lnL>
                    <a:lnR>
                      <a:noFill/>
                    </a:lnR>
                    <a:lnT>
                      <a:noFill/>
                    </a:lnT>
                    <a:lnB>
                      <a:noFill/>
                    </a:lnB>
                  </a:tcPr>
                </a:tc>
                <a:tc>
                  <a:txBody>
                    <a:bodyPr/>
                    <a:lstStyle/>
                    <a:p>
                      <a:r>
                        <a:rPr lang="en-US"/>
                        <a:t>Indifferent to caregiver’s departure/return</a:t>
                      </a:r>
                    </a:p>
                  </a:txBody>
                  <a:tcPr anchor="ctr">
                    <a:lnL>
                      <a:noFill/>
                    </a:lnL>
                    <a:lnR>
                      <a:noFill/>
                    </a:lnR>
                    <a:lnT>
                      <a:noFill/>
                    </a:lnT>
                    <a:lnB>
                      <a:noFill/>
                    </a:lnB>
                  </a:tcPr>
                </a:tc>
                <a:tc>
                  <a:txBody>
                    <a:bodyPr/>
                    <a:lstStyle/>
                    <a:p>
                      <a:r>
                        <a:rPr lang="en-US"/>
                        <a:t>Emotionally distant, values independence, avoids closeness</a:t>
                      </a:r>
                    </a:p>
                  </a:txBody>
                  <a:tcPr anchor="ctr">
                    <a:lnL>
                      <a:noFill/>
                    </a:lnL>
                    <a:lnR>
                      <a:noFill/>
                    </a:lnR>
                    <a:lnT>
                      <a:noFill/>
                    </a:lnT>
                    <a:lnB>
                      <a:noFill/>
                    </a:lnB>
                  </a:tcPr>
                </a:tc>
                <a:extLst>
                  <a:ext uri="{0D108BD9-81ED-4DB2-BD59-A6C34878D82A}">
                    <a16:rowId xmlns:a16="http://schemas.microsoft.com/office/drawing/2014/main" val="10002"/>
                  </a:ext>
                </a:extLst>
              </a:tr>
              <a:tr h="0">
                <a:tc>
                  <a:txBody>
                    <a:bodyPr/>
                    <a:lstStyle/>
                    <a:p>
                      <a:r>
                        <a:rPr lang="en-US" b="1"/>
                        <a:t>Ambivalent / Resistant (Insecure-ambivalent)</a:t>
                      </a:r>
                      <a:endParaRPr lang="en-US"/>
                    </a:p>
                  </a:txBody>
                  <a:tcPr anchor="ctr">
                    <a:lnL>
                      <a:noFill/>
                    </a:lnL>
                    <a:lnR>
                      <a:noFill/>
                    </a:lnR>
                    <a:lnT>
                      <a:noFill/>
                    </a:lnT>
                    <a:lnB>
                      <a:noFill/>
                    </a:lnB>
                  </a:tcPr>
                </a:tc>
                <a:tc>
                  <a:txBody>
                    <a:bodyPr/>
                    <a:lstStyle/>
                    <a:p>
                      <a:r>
                        <a:rPr lang="en-US"/>
                        <a:t>Very distressed when separated, not easily comforted</a:t>
                      </a:r>
                    </a:p>
                  </a:txBody>
                  <a:tcPr anchor="ctr">
                    <a:lnL>
                      <a:noFill/>
                    </a:lnL>
                    <a:lnR>
                      <a:noFill/>
                    </a:lnR>
                    <a:lnT>
                      <a:noFill/>
                    </a:lnT>
                    <a:lnB>
                      <a:noFill/>
                    </a:lnB>
                  </a:tcPr>
                </a:tc>
                <a:tc>
                  <a:txBody>
                    <a:bodyPr/>
                    <a:lstStyle/>
                    <a:p>
                      <a:r>
                        <a:rPr lang="en-US"/>
                        <a:t>Clingy, overly dependent, fears abandonment</a:t>
                      </a:r>
                    </a:p>
                  </a:txBody>
                  <a:tcPr anchor="ctr">
                    <a:lnL>
                      <a:noFill/>
                    </a:lnL>
                    <a:lnR>
                      <a:noFill/>
                    </a:lnR>
                    <a:lnT>
                      <a:noFill/>
                    </a:lnT>
                    <a:lnB>
                      <a:noFill/>
                    </a:lnB>
                  </a:tcPr>
                </a:tc>
                <a:extLst>
                  <a:ext uri="{0D108BD9-81ED-4DB2-BD59-A6C34878D82A}">
                    <a16:rowId xmlns:a16="http://schemas.microsoft.com/office/drawing/2014/main" val="10003"/>
                  </a:ext>
                </a:extLst>
              </a:tr>
              <a:tr h="0">
                <a:tc>
                  <a:txBody>
                    <a:bodyPr/>
                    <a:lstStyle/>
                    <a:p>
                      <a:r>
                        <a:rPr lang="en-US" b="1"/>
                        <a:t>Disorganized</a:t>
                      </a:r>
                      <a:endParaRPr lang="en-US"/>
                    </a:p>
                  </a:txBody>
                  <a:tcPr anchor="ctr">
                    <a:lnL>
                      <a:noFill/>
                    </a:lnL>
                    <a:lnR>
                      <a:noFill/>
                    </a:lnR>
                    <a:lnT>
                      <a:noFill/>
                    </a:lnT>
                    <a:lnB>
                      <a:noFill/>
                    </a:lnB>
                  </a:tcPr>
                </a:tc>
                <a:tc>
                  <a:txBody>
                    <a:bodyPr/>
                    <a:lstStyle/>
                    <a:p>
                      <a:r>
                        <a:rPr lang="en-US"/>
                        <a:t>Confused or contradictory behaviors</a:t>
                      </a:r>
                    </a:p>
                  </a:txBody>
                  <a:tcPr anchor="ctr">
                    <a:lnL>
                      <a:noFill/>
                    </a:lnL>
                    <a:lnR>
                      <a:noFill/>
                    </a:lnR>
                    <a:lnT>
                      <a:noFill/>
                    </a:lnT>
                    <a:lnB>
                      <a:noFill/>
                    </a:lnB>
                  </a:tcPr>
                </a:tc>
                <a:tc>
                  <a:txBody>
                    <a:bodyPr/>
                    <a:lstStyle/>
                    <a:p>
                      <a:r>
                        <a:rPr lang="en-US" dirty="0"/>
                        <a:t>Fearful of intimacy, trauma-related patterns</a:t>
                      </a:r>
                    </a:p>
                  </a:txBody>
                  <a:tcPr anchor="ctr">
                    <a:lnL>
                      <a:noFill/>
                    </a:lnL>
                    <a:lnR>
                      <a:noFill/>
                    </a:lnR>
                    <a:lnT>
                      <a:noFill/>
                    </a:lnT>
                    <a:lnB>
                      <a:noFill/>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Deprivation and Privation</a:t>
            </a:r>
          </a:p>
        </p:txBody>
      </p:sp>
      <p:pic>
        <p:nvPicPr>
          <p:cNvPr id="4" name="Content Placeholder 3"/>
          <p:cNvPicPr>
            <a:picLocks noGrp="1" noChangeAspect="1"/>
          </p:cNvPicPr>
          <p:nvPr>
            <p:ph idx="1"/>
          </p:nvPr>
        </p:nvPicPr>
        <p:blipFill>
          <a:blip r:embed="rId2"/>
          <a:stretch>
            <a:fillRect/>
          </a:stretch>
        </p:blipFill>
        <p:spPr>
          <a:xfrm>
            <a:off x="911867" y="2179178"/>
            <a:ext cx="5054218" cy="4036228"/>
          </a:xfrm>
          <a:prstGeom prst="rect">
            <a:avLst/>
          </a:prstGeom>
        </p:spPr>
      </p:pic>
      <p:pic>
        <p:nvPicPr>
          <p:cNvPr id="5" name="Picture 4"/>
          <p:cNvPicPr>
            <a:picLocks noChangeAspect="1"/>
          </p:cNvPicPr>
          <p:nvPr/>
        </p:nvPicPr>
        <p:blipFill>
          <a:blip r:embed="rId3"/>
          <a:stretch>
            <a:fillRect/>
          </a:stretch>
        </p:blipFill>
        <p:spPr>
          <a:xfrm>
            <a:off x="6409345" y="2179178"/>
            <a:ext cx="4870788" cy="403622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Are the effects of privation reversible?</a:t>
            </a:r>
          </a:p>
        </p:txBody>
      </p:sp>
      <p:sp>
        <p:nvSpPr>
          <p:cNvPr id="3" name="Content Placeholder 2"/>
          <p:cNvSpPr>
            <a:spLocks noGrp="1"/>
          </p:cNvSpPr>
          <p:nvPr>
            <p:ph idx="1"/>
          </p:nvPr>
        </p:nvSpPr>
        <p:spPr/>
        <p:txBody>
          <a:bodyPr>
            <a:normAutofit/>
          </a:bodyPr>
          <a:lstStyle/>
          <a:p>
            <a:r>
              <a:rPr lang="en-US" sz="2000" dirty="0"/>
              <a:t>Yes!</a:t>
            </a:r>
          </a:p>
          <a:p>
            <a:pPr marL="0" indent="0">
              <a:buNone/>
            </a:pPr>
            <a:endParaRPr lang="en-US" sz="2000" dirty="0"/>
          </a:p>
          <a:p>
            <a:pPr marL="342900" indent="-342900">
              <a:buAutoNum type="arabicPeriod"/>
            </a:pPr>
            <a:r>
              <a:rPr lang="en-US" sz="2000" b="1" dirty="0"/>
              <a:t>Case studies of children who’ve endured extreme early privation, often in near complete isolation. </a:t>
            </a:r>
          </a:p>
          <a:p>
            <a:pPr marL="0" indent="0">
              <a:buNone/>
            </a:pPr>
            <a:r>
              <a:rPr lang="en-US" sz="2000" dirty="0"/>
              <a:t>e.g. Czech twins</a:t>
            </a:r>
          </a:p>
          <a:p>
            <a:pPr marL="0" indent="0">
              <a:buNone/>
            </a:pPr>
            <a:endParaRPr lang="en-US" sz="2000" dirty="0"/>
          </a:p>
          <a:p>
            <a:pPr marL="0" indent="0">
              <a:buNone/>
            </a:pPr>
            <a:r>
              <a:rPr lang="en-US" sz="2000" b="1" dirty="0"/>
              <a:t>2.  Studies of late adoption</a:t>
            </a:r>
          </a:p>
          <a:p>
            <a:pPr marL="0" indent="0">
              <a:buNone/>
            </a:pPr>
            <a:r>
              <a:rPr lang="en-US" sz="2000" dirty="0"/>
              <a:t>e.g. Romanian orphanages</a:t>
            </a:r>
          </a:p>
          <a:p>
            <a:pPr marL="0" indent="0">
              <a:buNone/>
            </a:pP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half" idx="1"/>
          </p:nvPr>
        </p:nvSpPr>
        <p:spPr/>
        <p:txBody>
          <a:bodyPr>
            <a:normAutofit fontScale="77500" lnSpcReduction="20000"/>
          </a:bodyPr>
          <a:lstStyle/>
          <a:p>
            <a:pPr marL="0" indent="0">
              <a:buNone/>
            </a:pPr>
            <a:r>
              <a:rPr lang="en-US" b="1" dirty="0"/>
              <a:t>Czech Twins (Andreas and Petr, discovered 1972, age ~7) </a:t>
            </a:r>
          </a:p>
          <a:p>
            <a:pPr marL="0" indent="0">
              <a:buNone/>
            </a:pPr>
            <a:r>
              <a:rPr lang="en-US" dirty="0"/>
              <a:t>After their mother died, their stepmother locked them in a cellar or unheated room with almost no human contact, light, or stimulation until age 7 (along with an older brother who was less affected). </a:t>
            </a:r>
          </a:p>
          <a:p>
            <a:pPr marL="0" indent="0">
              <a:buNone/>
            </a:pPr>
            <a:r>
              <a:rPr lang="en-US" dirty="0"/>
              <a:t>At discovery: almost no speech, severe intellectual disability (IQ ~40), autistic-like behaviors, no social attachment. </a:t>
            </a:r>
          </a:p>
          <a:p>
            <a:pPr marL="0" indent="0">
              <a:buNone/>
            </a:pPr>
            <a:r>
              <a:rPr lang="en-US" dirty="0"/>
              <a:t>Outcome after intensive rehabilitation: dramatic recovery. By adolescence their IQs rose to low-normal range (~90–100), they developed normal language and social relationships, finished school, and lived relatively normal adult lives. </a:t>
            </a:r>
          </a:p>
        </p:txBody>
      </p:sp>
      <p:sp>
        <p:nvSpPr>
          <p:cNvPr id="4" name="Content Placeholder 3"/>
          <p:cNvSpPr>
            <a:spLocks noGrp="1"/>
          </p:cNvSpPr>
          <p:nvPr>
            <p:ph sz="half" idx="2"/>
          </p:nvPr>
        </p:nvSpPr>
        <p:spPr/>
        <p:txBody>
          <a:bodyPr>
            <a:normAutofit fontScale="77500" lnSpcReduction="20000"/>
          </a:bodyPr>
          <a:lstStyle/>
          <a:p>
            <a:pPr marL="0" indent="0">
              <a:buNone/>
            </a:pPr>
            <a:r>
              <a:rPr lang="en-US" b="1" dirty="0"/>
              <a:t>Romanian Orphanages</a:t>
            </a:r>
          </a:p>
          <a:p>
            <a:pPr marL="0" indent="0">
              <a:buNone/>
            </a:pPr>
            <a:r>
              <a:rPr lang="en-US" dirty="0"/>
              <a:t>Led by Michael Rutter, Jana </a:t>
            </a:r>
            <a:r>
              <a:rPr lang="en-US" dirty="0" err="1"/>
              <a:t>Kreppner</a:t>
            </a:r>
            <a:r>
              <a:rPr lang="en-US" dirty="0"/>
              <a:t>, and others since the early 1990s.</a:t>
            </a:r>
          </a:p>
          <a:p>
            <a:pPr marL="0" indent="0">
              <a:buNone/>
            </a:pPr>
            <a:r>
              <a:rPr lang="en-US" dirty="0"/>
              <a:t>Background: After the 1989 fall of </a:t>
            </a:r>
            <a:r>
              <a:rPr lang="en-US" dirty="0" err="1"/>
              <a:t>Ceaușescu</a:t>
            </a:r>
            <a:r>
              <a:rPr lang="en-US" dirty="0"/>
              <a:t> in Romania, the world discovered thousands of children in state orphanages with extreme deprivation:</a:t>
            </a:r>
          </a:p>
          <a:p>
            <a:pPr marL="0" indent="0">
              <a:buNone/>
            </a:pPr>
            <a:r>
              <a:rPr lang="en-US" dirty="0"/>
              <a:t>Almost no caregiver interaction (ratios sometimes 1:30–1:60 for infants); Minimal language exposure, little play, severe malnutrition in early years; Many children spent months/years lying in cots with almost no stimulation.</a:t>
            </a:r>
          </a:p>
          <a:p>
            <a:pPr marL="0" indent="0">
              <a:buNone/>
            </a:pPr>
            <a:r>
              <a:rPr lang="en-US" dirty="0"/>
              <a:t>There is a clear sensitive period: deprivation lasting beyond </a:t>
            </a:r>
            <a:r>
              <a:rPr lang="en-US" b="1" dirty="0"/>
              <a:t>roughly 6 months </a:t>
            </a:r>
            <a:r>
              <a:rPr lang="en-US" dirty="0"/>
              <a:t>markedly increases risk; </a:t>
            </a:r>
            <a:r>
              <a:rPr lang="en-US" b="1" dirty="0"/>
              <a:t>beyond 24 months the risk is very high</a:t>
            </a:r>
            <a:r>
              <a:rPr lang="en-US" dirty="0"/>
              <a:t>.</a:t>
            </a:r>
          </a:p>
          <a:p>
            <a:pPr marL="0" indent="0">
              <a:buNone/>
            </a:pPr>
            <a:endParaRPr lang="en-US" dirty="0"/>
          </a:p>
        </p:txBody>
      </p:sp>
    </p:spTree>
    <p:extLst>
      <p:ext uri="{BB962C8B-B14F-4D97-AF65-F5344CB8AC3E}">
        <p14:creationId xmlns:p14="http://schemas.microsoft.com/office/powerpoint/2010/main" val="35301609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0228" y="403311"/>
            <a:ext cx="10058400" cy="1371600"/>
          </a:xfrm>
        </p:spPr>
        <p:txBody>
          <a:bodyPr/>
          <a:lstStyle/>
          <a:p>
            <a:r>
              <a:rPr lang="en-US" dirty="0"/>
              <a:t>ACE and attachment</a:t>
            </a:r>
          </a:p>
        </p:txBody>
      </p:sp>
      <p:pic>
        <p:nvPicPr>
          <p:cNvPr id="4" name="Content Placeholder 3"/>
          <p:cNvPicPr>
            <a:picLocks noGrp="1" noChangeAspect="1"/>
          </p:cNvPicPr>
          <p:nvPr>
            <p:ph idx="1"/>
          </p:nvPr>
        </p:nvPicPr>
        <p:blipFill>
          <a:blip r:embed="rId2"/>
          <a:stretch>
            <a:fillRect/>
          </a:stretch>
        </p:blipFill>
        <p:spPr>
          <a:xfrm>
            <a:off x="484662" y="1655270"/>
            <a:ext cx="6847229" cy="4480610"/>
          </a:xfrm>
          <a:prstGeom prst="rect">
            <a:avLst/>
          </a:prstGeom>
        </p:spPr>
      </p:pic>
      <p:sp>
        <p:nvSpPr>
          <p:cNvPr id="5" name="Rectangle 4"/>
          <p:cNvSpPr/>
          <p:nvPr/>
        </p:nvSpPr>
        <p:spPr>
          <a:xfrm>
            <a:off x="7672697" y="1655270"/>
            <a:ext cx="3572142" cy="4093428"/>
          </a:xfrm>
          <a:prstGeom prst="rect">
            <a:avLst/>
          </a:prstGeom>
        </p:spPr>
        <p:txBody>
          <a:bodyPr wrap="square">
            <a:spAutoFit/>
          </a:bodyPr>
          <a:lstStyle/>
          <a:p>
            <a:r>
              <a:rPr lang="en-US" sz="2000" dirty="0"/>
              <a:t>Attachment theory and Adverse Childhood Experiences (ACEs) are two deeply interconnected concepts in psychology and health research, both highlighting the profound, long-term impact of early life experiences on an individual's physical and mental well-being, as well as their relationships throughout life.</a:t>
            </a:r>
          </a:p>
        </p:txBody>
      </p:sp>
    </p:spTree>
    <p:extLst>
      <p:ext uri="{BB962C8B-B14F-4D97-AF65-F5344CB8AC3E}">
        <p14:creationId xmlns:p14="http://schemas.microsoft.com/office/powerpoint/2010/main" val="3208678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II – The Self Concept</a:t>
            </a:r>
          </a:p>
        </p:txBody>
      </p:sp>
      <p:sp>
        <p:nvSpPr>
          <p:cNvPr id="3" name="Content Placeholder 2"/>
          <p:cNvSpPr>
            <a:spLocks noGrp="1"/>
          </p:cNvSpPr>
          <p:nvPr>
            <p:ph idx="1"/>
          </p:nvPr>
        </p:nvSpPr>
        <p:spPr/>
        <p:txBody>
          <a:bodyPr>
            <a:normAutofit/>
          </a:bodyPr>
          <a:lstStyle/>
          <a:p>
            <a:r>
              <a:rPr lang="en-US" sz="2400" dirty="0"/>
              <a:t>‘Self ’ and ‘self-concept’ are used interchangeably to refer to an individual’s overall self-awareness.</a:t>
            </a:r>
          </a:p>
          <a:p>
            <a:r>
              <a:rPr lang="en-US" sz="2400" dirty="0"/>
              <a:t>According to Murphy (1947), ‘the self is the individual as known to the individual’.</a:t>
            </a:r>
          </a:p>
          <a:p>
            <a:r>
              <a:rPr lang="en-US" sz="2400" dirty="0"/>
              <a:t>Components of the self-concept are self-image (</a:t>
            </a:r>
            <a:r>
              <a:rPr lang="en-US" sz="2400" b="1" dirty="0"/>
              <a:t>WHO AM I</a:t>
            </a:r>
            <a:r>
              <a:rPr lang="en-US" sz="2400" dirty="0"/>
              <a:t>?), self-esteem (</a:t>
            </a:r>
            <a:r>
              <a:rPr lang="en-US" sz="2400" b="1" dirty="0"/>
              <a:t>HOW I FEEL ABOUT MYSELF</a:t>
            </a:r>
            <a:r>
              <a:rPr lang="en-US" sz="2400" dirty="0"/>
              <a:t>?), ideal-self (</a:t>
            </a:r>
            <a:r>
              <a:rPr lang="en-US" sz="2400" b="1" dirty="0"/>
              <a:t>WHO I WANT TO BE</a:t>
            </a:r>
            <a:r>
              <a:rPr lang="en-US" sz="2400" dirty="0"/>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Developmental changes in the self-concept</a:t>
            </a:r>
          </a:p>
        </p:txBody>
      </p:sp>
      <p:sp>
        <p:nvSpPr>
          <p:cNvPr id="3" name="Content Placeholder 2"/>
          <p:cNvSpPr>
            <a:spLocks noGrp="1"/>
          </p:cNvSpPr>
          <p:nvPr>
            <p:ph idx="1"/>
          </p:nvPr>
        </p:nvSpPr>
        <p:spPr/>
        <p:txBody>
          <a:bodyPr>
            <a:noAutofit/>
          </a:bodyPr>
          <a:lstStyle/>
          <a:p>
            <a:r>
              <a:rPr lang="en-US" sz="2000" dirty="0"/>
              <a:t>During the first few months, the baby gradually distinguishes itself from its environment and from other people. </a:t>
            </a:r>
          </a:p>
          <a:p>
            <a:r>
              <a:rPr lang="en-US" sz="2000" dirty="0"/>
              <a:t>According to </a:t>
            </a:r>
            <a:r>
              <a:rPr lang="en-US" sz="2000" dirty="0" err="1"/>
              <a:t>Maccoby</a:t>
            </a:r>
            <a:r>
              <a:rPr lang="en-US" sz="2000" dirty="0"/>
              <a:t> (1980), babies are able to distinguish between themselves and others on two counts:</a:t>
            </a:r>
          </a:p>
          <a:p>
            <a:pPr marL="0" indent="0">
              <a:buNone/>
            </a:pPr>
            <a:r>
              <a:rPr lang="en-US" sz="2000" b="1" dirty="0"/>
              <a:t>1. </a:t>
            </a:r>
            <a:r>
              <a:rPr lang="en-US" sz="2000" dirty="0"/>
              <a:t>their own fingers hurt when bitten (but they don’t have any such sensations when they’re biting their rattle or their mother’s fingers) </a:t>
            </a:r>
          </a:p>
          <a:p>
            <a:pPr marL="0" indent="0">
              <a:buNone/>
            </a:pPr>
            <a:r>
              <a:rPr lang="en-US" sz="2000" b="1" dirty="0"/>
              <a:t>2. </a:t>
            </a:r>
            <a:r>
              <a:rPr lang="en-US" sz="2000" dirty="0"/>
              <a:t>probably quite early in life, they begin to associate feelings from their own body movements with the sight of their own limbs and the sounds of their own cries.</a:t>
            </a:r>
          </a:p>
          <a:p>
            <a:pPr>
              <a:buFont typeface="Arial" panose="020B0604020202020204" pitchFamily="34" charset="0"/>
              <a:buChar char="•"/>
            </a:pPr>
            <a:r>
              <a:rPr lang="en-US" sz="2000" dirty="0"/>
              <a:t>Gallup (1977) studies on chimps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731583" y="1148051"/>
            <a:ext cx="4663440" cy="3749040"/>
          </a:xfrm>
        </p:spPr>
        <p:txBody>
          <a:bodyPr>
            <a:normAutofit fontScale="92500" lnSpcReduction="10000"/>
          </a:bodyPr>
          <a:lstStyle/>
          <a:p>
            <a:r>
              <a:rPr lang="en-US" dirty="0"/>
              <a:t>Lewis and Brooks-Gunn (979) have used modified forms of Gallup’s technique with 6- to 24-month-old children. The mother applies a dot of rouge to the child’s nose (while pretending to wipe its face), and the child is observed to see how often it touches its nose. It is then placed in front of a mirror, and again the number of times it touches its nose is recorded. While touching the dot was never seen before 15 months, between 15 and 18 months, 5–25 per cent of infants touched it, and 75 per cent of the 18- to 24-month-old infants did.</a:t>
            </a:r>
          </a:p>
        </p:txBody>
      </p:sp>
      <p:pic>
        <p:nvPicPr>
          <p:cNvPr id="7" name="Content Placeholder 6"/>
          <p:cNvPicPr>
            <a:picLocks noGrp="1" noChangeAspect="1"/>
          </p:cNvPicPr>
          <p:nvPr>
            <p:ph sz="half" idx="1"/>
          </p:nvPr>
        </p:nvPicPr>
        <p:blipFill>
          <a:blip r:embed="rId2"/>
          <a:stretch>
            <a:fillRect/>
          </a:stretch>
        </p:blipFill>
        <p:spPr>
          <a:xfrm>
            <a:off x="629588" y="1064302"/>
            <a:ext cx="5966084" cy="470410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III – Cognitive development </a:t>
            </a:r>
          </a:p>
        </p:txBody>
      </p:sp>
      <p:sp>
        <p:nvSpPr>
          <p:cNvPr id="3" name="Content Placeholder 2"/>
          <p:cNvSpPr>
            <a:spLocks noGrp="1"/>
          </p:cNvSpPr>
          <p:nvPr>
            <p:ph idx="1"/>
          </p:nvPr>
        </p:nvSpPr>
        <p:spPr/>
        <p:txBody>
          <a:bodyPr>
            <a:normAutofit/>
          </a:bodyPr>
          <a:lstStyle/>
          <a:p>
            <a:r>
              <a:rPr lang="en-US" dirty="0"/>
              <a:t>According to Piaget, cognitive development occurs through the interaction of innate capacities with environmental events, and progresses through a series of </a:t>
            </a:r>
            <a:r>
              <a:rPr lang="en-US" i="1" dirty="0"/>
              <a:t>hierarchical, qualitatively different, stages</a:t>
            </a:r>
            <a:r>
              <a:rPr lang="en-US" dirty="0"/>
              <a:t>.</a:t>
            </a:r>
          </a:p>
          <a:p>
            <a:pPr marL="342900" indent="-342900">
              <a:buFont typeface="+mj-lt"/>
              <a:buAutoNum type="arabicParenR"/>
            </a:pPr>
            <a:r>
              <a:rPr lang="en-US" dirty="0"/>
              <a:t>All children pass through the stages in the same sequence without skipping any or regressing to earlier ones </a:t>
            </a:r>
          </a:p>
          <a:p>
            <a:pPr marL="342900" indent="-342900">
              <a:buFont typeface="+mj-lt"/>
              <a:buAutoNum type="arabicParenR"/>
            </a:pPr>
            <a:r>
              <a:rPr lang="en-US" dirty="0"/>
              <a:t>The stages are also the same for everyone irrespective of culture (they’re </a:t>
            </a:r>
            <a:r>
              <a:rPr lang="en-US" i="1" dirty="0"/>
              <a:t>universal</a:t>
            </a:r>
            <a:r>
              <a:rPr lang="en-US" dirty="0"/>
              <a:t>).</a:t>
            </a:r>
          </a:p>
          <a:p>
            <a:pPr marL="342900" indent="-342900">
              <a:buFont typeface="+mj-lt"/>
              <a:buAutoNum type="arabicParenR"/>
            </a:pPr>
            <a:r>
              <a:rPr lang="en-US" dirty="0"/>
              <a:t>Underlying the changes are certain </a:t>
            </a:r>
            <a:r>
              <a:rPr lang="en-US" i="1" dirty="0"/>
              <a:t>functional invariants</a:t>
            </a:r>
            <a:r>
              <a:rPr lang="en-US" dirty="0"/>
              <a:t>, fundamental aspects of the developmental process which remain the same and work in the same way through the various stages. The most important of these are </a:t>
            </a:r>
            <a:r>
              <a:rPr lang="en-US" i="1" dirty="0"/>
              <a:t>assimilation and accommodation</a:t>
            </a:r>
            <a:r>
              <a:rPr lang="en-US" dirty="0"/>
              <a:t>.</a:t>
            </a:r>
          </a:p>
          <a:p>
            <a:pPr marL="342900" indent="-342900">
              <a:buFont typeface="+mj-lt"/>
              <a:buAutoNum type="arabicParenR"/>
            </a:pPr>
            <a:r>
              <a:rPr lang="en-US" dirty="0"/>
              <a:t>The principal cognitive structure that changes is the </a:t>
            </a:r>
            <a:r>
              <a:rPr lang="de-DE" i="1" dirty="0" err="1"/>
              <a:t>schema</a:t>
            </a:r>
            <a:r>
              <a:rPr lang="de-DE" i="1" dirty="0"/>
              <a:t> </a:t>
            </a:r>
            <a:r>
              <a:rPr lang="de-DE" dirty="0"/>
              <a:t>(plural </a:t>
            </a:r>
            <a:r>
              <a:rPr lang="de-DE" i="1" dirty="0" err="1"/>
              <a:t>schemas</a:t>
            </a:r>
            <a:r>
              <a:rPr lang="de-DE" i="1" dirty="0"/>
              <a:t> </a:t>
            </a:r>
            <a:r>
              <a:rPr lang="de-DE" dirty="0" err="1"/>
              <a:t>or</a:t>
            </a:r>
            <a:r>
              <a:rPr lang="de-DE" dirty="0"/>
              <a:t> </a:t>
            </a:r>
            <a:r>
              <a:rPr lang="de-DE" i="1" dirty="0" err="1"/>
              <a:t>schemata</a:t>
            </a:r>
            <a:r>
              <a:rPr lang="de-DE" dirty="0"/>
              <a:t>).</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Assimilation and accommodation</a:t>
            </a:r>
          </a:p>
        </p:txBody>
      </p:sp>
      <p:sp>
        <p:nvSpPr>
          <p:cNvPr id="5" name="Content Placeholder 4"/>
          <p:cNvSpPr>
            <a:spLocks noGrp="1"/>
          </p:cNvSpPr>
          <p:nvPr>
            <p:ph idx="1"/>
          </p:nvPr>
        </p:nvSpPr>
        <p:spPr/>
        <p:txBody>
          <a:bodyPr>
            <a:noAutofit/>
          </a:bodyPr>
          <a:lstStyle/>
          <a:p>
            <a:r>
              <a:rPr lang="en-US" sz="2000" dirty="0"/>
              <a:t>Assimilation is the process of taking in new information and fitting it into existing schemas (mental categories) without changing those schemas.</a:t>
            </a:r>
          </a:p>
          <a:p>
            <a:pPr lvl="1"/>
            <a:r>
              <a:rPr lang="en-US" sz="1600" dirty="0"/>
              <a:t>E.g. A child knows about dogs: they’re furry, have four legs, and bark. When the child sees a cat for the first time, they might call it a </a:t>
            </a:r>
            <a:r>
              <a:rPr lang="en-US" sz="1600" i="1" dirty="0"/>
              <a:t>“dog”</a:t>
            </a:r>
            <a:r>
              <a:rPr lang="en-US" sz="1600" dirty="0"/>
              <a:t> because it also has four legs and fur. The child is assimilating the new animal into their </a:t>
            </a:r>
            <a:r>
              <a:rPr lang="en-US" sz="1600" i="1" dirty="0"/>
              <a:t>existing “dog” schema.</a:t>
            </a:r>
          </a:p>
          <a:p>
            <a:r>
              <a:rPr lang="en-US" sz="2000" dirty="0"/>
              <a:t>Accommodation is the process of modifying existing schemas or creating new ones when new information doesn’t fit the old schema.</a:t>
            </a:r>
          </a:p>
          <a:p>
            <a:pPr lvl="1"/>
            <a:r>
              <a:rPr lang="en-US" sz="1600" dirty="0"/>
              <a:t>E.g. After being corrected that the cat is </a:t>
            </a:r>
            <a:r>
              <a:rPr lang="en-US" sz="1600" i="1" dirty="0"/>
              <a:t>not</a:t>
            </a:r>
            <a:r>
              <a:rPr lang="en-US" sz="1600" dirty="0"/>
              <a:t> a dog, the child learns that cats meow and have different behaviors. The child then creates a new “cat” schema separate from “dog.” This is accommodation — adjusting the schema to include new distinctions.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of cognitive development (Piaget, 1952)</a:t>
            </a:r>
          </a:p>
        </p:txBody>
      </p:sp>
      <p:pic>
        <p:nvPicPr>
          <p:cNvPr id="4" name="Content Placeholder 3"/>
          <p:cNvPicPr>
            <a:picLocks noGrp="1" noChangeAspect="1"/>
          </p:cNvPicPr>
          <p:nvPr>
            <p:ph idx="1"/>
          </p:nvPr>
        </p:nvPicPr>
        <p:blipFill>
          <a:blip r:embed="rId2"/>
          <a:stretch>
            <a:fillRect/>
          </a:stretch>
        </p:blipFill>
        <p:spPr>
          <a:xfrm>
            <a:off x="1066800" y="2307365"/>
            <a:ext cx="7193194" cy="35550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Sensorimotor Stage</a:t>
            </a:r>
          </a:p>
        </p:txBody>
      </p:sp>
      <p:sp>
        <p:nvSpPr>
          <p:cNvPr id="3" name="Content Placeholder 2"/>
          <p:cNvSpPr>
            <a:spLocks noGrp="1"/>
          </p:cNvSpPr>
          <p:nvPr>
            <p:ph idx="1"/>
          </p:nvPr>
        </p:nvSpPr>
        <p:spPr/>
        <p:txBody>
          <a:bodyPr/>
          <a:lstStyle/>
          <a:p>
            <a:r>
              <a:rPr lang="en-US" sz="2400" dirty="0"/>
              <a:t>0-2 </a:t>
            </a:r>
            <a:r>
              <a:rPr lang="en-US" sz="2400" dirty="0" err="1"/>
              <a:t>yrs</a:t>
            </a:r>
            <a:endParaRPr lang="en-US" sz="2400" dirty="0"/>
          </a:p>
          <a:p>
            <a:r>
              <a:rPr lang="en-US" altLang="en-US" sz="2400" dirty="0"/>
              <a:t>Infants understand their world primarily through sensory experiences and physical (motor) interactions with objects</a:t>
            </a:r>
          </a:p>
          <a:p>
            <a:pPr lvl="1"/>
            <a:r>
              <a:rPr lang="en-US" altLang="en-US" sz="2400" u="sng" dirty="0"/>
              <a:t>Object Permanence:</a:t>
            </a:r>
            <a:r>
              <a:rPr lang="en-US" altLang="en-US" sz="2400" dirty="0"/>
              <a:t> the understanding that an object continues to exist even when it cannot be seen</a:t>
            </a:r>
          </a:p>
          <a:p>
            <a:pPr lvl="1"/>
            <a:r>
              <a:rPr lang="en-GB" altLang="en-US" sz="2400" dirty="0"/>
              <a:t>Piaget claimed that infants younger than </a:t>
            </a:r>
            <a:r>
              <a:rPr lang="en-GB" altLang="en-US" sz="2400" b="1" dirty="0"/>
              <a:t>9 months</a:t>
            </a:r>
            <a:r>
              <a:rPr lang="en-GB" altLang="en-US" sz="2400" dirty="0"/>
              <a:t> do not have a mental representation of objects</a:t>
            </a:r>
          </a:p>
          <a:p>
            <a:endParaRPr lang="en-US" altLang="en-US" dirty="0"/>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6E6E6"/>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GB" altLang="en-US">
                <a:cs typeface="Times New Roman" panose="02020603050405020304" pitchFamily="18" charset="0"/>
              </a:rPr>
              <a:t>Object permanence</a:t>
            </a:r>
            <a:endParaRPr lang="en-US" altLang="en-US">
              <a:cs typeface="Times New Roman" panose="02020603050405020304" pitchFamily="18" charset="0"/>
            </a:endParaRPr>
          </a:p>
        </p:txBody>
      </p:sp>
      <p:pic>
        <p:nvPicPr>
          <p:cNvPr id="2355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1828801"/>
            <a:ext cx="4191000" cy="365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1828800"/>
            <a:ext cx="4191000" cy="366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35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35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198799" y="434466"/>
            <a:ext cx="3794401" cy="598906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Pre-operational stage</a:t>
            </a:r>
          </a:p>
        </p:txBody>
      </p:sp>
      <p:sp>
        <p:nvSpPr>
          <p:cNvPr id="3" name="Content Placeholder 2"/>
          <p:cNvSpPr>
            <a:spLocks noGrp="1"/>
          </p:cNvSpPr>
          <p:nvPr>
            <p:ph idx="1"/>
          </p:nvPr>
        </p:nvSpPr>
        <p:spPr/>
        <p:txBody>
          <a:bodyPr/>
          <a:lstStyle/>
          <a:p>
            <a:r>
              <a:rPr lang="en-US" dirty="0"/>
              <a:t>2-7 </a:t>
            </a:r>
            <a:r>
              <a:rPr lang="en-US" dirty="0" err="1"/>
              <a:t>yrs</a:t>
            </a:r>
            <a:endParaRPr lang="en-US" dirty="0"/>
          </a:p>
          <a:p>
            <a:r>
              <a:rPr lang="en-US" altLang="en-US" dirty="0"/>
              <a:t>The world is represented symbolically through words and mental images; no understanding of basic mental operations or rules</a:t>
            </a:r>
          </a:p>
          <a:p>
            <a:pPr marL="365760">
              <a:buFont typeface="Arial" panose="020B0604020202020204" pitchFamily="34" charset="0"/>
              <a:buChar char="•"/>
              <a:defRPr/>
            </a:pPr>
            <a:r>
              <a:rPr lang="en-US" dirty="0"/>
              <a:t>No understanding of </a:t>
            </a:r>
            <a:r>
              <a:rPr lang="en-US" b="1" dirty="0"/>
              <a:t>Principle of Conservation</a:t>
            </a:r>
            <a:r>
              <a:rPr lang="en-US" dirty="0"/>
              <a:t>: basic properties of objects stay the same even though their outward appearance may change </a:t>
            </a:r>
            <a:r>
              <a:rPr lang="en-US" i="1" dirty="0"/>
              <a:t>e.g. water in differently shaped glasses</a:t>
            </a:r>
          </a:p>
          <a:p>
            <a:pPr marL="365760">
              <a:buFont typeface="Arial" panose="020B0604020202020204" pitchFamily="34" charset="0"/>
              <a:buChar char="•"/>
              <a:defRPr/>
            </a:pPr>
            <a:r>
              <a:rPr lang="en-US" b="1" dirty="0"/>
              <a:t>Egocentrism</a:t>
            </a:r>
            <a:r>
              <a:rPr lang="en-US" i="1" dirty="0"/>
              <a:t>:</a:t>
            </a:r>
            <a:r>
              <a:rPr lang="en-US" dirty="0"/>
              <a:t> difficulty in viewing the world from someone else’s perspective </a:t>
            </a:r>
            <a:r>
              <a:rPr lang="en-US" i="1" dirty="0"/>
              <a:t>e.g. three mountains task</a:t>
            </a:r>
          </a:p>
          <a:p>
            <a:pPr marL="365760">
              <a:buFont typeface="Arial" panose="020B0604020202020204" pitchFamily="34" charset="0"/>
              <a:buChar char="•"/>
              <a:defRPr/>
            </a:pPr>
            <a:r>
              <a:rPr lang="en-US" b="1" dirty="0"/>
              <a:t>Irreversibility</a:t>
            </a:r>
            <a:r>
              <a:rPr lang="en-US" i="1" dirty="0"/>
              <a:t>:</a:t>
            </a:r>
            <a:r>
              <a:rPr lang="en-US" dirty="0"/>
              <a:t> cannot mentally reverse actions </a:t>
            </a:r>
            <a:r>
              <a:rPr lang="en-US" i="1" dirty="0"/>
              <a:t>e.g. pouring back the water into glass A</a:t>
            </a:r>
          </a:p>
          <a:p>
            <a:pPr marL="365760">
              <a:buFont typeface="Arial" panose="020B0604020202020204" pitchFamily="34" charset="0"/>
              <a:buChar char="•"/>
              <a:defRPr/>
            </a:pPr>
            <a:r>
              <a:rPr lang="en-US" b="1" dirty="0"/>
              <a:t>Animism</a:t>
            </a:r>
            <a:r>
              <a:rPr lang="en-US" i="1" dirty="0"/>
              <a:t>:</a:t>
            </a:r>
            <a:r>
              <a:rPr lang="en-US" dirty="0"/>
              <a:t> the belief that inanimate objects are capable of actions and have lifelike qualities </a:t>
            </a:r>
            <a:r>
              <a:rPr lang="en-US" i="1" dirty="0"/>
              <a:t>e.g. the sidewalk was mad and made them fall down</a:t>
            </a:r>
          </a:p>
          <a:p>
            <a:endParaRPr lang="en-US" altLang="en-US" b="1" dirty="0"/>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1"/>
          <p:cNvSpPr>
            <a:spLocks noChangeArrowheads="1"/>
          </p:cNvSpPr>
          <p:nvPr/>
        </p:nvSpPr>
        <p:spPr bwMode="auto">
          <a:xfrm>
            <a:off x="2185988" y="762000"/>
            <a:ext cx="77962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b="1"/>
              <a:t>Example: Principle of Conservation </a:t>
            </a:r>
            <a:endParaRPr lang="en-GB" altLang="en-US"/>
          </a:p>
        </p:txBody>
      </p:sp>
      <p:pic>
        <p:nvPicPr>
          <p:cNvPr id="2" name="Picture 1"/>
          <p:cNvPicPr>
            <a:picLocks noChangeAspect="1"/>
          </p:cNvPicPr>
          <p:nvPr/>
        </p:nvPicPr>
        <p:blipFill>
          <a:blip r:embed="rId2"/>
          <a:stretch>
            <a:fillRect/>
          </a:stretch>
        </p:blipFill>
        <p:spPr>
          <a:xfrm>
            <a:off x="2185987" y="1956987"/>
            <a:ext cx="6923829" cy="212447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14" descr="1 Turkish Lira Coin 2009 Obverse Isolated on White Background Stock Photo -  Image of shiny, bank: 1229770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08488" y="747713"/>
            <a:ext cx="171450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3" name="Picture 16" descr="1 Turkish Lira Coin 2009 Obverse Isolated on White Background Stock Photo -  Image of shiny, bank: 1229770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45213" y="731838"/>
            <a:ext cx="171450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4" name="Picture 20" descr="1 Turkish Lira Coin 2009 Obverse Isolated on White Background Stock Photo -  Image of shiny, bank: 1229770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2946" y="731838"/>
            <a:ext cx="171450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5" name="Picture 22" descr="1 Turkish Lira Coin 2009 Obverse Isolated on White Background Stock Photo -  Image of shiny, bank: 1229770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1763" y="731838"/>
            <a:ext cx="171450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6" name="Picture 24" descr="1 Turkish Lira Coin 2009 Obverse Isolated on White Background Stock Photo -  Image of shiny, bank: 1229770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2629" y="2505075"/>
            <a:ext cx="171450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7" name="Picture 26" descr="1 Turkish Lira Coin 2009 Obverse Isolated on White Background Stock Photo -  Image of shiny, bank: 1229770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4023" y="2505075"/>
            <a:ext cx="171450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8" name="Picture 28" descr="1 Turkish Lira Coin 2009 Obverse Isolated on White Background Stock Photo -  Image of shiny, bank: 1229770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1745" y="2505075"/>
            <a:ext cx="171450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9" name="Picture 30" descr="1 Turkish Lira Coin 2009 Obverse Isolated on White Background Stock Photo -  Image of shiny, bank: 1229770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3309" y="2505075"/>
            <a:ext cx="171450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1"/>
          <p:cNvPicPr>
            <a:picLocks noChangeAspect="1"/>
          </p:cNvPicPr>
          <p:nvPr/>
        </p:nvPicPr>
        <p:blipFill>
          <a:blip r:embed="rId2">
            <a:extLst>
              <a:ext uri="{28A0092B-C50C-407E-A947-70E740481C1C}">
                <a14:useLocalDpi xmlns:a14="http://schemas.microsoft.com/office/drawing/2010/main" val="0"/>
              </a:ext>
            </a:extLst>
          </a:blip>
          <a:srcRect l="12500" t="17708" r="12500"/>
          <a:stretch>
            <a:fillRect/>
          </a:stretch>
        </p:blipFill>
        <p:spPr bwMode="auto">
          <a:xfrm>
            <a:off x="2438400" y="419100"/>
            <a:ext cx="73152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4225" y="2362200"/>
            <a:ext cx="36576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1" name="Picture 2" descr="Piaget mountainexperiment.wmv - YouTub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476500"/>
            <a:ext cx="38862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2" name="Rectangle 2"/>
          <p:cNvSpPr>
            <a:spLocks noChangeArrowheads="1"/>
          </p:cNvSpPr>
          <p:nvPr/>
        </p:nvSpPr>
        <p:spPr bwMode="auto">
          <a:xfrm>
            <a:off x="2209801" y="284163"/>
            <a:ext cx="516096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3600" b="1"/>
              <a:t>Example: Egocentrism</a:t>
            </a:r>
            <a:endParaRPr lang="en-GB" altLang="en-US" sz="36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
          <p:cNvSpPr>
            <a:spLocks noChangeArrowheads="1"/>
          </p:cNvSpPr>
          <p:nvPr/>
        </p:nvSpPr>
        <p:spPr bwMode="auto">
          <a:xfrm>
            <a:off x="2286001" y="762001"/>
            <a:ext cx="52625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3600" b="1"/>
              <a:t>Example: Irreversibility</a:t>
            </a:r>
            <a:endParaRPr lang="en-GB" altLang="en-US" sz="3600"/>
          </a:p>
        </p:txBody>
      </p:sp>
      <p:pic>
        <p:nvPicPr>
          <p:cNvPr id="4403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1385888"/>
            <a:ext cx="2959100"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6" name="Rectangle 1"/>
          <p:cNvSpPr>
            <a:spLocks noChangeArrowheads="1"/>
          </p:cNvSpPr>
          <p:nvPr/>
        </p:nvSpPr>
        <p:spPr bwMode="auto">
          <a:xfrm>
            <a:off x="1048283" y="4997866"/>
            <a:ext cx="1029198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sz="2400" dirty="0"/>
              <a:t>The child cannot mentally reverse the action and understand that the water could be poured back to look the same.</a:t>
            </a:r>
            <a:r>
              <a:rPr lang="en-US" altLang="en-US" sz="2400" dirty="0"/>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p:cNvSpPr>
            <a:spLocks noChangeArrowheads="1"/>
          </p:cNvSpPr>
          <p:nvPr/>
        </p:nvSpPr>
        <p:spPr bwMode="auto">
          <a:xfrm>
            <a:off x="2057401" y="762001"/>
            <a:ext cx="42973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3600" b="1"/>
              <a:t>Example: Animism</a:t>
            </a:r>
            <a:endParaRPr lang="en-GB" altLang="en-US" sz="3600"/>
          </a:p>
        </p:txBody>
      </p:sp>
      <p:pic>
        <p:nvPicPr>
          <p:cNvPr id="4505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4864" y="1676400"/>
            <a:ext cx="3792537"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0" name="Picture 1"/>
          <p:cNvPicPr>
            <a:picLocks noChangeAspect="1"/>
          </p:cNvPicPr>
          <p:nvPr/>
        </p:nvPicPr>
        <p:blipFill>
          <a:blip r:embed="rId3">
            <a:extLst>
              <a:ext uri="{28A0092B-C50C-407E-A947-70E740481C1C}">
                <a14:useLocalDpi xmlns:a14="http://schemas.microsoft.com/office/drawing/2010/main" val="0"/>
              </a:ext>
            </a:extLst>
          </a:blip>
          <a:srcRect l="2834" t="23750" b="8749"/>
          <a:stretch>
            <a:fillRect/>
          </a:stretch>
        </p:blipFill>
        <p:spPr bwMode="auto">
          <a:xfrm>
            <a:off x="6248400" y="1600200"/>
            <a:ext cx="41910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Concrete operational stage</a:t>
            </a:r>
          </a:p>
        </p:txBody>
      </p:sp>
      <p:sp>
        <p:nvSpPr>
          <p:cNvPr id="3" name="Content Placeholder 2"/>
          <p:cNvSpPr>
            <a:spLocks noGrp="1"/>
          </p:cNvSpPr>
          <p:nvPr>
            <p:ph idx="1"/>
          </p:nvPr>
        </p:nvSpPr>
        <p:spPr/>
        <p:txBody>
          <a:bodyPr>
            <a:normAutofit/>
          </a:bodyPr>
          <a:lstStyle/>
          <a:p>
            <a:r>
              <a:rPr lang="en-US" sz="2000" dirty="0"/>
              <a:t>7-11 </a:t>
            </a:r>
            <a:r>
              <a:rPr lang="en-US" sz="2000" dirty="0" err="1"/>
              <a:t>yrs</a:t>
            </a:r>
            <a:endParaRPr lang="en-US" sz="2000" dirty="0"/>
          </a:p>
          <a:p>
            <a:r>
              <a:rPr lang="en-US" sz="2000" dirty="0"/>
              <a:t>The child is now capable of performing logical operations, but only in the presence of actual objects. They can conserve, and show reversibility and more logical classification. They are less ego-centric.</a:t>
            </a:r>
          </a:p>
          <a:p>
            <a:r>
              <a:rPr lang="en-US" sz="2000" dirty="0"/>
              <a:t>One remaining problem for the concrete operational child is </a:t>
            </a:r>
            <a:r>
              <a:rPr lang="en-US" sz="2000" i="1" dirty="0"/>
              <a:t>transitivity tasks</a:t>
            </a:r>
            <a:r>
              <a:rPr lang="en-US" sz="2000" dirty="0"/>
              <a:t>. For example, if told that ‘Alan is taller than Nigel, and Nigel is taller than Charlie’ and asked whether Alan or Charlie is taller,  children under 11 cannot solve this problem entirely in their heads. They can usually only solve it using real (or concrete) objects (such as dolls).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Formal operational stage</a:t>
            </a:r>
          </a:p>
        </p:txBody>
      </p:sp>
      <p:sp>
        <p:nvSpPr>
          <p:cNvPr id="3" name="Content Placeholder 2"/>
          <p:cNvSpPr>
            <a:spLocks noGrp="1"/>
          </p:cNvSpPr>
          <p:nvPr>
            <p:ph idx="1"/>
          </p:nvPr>
        </p:nvSpPr>
        <p:spPr/>
        <p:txBody>
          <a:bodyPr/>
          <a:lstStyle/>
          <a:p>
            <a:r>
              <a:rPr lang="en-US" sz="2400" dirty="0"/>
              <a:t>11 + </a:t>
            </a:r>
            <a:r>
              <a:rPr lang="en-US" sz="2400" dirty="0" err="1"/>
              <a:t>yrs</a:t>
            </a:r>
            <a:endParaRPr lang="en-US" sz="2400" dirty="0"/>
          </a:p>
          <a:p>
            <a:pPr marL="182880" lvl="1">
              <a:lnSpc>
                <a:spcPct val="110000"/>
              </a:lnSpc>
              <a:spcBef>
                <a:spcPts val="900"/>
              </a:spcBef>
            </a:pPr>
            <a:r>
              <a:rPr lang="en-US" altLang="en-US" sz="2400" dirty="0"/>
              <a:t>Children are able to think logically and systematically about both concrete and abstract problems, form hypotheses, and test them in a thoughtful way</a:t>
            </a:r>
            <a:endParaRPr lang="en-US" altLang="en-US" sz="2400" u="sng" dirty="0"/>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altLang="en-US"/>
              <a:t>An alternative model?</a:t>
            </a:r>
          </a:p>
        </p:txBody>
      </p:sp>
      <p:sp>
        <p:nvSpPr>
          <p:cNvPr id="5" name="Content Placeholder 4"/>
          <p:cNvSpPr>
            <a:spLocks noGrp="1"/>
          </p:cNvSpPr>
          <p:nvPr>
            <p:ph idx="1"/>
          </p:nvPr>
        </p:nvSpPr>
        <p:spPr>
          <a:xfrm>
            <a:off x="1066800" y="2103120"/>
            <a:ext cx="5387975" cy="3849370"/>
          </a:xfrm>
        </p:spPr>
        <p:txBody>
          <a:bodyPr>
            <a:normAutofit fontScale="92500" lnSpcReduction="10000"/>
          </a:bodyPr>
          <a:lstStyle/>
          <a:p>
            <a:r>
              <a:rPr lang="en-US" altLang="en-GB" sz="2400" dirty="0"/>
              <a:t>Vygotsky, in contrast to Piaget (and the information-processing approach), sees the child as a participant in an interactive process, by which socially – and culturally – determined knowledge and understanding gradually become </a:t>
            </a:r>
            <a:r>
              <a:rPr lang="en-US" altLang="en-GB" sz="2400" dirty="0" err="1"/>
              <a:t>individualised</a:t>
            </a:r>
            <a:r>
              <a:rPr lang="en-GB" altLang="en-US" sz="2400" dirty="0"/>
              <a:t>. </a:t>
            </a:r>
          </a:p>
          <a:p>
            <a:r>
              <a:rPr lang="en-GB" altLang="en-US" sz="2400" b="1" dirty="0"/>
              <a:t>Zone of Proximal Development</a:t>
            </a:r>
          </a:p>
          <a:p>
            <a:pPr lvl="1"/>
            <a:r>
              <a:rPr lang="en-GB" altLang="en-US" sz="2200" b="1" dirty="0"/>
              <a:t>Scaffolding - </a:t>
            </a:r>
            <a:r>
              <a:rPr lang="en-US" dirty="0"/>
              <a:t>The help provided by a more knowledgeable other within the ZPD</a:t>
            </a:r>
            <a:endParaRPr lang="en-GB" altLang="en-US" sz="2200" b="1" dirty="0"/>
          </a:p>
        </p:txBody>
      </p:sp>
      <p:pic>
        <p:nvPicPr>
          <p:cNvPr id="6" name="Picture 5"/>
          <p:cNvPicPr>
            <a:picLocks noChangeAspect="1"/>
          </p:cNvPicPr>
          <p:nvPr/>
        </p:nvPicPr>
        <p:blipFill>
          <a:blip r:embed="rId2"/>
          <a:stretch>
            <a:fillRect/>
          </a:stretch>
        </p:blipFill>
        <p:spPr>
          <a:xfrm>
            <a:off x="6454140" y="1586865"/>
            <a:ext cx="5141595" cy="44577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Lecture summary</a:t>
            </a:r>
          </a:p>
        </p:txBody>
      </p:sp>
      <p:sp>
        <p:nvSpPr>
          <p:cNvPr id="3" name="Content Placeholder 2"/>
          <p:cNvSpPr>
            <a:spLocks noGrp="1"/>
          </p:cNvSpPr>
          <p:nvPr>
            <p:ph idx="1"/>
          </p:nvPr>
        </p:nvSpPr>
        <p:spPr/>
        <p:txBody>
          <a:bodyPr/>
          <a:lstStyle/>
          <a:p>
            <a:r>
              <a:rPr lang="en-US" sz="2400" dirty="0"/>
              <a:t>Attachment and key figures (Harlow, Bowlby, Ainsworth); attachment styles</a:t>
            </a:r>
          </a:p>
          <a:p>
            <a:r>
              <a:rPr lang="en-US" sz="2400" dirty="0"/>
              <a:t>Self-concept (Gallup’s study)</a:t>
            </a:r>
          </a:p>
          <a:p>
            <a:r>
              <a:rPr lang="en-US" sz="2400" dirty="0"/>
              <a:t>Cognitive development and Piaget’s Theory (Four stages, assimilation and accommodation)</a:t>
            </a:r>
          </a:p>
          <a:p>
            <a:r>
              <a:rPr lang="en-GB" altLang="en-US" sz="2400" dirty="0"/>
              <a:t>Vygotsky - ZPD</a:t>
            </a:r>
            <a:endParaRPr lang="en-US" sz="2400" dirty="0"/>
          </a:p>
          <a:p>
            <a:endParaRPr 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390*99"/>
  <p:tag name="TABLE_ENDDRAG_RECT" val="89*359*390*99"/>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FIVE">
      <a:dk1>
        <a:sysClr val="windowText" lastClr="000000"/>
      </a:dk1>
      <a:lt1>
        <a:sysClr val="window" lastClr="FFFFFF"/>
      </a:lt1>
      <a:dk2>
        <a:srgbClr val="505046"/>
      </a:dk2>
      <a:lt2>
        <a:srgbClr val="F5F6F4"/>
      </a:lt2>
      <a:accent1>
        <a:srgbClr val="57903F"/>
      </a:accent1>
      <a:accent2>
        <a:srgbClr val="F03F2B"/>
      </a:accent2>
      <a:accent3>
        <a:srgbClr val="3488A0"/>
      </a:accent3>
      <a:accent4>
        <a:srgbClr val="F8D22F"/>
      </a:accent4>
      <a:accent5>
        <a:srgbClr val="5CC6D6"/>
      </a:accent5>
      <a:accent6>
        <a:srgbClr val="B8D233"/>
      </a:accent6>
      <a:hlink>
        <a:srgbClr val="00B0F0"/>
      </a:hlink>
      <a:folHlink>
        <a:srgbClr val="B2B2B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Geometric color block</Template>
  <TotalTime>0</TotalTime>
  <Words>2282</Words>
  <Application>Microsoft Office PowerPoint</Application>
  <PresentationFormat>Widescreen</PresentationFormat>
  <Paragraphs>198</Paragraphs>
  <Slides>35</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35</vt:i4>
      </vt:variant>
    </vt:vector>
  </HeadingPairs>
  <TitlesOfParts>
    <vt:vector size="40" baseType="lpstr">
      <vt:lpstr>Arial</vt:lpstr>
      <vt:lpstr>Century Gothic</vt:lpstr>
      <vt:lpstr>Garamond</vt:lpstr>
      <vt:lpstr>SavonVTI</vt:lpstr>
      <vt:lpstr>Default Design</vt:lpstr>
      <vt:lpstr>PSYC100 GENERAL PSYCHOLOGY</vt:lpstr>
      <vt:lpstr>LEARNING OUTCOMES</vt:lpstr>
      <vt:lpstr>I - What is attachment?</vt:lpstr>
      <vt:lpstr>Harlow’s monkey experiments</vt:lpstr>
      <vt:lpstr>Harlow’s follow-up studies</vt:lpstr>
      <vt:lpstr>John Bowlby (1950s-60s)</vt:lpstr>
      <vt:lpstr>John Bowlby (1950s-60s)</vt:lpstr>
      <vt:lpstr>Mary Ainsworth (1970s)</vt:lpstr>
      <vt:lpstr>PowerPoint Presentation</vt:lpstr>
      <vt:lpstr>Findings of SSE</vt:lpstr>
      <vt:lpstr>Four attachment styles</vt:lpstr>
      <vt:lpstr>Deprivation and Privation</vt:lpstr>
      <vt:lpstr>Are the effects of privation reversible?</vt:lpstr>
      <vt:lpstr>PowerPoint Presentation</vt:lpstr>
      <vt:lpstr>ACE and attachment</vt:lpstr>
      <vt:lpstr>II – The Self Concept</vt:lpstr>
      <vt:lpstr>Developmental changes in the self-concept</vt:lpstr>
      <vt:lpstr>PowerPoint Presentation</vt:lpstr>
      <vt:lpstr>III – Cognitive development </vt:lpstr>
      <vt:lpstr>Assimilation and accommodation</vt:lpstr>
      <vt:lpstr>Stages of cognitive development (Piaget, 1952)</vt:lpstr>
      <vt:lpstr>Sensorimotor Stage</vt:lpstr>
      <vt:lpstr>Object permanence</vt:lpstr>
      <vt:lpstr>PowerPoint Presentation</vt:lpstr>
      <vt:lpstr>Pre-operational stage</vt:lpstr>
      <vt:lpstr>PowerPoint Presentation</vt:lpstr>
      <vt:lpstr>PowerPoint Presentation</vt:lpstr>
      <vt:lpstr>PowerPoint Presentation</vt:lpstr>
      <vt:lpstr>PowerPoint Presentation</vt:lpstr>
      <vt:lpstr>PowerPoint Presentation</vt:lpstr>
      <vt:lpstr>PowerPoint Presentation</vt:lpstr>
      <vt:lpstr>Concrete operational stage</vt:lpstr>
      <vt:lpstr>Formal operational stage</vt:lpstr>
      <vt:lpstr>An alternative model?</vt:lpstr>
      <vt:lpstr>Lecture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cp:revision>
  <dcterms:created xsi:type="dcterms:W3CDTF">2025-10-21T09:31:00Z</dcterms:created>
  <dcterms:modified xsi:type="dcterms:W3CDTF">2025-11-26T09:30:36Z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2872597E5D094256ADC7A582FDDCCA92_12</vt:lpwstr>
  </property>
  <property fmtid="{D5CDD505-2E9C-101B-9397-08002B2CF9AE}" pid="3" name="KSOProductBuildVer">
    <vt:lpwstr>2057-12.2.0.23155</vt:lpwstr>
  </property>
</Properties>
</file>